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11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6" r:id="rId24"/>
    <p:sldId id="30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2F15A-F5BC-4239-BCBF-45337D50CF28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20C04-5A9C-428D-BDE2-81EF510C5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B780892-4558-4DDB-A9CD-A2F9790F03F6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508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4920E-13A3-405C-B56B-C541A7530F89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9116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5E00-8937-4FAF-8E09-9A1302C29A07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85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517D6-833C-468B-89F2-57358199A1CE}" type="datetime1">
              <a:rPr lang="LID4096" smtClean="0"/>
              <a:t>08/19/2025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15459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0B122-3D64-46A0-A26D-DFF96FE24C9C}" type="datetime1">
              <a:rPr lang="LID4096" smtClean="0"/>
              <a:t>08/19/2025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91716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8B96-E350-4602-9C5F-34BE9CC03971}" type="datetime1">
              <a:rPr lang="LID4096" smtClean="0"/>
              <a:t>08/19/2025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4788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5709-89B9-4B4B-9693-5551E9BFD4EB}" type="datetime1">
              <a:rPr lang="LID4096" smtClean="0"/>
              <a:t>08/19/2025</a:t>
            </a:fld>
            <a:endParaRPr lang="en-S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7560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A500-69B2-4432-AB1C-D1D0AADA86B6}" type="datetime1">
              <a:rPr lang="LID4096" smtClean="0"/>
              <a:t>08/19/2025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65049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E9E1-41E8-47E8-B1A1-9E6D58D78527}" type="datetime1">
              <a:rPr lang="LID4096" smtClean="0"/>
              <a:t>08/19/2025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72935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F27FE-958B-4C6E-B227-C4B4459214A3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4871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E2DF-B343-49F0-8C68-51CFA1891979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39116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0357304-B978-40A5-8F5C-6C9EA4767C40}" type="datetime1">
              <a:rPr lang="LID4096" smtClean="0"/>
              <a:t>08/19/2025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30537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2DC5-6F13-4D8B-9031-7BAD11A48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209964"/>
            <a:ext cx="8915399" cy="356741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PERINEUM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632D079-B6DE-4053-B9F1-7E162852A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430982"/>
            <a:ext cx="9144000" cy="899760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Brush Script MT" panose="03060802040406070304" pitchFamily="66" charset="0"/>
              </a:rPr>
              <a:t>BY: M. G. HAMMAD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4C371-7AB9-4753-971D-DD88BF80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F037-184C-4705-9428-B54B9A614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389658" cy="4041648"/>
          </a:xfrm>
        </p:spPr>
        <p:txBody>
          <a:bodyPr>
            <a:normAutofit/>
          </a:bodyPr>
          <a:lstStyle/>
          <a:p>
            <a:pPr algn="ctr"/>
            <a:br>
              <a:rPr lang="en-US" sz="4400" dirty="0"/>
            </a:br>
            <a:r>
              <a:rPr lang="en-US" sz="4400" dirty="0"/>
              <a:t>FEMALE UROGENITAL TRIANGLE</a:t>
            </a:r>
            <a:endParaRPr lang="en-SD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F2FC54-FE77-830E-C495-9FBD2DF1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77995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4528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Female Urogenital Triangle</a:t>
            </a:r>
            <a:endParaRPr lang="en-S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2017336"/>
            <a:ext cx="5561815" cy="3987538"/>
          </a:xfrm>
        </p:spPr>
        <p:txBody>
          <a:bodyPr>
            <a:normAutofit/>
          </a:bodyPr>
          <a:lstStyle/>
          <a:p>
            <a:r>
              <a:rPr lang="en-US" i="1" u="sng" dirty="0"/>
              <a:t>The female urogenital triangle includes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Female external genitalia.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Perineal muscles.</a:t>
            </a:r>
            <a:endParaRPr lang="en-SD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DC8AAC-0405-4FCC-81BC-DD051B332F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400579"/>
            <a:ext cx="6041318" cy="50498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1E422-C16F-5BA3-A55C-2B3DBCE2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3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02912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11984"/>
            <a:ext cx="5775489" cy="4977352"/>
          </a:xfrm>
        </p:spPr>
        <p:txBody>
          <a:bodyPr>
            <a:normAutofit/>
          </a:bodyPr>
          <a:lstStyle/>
          <a:p>
            <a:r>
              <a:rPr lang="en-US" i="1" u="sng" dirty="0"/>
              <a:t>Female external genitalia include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Mons pubis.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Labia majora (enclosing the pudendal cleft).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Labia minora (enclosing the vestibule of vagina).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Clitoris.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Bulbs of vestibule.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Greater and lesser vestibular glands.</a:t>
            </a:r>
          </a:p>
          <a:p>
            <a:r>
              <a:rPr lang="en-US" dirty="0"/>
              <a:t>The terms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vulva</a:t>
            </a:r>
            <a:r>
              <a:rPr lang="en-US" dirty="0"/>
              <a:t> and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pudendum</a:t>
            </a:r>
            <a:r>
              <a:rPr lang="en-US" dirty="0"/>
              <a:t> include all these parts.</a:t>
            </a:r>
          </a:p>
          <a:p>
            <a:r>
              <a:rPr lang="en-US" dirty="0"/>
              <a:t>The term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pudendum</a:t>
            </a:r>
            <a:r>
              <a:rPr lang="en-US" dirty="0"/>
              <a:t> is commonly used clinically.</a:t>
            </a:r>
            <a:endParaRPr lang="en-S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6787" y="1140541"/>
            <a:ext cx="5517312" cy="526298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ED165AA2-AF28-4ADD-A522-654E67D6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682" y="1251860"/>
            <a:ext cx="6041318" cy="50498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7D83B-881B-0544-BE0A-143A531F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4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54106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11984"/>
            <a:ext cx="5775489" cy="43457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VULVA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Sensory and erectile tissue for sexual arousal and intercourse.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Directs the flow of urine.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entry of foreign material into the urogenital tract.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ED41DC-4BF1-4FA0-8B04-0ED25CB3A8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7732" y="1846498"/>
            <a:ext cx="5343736" cy="446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376E7-675A-9172-3D16-E65CE84E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5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20836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11984"/>
            <a:ext cx="5775489" cy="4977352"/>
          </a:xfrm>
        </p:spPr>
        <p:txBody>
          <a:bodyPr>
            <a:normAutofit/>
          </a:bodyPr>
          <a:lstStyle/>
          <a:p>
            <a:r>
              <a:rPr lang="en-US" i="1" u="sng" dirty="0"/>
              <a:t>MONS PUBIS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Rounded, fatty eminence anterior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Pubic symphysis.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Pubic tubercles.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Superior pubic rami.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formed by a mass of fatty subcutaneous tissue.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amount of fat increases at </a:t>
            </a:r>
            <a:r>
              <a:rPr lang="en-US" i="1" u="sng" dirty="0"/>
              <a:t>puberty</a:t>
            </a:r>
            <a:r>
              <a:rPr lang="en-US" dirty="0"/>
              <a:t> and decreases after </a:t>
            </a:r>
            <a:r>
              <a:rPr lang="en-US" i="1" u="sng" dirty="0"/>
              <a:t>menopause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surface of the mons is continuous with the anterior abdominal wall.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After puberty, the mons pubis is covered with coarse pubic hairs.</a:t>
            </a:r>
            <a:endParaRPr lang="en-S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6787" y="1148405"/>
            <a:ext cx="5517312" cy="5107633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02A7938-10BC-4F28-AD3B-A8B5CE343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732" y="1846498"/>
            <a:ext cx="5343736" cy="446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F73-3BB6-4B9F-0C95-1768F650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6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1464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11984"/>
            <a:ext cx="5775489" cy="4977352"/>
          </a:xfrm>
        </p:spPr>
        <p:txBody>
          <a:bodyPr>
            <a:normAutofit/>
          </a:bodyPr>
          <a:lstStyle/>
          <a:p>
            <a:r>
              <a:rPr lang="en-US" i="1" u="sng" dirty="0"/>
              <a:t>LABIA MAJORA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Are prominent folds of skin.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Indirectly protect: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Clitoris.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Urethral orifice.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Vaginal orifice.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Labia majora features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Filled with loose subcutaneous tissue.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Containing smooth muscle and the termination of round ligament of the uterus.</a:t>
            </a:r>
            <a:endParaRPr lang="en-S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6787" y="1148407"/>
            <a:ext cx="5517312" cy="5107633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02A7938-10BC-4F28-AD3B-A8B5CE343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732" y="1846498"/>
            <a:ext cx="5343736" cy="446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C5E5-E730-E97E-FC0F-223E73885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7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3277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247189"/>
            <a:ext cx="6466788" cy="5342147"/>
          </a:xfrm>
        </p:spPr>
        <p:txBody>
          <a:bodyPr>
            <a:normAutofit fontScale="92500" lnSpcReduction="20000"/>
          </a:bodyPr>
          <a:lstStyle/>
          <a:p>
            <a:r>
              <a:rPr lang="en-US" i="1" u="sng" dirty="0"/>
              <a:t>LABIA MAJORA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Labia majora features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Passes inferior- posteriorly from the mons pubis toward the anus.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Lie on the sides of a central depression {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pudendal cleft</a:t>
            </a:r>
            <a:r>
              <a:rPr lang="en-US" dirty="0"/>
              <a:t>}.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u="sng" dirty="0"/>
              <a:t>In adult</a:t>
            </a:r>
            <a:r>
              <a:rPr lang="en-US" dirty="0"/>
              <a:t>: covered with pigmented skin containing </a:t>
            </a:r>
            <a:r>
              <a:rPr lang="en-US" i="1" dirty="0">
                <a:solidFill>
                  <a:srgbClr val="FF0000"/>
                </a:solidFill>
              </a:rPr>
              <a:t>sebaceous glands</a:t>
            </a:r>
            <a:r>
              <a:rPr lang="en-US" dirty="0"/>
              <a:t> and are covered with </a:t>
            </a:r>
            <a:r>
              <a:rPr lang="en-US" i="1" dirty="0">
                <a:solidFill>
                  <a:srgbClr val="FF0000"/>
                </a:solidFill>
              </a:rPr>
              <a:t>crisp pubic hair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internal aspects are </a:t>
            </a:r>
            <a:r>
              <a:rPr lang="en-US" i="1" dirty="0"/>
              <a:t>smooth</a:t>
            </a:r>
            <a:r>
              <a:rPr lang="en-US" dirty="0"/>
              <a:t>, </a:t>
            </a:r>
            <a:r>
              <a:rPr lang="en-US" i="1" dirty="0"/>
              <a:t>pink</a:t>
            </a:r>
            <a:r>
              <a:rPr lang="en-US" dirty="0"/>
              <a:t>, and </a:t>
            </a:r>
            <a:r>
              <a:rPr lang="en-US" i="1" dirty="0"/>
              <a:t>hairless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Are thicker </a:t>
            </a:r>
            <a:r>
              <a:rPr lang="en-US" u="sng" dirty="0"/>
              <a:t>anteriorly</a:t>
            </a:r>
            <a:r>
              <a:rPr lang="en-US" dirty="0"/>
              <a:t> where they join to form {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anterior commissure</a:t>
            </a:r>
            <a:r>
              <a:rPr lang="en-US" dirty="0"/>
              <a:t>}.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u="sng" dirty="0"/>
              <a:t>Posteriorly</a:t>
            </a:r>
            <a:r>
              <a:rPr lang="en-US" dirty="0"/>
              <a:t>: in nulliparous women they form {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 commissure</a:t>
            </a:r>
            <a:r>
              <a:rPr lang="en-US" dirty="0"/>
              <a:t>}.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PC overlies perineal body.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the posterior limit of the </a:t>
            </a:r>
            <a:r>
              <a:rPr lang="en-US" i="1" u="sng" dirty="0"/>
              <a:t>vulva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usually disappears after the first vaginal birth.</a:t>
            </a:r>
            <a:endParaRPr lang="en-S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21311" y="1061881"/>
            <a:ext cx="5262788" cy="5194157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02A7938-10BC-4F28-AD3B-A8B5CE343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918" y="1247189"/>
            <a:ext cx="5128181" cy="446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CFBFB-AF2F-EB11-AC68-3937E2B8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8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48336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40264"/>
            <a:ext cx="5976594" cy="4270342"/>
          </a:xfrm>
        </p:spPr>
        <p:txBody>
          <a:bodyPr>
            <a:normAutofit/>
          </a:bodyPr>
          <a:lstStyle/>
          <a:p>
            <a:r>
              <a:rPr lang="en-US" i="1" u="sng" dirty="0"/>
              <a:t>LABIA MINORA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Are rounded folds of fat-free, hairless skin.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are enclosed in the pudendal cleft.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surround external urethral and the vaginal orifices.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They have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Core of spongy connective tissue containing erectile tissue at their base.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Many small blood vessels.</a:t>
            </a:r>
            <a:endParaRPr lang="en-SD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6787" y="1090767"/>
            <a:ext cx="5517312" cy="5144185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02A7938-10BC-4F28-AD3B-A8B5CE343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63" y="1331151"/>
            <a:ext cx="5343736" cy="4466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22B4CA-9635-46FB-AB35-45860973B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523" y="1229433"/>
            <a:ext cx="4297416" cy="42974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D04A6-C4C7-77D6-EBB9-B60173D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9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28299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150070"/>
            <a:ext cx="6314590" cy="5439266"/>
          </a:xfrm>
        </p:spPr>
        <p:txBody>
          <a:bodyPr>
            <a:normAutofit fontScale="92500" lnSpcReduction="10000"/>
          </a:bodyPr>
          <a:lstStyle/>
          <a:p>
            <a:r>
              <a:rPr lang="en-US" i="1" u="sng" dirty="0"/>
              <a:t>LABIA MINORA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Anteriorly</a:t>
            </a:r>
            <a:r>
              <a:rPr lang="en-US" dirty="0"/>
              <a:t>: labia minora form two laminae: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Medial laminae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Of both side unite as the {</a:t>
            </a:r>
            <a:r>
              <a:rPr lang="en-US" i="1" dirty="0">
                <a:solidFill>
                  <a:srgbClr val="FF0000"/>
                </a:solidFill>
              </a:rPr>
              <a:t>frenulum of the clitoris</a:t>
            </a:r>
            <a:r>
              <a:rPr lang="en-US" dirty="0"/>
              <a:t>}.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Lateral laminae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Unite anterior to glans of the clitoris, forming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prepuce</a:t>
            </a:r>
            <a:r>
              <a:rPr lang="en-US" dirty="0"/>
              <a:t> (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foreskin</a:t>
            </a:r>
            <a:r>
              <a:rPr lang="en-US" dirty="0"/>
              <a:t>) of the clitoris.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Posteriorly</a:t>
            </a:r>
            <a:r>
              <a:rPr lang="en-US" dirty="0"/>
              <a:t>: In young virgin women: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Labia minora are connected by a small transverse fold {</a:t>
            </a:r>
            <a:r>
              <a:rPr lang="en-US" i="1" dirty="0">
                <a:solidFill>
                  <a:srgbClr val="FF0000"/>
                </a:solidFill>
              </a:rPr>
              <a:t>frenulum of the labia minora (fourchette)</a:t>
            </a:r>
            <a:r>
              <a:rPr lang="en-US" dirty="0"/>
              <a:t>}.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Internal surface of each labium minus consists of thin moist skin.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has the pink color typical of mucous membrane.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Contains many sebaceous glands and sensory nerve endings.</a:t>
            </a:r>
            <a:endParaRPr lang="en-S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DBC09D-D415-4B75-AA40-4D1250110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5101" y="1162049"/>
            <a:ext cx="5348998" cy="5063804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02A7938-10BC-4F28-AD3B-A8B5CE343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847" y="1268761"/>
            <a:ext cx="5074252" cy="4466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22B4CA-9635-46FB-AB35-45860973B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265" y="1268761"/>
            <a:ext cx="4297416" cy="42974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62789-ED6B-0029-0809-21E9E174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10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75307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1" y="1640264"/>
            <a:ext cx="5976594" cy="4270342"/>
          </a:xfrm>
        </p:spPr>
        <p:txBody>
          <a:bodyPr>
            <a:normAutofit lnSpcReduction="10000"/>
          </a:bodyPr>
          <a:lstStyle/>
          <a:p>
            <a:r>
              <a:rPr lang="en-US" i="1" u="sng" dirty="0"/>
              <a:t>CLITORIS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 erectile organ located where the labia minora meet anteriorly.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has 2 parts</a:t>
            </a:r>
            <a:r>
              <a:rPr lang="en-US" dirty="0"/>
              <a:t>: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rgbClr val="FF0000"/>
                </a:solidFill>
              </a:rPr>
              <a:t>Root.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rgbClr val="FF0000"/>
                </a:solidFill>
              </a:rPr>
              <a:t>Small, cylindrical Body.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structures include</a:t>
            </a:r>
            <a:r>
              <a:rPr lang="en-US" dirty="0"/>
              <a:t>: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Two crura.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Two corpora cavernosa.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Glans of the clitoris.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D3B8409-9F09-4739-A304-8C8F21D7B8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903" y="1452357"/>
            <a:ext cx="4646156" cy="4646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6E1FB-3BBD-469C-A353-AE4290C930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7" t="4587" r="8832" b="15278"/>
          <a:stretch/>
        </p:blipFill>
        <p:spPr>
          <a:xfrm>
            <a:off x="6350524" y="1150070"/>
            <a:ext cx="5841476" cy="46109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E1E04-E915-E62A-3F45-35423781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11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08137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0" y="1338606"/>
            <a:ext cx="6410227" cy="5250730"/>
          </a:xfrm>
        </p:spPr>
        <p:txBody>
          <a:bodyPr>
            <a:normAutofit lnSpcReduction="10000"/>
          </a:bodyPr>
          <a:lstStyle/>
          <a:p>
            <a:r>
              <a:rPr lang="en-US" i="1" u="sng" dirty="0"/>
              <a:t>CLITORIS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Crura</a:t>
            </a:r>
            <a:r>
              <a:rPr lang="en-US" dirty="0"/>
              <a:t> attach to inferior pubic rami and perineal membrane, deep to the labia.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Body</a:t>
            </a:r>
            <a:r>
              <a:rPr lang="en-US" dirty="0"/>
              <a:t> of the clitoris is covered by the prepuce.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Body and glans of the clitoris are approximately </a:t>
            </a:r>
            <a:r>
              <a:rPr lang="en-US" b="1" i="1" u="sng" dirty="0"/>
              <a:t>2 cm</a:t>
            </a:r>
            <a:r>
              <a:rPr lang="en-US" dirty="0"/>
              <a:t> in length and </a:t>
            </a:r>
            <a:r>
              <a:rPr lang="en-US" b="1" i="1" u="sng" dirty="0"/>
              <a:t>&lt;1 cm</a:t>
            </a:r>
            <a:r>
              <a:rPr lang="en-US" dirty="0"/>
              <a:t> in diameter.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Clitoris is not functionally related to the urethra or to urination.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functions as an organ of sexual arousal.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clitoris is highly sensitive and enlarges on tactile stimulation.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glans of the clitoris is the most highly innervated part of the clitoris.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is densely supplied with sensory endings.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072BB2-4F84-4FFA-80A7-9CB7856E30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0736" y="1400445"/>
            <a:ext cx="5461263" cy="4352942"/>
          </a:xfr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5731348-23B1-4446-A5A6-949985AD0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331" y="1249141"/>
            <a:ext cx="4297416" cy="42974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9C4E-5A26-8560-0CB8-27E78371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12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4394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0" y="1338606"/>
            <a:ext cx="6410227" cy="5250730"/>
          </a:xfrm>
        </p:spPr>
        <p:txBody>
          <a:bodyPr>
            <a:normAutofit/>
          </a:bodyPr>
          <a:lstStyle/>
          <a:p>
            <a:r>
              <a:rPr lang="en-US" i="1" u="sng" dirty="0"/>
              <a:t>VESTIBULE OF VAGINA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Space surrounded by the labia minora.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Receives orifices of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Urethra.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Vagina.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Ducts of greater and lesser vestibular glands.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External urethral orifice located </a:t>
            </a:r>
            <a:r>
              <a:rPr lang="en-US" i="1" u="sng" dirty="0"/>
              <a:t>2-3 cm</a:t>
            </a:r>
            <a:r>
              <a:rPr lang="en-US" dirty="0"/>
              <a:t>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posteroinferior</a:t>
            </a:r>
            <a:r>
              <a:rPr lang="en-US" dirty="0"/>
              <a:t> to glans of clitoris and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anterior</a:t>
            </a:r>
            <a:r>
              <a:rPr lang="en-US" dirty="0"/>
              <a:t> to vaginal orifice.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 each side of external urethral orifice are openings of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paraurethral glands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Openings of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greater vestibular glands</a:t>
            </a:r>
            <a:r>
              <a:rPr lang="en-US" dirty="0"/>
              <a:t> are located on the upper, medial aspects of labia minora.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19FFD8-1328-4CF4-89E0-C7C5EE926E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296" y="1094524"/>
            <a:ext cx="5519704" cy="51808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271EA-8D6F-3B5F-DB75-660DBC19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13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97334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0" y="1338606"/>
            <a:ext cx="7220933" cy="5250730"/>
          </a:xfrm>
        </p:spPr>
        <p:txBody>
          <a:bodyPr>
            <a:normAutofit/>
          </a:bodyPr>
          <a:lstStyle/>
          <a:p>
            <a:r>
              <a:rPr lang="en-US" i="1" u="sng" dirty="0"/>
              <a:t>VESTIBULE OF VAGINA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Vaginal Orifice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Vary in size and appearance.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This variation depends on condition of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hymen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Hymen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thin annular fold of mucus membrane.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partially or wholly occludes the vaginal orifice.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After its rupture, only remnants of the hymen {</a:t>
            </a:r>
            <a:r>
              <a:rPr lang="en-US" i="1" dirty="0">
                <a:solidFill>
                  <a:srgbClr val="FF0000"/>
                </a:solidFill>
              </a:rPr>
              <a:t>hymenal caruncles (tags)</a:t>
            </a:r>
            <a:r>
              <a:rPr lang="en-US" dirty="0"/>
              <a:t>} are visible.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These remnants demarcate the vagina from the vestibule.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19FFD8-1328-4CF4-89E0-C7C5EE926E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932" y="1074858"/>
            <a:ext cx="4971068" cy="51808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7322-7925-B041-8C53-2633CF5A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14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73101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C39310-33A5-4533-AE89-709CCBAC57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9"/>
          <a:stretch/>
        </p:blipFill>
        <p:spPr>
          <a:xfrm>
            <a:off x="0" y="1179810"/>
            <a:ext cx="6300030" cy="4980541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D664C0-71BC-436F-B08E-7371927677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43" y="1150313"/>
            <a:ext cx="5489434" cy="504892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3AE7F30-16FB-4803-B0FA-0B7F92F4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E53357-FFB1-1098-C43F-A17745D4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15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74650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80127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0" y="1338606"/>
            <a:ext cx="6410227" cy="5250730"/>
          </a:xfrm>
        </p:spPr>
        <p:txBody>
          <a:bodyPr>
            <a:normAutofit/>
          </a:bodyPr>
          <a:lstStyle/>
          <a:p>
            <a:r>
              <a:rPr lang="en-US" i="1" u="sng" dirty="0"/>
              <a:t>BULBS OF VESTIBULE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Are paired masses of elongated erectile tissue.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Approximately 3 cm in length.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/>
              <a:t>They lie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Along the </a:t>
            </a:r>
            <a:r>
              <a:rPr lang="en-US" i="1" dirty="0">
                <a:solidFill>
                  <a:srgbClr val="FF0000"/>
                </a:solidFill>
              </a:rPr>
              <a:t>sides</a:t>
            </a:r>
            <a:r>
              <a:rPr lang="en-US" dirty="0"/>
              <a:t> of the vaginal orifice.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solidFill>
                  <a:srgbClr val="FF0000"/>
                </a:solidFill>
              </a:rPr>
              <a:t>Superior</a:t>
            </a:r>
            <a:r>
              <a:rPr lang="en-US" dirty="0"/>
              <a:t> or </a:t>
            </a:r>
            <a:r>
              <a:rPr lang="en-US" i="1" dirty="0">
                <a:solidFill>
                  <a:srgbClr val="FF0000"/>
                </a:solidFill>
              </a:rPr>
              <a:t>deep</a:t>
            </a:r>
            <a:r>
              <a:rPr lang="en-US" dirty="0"/>
              <a:t> to labia minora.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Immediately </a:t>
            </a:r>
            <a:r>
              <a:rPr lang="en-US" i="1" dirty="0">
                <a:solidFill>
                  <a:srgbClr val="FF0000"/>
                </a:solidFill>
              </a:rPr>
              <a:t>inferior</a:t>
            </a:r>
            <a:r>
              <a:rPr lang="en-US" dirty="0"/>
              <a:t> perineal membrane.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are covered inferiorly and laterally by </a:t>
            </a:r>
            <a:r>
              <a:rPr lang="en-US" i="1" u="sng" dirty="0">
                <a:solidFill>
                  <a:srgbClr val="FF0000"/>
                </a:solidFill>
              </a:rPr>
              <a:t>bulbospongiosus</a:t>
            </a:r>
            <a:r>
              <a:rPr lang="en-US" dirty="0"/>
              <a:t> muscles.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are homologous with the </a:t>
            </a:r>
            <a:r>
              <a:rPr lang="en-US" i="1" u="sng" dirty="0"/>
              <a:t>bulb of the penis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19FFD8-1328-4CF4-89E0-C7C5EE926E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296" y="1150070"/>
            <a:ext cx="5519704" cy="5180896"/>
          </a:xfr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58CF151E-9C3E-4BCF-983B-A970F96A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057" y="1195614"/>
            <a:ext cx="5128181" cy="446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AC2C3-E9D1-2CE0-EB06-0ED9A9D8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16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54301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510" y="1150070"/>
            <a:ext cx="6410227" cy="5439266"/>
          </a:xfrm>
        </p:spPr>
        <p:txBody>
          <a:bodyPr>
            <a:normAutofit lnSpcReduction="10000"/>
          </a:bodyPr>
          <a:lstStyle/>
          <a:p>
            <a:r>
              <a:rPr lang="en-US" i="1" u="sng" dirty="0"/>
              <a:t>VESTIBULAR GLANDS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Are 2 groups: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Greater vestibular glands (Bartholin glands)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Approximately 0.5 cm in diameter.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the superficial perineal pouch.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On each side of the vestibule.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Posterolateral to the vaginal orifice.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Inferior to the perineal membrane.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Greater vestibular glands are round or oval and are partly overlapped posteriorly by the bulbs of the vestibule.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are partially surrounded by the bulbospongiosus muscles.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783B22-510F-46C8-A6F3-4FB5B1F966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320" y="1643974"/>
            <a:ext cx="5651680" cy="477755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ACDF9-CD55-430C-884C-3F919B5D7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645" y="1797550"/>
            <a:ext cx="5499100" cy="4470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06381-578A-9353-9A23-579B95F4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17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514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941" y="1797550"/>
            <a:ext cx="6410227" cy="4470400"/>
          </a:xfrm>
        </p:spPr>
        <p:txBody>
          <a:bodyPr>
            <a:normAutofit/>
          </a:bodyPr>
          <a:lstStyle/>
          <a:p>
            <a:r>
              <a:rPr lang="en-US" i="1" u="sng" dirty="0"/>
              <a:t>VESTIBULAR GLANDS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Greater vestibular glands (Bartholin glands)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Their ducts pass deep to the bulbs of the vestibule.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Open into the vestibule on each side of the vaginal orifice.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They secrete mucus into the vestibule during sexual arousal.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783B22-510F-46C8-A6F3-4FB5B1F966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36" y="1643974"/>
            <a:ext cx="5461263" cy="477755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ACDF9-CD55-430C-884C-3F919B5D7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1769270"/>
            <a:ext cx="5499100" cy="4470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329CB-FFD0-912F-B99E-14764B0A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18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9998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941" y="1797550"/>
            <a:ext cx="6410227" cy="4470400"/>
          </a:xfrm>
        </p:spPr>
        <p:txBody>
          <a:bodyPr>
            <a:normAutofit/>
          </a:bodyPr>
          <a:lstStyle/>
          <a:p>
            <a:r>
              <a:rPr lang="en-US" i="1" u="sng" dirty="0"/>
              <a:t>VESTIBULAR GLANDS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Lesser vestibular glands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Small glands on each side of the vestibule of vagina.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Open into vestibule between the urethral and the vaginal orifices.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These glands secrete mucus into the vestibule, which moistens the labia and vestibule.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783B22-510F-46C8-A6F3-4FB5B1F966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36" y="1191690"/>
            <a:ext cx="5461263" cy="477755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ACDF9-CD55-430C-884C-3F919B5D7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1670947"/>
            <a:ext cx="5499100" cy="4470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B5CB5-B0FB-8F04-E465-20A0A42B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19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8104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941" y="1018095"/>
            <a:ext cx="6410227" cy="5249855"/>
          </a:xfrm>
        </p:spPr>
        <p:txBody>
          <a:bodyPr>
            <a:normAutofit fontScale="92500" lnSpcReduction="20000"/>
          </a:bodyPr>
          <a:lstStyle/>
          <a:p>
            <a:r>
              <a:rPr lang="en-US" i="1" u="sng" dirty="0"/>
              <a:t>BLOOD SUPPLY OF VULVA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Arterial Supply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From external and internal pudendal arteries.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pudendal artery</a:t>
            </a:r>
            <a:r>
              <a:rPr lang="en-US" dirty="0"/>
              <a:t>: supplies: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Most of the skin.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External genitalia.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Perineal muscles.</a:t>
            </a:r>
          </a:p>
          <a:p>
            <a:r>
              <a:rPr lang="en-US" i="1" u="sng" dirty="0"/>
              <a:t>It gives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Labial branch.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Clitoral branches.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Urethral branch.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Muscular branches.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Bulbar &amp; glandular branches.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4DD853-5CF9-4AD3-A4AD-C66EB02DC1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96" y="1018095"/>
            <a:ext cx="6545904" cy="52105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1CF9D-BC1D-0415-98EF-D49D6034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20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656903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185" y="1454084"/>
            <a:ext cx="4901935" cy="3949831"/>
          </a:xfrm>
        </p:spPr>
        <p:txBody>
          <a:bodyPr>
            <a:normAutofit/>
          </a:bodyPr>
          <a:lstStyle/>
          <a:p>
            <a:r>
              <a:rPr lang="en-US" i="1" u="sng" dirty="0"/>
              <a:t>BLOOD SUPPLY OF VULVA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Venous Return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Corresponding to arteries.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Drain to </a:t>
            </a:r>
            <a:r>
              <a:rPr lang="en-US" i="1" u="sng" dirty="0"/>
              <a:t>INTERNAL PUDENDAL</a:t>
            </a:r>
            <a:r>
              <a:rPr lang="en-US" dirty="0"/>
              <a:t> vein.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81DA40-880B-4778-8EEB-8A4E2B5473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471" y="923827"/>
            <a:ext cx="6681584" cy="53128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03913-CE05-D16C-F75E-BD3C82CF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21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220781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83824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670" y="876693"/>
            <a:ext cx="7334054" cy="5797483"/>
          </a:xfrm>
        </p:spPr>
        <p:txBody>
          <a:bodyPr>
            <a:normAutofit fontScale="92500" lnSpcReduction="10000"/>
          </a:bodyPr>
          <a:lstStyle/>
          <a:p>
            <a:r>
              <a:rPr lang="en-US" i="1" u="sng" dirty="0"/>
              <a:t>NERVE SUPPLY OF VULVA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Anterior aspect vulva(mons pubis, anterior labia)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Supplied by derivatives of the lumbar plexus: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Anterior labial nerve {ilioinguinal nerve}.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Genital nerve {genitofemoral nerve}.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 aspect of vulva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Supplied by derivatives of the sacral plexus: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Perineal branch of the posterior cutaneous nerve of thigh {laterally}.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Pudendal nerve {centrally}.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u="sng" dirty="0"/>
              <a:t>Pudendal N</a:t>
            </a:r>
            <a:r>
              <a:rPr lang="en-US" dirty="0"/>
              <a:t>: supplies superficial perineal muscles.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u="sng" dirty="0"/>
              <a:t>Dorsal N of clitoris</a:t>
            </a:r>
            <a:r>
              <a:rPr lang="en-US" dirty="0"/>
              <a:t>: supplies: </a:t>
            </a:r>
            <a:r>
              <a:rPr lang="en-US" i="1" u="sng" dirty="0"/>
              <a:t>deep perineal muscles</a:t>
            </a:r>
            <a:r>
              <a:rPr lang="en-US" dirty="0"/>
              <a:t> and sensation to </a:t>
            </a:r>
            <a:r>
              <a:rPr lang="en-US" i="1" u="sng" dirty="0"/>
              <a:t>clitoris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u="sng" dirty="0"/>
              <a:t>Bulb of vestibule and erectile bodies of clitoris</a:t>
            </a:r>
            <a:r>
              <a:rPr lang="en-US" dirty="0"/>
              <a:t>: receive </a:t>
            </a:r>
            <a:r>
              <a:rPr lang="en-US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parasympathetic</a:t>
            </a:r>
            <a:r>
              <a:rPr lang="en-US" dirty="0"/>
              <a:t> fibers via </a:t>
            </a:r>
            <a:r>
              <a:rPr lang="en-US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cavernous nerves</a:t>
            </a:r>
            <a:r>
              <a:rPr lang="en-US" dirty="0"/>
              <a:t> from the </a:t>
            </a:r>
            <a:r>
              <a:rPr lang="en-US" i="1" u="sng" dirty="0">
                <a:solidFill>
                  <a:srgbClr val="FF0000"/>
                </a:solidFill>
              </a:rPr>
              <a:t>uterovaginal nerve plexus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872854-0C50-421B-8731-70A46CD87D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69724" y="1668546"/>
            <a:ext cx="4622276" cy="440851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F395C-BD36-3CA7-236D-1CF78830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22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501033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585B-35AD-48F5-8D21-F3B9D5D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48792"/>
            <a:ext cx="9692640" cy="57503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FEMALE EXTERNAL GENITALIA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7B5D-C991-407A-8B90-2925CE849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185" y="1168924"/>
            <a:ext cx="6532772" cy="55618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Lymphatic Drainage Of The Female Perineum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Vulva contains a rich network of lymphatic vessels.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It drains its lymph to: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1" u="sng" dirty="0"/>
              <a:t>Superficial inguinal lymph nodes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1" u="sng" dirty="0"/>
              <a:t>Deep inguinal lymph nodes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6E7667-3436-49DE-91DC-F8731C2347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74897" y="923827"/>
            <a:ext cx="5331856" cy="52403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F966C-4E44-A94B-E602-D463E8BF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23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516973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89" y="2958480"/>
            <a:ext cx="8229600" cy="19302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8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THANKS</a:t>
            </a:r>
            <a:endParaRPr lang="ar-SA" sz="13800" dirty="0">
              <a:ln w="0">
                <a:solidFill>
                  <a:srgbClr val="FF0000"/>
                </a:solidFill>
              </a:ln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F2C738-2C54-2B98-E18F-E65A6A35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24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659884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1051</TotalTime>
  <Words>1282</Words>
  <Application>Microsoft Office PowerPoint</Application>
  <PresentationFormat>Widescreen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Brush Script MT</vt:lpstr>
      <vt:lpstr>Calibri</vt:lpstr>
      <vt:lpstr>Century Schoolbook</vt:lpstr>
      <vt:lpstr>Courier New</vt:lpstr>
      <vt:lpstr>Wingdings</vt:lpstr>
      <vt:lpstr>Wingdings 2</vt:lpstr>
      <vt:lpstr>View</vt:lpstr>
      <vt:lpstr>PERINEUM </vt:lpstr>
      <vt:lpstr> FEMALE UROGENITAL TRIANGLE</vt:lpstr>
      <vt:lpstr>Female Urogenital Triangle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FEMALE EXTERNAL GENITALIA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PERINEUM  MALE UROGENITAL TRIANGLE</dc:title>
  <dc:creator>MEDICO126</dc:creator>
  <cp:lastModifiedBy>Mohamed Hammad</cp:lastModifiedBy>
  <cp:revision>39</cp:revision>
  <dcterms:created xsi:type="dcterms:W3CDTF">2021-11-14T05:07:25Z</dcterms:created>
  <dcterms:modified xsi:type="dcterms:W3CDTF">2025-08-19T08:44:49Z</dcterms:modified>
</cp:coreProperties>
</file>