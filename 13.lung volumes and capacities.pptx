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4" r:id="rId3"/>
    <p:sldId id="259" r:id="rId4"/>
    <p:sldId id="260" r:id="rId5"/>
    <p:sldId id="261" r:id="rId6"/>
    <p:sldId id="262" r:id="rId7"/>
    <p:sldId id="265" r:id="rId8"/>
    <p:sldId id="272" r:id="rId9"/>
    <p:sldId id="271" r:id="rId10"/>
    <p:sldId id="267" r:id="rId11"/>
    <p:sldId id="269"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4"/>
          <p:cNvSpPr txBox="1">
            <a:spLocks noChangeArrowheads="1"/>
          </p:cNvSpPr>
          <p:nvPr/>
        </p:nvSpPr>
        <p:spPr bwMode="auto">
          <a:xfrm>
            <a:off x="2819400" y="228600"/>
            <a:ext cx="5867400" cy="1784350"/>
          </a:xfrm>
          <a:prstGeom prst="rect">
            <a:avLst/>
          </a:prstGeom>
          <a:noFill/>
          <a:ln w="9525">
            <a:noFill/>
            <a:miter lim="800000"/>
            <a:headEnd/>
            <a:tailEnd/>
          </a:ln>
        </p:spPr>
        <p:txBody>
          <a:bodyPr>
            <a:spAutoFit/>
          </a:bodyPr>
          <a:lstStyle/>
          <a:p>
            <a:pPr algn="r">
              <a:spcBef>
                <a:spcPct val="50000"/>
              </a:spcBef>
            </a:pPr>
            <a:r>
              <a:rPr lang="en-US" sz="3200" b="1">
                <a:solidFill>
                  <a:srgbClr val="002060"/>
                </a:solidFill>
                <a:latin typeface="Elephant" pitchFamily="18" charset="0"/>
              </a:rPr>
              <a:t>Respiratory  Physiology</a:t>
            </a:r>
            <a:r>
              <a:rPr lang="en-US" sz="3600" b="1">
                <a:solidFill>
                  <a:srgbClr val="002060"/>
                </a:solidFill>
                <a:latin typeface="Elephant" pitchFamily="18" charset="0"/>
              </a:rPr>
              <a:t/>
            </a:r>
            <a:br>
              <a:rPr lang="en-US" sz="3600" b="1">
                <a:solidFill>
                  <a:srgbClr val="002060"/>
                </a:solidFill>
                <a:latin typeface="Elephant" pitchFamily="18" charset="0"/>
              </a:rPr>
            </a:br>
            <a:r>
              <a:rPr lang="en-US" sz="2000">
                <a:solidFill>
                  <a:srgbClr val="002060"/>
                </a:solidFill>
                <a:latin typeface="Elephant" pitchFamily="18" charset="0"/>
              </a:rPr>
              <a:t>Bader Hassan</a:t>
            </a:r>
            <a:endParaRPr lang="en-US" b="1">
              <a:solidFill>
                <a:srgbClr val="002060"/>
              </a:solidFill>
              <a:latin typeface="Elephant" pitchFamily="18" charset="0"/>
            </a:endParaRPr>
          </a:p>
          <a:p>
            <a:pPr algn="r">
              <a:spcBef>
                <a:spcPct val="50000"/>
              </a:spcBef>
            </a:pPr>
            <a:endParaRPr lang="en-US" sz="3600" b="1">
              <a:solidFill>
                <a:srgbClr val="0066FF"/>
              </a:solidFill>
              <a:latin typeface="Elephant" pitchFamily="18" charset="0"/>
            </a:endParaRPr>
          </a:p>
        </p:txBody>
      </p:sp>
      <p:sp>
        <p:nvSpPr>
          <p:cNvPr id="2051" name="Text Box 5"/>
          <p:cNvSpPr txBox="1">
            <a:spLocks noChangeArrowheads="1"/>
          </p:cNvSpPr>
          <p:nvPr/>
        </p:nvSpPr>
        <p:spPr bwMode="auto">
          <a:xfrm>
            <a:off x="381000" y="6248400"/>
            <a:ext cx="8001000" cy="369888"/>
          </a:xfrm>
          <a:prstGeom prst="rect">
            <a:avLst/>
          </a:prstGeom>
          <a:gradFill rotWithShape="1">
            <a:gsLst>
              <a:gs pos="0">
                <a:srgbClr val="2F4776"/>
              </a:gs>
              <a:gs pos="50000">
                <a:srgbClr val="6699FF"/>
              </a:gs>
              <a:gs pos="100000">
                <a:srgbClr val="2F4776"/>
              </a:gs>
            </a:gsLst>
            <a:lin ang="5400000" scaled="1"/>
          </a:gradFill>
          <a:ln w="9525">
            <a:noFill/>
            <a:miter lim="800000"/>
            <a:headEnd/>
            <a:tailEnd/>
          </a:ln>
        </p:spPr>
        <p:txBody>
          <a:bodyPr>
            <a:spAutoFit/>
          </a:bodyPr>
          <a:lstStyle/>
          <a:p>
            <a:pPr>
              <a:spcBef>
                <a:spcPct val="50000"/>
              </a:spcBef>
            </a:pPr>
            <a:r>
              <a:rPr lang="en-US" b="1"/>
              <a:t>Dept.Of Physiology</a:t>
            </a:r>
            <a:r>
              <a:rPr lang="en-US" b="1">
                <a:solidFill>
                  <a:schemeClr val="bg1"/>
                </a:solidFill>
              </a:rPr>
              <a:t>  </a:t>
            </a:r>
          </a:p>
        </p:txBody>
      </p:sp>
      <p:sp>
        <p:nvSpPr>
          <p:cNvPr id="2052" name="Text Box 7"/>
          <p:cNvSpPr txBox="1">
            <a:spLocks noChangeArrowheads="1"/>
          </p:cNvSpPr>
          <p:nvPr/>
        </p:nvSpPr>
        <p:spPr bwMode="auto">
          <a:xfrm>
            <a:off x="228600" y="1752600"/>
            <a:ext cx="3810000" cy="3939540"/>
          </a:xfrm>
          <a:prstGeom prst="rect">
            <a:avLst/>
          </a:prstGeom>
          <a:solidFill>
            <a:srgbClr val="002060"/>
          </a:solidFill>
          <a:ln w="9525">
            <a:noFill/>
            <a:miter lim="800000"/>
            <a:headEnd/>
            <a:tailEnd/>
          </a:ln>
        </p:spPr>
        <p:txBody>
          <a:bodyPr>
            <a:spAutoFit/>
          </a:bodyPr>
          <a:lstStyle/>
          <a:p>
            <a:pPr algn="ctr">
              <a:spcBef>
                <a:spcPct val="50000"/>
              </a:spcBef>
            </a:pPr>
            <a:r>
              <a:rPr lang="en-GB" sz="4800" b="1" dirty="0" smtClean="0">
                <a:solidFill>
                  <a:srgbClr val="FF0000"/>
                </a:solidFill>
                <a:effectLst>
                  <a:outerShdw blurRad="38100" dist="38100" dir="2700000" algn="tl">
                    <a:srgbClr val="000000">
                      <a:alpha val="43137"/>
                    </a:srgbClr>
                  </a:outerShdw>
                </a:effectLst>
              </a:rPr>
              <a:t>Lung volumes &amp;</a:t>
            </a:r>
          </a:p>
          <a:p>
            <a:pPr algn="ctr">
              <a:spcBef>
                <a:spcPct val="50000"/>
              </a:spcBef>
            </a:pPr>
            <a:r>
              <a:rPr lang="en-GB" sz="4800" b="1" dirty="0" smtClean="0">
                <a:solidFill>
                  <a:srgbClr val="FF0000"/>
                </a:solidFill>
                <a:effectLst>
                  <a:outerShdw blurRad="38100" dist="38100" dir="2700000" algn="tl">
                    <a:srgbClr val="000000">
                      <a:alpha val="43137"/>
                    </a:srgbClr>
                  </a:outerShdw>
                </a:effectLst>
              </a:rPr>
              <a:t> Capacities</a:t>
            </a:r>
            <a:r>
              <a:rPr lang="en-US" sz="4400" dirty="0" smtClean="0"/>
              <a:t/>
            </a:r>
            <a:br>
              <a:rPr lang="en-US" sz="4400" dirty="0" smtClean="0"/>
            </a:br>
            <a:r>
              <a:rPr lang="en-US" sz="2000" b="1" i="1" dirty="0"/>
              <a:t/>
            </a:r>
            <a:br>
              <a:rPr lang="en-US" sz="2000" b="1" i="1" dirty="0"/>
            </a:br>
            <a:endParaRPr lang="en-US" sz="2000" b="1" i="1" dirty="0"/>
          </a:p>
          <a:p>
            <a:pPr>
              <a:spcBef>
                <a:spcPct val="50000"/>
              </a:spcBef>
            </a:pPr>
            <a:endParaRPr lang="en-US" sz="2800" b="1" dirty="0">
              <a:solidFill>
                <a:srgbClr val="FF3300"/>
              </a:solidFill>
            </a:endParaRPr>
          </a:p>
        </p:txBody>
      </p:sp>
      <p:sp>
        <p:nvSpPr>
          <p:cNvPr id="2053" name="Text Box 9"/>
          <p:cNvSpPr txBox="1">
            <a:spLocks noChangeArrowheads="1"/>
          </p:cNvSpPr>
          <p:nvPr/>
        </p:nvSpPr>
        <p:spPr bwMode="auto">
          <a:xfrm>
            <a:off x="0" y="152400"/>
            <a:ext cx="3657600" cy="369888"/>
          </a:xfrm>
          <a:prstGeom prst="rect">
            <a:avLst/>
          </a:prstGeom>
          <a:gradFill rotWithShape="1">
            <a:gsLst>
              <a:gs pos="0">
                <a:srgbClr val="2F4776"/>
              </a:gs>
              <a:gs pos="50000">
                <a:srgbClr val="6699FF"/>
              </a:gs>
              <a:gs pos="100000">
                <a:srgbClr val="2F4776"/>
              </a:gs>
            </a:gsLst>
            <a:lin ang="5400000" scaled="1"/>
          </a:gradFill>
          <a:ln w="9525">
            <a:noFill/>
            <a:miter lim="800000"/>
            <a:headEnd/>
            <a:tailEnd/>
          </a:ln>
        </p:spPr>
        <p:txBody>
          <a:bodyPr>
            <a:spAutoFit/>
          </a:bodyPr>
          <a:lstStyle/>
          <a:p>
            <a:pPr>
              <a:spcBef>
                <a:spcPct val="50000"/>
              </a:spcBef>
            </a:pPr>
            <a:r>
              <a:rPr lang="en-US" b="1" dirty="0"/>
              <a:t>LECTURE NO </a:t>
            </a:r>
            <a:r>
              <a:rPr lang="en-US" b="1" dirty="0" smtClean="0"/>
              <a:t>(3)   </a:t>
            </a:r>
            <a:endParaRPr lang="ar-SA" b="1" dirty="0"/>
          </a:p>
        </p:txBody>
      </p:sp>
      <p:pic>
        <p:nvPicPr>
          <p:cNvPr id="9" name="Picture 4" descr="untitled.bmp"/>
          <p:cNvPicPr>
            <a:picLocks noChangeAspect="1"/>
          </p:cNvPicPr>
          <p:nvPr/>
        </p:nvPicPr>
        <p:blipFill>
          <a:blip r:embed="rId2"/>
          <a:srcRect/>
          <a:stretch>
            <a:fillRect/>
          </a:stretch>
        </p:blipFill>
        <p:spPr bwMode="auto">
          <a:xfrm>
            <a:off x="4191000" y="1524000"/>
            <a:ext cx="4800600" cy="4724400"/>
          </a:xfrm>
          <a:prstGeom prst="rect">
            <a:avLst/>
          </a:prstGeom>
          <a:noFill/>
          <a:ln w="9525">
            <a:noFill/>
            <a:miter lim="800000"/>
            <a:headEnd/>
            <a:tailEnd/>
          </a:ln>
        </p:spPr>
      </p:pic>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a:xfrm>
            <a:off x="685800" y="357188"/>
            <a:ext cx="7772400" cy="1285875"/>
          </a:xfrm>
        </p:spPr>
        <p:txBody>
          <a:bodyPr>
            <a:normAutofit fontScale="90000"/>
          </a:bodyPr>
          <a:lstStyle/>
          <a:p>
            <a:pPr eaLnBrk="1" hangingPunct="1">
              <a:defRPr/>
            </a:pPr>
            <a:r>
              <a:rPr lang="en-GB" b="1" dirty="0" smtClean="0">
                <a:solidFill>
                  <a:srgbClr val="FF0000"/>
                </a:solidFill>
              </a:rPr>
              <a:t>Lung volumes &amp; Capacities</a:t>
            </a:r>
            <a:r>
              <a:rPr lang="en-US" dirty="0" smtClean="0"/>
              <a:t/>
            </a:r>
            <a:br>
              <a:rPr lang="en-US" dirty="0" smtClean="0"/>
            </a:br>
            <a:endParaRPr lang="en-US" dirty="0" smtClean="0"/>
          </a:p>
        </p:txBody>
      </p:sp>
      <p:sp>
        <p:nvSpPr>
          <p:cNvPr id="2051" name="Rectangle 3"/>
          <p:cNvSpPr>
            <a:spLocks noGrp="1" noRot="1" noChangeArrowheads="1"/>
          </p:cNvSpPr>
          <p:nvPr>
            <p:ph type="subTitle" idx="1"/>
          </p:nvPr>
        </p:nvSpPr>
        <p:spPr>
          <a:xfrm>
            <a:off x="642938" y="2071688"/>
            <a:ext cx="8001000" cy="4500562"/>
          </a:xfrm>
        </p:spPr>
        <p:txBody>
          <a:bodyPr/>
          <a:lstStyle/>
          <a:p>
            <a:pPr algn="l" eaLnBrk="1" hangingPunct="1">
              <a:defRPr/>
            </a:pPr>
            <a:r>
              <a:rPr lang="en-US" b="1" dirty="0" smtClean="0">
                <a:solidFill>
                  <a:srgbClr val="FF0000"/>
                </a:solidFill>
              </a:rPr>
              <a:t>Pulmonary ventilation</a:t>
            </a:r>
          </a:p>
          <a:p>
            <a:pPr algn="l" eaLnBrk="1" hangingPunct="1">
              <a:defRPr/>
            </a:pPr>
            <a:r>
              <a:rPr lang="en-US" dirty="0" smtClean="0">
                <a:solidFill>
                  <a:schemeClr val="tx1"/>
                </a:solidFill>
              </a:rPr>
              <a:t>It is process of air flowing  into the lungs during </a:t>
            </a:r>
            <a:r>
              <a:rPr lang="en-US" b="1" dirty="0" smtClean="0">
                <a:solidFill>
                  <a:schemeClr val="tx1"/>
                </a:solidFill>
              </a:rPr>
              <a:t>inspiration</a:t>
            </a:r>
            <a:r>
              <a:rPr lang="en-US" dirty="0" smtClean="0">
                <a:solidFill>
                  <a:schemeClr val="tx1"/>
                </a:solidFill>
              </a:rPr>
              <a:t> and out of the lugs during </a:t>
            </a:r>
            <a:r>
              <a:rPr lang="en-US" b="1" dirty="0" smtClean="0">
                <a:solidFill>
                  <a:schemeClr val="tx1"/>
                </a:solidFill>
              </a:rPr>
              <a:t>expiration</a:t>
            </a:r>
            <a:r>
              <a:rPr lang="en-US" dirty="0" smtClean="0">
                <a:solidFill>
                  <a:schemeClr val="tx1"/>
                </a:solidFill>
              </a:rPr>
              <a:t>, air flows because of the pressure difference between the atmosphere and the gases inside the lungs.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blinds(horizontal)">
                                      <p:cBhvr>
                                        <p:cTn id="7" dur="500"/>
                                        <p:tgtEl>
                                          <p:spTgt spid="2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1">
                                            <p:txEl>
                                              <p:pRg st="1" end="1"/>
                                            </p:txEl>
                                          </p:spTgt>
                                        </p:tgtEl>
                                        <p:attrNameLst>
                                          <p:attrName>style.visibility</p:attrName>
                                        </p:attrNameLst>
                                      </p:cBhvr>
                                      <p:to>
                                        <p:strVal val="visible"/>
                                      </p:to>
                                    </p:set>
                                    <p:animEffect transition="in" filter="blinds(horizontal)">
                                      <p:cBhvr>
                                        <p:cTn id="12" dur="500"/>
                                        <p:tgtEl>
                                          <p:spTgt spid="2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a:xfrm>
            <a:off x="457200" y="274638"/>
            <a:ext cx="8229600" cy="868362"/>
          </a:xfrm>
        </p:spPr>
        <p:txBody>
          <a:bodyPr/>
          <a:lstStyle/>
          <a:p>
            <a:pPr eaLnBrk="1" hangingPunct="1">
              <a:defRPr/>
            </a:pPr>
            <a:r>
              <a:rPr lang="en-GB" sz="3600" b="1" i="1" dirty="0" smtClean="0"/>
              <a:t>Lung volumes &amp; Capacities</a:t>
            </a:r>
            <a:endParaRPr lang="en-US" sz="3600" b="1" i="1" dirty="0" smtClean="0"/>
          </a:p>
        </p:txBody>
      </p:sp>
      <p:sp>
        <p:nvSpPr>
          <p:cNvPr id="3075" name="Rectangle 3"/>
          <p:cNvSpPr>
            <a:spLocks noGrp="1" noRot="1" noChangeArrowheads="1"/>
          </p:cNvSpPr>
          <p:nvPr>
            <p:ph type="body" idx="1"/>
          </p:nvPr>
        </p:nvSpPr>
        <p:spPr>
          <a:xfrm>
            <a:off x="457200" y="990600"/>
            <a:ext cx="8229600" cy="5638800"/>
          </a:xfrm>
        </p:spPr>
        <p:txBody>
          <a:bodyPr>
            <a:normAutofit fontScale="92500" lnSpcReduction="20000"/>
          </a:bodyPr>
          <a:lstStyle/>
          <a:p>
            <a:pPr eaLnBrk="1" hangingPunct="1">
              <a:buNone/>
              <a:defRPr/>
            </a:pPr>
            <a:r>
              <a:rPr lang="en-GB" sz="3000" i="1" dirty="0" smtClean="0"/>
              <a:t>The air in the lungs has been subdivided in to </a:t>
            </a:r>
            <a:r>
              <a:rPr lang="en-GB" sz="3000" i="1" dirty="0" smtClean="0">
                <a:solidFill>
                  <a:srgbClr val="FF0000"/>
                </a:solidFill>
              </a:rPr>
              <a:t>four</a:t>
            </a:r>
            <a:r>
              <a:rPr lang="en-GB" sz="3000" i="1" dirty="0" smtClean="0"/>
              <a:t> volumes and </a:t>
            </a:r>
            <a:r>
              <a:rPr lang="en-GB" sz="3000" i="1" dirty="0" smtClean="0">
                <a:solidFill>
                  <a:srgbClr val="FF0000"/>
                </a:solidFill>
              </a:rPr>
              <a:t>four</a:t>
            </a:r>
            <a:r>
              <a:rPr lang="en-GB" sz="3000" i="1" dirty="0" smtClean="0"/>
              <a:t> capacities .</a:t>
            </a:r>
          </a:p>
          <a:p>
            <a:pPr eaLnBrk="1" hangingPunct="1">
              <a:buNone/>
              <a:defRPr/>
            </a:pPr>
            <a:r>
              <a:rPr lang="en-GB" sz="3000" b="1" dirty="0" smtClean="0">
                <a:latin typeface="+mj-lt"/>
                <a:ea typeface="+mj-ea"/>
                <a:cs typeface="+mj-cs"/>
              </a:rPr>
              <a:t>Lung volumes:</a:t>
            </a:r>
          </a:p>
          <a:p>
            <a:pPr eaLnBrk="1" hangingPunct="1">
              <a:buNone/>
              <a:defRPr/>
            </a:pPr>
            <a:r>
              <a:rPr lang="en-GB" u="sng" dirty="0" smtClean="0">
                <a:solidFill>
                  <a:srgbClr val="FF0000"/>
                </a:solidFill>
              </a:rPr>
              <a:t>(1</a:t>
            </a:r>
            <a:r>
              <a:rPr lang="en-GB" b="1" u="sng" dirty="0" smtClean="0">
                <a:solidFill>
                  <a:srgbClr val="FF0000"/>
                </a:solidFill>
              </a:rPr>
              <a:t>) Tidal volume (TV)</a:t>
            </a:r>
          </a:p>
          <a:p>
            <a:pPr eaLnBrk="1" hangingPunct="1">
              <a:buFont typeface="Wingdings" pitchFamily="2" charset="2"/>
              <a:buNone/>
              <a:defRPr/>
            </a:pPr>
            <a:r>
              <a:rPr lang="en-GB" b="1" dirty="0" smtClean="0">
                <a:solidFill>
                  <a:srgbClr val="FF0000"/>
                </a:solidFill>
              </a:rPr>
              <a:t> </a:t>
            </a:r>
            <a:r>
              <a:rPr lang="en-GB" dirty="0" smtClean="0"/>
              <a:t>is the volume of air inspired or expired with each normal breath. It amount about </a:t>
            </a:r>
            <a:r>
              <a:rPr lang="en-GB" dirty="0" smtClean="0">
                <a:solidFill>
                  <a:srgbClr val="FF0000"/>
                </a:solidFill>
              </a:rPr>
              <a:t>0.5L</a:t>
            </a:r>
            <a:r>
              <a:rPr lang="en-GB" dirty="0" smtClean="0">
                <a:solidFill>
                  <a:srgbClr val="C00000"/>
                </a:solidFill>
              </a:rPr>
              <a:t>, </a:t>
            </a:r>
            <a:r>
              <a:rPr lang="en-GB" dirty="0" smtClean="0"/>
              <a:t>in adult males and females at the rest.</a:t>
            </a:r>
          </a:p>
          <a:p>
            <a:pPr eaLnBrk="1" hangingPunct="1">
              <a:buFont typeface="Arial" charset="0"/>
              <a:buChar char="•"/>
              <a:defRPr/>
            </a:pPr>
            <a:r>
              <a:rPr lang="en-GB" sz="2800" b="1" i="1" dirty="0" smtClean="0">
                <a:solidFill>
                  <a:srgbClr val="00B0F0"/>
                </a:solidFill>
              </a:rPr>
              <a:t>Can be measured by the </a:t>
            </a:r>
            <a:r>
              <a:rPr lang="en-GB" sz="2800" b="1" i="1" dirty="0" err="1" smtClean="0">
                <a:solidFill>
                  <a:srgbClr val="00B0F0"/>
                </a:solidFill>
              </a:rPr>
              <a:t>Spirometer</a:t>
            </a:r>
            <a:r>
              <a:rPr lang="en-GB" sz="2800" b="1" i="1" dirty="0" smtClean="0">
                <a:solidFill>
                  <a:srgbClr val="00B0F0"/>
                </a:solidFill>
              </a:rPr>
              <a:t>.</a:t>
            </a:r>
          </a:p>
          <a:p>
            <a:pPr>
              <a:buNone/>
              <a:defRPr/>
            </a:pPr>
            <a:r>
              <a:rPr lang="en-GB" b="1" u="sng" dirty="0" smtClean="0">
                <a:solidFill>
                  <a:srgbClr val="FF0000"/>
                </a:solidFill>
              </a:rPr>
              <a:t>(2) </a:t>
            </a:r>
            <a:r>
              <a:rPr lang="en-GB" b="1" u="sng" dirty="0" err="1" smtClean="0">
                <a:solidFill>
                  <a:srgbClr val="FF0000"/>
                </a:solidFill>
              </a:rPr>
              <a:t>Inspiratory</a:t>
            </a:r>
            <a:r>
              <a:rPr lang="en-GB" b="1" u="sng" dirty="0" smtClean="0">
                <a:solidFill>
                  <a:srgbClr val="FF0000"/>
                </a:solidFill>
              </a:rPr>
              <a:t> reserve volume (IRV):</a:t>
            </a:r>
          </a:p>
          <a:p>
            <a:pPr>
              <a:defRPr/>
            </a:pPr>
            <a:r>
              <a:rPr lang="en-GB" dirty="0" smtClean="0"/>
              <a:t> The air inspired with maximal </a:t>
            </a:r>
            <a:r>
              <a:rPr lang="en-GB" dirty="0" err="1" smtClean="0"/>
              <a:t>inspiratory</a:t>
            </a:r>
            <a:r>
              <a:rPr lang="en-GB" dirty="0" smtClean="0"/>
              <a:t> effort in excess of the tidal volume, </a:t>
            </a:r>
            <a:r>
              <a:rPr lang="en-GB" dirty="0" smtClean="0">
                <a:solidFill>
                  <a:srgbClr val="FF0000"/>
                </a:solidFill>
              </a:rPr>
              <a:t>3L</a:t>
            </a:r>
            <a:r>
              <a:rPr lang="en-GB" dirty="0" smtClean="0"/>
              <a:t> in adult males , </a:t>
            </a:r>
            <a:r>
              <a:rPr lang="en-GB" dirty="0" smtClean="0">
                <a:solidFill>
                  <a:srgbClr val="FF0000"/>
                </a:solidFill>
              </a:rPr>
              <a:t>1.9L</a:t>
            </a:r>
            <a:r>
              <a:rPr lang="en-GB" dirty="0" smtClean="0"/>
              <a:t> in adult females.</a:t>
            </a:r>
          </a:p>
          <a:p>
            <a:pPr>
              <a:buNone/>
              <a:defRPr/>
            </a:pPr>
            <a:r>
              <a:rPr lang="en-GB" dirty="0" smtClean="0"/>
              <a:t>* </a:t>
            </a:r>
            <a:r>
              <a:rPr lang="en-GB" b="1" i="1" dirty="0" smtClean="0">
                <a:solidFill>
                  <a:srgbClr val="00B0F0"/>
                </a:solidFill>
              </a:rPr>
              <a:t>Can be measured by the </a:t>
            </a:r>
            <a:r>
              <a:rPr lang="en-GB" b="1" i="1" dirty="0" err="1" smtClean="0">
                <a:solidFill>
                  <a:srgbClr val="00B0F0"/>
                </a:solidFill>
              </a:rPr>
              <a:t>Spirometer</a:t>
            </a:r>
            <a:r>
              <a:rPr lang="en-GB" b="1" i="1" dirty="0" smtClean="0">
                <a:solidFill>
                  <a:srgbClr val="00B0F0"/>
                </a:solidFill>
              </a:rPr>
              <a:t>.</a:t>
            </a:r>
            <a:endParaRPr lang="en-GB" dirty="0" smtClean="0"/>
          </a:p>
          <a:p>
            <a:pPr eaLnBrk="1" hangingPunct="1">
              <a:buFont typeface="Arial" charset="0"/>
              <a:buChar char="•"/>
              <a:defRPr/>
            </a:pPr>
            <a:endParaRPr lang="en-US" b="1" i="1" dirty="0" smtClean="0">
              <a:solidFill>
                <a:srgbClr val="00B0F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linds(horizontal)">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blinds(horizontal)">
                                      <p:cBhvr>
                                        <p:cTn id="12" dur="5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blinds(horizontal)">
                                      <p:cBhvr>
                                        <p:cTn id="17" dur="500"/>
                                        <p:tgtEl>
                                          <p:spTgt spid="30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blinds(horizontal)">
                                      <p:cBhvr>
                                        <p:cTn id="22" dur="500"/>
                                        <p:tgtEl>
                                          <p:spTgt spid="30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75">
                                            <p:txEl>
                                              <p:pRg st="4" end="4"/>
                                            </p:txEl>
                                          </p:spTgt>
                                        </p:tgtEl>
                                        <p:attrNameLst>
                                          <p:attrName>style.visibility</p:attrName>
                                        </p:attrNameLst>
                                      </p:cBhvr>
                                      <p:to>
                                        <p:strVal val="visible"/>
                                      </p:to>
                                    </p:set>
                                    <p:animEffect transition="in" filter="blinds(horizontal)">
                                      <p:cBhvr>
                                        <p:cTn id="27" dur="500"/>
                                        <p:tgtEl>
                                          <p:spTgt spid="30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75">
                                            <p:txEl>
                                              <p:pRg st="5" end="5"/>
                                            </p:txEl>
                                          </p:spTgt>
                                        </p:tgtEl>
                                        <p:attrNameLst>
                                          <p:attrName>style.visibility</p:attrName>
                                        </p:attrNameLst>
                                      </p:cBhvr>
                                      <p:to>
                                        <p:strVal val="visible"/>
                                      </p:to>
                                    </p:set>
                                    <p:animEffect transition="in" filter="blinds(horizontal)">
                                      <p:cBhvr>
                                        <p:cTn id="32" dur="500"/>
                                        <p:tgtEl>
                                          <p:spTgt spid="30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75">
                                            <p:txEl>
                                              <p:pRg st="6" end="6"/>
                                            </p:txEl>
                                          </p:spTgt>
                                        </p:tgtEl>
                                        <p:attrNameLst>
                                          <p:attrName>style.visibility</p:attrName>
                                        </p:attrNameLst>
                                      </p:cBhvr>
                                      <p:to>
                                        <p:strVal val="visible"/>
                                      </p:to>
                                    </p:set>
                                    <p:animEffect transition="in" filter="blinds(horizontal)">
                                      <p:cBhvr>
                                        <p:cTn id="37" dur="500"/>
                                        <p:tgtEl>
                                          <p:spTgt spid="30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75">
                                            <p:txEl>
                                              <p:pRg st="7" end="7"/>
                                            </p:txEl>
                                          </p:spTgt>
                                        </p:tgtEl>
                                        <p:attrNameLst>
                                          <p:attrName>style.visibility</p:attrName>
                                        </p:attrNameLst>
                                      </p:cBhvr>
                                      <p:to>
                                        <p:strVal val="visible"/>
                                      </p:to>
                                    </p:set>
                                    <p:animEffect transition="in" filter="blinds(horizontal)">
                                      <p:cBhvr>
                                        <p:cTn id="42" dur="500"/>
                                        <p:tgtEl>
                                          <p:spTgt spid="30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a:xfrm>
            <a:off x="457200" y="274638"/>
            <a:ext cx="8229600" cy="334962"/>
          </a:xfrm>
        </p:spPr>
        <p:txBody>
          <a:bodyPr>
            <a:normAutofit fontScale="90000"/>
          </a:bodyPr>
          <a:lstStyle/>
          <a:p>
            <a:pPr eaLnBrk="1" hangingPunct="1">
              <a:defRPr/>
            </a:pPr>
            <a:endParaRPr lang="en-US" dirty="0" smtClean="0"/>
          </a:p>
        </p:txBody>
      </p:sp>
      <p:sp>
        <p:nvSpPr>
          <p:cNvPr id="4099" name="Rectangle 3"/>
          <p:cNvSpPr>
            <a:spLocks noGrp="1" noRot="1" noChangeArrowheads="1"/>
          </p:cNvSpPr>
          <p:nvPr>
            <p:ph type="body" idx="1"/>
          </p:nvPr>
        </p:nvSpPr>
        <p:spPr>
          <a:xfrm>
            <a:off x="301625" y="304800"/>
            <a:ext cx="8540750" cy="6553200"/>
          </a:xfrm>
        </p:spPr>
        <p:txBody>
          <a:bodyPr>
            <a:normAutofit/>
          </a:bodyPr>
          <a:lstStyle/>
          <a:p>
            <a:pPr eaLnBrk="1" hangingPunct="1">
              <a:buNone/>
              <a:defRPr/>
            </a:pPr>
            <a:r>
              <a:rPr lang="en-GB" sz="2800" b="1" dirty="0" smtClean="0">
                <a:solidFill>
                  <a:srgbClr val="FF0000"/>
                </a:solidFill>
              </a:rPr>
              <a:t>(3) Expiratory reserve volume (ERV) :</a:t>
            </a:r>
          </a:p>
          <a:p>
            <a:pPr eaLnBrk="1" hangingPunct="1">
              <a:defRPr/>
            </a:pPr>
            <a:r>
              <a:rPr lang="en-GB" sz="2800" b="1" dirty="0" smtClean="0">
                <a:solidFill>
                  <a:srgbClr val="FF0000"/>
                </a:solidFill>
              </a:rPr>
              <a:t> </a:t>
            </a:r>
            <a:r>
              <a:rPr lang="en-GB" sz="2800" dirty="0" smtClean="0"/>
              <a:t>is the extra amount of air that can be expired by forceful expiration after the end of a normal tidal expiration. = </a:t>
            </a:r>
            <a:r>
              <a:rPr lang="en-GB" sz="2800" dirty="0" smtClean="0">
                <a:solidFill>
                  <a:srgbClr val="FF0000"/>
                </a:solidFill>
              </a:rPr>
              <a:t>1L</a:t>
            </a:r>
            <a:r>
              <a:rPr lang="en-GB" sz="2800" dirty="0" smtClean="0"/>
              <a:t> in adult males, </a:t>
            </a:r>
            <a:r>
              <a:rPr lang="en-GB" sz="2800" dirty="0" smtClean="0">
                <a:solidFill>
                  <a:srgbClr val="FF0000"/>
                </a:solidFill>
              </a:rPr>
              <a:t>0.7</a:t>
            </a:r>
            <a:r>
              <a:rPr lang="en-GB" sz="2800" dirty="0" smtClean="0"/>
              <a:t> in adult females. </a:t>
            </a:r>
          </a:p>
          <a:p>
            <a:pPr>
              <a:buNone/>
              <a:defRPr/>
            </a:pPr>
            <a:r>
              <a:rPr lang="en-GB" sz="2800" dirty="0" smtClean="0"/>
              <a:t>* </a:t>
            </a:r>
            <a:r>
              <a:rPr lang="en-GB" sz="2800" b="1" i="1" dirty="0" smtClean="0">
                <a:solidFill>
                  <a:srgbClr val="00B0F0"/>
                </a:solidFill>
              </a:rPr>
              <a:t>Can be measured by the </a:t>
            </a:r>
            <a:r>
              <a:rPr lang="en-GB" sz="2800" b="1" i="1" dirty="0" err="1" smtClean="0">
                <a:solidFill>
                  <a:srgbClr val="00B0F0"/>
                </a:solidFill>
              </a:rPr>
              <a:t>Spirometer</a:t>
            </a:r>
            <a:r>
              <a:rPr lang="en-GB" sz="2800" b="1" i="1" dirty="0" smtClean="0">
                <a:solidFill>
                  <a:srgbClr val="00B0F0"/>
                </a:solidFill>
              </a:rPr>
              <a:t>.</a:t>
            </a:r>
            <a:endParaRPr lang="en-GB" sz="2800" dirty="0" smtClean="0"/>
          </a:p>
          <a:p>
            <a:pPr eaLnBrk="1" hangingPunct="1">
              <a:buNone/>
              <a:defRPr/>
            </a:pPr>
            <a:r>
              <a:rPr lang="en-GB" sz="2800" b="1" dirty="0" smtClean="0">
                <a:solidFill>
                  <a:srgbClr val="FF0000"/>
                </a:solidFill>
              </a:rPr>
              <a:t>(4) Residual volume (RV):</a:t>
            </a:r>
          </a:p>
          <a:p>
            <a:pPr eaLnBrk="1" hangingPunct="1">
              <a:defRPr/>
            </a:pPr>
            <a:r>
              <a:rPr lang="en-GB" sz="2800" b="1" dirty="0" smtClean="0">
                <a:solidFill>
                  <a:srgbClr val="FF0000"/>
                </a:solidFill>
              </a:rPr>
              <a:t> </a:t>
            </a:r>
            <a:r>
              <a:rPr lang="en-GB" sz="2800" dirty="0" smtClean="0"/>
              <a:t>is the volume of air remaining in the lung after the most forceful expiration.</a:t>
            </a:r>
          </a:p>
          <a:p>
            <a:pPr eaLnBrk="1" hangingPunct="1">
              <a:buNone/>
              <a:defRPr/>
            </a:pPr>
            <a:r>
              <a:rPr lang="en-GB" sz="2800" dirty="0" smtClean="0"/>
              <a:t>= </a:t>
            </a:r>
            <a:r>
              <a:rPr lang="en-GB" sz="2800" dirty="0" smtClean="0">
                <a:solidFill>
                  <a:srgbClr val="FF0000"/>
                </a:solidFill>
              </a:rPr>
              <a:t>1.2L</a:t>
            </a:r>
            <a:r>
              <a:rPr lang="en-GB" sz="2800" dirty="0" smtClean="0"/>
              <a:t> in adult males, </a:t>
            </a:r>
            <a:r>
              <a:rPr lang="en-GB" sz="2800" dirty="0" smtClean="0">
                <a:solidFill>
                  <a:srgbClr val="FF0000"/>
                </a:solidFill>
              </a:rPr>
              <a:t>1.1L</a:t>
            </a:r>
            <a:r>
              <a:rPr lang="en-GB" sz="2800" dirty="0" smtClean="0"/>
              <a:t> in adult females.</a:t>
            </a:r>
          </a:p>
          <a:p>
            <a:pPr>
              <a:buNone/>
              <a:defRPr/>
            </a:pPr>
            <a:r>
              <a:rPr lang="en-GB" sz="2800" b="1" i="1" dirty="0" smtClean="0">
                <a:solidFill>
                  <a:srgbClr val="7030A0"/>
                </a:solidFill>
              </a:rPr>
              <a:t>* Cannot measured by the </a:t>
            </a:r>
            <a:r>
              <a:rPr lang="en-GB" sz="2800" b="1" i="1" dirty="0" err="1" smtClean="0">
                <a:solidFill>
                  <a:srgbClr val="7030A0"/>
                </a:solidFill>
              </a:rPr>
              <a:t>Spirometer</a:t>
            </a:r>
            <a:r>
              <a:rPr lang="en-GB" sz="2800" b="1" i="1" dirty="0" smtClean="0">
                <a:solidFill>
                  <a:srgbClr val="7030A0"/>
                </a:solidFill>
              </a:rPr>
              <a:t>.</a:t>
            </a:r>
            <a:r>
              <a:rPr lang="en-GB" sz="2800" dirty="0" smtClean="0">
                <a:solidFill>
                  <a:srgbClr val="7030A0"/>
                </a:solidFill>
              </a:rPr>
              <a:t> </a:t>
            </a:r>
            <a:endParaRPr lang="en-US" sz="2800" dirty="0" smtClean="0">
              <a:solidFill>
                <a:srgbClr val="7030A0"/>
              </a:solidFill>
            </a:endParaRPr>
          </a:p>
          <a:p>
            <a:pPr eaLnBrk="1" hangingPunct="1">
              <a:buNone/>
              <a:defRPr/>
            </a:pPr>
            <a:endParaRPr lang="en-US" sz="28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linds(horizontal)">
                                      <p:cBhvr>
                                        <p:cTn id="22" dur="500"/>
                                        <p:tgtEl>
                                          <p:spTgt spid="4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7" dur="500"/>
                                        <p:tgtEl>
                                          <p:spTgt spid="40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linds(horizontal)">
                                      <p:cBhvr>
                                        <p:cTn id="32" dur="500"/>
                                        <p:tgtEl>
                                          <p:spTgt spid="40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blinds(horizontal)">
                                      <p:cBhvr>
                                        <p:cTn id="37" dur="500"/>
                                        <p:tgtEl>
                                          <p:spTgt spid="40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p:txBody>
          <a:bodyPr/>
          <a:lstStyle/>
          <a:p>
            <a:pPr eaLnBrk="1" hangingPunct="1">
              <a:defRPr/>
            </a:pPr>
            <a:r>
              <a:rPr lang="en-US" smtClean="0"/>
              <a:t>CON</a:t>
            </a:r>
          </a:p>
        </p:txBody>
      </p:sp>
      <p:pic>
        <p:nvPicPr>
          <p:cNvPr id="6147" name="Picture 4" descr="lung_vol"/>
          <p:cNvPicPr>
            <a:picLocks noGrp="1" noChangeAspect="1" noChangeArrowheads="1"/>
          </p:cNvPicPr>
          <p:nvPr>
            <p:ph type="body" idx="1"/>
          </p:nvPr>
        </p:nvPicPr>
        <p:blipFill>
          <a:blip r:embed="rId2"/>
          <a:srcRect/>
          <a:stretch>
            <a:fillRect/>
          </a:stretch>
        </p:blipFill>
        <p:spPr>
          <a:xfrm>
            <a:off x="0" y="0"/>
            <a:ext cx="9144000" cy="6858000"/>
          </a:xfrm>
          <a:noFill/>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a:xfrm>
            <a:off x="457200" y="274638"/>
            <a:ext cx="8229600" cy="715962"/>
          </a:xfrm>
        </p:spPr>
        <p:txBody>
          <a:bodyPr>
            <a:normAutofit fontScale="90000"/>
          </a:bodyPr>
          <a:lstStyle/>
          <a:p>
            <a:pPr eaLnBrk="1" hangingPunct="1">
              <a:defRPr/>
            </a:pPr>
            <a:r>
              <a:rPr lang="en-GB" b="1" dirty="0" smtClean="0"/>
              <a:t>Pulmonary capacities</a:t>
            </a:r>
            <a:endParaRPr lang="en-US" b="1" dirty="0" smtClean="0"/>
          </a:p>
        </p:txBody>
      </p:sp>
      <p:sp>
        <p:nvSpPr>
          <p:cNvPr id="6147" name="Rectangle 3"/>
          <p:cNvSpPr>
            <a:spLocks noGrp="1" noRot="1" noChangeArrowheads="1"/>
          </p:cNvSpPr>
          <p:nvPr>
            <p:ph type="body" idx="1"/>
          </p:nvPr>
        </p:nvSpPr>
        <p:spPr>
          <a:xfrm>
            <a:off x="301625" y="1066800"/>
            <a:ext cx="8540750" cy="5505450"/>
          </a:xfrm>
        </p:spPr>
        <p:txBody>
          <a:bodyPr>
            <a:normAutofit lnSpcReduction="10000"/>
          </a:bodyPr>
          <a:lstStyle/>
          <a:p>
            <a:pPr eaLnBrk="1" hangingPunct="1">
              <a:lnSpc>
                <a:spcPct val="90000"/>
              </a:lnSpc>
              <a:buNone/>
              <a:defRPr/>
            </a:pPr>
            <a:r>
              <a:rPr lang="en-GB" dirty="0" smtClean="0"/>
              <a:t>Are combination of two or more volume.</a:t>
            </a:r>
          </a:p>
          <a:p>
            <a:pPr eaLnBrk="1" hangingPunct="1">
              <a:lnSpc>
                <a:spcPct val="90000"/>
              </a:lnSpc>
              <a:buNone/>
              <a:defRPr/>
            </a:pPr>
            <a:r>
              <a:rPr lang="en-GB" b="1" dirty="0" smtClean="0">
                <a:solidFill>
                  <a:srgbClr val="FF0000"/>
                </a:solidFill>
              </a:rPr>
              <a:t>(1) Inspiratory capacity (IC):</a:t>
            </a:r>
          </a:p>
          <a:p>
            <a:pPr eaLnBrk="1" hangingPunct="1">
              <a:lnSpc>
                <a:spcPct val="90000"/>
              </a:lnSpc>
              <a:buNone/>
              <a:defRPr/>
            </a:pPr>
            <a:r>
              <a:rPr lang="en-GB" dirty="0" smtClean="0"/>
              <a:t>volume of air breathed by a maximum inspiration at the end of a normal expiration.</a:t>
            </a:r>
          </a:p>
          <a:p>
            <a:pPr eaLnBrk="1" hangingPunct="1">
              <a:lnSpc>
                <a:spcPct val="90000"/>
              </a:lnSpc>
              <a:defRPr/>
            </a:pPr>
            <a:r>
              <a:rPr lang="en-GB" b="1" dirty="0" smtClean="0"/>
              <a:t> IC =TV+IRV.</a:t>
            </a:r>
          </a:p>
          <a:p>
            <a:pPr>
              <a:lnSpc>
                <a:spcPct val="90000"/>
              </a:lnSpc>
              <a:buNone/>
              <a:defRPr/>
            </a:pPr>
            <a:r>
              <a:rPr lang="en-GB" b="1" i="1" dirty="0" smtClean="0">
                <a:solidFill>
                  <a:srgbClr val="00B0F0"/>
                </a:solidFill>
              </a:rPr>
              <a:t>* Can be measured by the </a:t>
            </a:r>
            <a:r>
              <a:rPr lang="en-GB" b="1" i="1" dirty="0" err="1" smtClean="0">
                <a:solidFill>
                  <a:srgbClr val="00B0F0"/>
                </a:solidFill>
              </a:rPr>
              <a:t>Spirometer</a:t>
            </a:r>
            <a:r>
              <a:rPr lang="en-GB" b="1" i="1" dirty="0" smtClean="0">
                <a:solidFill>
                  <a:srgbClr val="00B0F0"/>
                </a:solidFill>
              </a:rPr>
              <a:t>.</a:t>
            </a:r>
            <a:endParaRPr lang="en-GB" dirty="0" smtClean="0"/>
          </a:p>
          <a:p>
            <a:pPr eaLnBrk="1" hangingPunct="1">
              <a:lnSpc>
                <a:spcPct val="90000"/>
              </a:lnSpc>
              <a:buNone/>
              <a:defRPr/>
            </a:pPr>
            <a:r>
              <a:rPr lang="en-GB" b="1" dirty="0" smtClean="0">
                <a:solidFill>
                  <a:srgbClr val="FF0000"/>
                </a:solidFill>
              </a:rPr>
              <a:t>(2) Function residual capacity (FRC):</a:t>
            </a:r>
          </a:p>
          <a:p>
            <a:pPr eaLnBrk="1" hangingPunct="1">
              <a:lnSpc>
                <a:spcPct val="90000"/>
              </a:lnSpc>
              <a:buNone/>
              <a:defRPr/>
            </a:pPr>
            <a:r>
              <a:rPr lang="en-GB" dirty="0" smtClean="0"/>
              <a:t>volume of air remaining in lungs at the end of normal expiration.</a:t>
            </a:r>
          </a:p>
          <a:p>
            <a:pPr eaLnBrk="1" hangingPunct="1">
              <a:lnSpc>
                <a:spcPct val="90000"/>
              </a:lnSpc>
              <a:defRPr/>
            </a:pPr>
            <a:r>
              <a:rPr lang="en-GB" dirty="0" smtClean="0"/>
              <a:t>FRC=ERV+RV.</a:t>
            </a:r>
          </a:p>
          <a:p>
            <a:pPr>
              <a:lnSpc>
                <a:spcPct val="90000"/>
              </a:lnSpc>
              <a:buNone/>
              <a:defRPr/>
            </a:pPr>
            <a:r>
              <a:rPr lang="en-GB" b="1" i="1" dirty="0" smtClean="0">
                <a:solidFill>
                  <a:srgbClr val="7030A0"/>
                </a:solidFill>
              </a:rPr>
              <a:t>* Cannot measured by the </a:t>
            </a:r>
            <a:r>
              <a:rPr lang="en-GB" b="1" i="1" dirty="0" err="1" smtClean="0">
                <a:solidFill>
                  <a:srgbClr val="7030A0"/>
                </a:solidFill>
              </a:rPr>
              <a:t>Spirometer</a:t>
            </a:r>
            <a:r>
              <a:rPr lang="en-GB" b="1" i="1" dirty="0" smtClean="0">
                <a:solidFill>
                  <a:srgbClr val="7030A0"/>
                </a:solidFill>
              </a:rPr>
              <a:t>.</a:t>
            </a:r>
            <a:r>
              <a:rPr lang="en-GB" dirty="0" smtClean="0">
                <a:solidFill>
                  <a:srgbClr val="7030A0"/>
                </a:solidFill>
              </a:rPr>
              <a:t> </a:t>
            </a:r>
            <a:endParaRPr lang="en-US" dirty="0" smtClean="0">
              <a:solidFill>
                <a:srgbClr val="7030A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7" dur="5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blinds(horizontal)">
                                      <p:cBhvr>
                                        <p:cTn id="42" dur="500"/>
                                        <p:tgtEl>
                                          <p:spTgt spid="61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47">
                                            <p:txEl>
                                              <p:pRg st="8" end="8"/>
                                            </p:txEl>
                                          </p:spTgt>
                                        </p:tgtEl>
                                        <p:attrNameLst>
                                          <p:attrName>style.visibility</p:attrName>
                                        </p:attrNameLst>
                                      </p:cBhvr>
                                      <p:to>
                                        <p:strVal val="visible"/>
                                      </p:to>
                                    </p:set>
                                    <p:animEffect transition="in" filter="blinds(horizontal)">
                                      <p:cBhvr>
                                        <p:cTn id="47"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1625" y="228600"/>
            <a:ext cx="8510588" cy="200025"/>
          </a:xfrm>
        </p:spPr>
        <p:txBody>
          <a:bodyPr>
            <a:normAutofit fontScale="90000"/>
          </a:bodyPr>
          <a:lstStyle/>
          <a:p>
            <a:pPr eaLnBrk="1" hangingPunct="1">
              <a:defRPr/>
            </a:pPr>
            <a:endParaRPr lang="en-US" dirty="0" smtClean="0">
              <a:solidFill>
                <a:srgbClr val="FF0000"/>
              </a:solidFill>
              <a:effectLst>
                <a:outerShdw blurRad="38100" dist="38100" dir="2700000" algn="tl">
                  <a:srgbClr val="000000">
                    <a:alpha val="43137"/>
                  </a:srgbClr>
                </a:outerShdw>
              </a:effectLst>
            </a:endParaRPr>
          </a:p>
        </p:txBody>
      </p:sp>
      <p:sp>
        <p:nvSpPr>
          <p:cNvPr id="7171" name="Rectangle 3"/>
          <p:cNvSpPr>
            <a:spLocks noGrp="1" noRot="1" noChangeArrowheads="1"/>
          </p:cNvSpPr>
          <p:nvPr>
            <p:ph type="body" idx="1"/>
          </p:nvPr>
        </p:nvSpPr>
        <p:spPr>
          <a:xfrm>
            <a:off x="301625" y="714375"/>
            <a:ext cx="8540750" cy="5384800"/>
          </a:xfrm>
        </p:spPr>
        <p:txBody>
          <a:bodyPr>
            <a:normAutofit/>
          </a:bodyPr>
          <a:lstStyle/>
          <a:p>
            <a:pPr eaLnBrk="1" hangingPunct="1">
              <a:buNone/>
              <a:defRPr/>
            </a:pPr>
            <a:r>
              <a:rPr lang="en-GB" b="1" dirty="0" smtClean="0">
                <a:solidFill>
                  <a:srgbClr val="FF0000"/>
                </a:solidFill>
                <a:effectLst>
                  <a:outerShdw blurRad="38100" dist="38100" dir="2700000" algn="tl">
                    <a:srgbClr val="000000">
                      <a:alpha val="43137"/>
                    </a:srgbClr>
                  </a:outerShdw>
                </a:effectLst>
              </a:rPr>
              <a:t>(3)The vital capacity(VC):</a:t>
            </a:r>
            <a:endParaRPr lang="en-GB" b="1" dirty="0" smtClean="0"/>
          </a:p>
          <a:p>
            <a:pPr eaLnBrk="1" hangingPunct="1">
              <a:defRPr/>
            </a:pPr>
            <a:r>
              <a:rPr lang="en-GB" dirty="0" smtClean="0"/>
              <a:t>The largest amount of air that can be expired after </a:t>
            </a:r>
            <a:r>
              <a:rPr lang="en-GB" dirty="0" err="1" smtClean="0"/>
              <a:t>amaximal</a:t>
            </a:r>
            <a:r>
              <a:rPr lang="en-GB" dirty="0" smtClean="0"/>
              <a:t> inspiratory </a:t>
            </a:r>
            <a:r>
              <a:rPr lang="en-GB" dirty="0" err="1" smtClean="0"/>
              <a:t>effort,it</a:t>
            </a:r>
            <a:r>
              <a:rPr lang="en-GB" dirty="0" smtClean="0"/>
              <a:t> gives useful information about the strength of the respiratory muscles and other aspect of pulmonary function.</a:t>
            </a:r>
          </a:p>
          <a:p>
            <a:pPr eaLnBrk="1" hangingPunct="1">
              <a:defRPr/>
            </a:pPr>
            <a:r>
              <a:rPr lang="en-GB" dirty="0" smtClean="0"/>
              <a:t>VC = IRV+TV+ERV</a:t>
            </a:r>
          </a:p>
          <a:p>
            <a:pPr>
              <a:buNone/>
              <a:defRPr/>
            </a:pPr>
            <a:r>
              <a:rPr lang="en-GB" b="1" i="1" dirty="0" smtClean="0">
                <a:solidFill>
                  <a:srgbClr val="00B0F0"/>
                </a:solidFill>
              </a:rPr>
              <a:t>* Can be measured by the </a:t>
            </a:r>
            <a:r>
              <a:rPr lang="en-GB" b="1" i="1" dirty="0" err="1" smtClean="0">
                <a:solidFill>
                  <a:srgbClr val="00B0F0"/>
                </a:solidFill>
              </a:rPr>
              <a:t>Spirometer</a:t>
            </a:r>
            <a:r>
              <a:rPr lang="en-GB" b="1" i="1" dirty="0" smtClean="0">
                <a:solidFill>
                  <a:srgbClr val="00B0F0"/>
                </a:solidFill>
              </a:rPr>
              <a:t>.</a:t>
            </a:r>
            <a:endParaRPr lang="en-GB"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2"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ar-OM"/>
          </a:p>
        </p:txBody>
      </p:sp>
      <p:sp>
        <p:nvSpPr>
          <p:cNvPr id="3" name="Content Placeholder 2"/>
          <p:cNvSpPr>
            <a:spLocks noGrp="1"/>
          </p:cNvSpPr>
          <p:nvPr>
            <p:ph idx="1"/>
          </p:nvPr>
        </p:nvSpPr>
        <p:spPr/>
        <p:txBody>
          <a:bodyPr/>
          <a:lstStyle/>
          <a:p>
            <a:pPr>
              <a:defRPr/>
            </a:pPr>
            <a:r>
              <a:rPr lang="en-GB" b="1" dirty="0" smtClean="0">
                <a:solidFill>
                  <a:srgbClr val="FF0000"/>
                </a:solidFill>
                <a:effectLst>
                  <a:outerShdw blurRad="38100" dist="38100" dir="2700000" algn="tl">
                    <a:srgbClr val="000000">
                      <a:alpha val="43137"/>
                    </a:srgbClr>
                  </a:outerShdw>
                </a:effectLst>
              </a:rPr>
              <a:t>(4) Total lung capacity(TLC):</a:t>
            </a:r>
          </a:p>
          <a:p>
            <a:pPr>
              <a:defRPr/>
            </a:pPr>
            <a:r>
              <a:rPr lang="en-GB" dirty="0" smtClean="0"/>
              <a:t>Volume of air accommodated by the lungs at the end of a maximal inspiratory </a:t>
            </a:r>
          </a:p>
          <a:p>
            <a:pPr>
              <a:defRPr/>
            </a:pPr>
            <a:r>
              <a:rPr lang="en-GB" b="1" dirty="0" smtClean="0"/>
              <a:t>TLC = IRV+TV+ERV+RV</a:t>
            </a:r>
          </a:p>
          <a:p>
            <a:pPr>
              <a:buNone/>
              <a:defRPr/>
            </a:pPr>
            <a:r>
              <a:rPr lang="en-GB" b="1" i="1" dirty="0" smtClean="0">
                <a:solidFill>
                  <a:srgbClr val="7030A0"/>
                </a:solidFill>
              </a:rPr>
              <a:t>* Cannot measured by the </a:t>
            </a:r>
            <a:r>
              <a:rPr lang="en-GB" b="1" i="1" dirty="0" err="1" smtClean="0">
                <a:solidFill>
                  <a:srgbClr val="7030A0"/>
                </a:solidFill>
              </a:rPr>
              <a:t>Spirometer</a:t>
            </a:r>
            <a:r>
              <a:rPr lang="en-GB" b="1" i="1" dirty="0" smtClean="0">
                <a:solidFill>
                  <a:srgbClr val="7030A0"/>
                </a:solidFill>
              </a:rPr>
              <a:t>.</a:t>
            </a:r>
            <a:r>
              <a:rPr lang="en-GB" dirty="0" smtClean="0">
                <a:solidFill>
                  <a:srgbClr val="7030A0"/>
                </a:solidFill>
              </a:rPr>
              <a:t> </a:t>
            </a:r>
            <a:endParaRPr lang="en-US" dirty="0" smtClean="0">
              <a:solidFill>
                <a:srgbClr val="7030A0"/>
              </a:solidFill>
            </a:endParaRPr>
          </a:p>
          <a:p>
            <a:pPr>
              <a:defRPr/>
            </a:pPr>
            <a:endParaRPr lang="en-GB" dirty="0" smtClean="0">
              <a:effectLst>
                <a:outerShdw blurRad="38100" dist="38100" dir="2700000" algn="tl">
                  <a:srgbClr val="000000">
                    <a:alpha val="43137"/>
                  </a:srgbClr>
                </a:outerShdw>
              </a:effectLst>
            </a:endParaRPr>
          </a:p>
          <a:p>
            <a:pPr>
              <a:defRPr/>
            </a:pPr>
            <a:endParaRPr lang="en-GB" b="1" dirty="0" smtClean="0">
              <a:solidFill>
                <a:srgbClr val="FF0000"/>
              </a:solidFill>
              <a:effectLst>
                <a:outerShdw blurRad="38100" dist="38100" dir="2700000" algn="tl">
                  <a:srgbClr val="000000">
                    <a:alpha val="43137"/>
                  </a:srgbClr>
                </a:outerShdw>
              </a:effectLst>
            </a:endParaRPr>
          </a:p>
          <a:p>
            <a:pPr>
              <a:defRPr/>
            </a:pPr>
            <a:endParaRPr lang="en-GB" b="1" dirty="0" smtClean="0"/>
          </a:p>
          <a:p>
            <a:pPr>
              <a:defRPr/>
            </a:pPr>
            <a:endParaRPr lang="ar-OM"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defRPr/>
            </a:pPr>
            <a:r>
              <a:rPr lang="en-GB" b="1" dirty="0" smtClean="0">
                <a:solidFill>
                  <a:srgbClr val="FF0000"/>
                </a:solidFill>
              </a:rPr>
              <a:t>FEV1 (Forced expiratory volume in 1</a:t>
            </a:r>
            <a:r>
              <a:rPr lang="en-GB" b="1" baseline="30000" dirty="0" smtClean="0">
                <a:solidFill>
                  <a:srgbClr val="FF0000"/>
                </a:solidFill>
              </a:rPr>
              <a:t>st</a:t>
            </a:r>
            <a:r>
              <a:rPr lang="en-GB" b="1" dirty="0" smtClean="0">
                <a:solidFill>
                  <a:srgbClr val="FF0000"/>
                </a:solidFill>
              </a:rPr>
              <a:t> second):</a:t>
            </a:r>
          </a:p>
          <a:p>
            <a:pPr>
              <a:buNone/>
              <a:defRPr/>
            </a:pPr>
            <a:r>
              <a:rPr lang="en-GB" dirty="0" smtClean="0"/>
              <a:t>the fraction of vital capacity expired during the first second of a forced expiration.</a:t>
            </a:r>
          </a:p>
          <a:p>
            <a:pPr>
              <a:buNone/>
              <a:defRPr/>
            </a:pPr>
            <a:r>
              <a:rPr lang="en-GB" dirty="0" smtClean="0"/>
              <a:t>It equals more than 3quarters of the </a:t>
            </a:r>
            <a:r>
              <a:rPr lang="en-GB" b="1" dirty="0" smtClean="0">
                <a:solidFill>
                  <a:srgbClr val="FF0000"/>
                </a:solidFill>
              </a:rPr>
              <a:t>FVC</a:t>
            </a:r>
          </a:p>
          <a:p>
            <a:pPr>
              <a:buNone/>
              <a:defRPr/>
            </a:pPr>
            <a:r>
              <a:rPr lang="en-GB" dirty="0" smtClean="0"/>
              <a:t>(i.e. more than 75%) FEV1/FVC ratio &gt; 75%</a:t>
            </a:r>
          </a:p>
          <a:p>
            <a:pPr>
              <a:buNone/>
              <a:defRPr/>
            </a:pPr>
            <a:r>
              <a:rPr lang="en-GB" b="1" dirty="0" smtClean="0">
                <a:solidFill>
                  <a:srgbClr val="FF0000"/>
                </a:solidFill>
              </a:rPr>
              <a:t>FVC (Forced Vital Capacity):</a:t>
            </a:r>
            <a:r>
              <a:rPr lang="en-GB" b="1" dirty="0" smtClean="0"/>
              <a:t>  </a:t>
            </a:r>
            <a:r>
              <a:rPr lang="en-GB" dirty="0" smtClean="0"/>
              <a:t>the total volume of air expired forcefully by maximum expiration following maximum inspiration.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eaLnBrk="1" hangingPunct="1">
              <a:defRPr/>
            </a:pPr>
            <a:r>
              <a:rPr lang="en-GB" sz="4000" b="1" i="1" dirty="0" smtClean="0"/>
              <a:t>Pulmonary ventilation minute volume</a:t>
            </a:r>
            <a:endParaRPr lang="en-US" sz="4000" b="1" i="1" dirty="0" smtClean="0"/>
          </a:p>
        </p:txBody>
      </p:sp>
      <p:sp>
        <p:nvSpPr>
          <p:cNvPr id="8195" name="Rectangle 3"/>
          <p:cNvSpPr>
            <a:spLocks noGrp="1" noRot="1" noChangeArrowheads="1"/>
          </p:cNvSpPr>
          <p:nvPr>
            <p:ph type="body" idx="1"/>
          </p:nvPr>
        </p:nvSpPr>
        <p:spPr/>
        <p:txBody>
          <a:bodyPr/>
          <a:lstStyle/>
          <a:p>
            <a:pPr eaLnBrk="1" hangingPunct="1">
              <a:defRPr/>
            </a:pPr>
            <a:r>
              <a:rPr lang="en-GB" dirty="0" smtClean="0"/>
              <a:t>The normal frequency of breathing varies between 12-15 breaths per minute.</a:t>
            </a:r>
          </a:p>
          <a:p>
            <a:pPr eaLnBrk="1" hangingPunct="1">
              <a:defRPr/>
            </a:pPr>
            <a:r>
              <a:rPr lang="en-GB" dirty="0" smtClean="0"/>
              <a:t>The amount of air inspired per minute, is normally about 6L =   (500* 12 breath /min)</a:t>
            </a:r>
          </a:p>
          <a:p>
            <a:pPr>
              <a:defRPr/>
            </a:pPr>
            <a:r>
              <a:rPr lang="en-GB" b="1" i="1" dirty="0" smtClean="0"/>
              <a:t>Minute alveolar ventilation </a:t>
            </a:r>
            <a:r>
              <a:rPr lang="en-GB" dirty="0" smtClean="0"/>
              <a:t>:is the amount of air that reaches the alveoli in 1minute, is less than the respiratory minute volume.</a:t>
            </a:r>
          </a:p>
          <a:p>
            <a:pPr>
              <a:buNone/>
              <a:defRPr/>
            </a:pPr>
            <a:r>
              <a:rPr lang="en-GB" dirty="0" smtClean="0"/>
              <a:t>normally about 4.2L =   (350* 12 breath /min)</a:t>
            </a:r>
          </a:p>
          <a:p>
            <a:pPr eaLnBrk="1" hangingPunct="1">
              <a:buNone/>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GB" dirty="0" smtClean="0"/>
          </a:p>
          <a:p>
            <a:pPr eaLnBrk="1" hangingPunct="1">
              <a:defRPr/>
            </a:pPr>
            <a:endParaRPr lang="en-US" dirty="0"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457200" y="274638"/>
            <a:ext cx="8229600" cy="563562"/>
          </a:xfrm>
        </p:spPr>
        <p:txBody>
          <a:bodyPr>
            <a:normAutofit fontScale="90000"/>
          </a:bodyPr>
          <a:lstStyle/>
          <a:p>
            <a:pPr eaLnBrk="1" hangingPunct="1">
              <a:defRPr/>
            </a:pPr>
            <a:r>
              <a:rPr lang="en-GB" b="1" i="1" dirty="0" smtClean="0"/>
              <a:t>Dead space</a:t>
            </a:r>
            <a:endParaRPr lang="en-US" b="1" i="1" dirty="0" smtClean="0"/>
          </a:p>
        </p:txBody>
      </p:sp>
      <p:sp>
        <p:nvSpPr>
          <p:cNvPr id="10243" name="Rectangle 3"/>
          <p:cNvSpPr>
            <a:spLocks noGrp="1" noRot="1" noChangeArrowheads="1"/>
          </p:cNvSpPr>
          <p:nvPr>
            <p:ph type="body" idx="1"/>
          </p:nvPr>
        </p:nvSpPr>
        <p:spPr>
          <a:xfrm>
            <a:off x="457200" y="1066800"/>
            <a:ext cx="8229600" cy="5059363"/>
          </a:xfrm>
        </p:spPr>
        <p:txBody>
          <a:bodyPr>
            <a:normAutofit lnSpcReduction="10000"/>
          </a:bodyPr>
          <a:lstStyle/>
          <a:p>
            <a:pPr eaLnBrk="1" hangingPunct="1">
              <a:defRPr/>
            </a:pPr>
            <a:r>
              <a:rPr lang="en-GB" dirty="0" smtClean="0"/>
              <a:t>Some of air a person  breathes never reaches the gas exchange area but instead goes to fill respiratory passages where gas exchange does not occur, such as in the nose pharynx and trachea ,this air is called dead space.</a:t>
            </a:r>
          </a:p>
          <a:p>
            <a:pPr eaLnBrk="1" hangingPunct="1">
              <a:buFont typeface="Wingdings" pitchFamily="2" charset="2"/>
              <a:buNone/>
              <a:defRPr/>
            </a:pPr>
            <a:r>
              <a:rPr lang="en-GB" dirty="0" smtClean="0"/>
              <a:t> The volume of the </a:t>
            </a:r>
            <a:r>
              <a:rPr lang="en-GB" i="1" dirty="0" smtClean="0">
                <a:solidFill>
                  <a:srgbClr val="00B050"/>
                </a:solidFill>
              </a:rPr>
              <a:t>anatomical dead space </a:t>
            </a:r>
            <a:r>
              <a:rPr lang="en-GB" dirty="0" smtClean="0"/>
              <a:t>is about 150 ml.</a:t>
            </a:r>
          </a:p>
          <a:p>
            <a:pPr>
              <a:buNone/>
              <a:defRPr/>
            </a:pPr>
            <a:r>
              <a:rPr lang="en-GB" i="1" dirty="0" smtClean="0">
                <a:solidFill>
                  <a:srgbClr val="00B050"/>
                </a:solidFill>
              </a:rPr>
              <a:t>Physiological dead space </a:t>
            </a:r>
            <a:r>
              <a:rPr lang="en-GB" dirty="0" smtClean="0"/>
              <a:t>:is include gas in the alveoli that does not participate in gas exchange (Wasted ventilation), less than 5ml</a:t>
            </a:r>
          </a:p>
          <a:p>
            <a:pPr eaLnBrk="1" hangingPunct="1">
              <a:buFont typeface="Wingdings" pitchFamily="2" charset="2"/>
              <a:buNone/>
              <a:defRPr/>
            </a:pPr>
            <a:endParaRPr lang="en-US"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1625" y="228600"/>
            <a:ext cx="8510588" cy="200025"/>
          </a:xfrm>
        </p:spPr>
        <p:txBody>
          <a:bodyPr>
            <a:normAutofit fontScale="90000"/>
          </a:bodyPr>
          <a:lstStyle/>
          <a:p>
            <a:pPr eaLnBrk="1" hangingPunct="1">
              <a:defRPr/>
            </a:pPr>
            <a:endParaRPr lang="en-US" dirty="0" smtClean="0">
              <a:solidFill>
                <a:srgbClr val="FF0000"/>
              </a:solidFill>
              <a:effectLst>
                <a:outerShdw blurRad="38100" dist="38100" dir="2700000" algn="tl">
                  <a:srgbClr val="000000">
                    <a:alpha val="43137"/>
                  </a:srgbClr>
                </a:outerShdw>
              </a:effectLst>
            </a:endParaRPr>
          </a:p>
        </p:txBody>
      </p:sp>
      <p:sp>
        <p:nvSpPr>
          <p:cNvPr id="7171" name="Rectangle 3"/>
          <p:cNvSpPr>
            <a:spLocks noGrp="1" noRot="1" noChangeArrowheads="1"/>
          </p:cNvSpPr>
          <p:nvPr>
            <p:ph type="body" idx="1"/>
          </p:nvPr>
        </p:nvSpPr>
        <p:spPr>
          <a:xfrm>
            <a:off x="301625" y="714375"/>
            <a:ext cx="8540750" cy="6143625"/>
          </a:xfrm>
        </p:spPr>
        <p:txBody>
          <a:bodyPr/>
          <a:lstStyle/>
          <a:p>
            <a:pPr eaLnBrk="1" hangingPunct="1">
              <a:defRPr/>
            </a:pPr>
            <a:r>
              <a:rPr lang="en-GB" b="1" dirty="0" smtClean="0">
                <a:solidFill>
                  <a:srgbClr val="FF0000"/>
                </a:solidFill>
                <a:effectLst>
                  <a:outerShdw blurRad="38100" dist="38100" dir="2700000" algn="tl">
                    <a:srgbClr val="000000">
                      <a:alpha val="43137"/>
                    </a:srgbClr>
                  </a:outerShdw>
                </a:effectLst>
              </a:rPr>
              <a:t>(3) Vital capacity(VC):</a:t>
            </a:r>
            <a:endParaRPr lang="en-GB" b="1" dirty="0" smtClean="0"/>
          </a:p>
          <a:p>
            <a:pPr eaLnBrk="1" hangingPunct="1">
              <a:defRPr/>
            </a:pPr>
            <a:r>
              <a:rPr lang="en-GB" dirty="0" smtClean="0"/>
              <a:t>The largest amount of air that can be expired after </a:t>
            </a:r>
            <a:r>
              <a:rPr lang="en-GB" dirty="0" err="1" smtClean="0"/>
              <a:t>amaximal</a:t>
            </a:r>
            <a:r>
              <a:rPr lang="en-GB" dirty="0" smtClean="0"/>
              <a:t> </a:t>
            </a:r>
            <a:r>
              <a:rPr lang="en-GB" dirty="0" err="1" smtClean="0"/>
              <a:t>inspiratory</a:t>
            </a:r>
            <a:r>
              <a:rPr lang="en-GB" dirty="0" smtClean="0"/>
              <a:t> </a:t>
            </a:r>
            <a:r>
              <a:rPr lang="en-GB" dirty="0" err="1" smtClean="0"/>
              <a:t>effort,it</a:t>
            </a:r>
            <a:r>
              <a:rPr lang="en-GB" dirty="0" smtClean="0"/>
              <a:t> gives useful information about the strength of the respiratory muscles and other aspect of pulmonary function.</a:t>
            </a:r>
          </a:p>
          <a:p>
            <a:pPr eaLnBrk="1" hangingPunct="1">
              <a:defRPr/>
            </a:pPr>
            <a:r>
              <a:rPr lang="en-GB" dirty="0" smtClean="0"/>
              <a:t>VC = IRV+TV+ERV.</a:t>
            </a:r>
          </a:p>
          <a:p>
            <a:pPr>
              <a:defRPr/>
            </a:pPr>
            <a:r>
              <a:rPr lang="en-GB" b="1" dirty="0" smtClean="0">
                <a:solidFill>
                  <a:srgbClr val="FF0000"/>
                </a:solidFill>
                <a:effectLst>
                  <a:outerShdw blurRad="38100" dist="38100" dir="2700000" algn="tl">
                    <a:srgbClr val="000000">
                      <a:alpha val="43137"/>
                    </a:srgbClr>
                  </a:outerShdw>
                </a:effectLst>
              </a:rPr>
              <a:t>(4)Total lung capacity(TLC):</a:t>
            </a:r>
          </a:p>
          <a:p>
            <a:pPr>
              <a:defRPr/>
            </a:pPr>
            <a:r>
              <a:rPr lang="en-GB" dirty="0" smtClean="0">
                <a:effectLst>
                  <a:outerShdw blurRad="38100" dist="38100" dir="2700000" algn="tl">
                    <a:srgbClr val="000000">
                      <a:alpha val="43137"/>
                    </a:srgbClr>
                  </a:outerShdw>
                </a:effectLst>
              </a:rPr>
              <a:t>Volume of air accommodated by the lungs at the end of </a:t>
            </a:r>
            <a:r>
              <a:rPr lang="en-GB" dirty="0" smtClean="0"/>
              <a:t>a maximal </a:t>
            </a:r>
            <a:r>
              <a:rPr lang="en-GB" dirty="0" err="1" smtClean="0"/>
              <a:t>inspiratory</a:t>
            </a:r>
            <a:r>
              <a:rPr lang="en-GB" dirty="0" smtClean="0"/>
              <a:t> </a:t>
            </a:r>
          </a:p>
          <a:p>
            <a:pPr>
              <a:defRPr/>
            </a:pPr>
            <a:r>
              <a:rPr lang="en-GB" dirty="0" smtClean="0"/>
              <a:t>TLC = IRV+TV+ERV+RV</a:t>
            </a:r>
          </a:p>
          <a:p>
            <a:pPr eaLnBrk="1" hangingPunct="1">
              <a:defRPr/>
            </a:pPr>
            <a:endParaRPr lang="en-GB" dirty="0" smtClean="0"/>
          </a:p>
          <a:p>
            <a:pPr eaLnBrk="1" hangingPunct="1">
              <a:buFont typeface="Wingdings" pitchFamily="2" charset="2"/>
              <a:buNone/>
              <a:defRPr/>
            </a:pPr>
            <a:endParaRPr lang="en-US" dirty="0" smtClean="0"/>
          </a:p>
        </p:txBody>
      </p:sp>
      <p:pic>
        <p:nvPicPr>
          <p:cNvPr id="8196" name="Picture 3"/>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2" dur="500"/>
                                        <p:tgtEl>
                                          <p:spTgt spid="71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7" dur="500"/>
                                        <p:tgtEl>
                                          <p:spTgt spid="71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32"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694</Words>
  <Application>Microsoft Office PowerPoint</Application>
  <PresentationFormat>On-screen Show (4:3)</PresentationFormat>
  <Paragraphs>75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Lung volumes &amp; Capacities </vt:lpstr>
      <vt:lpstr>Lung volumes &amp; Capacities</vt:lpstr>
      <vt:lpstr>Slide 4</vt:lpstr>
      <vt:lpstr>CON</vt:lpstr>
      <vt:lpstr>Pulmonary capacities</vt:lpstr>
      <vt:lpstr>Slide 7</vt:lpstr>
      <vt:lpstr>Slide 8</vt:lpstr>
      <vt:lpstr>Slide 9</vt:lpstr>
      <vt:lpstr>Pulmonary ventilation minute volume</vt:lpstr>
      <vt:lpstr>Dead space</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Napta</dc:creator>
  <cp:lastModifiedBy>Napta</cp:lastModifiedBy>
  <cp:revision>15</cp:revision>
  <dcterms:created xsi:type="dcterms:W3CDTF">2006-08-16T00:00:00Z</dcterms:created>
  <dcterms:modified xsi:type="dcterms:W3CDTF">2021-03-16T06:38:03Z</dcterms:modified>
</cp:coreProperties>
</file>