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563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526599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037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550874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82951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195204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S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1060580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S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052050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011103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085556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066701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D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719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18107-ECDC-4780-8B38-B9FE6F5A6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210491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Aharoni" panose="02010803020104030203" pitchFamily="2" charset="-79"/>
                <a:cs typeface="Aharoni" panose="02010803020104030203" pitchFamily="2" charset="-79"/>
              </a:rPr>
              <a:t>Anatomy of Ovaries, Vagina</a:t>
            </a:r>
            <a:endParaRPr lang="en-SD" sz="4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B38837-0756-462A-9D49-FA2D82AB40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BY: M. G. HAMMAD</a:t>
            </a:r>
            <a:endParaRPr lang="en-SD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85109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E4B5-EAA4-4A76-ADC2-101E46E9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OVARY</a:t>
            </a:r>
            <a:endParaRPr lang="en-SD" sz="4400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ABAA-DF36-408C-8E4E-89A61E812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5105" y="2180384"/>
            <a:ext cx="5252614" cy="364066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The ovary is ovoid in shape, smaller than the testis.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Composed of dense ﬁbrous tissue in which the ova are embedded.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Projects into the pelvic cavity.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Attached to the posterior leaf of the broad ligament by a double fold of peritoneum {</a:t>
            </a:r>
            <a:r>
              <a:rPr lang="en-US" altLang="en-SD" sz="21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mesovarium</a:t>
            </a: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}.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4A9EA19-DC5E-428D-9418-098A8D9142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282" y="1845732"/>
            <a:ext cx="6067718" cy="4309970"/>
          </a:xfrm>
        </p:spPr>
      </p:pic>
    </p:spTree>
    <p:extLst>
      <p:ext uri="{BB962C8B-B14F-4D97-AF65-F5344CB8AC3E}">
        <p14:creationId xmlns:p14="http://schemas.microsoft.com/office/powerpoint/2010/main" val="354891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E4B5-EAA4-4A76-ADC2-101E46E9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OVARY</a:t>
            </a:r>
            <a:endParaRPr lang="en-SD" sz="4400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ABAA-DF36-408C-8E4E-89A61E812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645" y="1845733"/>
            <a:ext cx="5667394" cy="430996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Location</a:t>
            </a:r>
            <a:r>
              <a:rPr lang="en-US" sz="1800" dirty="0"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  <a:endParaRPr lang="en-US" altLang="en-SD" sz="18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1800" dirty="0">
                <a:latin typeface="Aharoni" panose="02010803020104030203" pitchFamily="2" charset="-79"/>
                <a:cs typeface="Aharoni" panose="02010803020104030203" pitchFamily="2" charset="-79"/>
              </a:rPr>
              <a:t>The ovary lies on the peritoneum of the side wall of the pelvis.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1800" dirty="0">
                <a:latin typeface="Aharoni" panose="02010803020104030203" pitchFamily="2" charset="-79"/>
                <a:cs typeface="Aharoni" panose="02010803020104030203" pitchFamily="2" charset="-79"/>
              </a:rPr>
              <a:t>In the shallow ovarian fossa.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Ovarian Fossa</a:t>
            </a:r>
            <a:r>
              <a:rPr lang="en-US" altLang="en-SD" sz="1800" dirty="0"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1800" dirty="0">
                <a:latin typeface="Aharoni" panose="02010803020104030203" pitchFamily="2" charset="-79"/>
                <a:cs typeface="Aharoni" panose="02010803020104030203" pitchFamily="2" charset="-79"/>
              </a:rPr>
              <a:t>At the angle between the internal and external iliac vessels.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1800" dirty="0">
                <a:latin typeface="Aharoni" panose="02010803020104030203" pitchFamily="2" charset="-79"/>
                <a:cs typeface="Aharoni" panose="02010803020104030203" pitchFamily="2" charset="-79"/>
              </a:rPr>
              <a:t>Here, it lies on the </a:t>
            </a:r>
            <a:r>
              <a:rPr lang="en-US" altLang="en-SD" sz="1800" u="sng" dirty="0">
                <a:latin typeface="Aharoni" panose="02010803020104030203" pitchFamily="2" charset="-79"/>
                <a:cs typeface="Aharoni" panose="02010803020104030203" pitchFamily="2" charset="-79"/>
              </a:rPr>
              <a:t>obturator nerve</a:t>
            </a:r>
            <a:r>
              <a:rPr lang="en-US" altLang="en-SD" sz="1800" dirty="0"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1800" dirty="0">
                <a:latin typeface="Aharoni" panose="02010803020104030203" pitchFamily="2" charset="-79"/>
                <a:cs typeface="Aharoni" panose="02010803020104030203" pitchFamily="2" charset="-79"/>
              </a:rPr>
              <a:t>A diseased ovary may cause pain along the </a:t>
            </a:r>
            <a:r>
              <a:rPr lang="en-US" altLang="en-SD" sz="1800" u="sng" dirty="0">
                <a:latin typeface="Aharoni" panose="02010803020104030203" pitchFamily="2" charset="-79"/>
                <a:cs typeface="Aharoni" panose="02010803020104030203" pitchFamily="2" charset="-79"/>
              </a:rPr>
              <a:t>cutaneous</a:t>
            </a:r>
            <a:r>
              <a:rPr lang="en-US" altLang="en-SD" sz="1800" dirty="0">
                <a:latin typeface="Aharoni" panose="02010803020104030203" pitchFamily="2" charset="-79"/>
                <a:cs typeface="Aharoni" panose="02010803020104030203" pitchFamily="2" charset="-79"/>
              </a:rPr>
              <a:t> distribution of this nerve.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sz="18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Parietal peritoneum against which the ovary lies is supplied by O N.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2FFA3B-A846-42A1-B2B3-57E26A09DE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650" y="1762191"/>
            <a:ext cx="6061276" cy="4285138"/>
          </a:xfrm>
        </p:spPr>
      </p:pic>
    </p:spTree>
    <p:extLst>
      <p:ext uri="{BB962C8B-B14F-4D97-AF65-F5344CB8AC3E}">
        <p14:creationId xmlns:p14="http://schemas.microsoft.com/office/powerpoint/2010/main" val="367965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E4B5-EAA4-4A76-ADC2-101E46E9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OVARY</a:t>
            </a:r>
            <a:endParaRPr lang="en-SD" sz="4400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ABAA-DF36-408C-8E4E-89A61E812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2548" y="1762191"/>
            <a:ext cx="7522590" cy="4591475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Location &amp; Support</a:t>
            </a:r>
            <a:r>
              <a:rPr lang="en-US" sz="1800" dirty="0"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  <a:endParaRPr lang="en-US" altLang="en-SD" sz="18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1900" dirty="0">
                <a:latin typeface="Aharoni" panose="02010803020104030203" pitchFamily="2" charset="-79"/>
                <a:cs typeface="Aharoni" panose="02010803020104030203" pitchFamily="2" charset="-79"/>
              </a:rPr>
              <a:t>In its normal position; can palpated by vaginal examination.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1900" dirty="0">
                <a:latin typeface="Aharoni" panose="02010803020104030203" pitchFamily="2" charset="-79"/>
                <a:cs typeface="Aharoni" panose="02010803020104030203" pitchFamily="2" charset="-79"/>
              </a:rPr>
              <a:t>It is overlaid by the coils of sigmoid colon and ileum that occupy the pouch of Douglas.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1900" dirty="0">
                <a:latin typeface="Aharoni" panose="02010803020104030203" pitchFamily="2" charset="-79"/>
                <a:cs typeface="Aharoni" panose="02010803020104030203" pitchFamily="2" charset="-79"/>
              </a:rPr>
              <a:t>It supported by: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SD" sz="19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Mesovarium</a:t>
            </a:r>
            <a:r>
              <a:rPr lang="en-US" altLang="en-SD" sz="1900" dirty="0"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SD" sz="19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Ovarian ligament</a:t>
            </a:r>
            <a:r>
              <a:rPr lang="en-US" altLang="en-SD" sz="1900" dirty="0"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900" dirty="0">
                <a:latin typeface="Aharoni" panose="02010803020104030203" pitchFamily="2" charset="-79"/>
                <a:cs typeface="Aharoni" panose="02010803020104030203" pitchFamily="2" charset="-79"/>
              </a:rPr>
              <a:t>Remains of the upper part of the gubernaculum.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900" dirty="0">
                <a:latin typeface="Aharoni" panose="02010803020104030203" pitchFamily="2" charset="-79"/>
                <a:cs typeface="Aharoni" panose="02010803020104030203" pitchFamily="2" charset="-79"/>
              </a:rPr>
              <a:t>Connects the lateral margin of the uterus to the ovary.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9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Suspensory ligament</a:t>
            </a:r>
            <a:r>
              <a:rPr lang="en-US" sz="1900" dirty="0"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900" dirty="0">
                <a:latin typeface="Aharoni" panose="02010803020104030203" pitchFamily="2" charset="-79"/>
                <a:cs typeface="Aharoni" panose="02010803020104030203" pitchFamily="2" charset="-79"/>
              </a:rPr>
              <a:t>Part of the broad ligament.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900" dirty="0">
                <a:latin typeface="Aharoni" panose="02010803020104030203" pitchFamily="2" charset="-79"/>
                <a:cs typeface="Aharoni" panose="02010803020104030203" pitchFamily="2" charset="-79"/>
              </a:rPr>
              <a:t>Extending between the attachment of the mesovarium and the lateral wall of the pelvis.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2FFA3B-A846-42A1-B2B3-57E26A09DE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137" y="1709079"/>
            <a:ext cx="4524785" cy="4102580"/>
          </a:xfrm>
        </p:spPr>
      </p:pic>
    </p:spTree>
    <p:extLst>
      <p:ext uri="{BB962C8B-B14F-4D97-AF65-F5344CB8AC3E}">
        <p14:creationId xmlns:p14="http://schemas.microsoft.com/office/powerpoint/2010/main" val="281051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7249"/>
            <a:ext cx="10058400" cy="105135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Blood supply of Ovary</a:t>
            </a:r>
            <a:b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Arteries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610" y="2096226"/>
            <a:ext cx="5722070" cy="400963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ovary is supplied by the </a:t>
            </a:r>
            <a:r>
              <a:rPr lang="en-US" altLang="en-SD" sz="1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ovarian artery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A branch of abdominal aorta just below the renal artery.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artery crosses ureter obliquely on psoas muscle.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 crosses pelvic brim and enters the suspensory ligament.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 gives off a branch to the uterine tube.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 ends by entering the ovary.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3FC2645-8E59-4805-A927-30DE6C68CF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603" y="1989173"/>
            <a:ext cx="4959139" cy="4009630"/>
          </a:xfrm>
        </p:spPr>
      </p:pic>
    </p:spTree>
    <p:extLst>
      <p:ext uri="{BB962C8B-B14F-4D97-AF65-F5344CB8AC3E}">
        <p14:creationId xmlns:p14="http://schemas.microsoft.com/office/powerpoint/2010/main" val="3703180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7249"/>
            <a:ext cx="10058400" cy="105135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Blood supply of Ovary</a:t>
            </a:r>
            <a:b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Veins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610" y="2096226"/>
            <a:ext cx="6042580" cy="400963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Small ovarian veins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form a plexus in the mesovarium and the suspensory ligament.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plexus drains into a pair of </a:t>
            </a:r>
            <a:r>
              <a:rPr lang="en-US" altLang="en-SD" sz="1800" u="sng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ovarian veins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which accompany the ovarian artery.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That on the right joins the inferior vena cava, that on the left the left renal vein.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745A4EB-CC23-4E20-B9E4-620F310C73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449" y="1677524"/>
            <a:ext cx="4571996" cy="4833940"/>
          </a:xfrm>
        </p:spPr>
      </p:pic>
    </p:spTree>
    <p:extLst>
      <p:ext uri="{BB962C8B-B14F-4D97-AF65-F5344CB8AC3E}">
        <p14:creationId xmlns:p14="http://schemas.microsoft.com/office/powerpoint/2010/main" val="423352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7249"/>
            <a:ext cx="10058400" cy="105135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Lymph drainage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4462" y="1954823"/>
            <a:ext cx="5633458" cy="404000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lymphatics of the ovary drain to para-aortic nodes.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Alongside the origin of the ovarian artery.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Just above the level of the umbilicus (L2).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62FF056-D9D0-4486-AD2D-644E307D01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763" y="1781667"/>
            <a:ext cx="5848426" cy="4386316"/>
          </a:xfrm>
        </p:spPr>
      </p:pic>
    </p:spTree>
    <p:extLst>
      <p:ext uri="{BB962C8B-B14F-4D97-AF65-F5344CB8AC3E}">
        <p14:creationId xmlns:p14="http://schemas.microsoft.com/office/powerpoint/2010/main" val="187281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7249"/>
            <a:ext cx="10058400" cy="105135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Nerve Supply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4462" y="1954823"/>
            <a:ext cx="5633458" cy="404000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By autonomic N 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Sympathetic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 is vasoconstrictor &amp; pain transmitter.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Preganglionic cell bodies at level of T10, T11 segments.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Reaches ovary from the </a:t>
            </a:r>
            <a:r>
              <a:rPr lang="en-US" altLang="en-SD" sz="18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aortic plexus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along its blood vessels.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Parasympathetic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Vasodilator.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From the </a:t>
            </a:r>
            <a:r>
              <a:rPr lang="en-US" altLang="en-SD" sz="18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inferior hypogastric plexus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via the uterine artery.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E782C7A-A908-46AB-9FAE-4035DF6AC9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142" y="1780898"/>
            <a:ext cx="3575900" cy="5001870"/>
          </a:xfrm>
        </p:spPr>
      </p:pic>
    </p:spTree>
    <p:extLst>
      <p:ext uri="{BB962C8B-B14F-4D97-AF65-F5344CB8AC3E}">
        <p14:creationId xmlns:p14="http://schemas.microsoft.com/office/powerpoint/2010/main" val="262494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E4B5-EAA4-4A76-ADC2-101E46E9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Vagina</a:t>
            </a:r>
            <a:endParaRPr lang="en-SD" sz="4400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ABAA-DF36-408C-8E4E-89A61E812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5105" y="2180384"/>
            <a:ext cx="5252614" cy="364066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 muscular tube.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Measures about 10 cm length.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Its cavity is transverse slit.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Its external orifice is anteroposterior slit.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Has </a:t>
            </a:r>
            <a:r>
              <a:rPr lang="en-US" altLang="en-SD" sz="2100" u="sng" dirty="0">
                <a:latin typeface="Aharoni" panose="02010803020104030203" pitchFamily="2" charset="-79"/>
                <a:cs typeface="Aharoni" panose="02010803020104030203" pitchFamily="2" charset="-79"/>
              </a:rPr>
              <a:t>anterior</a:t>
            </a: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altLang="en-SD" sz="2100" u="sng" dirty="0">
                <a:latin typeface="Aharoni" panose="02010803020104030203" pitchFamily="2" charset="-79"/>
                <a:cs typeface="Aharoni" panose="02010803020104030203" pitchFamily="2" charset="-79"/>
              </a:rPr>
              <a:t>posterior</a:t>
            </a: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 walls.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It extends from the uterine cervix to the labia minora.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Its lower end at perinium.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SD" sz="21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SD" sz="21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42CADA0-AEEE-4686-BAC7-F7B6B55262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628" y="2180384"/>
            <a:ext cx="5646711" cy="3640666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AB558B-758B-4122-84F0-CD22222335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980" y="2201045"/>
            <a:ext cx="3620005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28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E4B5-EAA4-4A76-ADC2-101E46E9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Vagina</a:t>
            </a:r>
            <a:endParaRPr lang="en-SD" sz="4400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ABAA-DF36-408C-8E4E-89A61E812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5105" y="2180384"/>
            <a:ext cx="5252614" cy="364066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Location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sz="2100" u="sng" dirty="0">
                <a:latin typeface="Aharoni" panose="02010803020104030203" pitchFamily="2" charset="-79"/>
                <a:cs typeface="Aharoni" panose="02010803020104030203" pitchFamily="2" charset="-79"/>
              </a:rPr>
              <a:t>It lies in front of</a:t>
            </a: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Rectum.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Anal canal.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Perineal body.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sz="2100" u="sng" dirty="0">
                <a:latin typeface="Aharoni" panose="02010803020104030203" pitchFamily="2" charset="-79"/>
                <a:cs typeface="Aharoni" panose="02010803020104030203" pitchFamily="2" charset="-79"/>
              </a:rPr>
              <a:t>Behind to</a:t>
            </a: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Bladder.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Urethra.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42CADA0-AEEE-4686-BAC7-F7B6B55262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628" y="2180384"/>
            <a:ext cx="5646711" cy="3640666"/>
          </a:xfrm>
        </p:spPr>
      </p:pic>
    </p:spTree>
    <p:extLst>
      <p:ext uri="{BB962C8B-B14F-4D97-AF65-F5344CB8AC3E}">
        <p14:creationId xmlns:p14="http://schemas.microsoft.com/office/powerpoint/2010/main" val="188410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E4B5-EAA4-4A76-ADC2-101E46E9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Vagina</a:t>
            </a:r>
            <a:endParaRPr lang="en-SD" sz="4400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ABAA-DF36-408C-8E4E-89A61E812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918" y="1945341"/>
            <a:ext cx="5538801" cy="4267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Description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The upper end expanded.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Receiving the uterine cervix which projects into it.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Forming around the margin of the cervix a circular groove {</a:t>
            </a:r>
            <a:r>
              <a:rPr lang="en-US" altLang="en-SD" sz="21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vaginal fornix</a:t>
            </a: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}.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SD" sz="2100" u="sng" dirty="0">
                <a:latin typeface="Aharoni" panose="02010803020104030203" pitchFamily="2" charset="-79"/>
                <a:cs typeface="Aharoni" panose="02010803020104030203" pitchFamily="2" charset="-79"/>
              </a:rPr>
              <a:t>Vaginal fornix</a:t>
            </a: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: divided into 3 parts:</a:t>
            </a:r>
          </a:p>
          <a:p>
            <a:pPr marL="514350" indent="-514350">
              <a:buFont typeface="+mj-lt"/>
              <a:buAutoNum type="romanLcPeriod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Anterior fornix.</a:t>
            </a:r>
          </a:p>
          <a:p>
            <a:pPr marL="514350" indent="-514350">
              <a:buFont typeface="+mj-lt"/>
              <a:buAutoNum type="romanLcPeriod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Posterior fornix.</a:t>
            </a:r>
          </a:p>
          <a:p>
            <a:pPr marL="514350" indent="-514350">
              <a:buFont typeface="+mj-lt"/>
              <a:buAutoNum type="romanLcPeriod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Lateral fornix.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955B70-727F-4098-9D67-B448850969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824" y="2238190"/>
            <a:ext cx="5522258" cy="3681502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64B1D7-7B2D-4E17-BD0D-104273218B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38190"/>
            <a:ext cx="6006356" cy="373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558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E4B5-EAA4-4A76-ADC2-101E46E9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Vagina</a:t>
            </a:r>
            <a:endParaRPr lang="en-SD" sz="4400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ABAA-DF36-408C-8E4E-89A61E812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3082" y="1945341"/>
            <a:ext cx="6509720" cy="389068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Peritoneal covering &amp; relation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The only part of vagina which has peritoneal covering is </a:t>
            </a:r>
            <a:r>
              <a:rPr lang="en-US" altLang="en-SD" sz="2100" u="sng" dirty="0">
                <a:latin typeface="Aharoni" panose="02010803020104030203" pitchFamily="2" charset="-79"/>
                <a:cs typeface="Aharoni" panose="02010803020104030203" pitchFamily="2" charset="-79"/>
              </a:rPr>
              <a:t>posterior fornix</a:t>
            </a: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The ureter ﬁrstly lies on </a:t>
            </a:r>
            <a:r>
              <a:rPr lang="en-US" altLang="en-SD" sz="2100" u="sng" dirty="0">
                <a:latin typeface="Aharoni" panose="02010803020104030203" pitchFamily="2" charset="-79"/>
                <a:cs typeface="Aharoni" panose="02010803020104030203" pitchFamily="2" charset="-79"/>
              </a:rPr>
              <a:t>lateral fornix</a:t>
            </a: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Then passes over the front of the </a:t>
            </a:r>
            <a:r>
              <a:rPr lang="en-US" altLang="en-SD" sz="2100" u="sng" dirty="0">
                <a:latin typeface="Aharoni" panose="02010803020104030203" pitchFamily="2" charset="-79"/>
                <a:cs typeface="Aharoni" panose="02010803020104030203" pitchFamily="2" charset="-79"/>
              </a:rPr>
              <a:t>anterior fornix</a:t>
            </a: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 to enter the bladder.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Below the </a:t>
            </a:r>
            <a:r>
              <a:rPr lang="en-US" altLang="en-SD" sz="2100" u="sng" dirty="0">
                <a:latin typeface="Aharoni" panose="02010803020104030203" pitchFamily="2" charset="-79"/>
                <a:cs typeface="Aharoni" panose="02010803020104030203" pitchFamily="2" charset="-79"/>
              </a:rPr>
              <a:t>cervix</a:t>
            </a: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 the anterior wall of the vagina is in contact with the base (</a:t>
            </a:r>
            <a:r>
              <a:rPr lang="en-US" altLang="en-SD" sz="2100" u="sng" dirty="0">
                <a:latin typeface="Aharoni" panose="02010803020104030203" pitchFamily="2" charset="-79"/>
                <a:cs typeface="Aharoni" panose="02010803020104030203" pitchFamily="2" charset="-79"/>
              </a:rPr>
              <a:t>posterior surface</a:t>
            </a: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) of </a:t>
            </a:r>
            <a:r>
              <a:rPr lang="en-US" altLang="en-SD" sz="2100" u="sng" dirty="0">
                <a:latin typeface="Aharoni" panose="02010803020104030203" pitchFamily="2" charset="-79"/>
                <a:cs typeface="Aharoni" panose="02010803020104030203" pitchFamily="2" charset="-79"/>
              </a:rPr>
              <a:t>bladder</a:t>
            </a: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 &amp; </a:t>
            </a:r>
            <a:r>
              <a:rPr lang="en-US" altLang="en-SD" sz="2100" u="sng" dirty="0">
                <a:latin typeface="Aharoni" panose="02010803020104030203" pitchFamily="2" charset="-79"/>
                <a:cs typeface="Aharoni" panose="02010803020104030203" pitchFamily="2" charset="-79"/>
              </a:rPr>
              <a:t>urethra</a:t>
            </a: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altLang="en-SD" sz="21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E219A73-997D-471A-97AF-4C063FA2FF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802" y="2250141"/>
            <a:ext cx="5447856" cy="3657600"/>
          </a:xfrm>
        </p:spPr>
      </p:pic>
    </p:spTree>
    <p:extLst>
      <p:ext uri="{BB962C8B-B14F-4D97-AF65-F5344CB8AC3E}">
        <p14:creationId xmlns:p14="http://schemas.microsoft.com/office/powerpoint/2010/main" val="198786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E4B5-EAA4-4A76-ADC2-101E46E9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Vagina</a:t>
            </a:r>
            <a:endParaRPr lang="en-SD" sz="4400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ABAA-DF36-408C-8E4E-89A61E812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023" y="2178423"/>
            <a:ext cx="5387789" cy="389068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Peritoneal covering &amp; relation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The vagina passes down between the </a:t>
            </a:r>
            <a:r>
              <a:rPr lang="en-US" altLang="en-SD" sz="2100" u="sng" dirty="0">
                <a:latin typeface="Aharoni" panose="02010803020104030203" pitchFamily="2" charset="-79"/>
                <a:cs typeface="Aharoni" panose="02010803020104030203" pitchFamily="2" charset="-79"/>
              </a:rPr>
              <a:t>pubovaginalis</a:t>
            </a: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 parts of </a:t>
            </a:r>
            <a:r>
              <a:rPr lang="en-US" altLang="en-SD" sz="2100" u="sng" dirty="0">
                <a:latin typeface="Aharoni" panose="02010803020104030203" pitchFamily="2" charset="-79"/>
                <a:cs typeface="Aharoni" panose="02010803020104030203" pitchFamily="2" charset="-79"/>
              </a:rPr>
              <a:t>levator ani</a:t>
            </a: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,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Through the urogenital diaphragm and perineal membrane to become the vestibule of the vagina.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61EE94D-F5A5-4E28-8263-90F7FDCC11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409" y="1872713"/>
            <a:ext cx="5817838" cy="4316106"/>
          </a:xfrm>
        </p:spPr>
      </p:pic>
    </p:spTree>
    <p:extLst>
      <p:ext uri="{BB962C8B-B14F-4D97-AF65-F5344CB8AC3E}">
        <p14:creationId xmlns:p14="http://schemas.microsoft.com/office/powerpoint/2010/main" val="346468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7249"/>
            <a:ext cx="10058400" cy="105135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Blood supply of Vagina</a:t>
            </a:r>
            <a:b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Arteries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610" y="2096226"/>
            <a:ext cx="5722070" cy="400963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Mainly by vaginal branch of the internal iliac artery.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Other sources include: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Uterine artery.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Inferior vesical artery.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Middle rectal artery.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FE8C79C-C8D1-4787-84BB-0BC2C54CFC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816" y="1801907"/>
            <a:ext cx="5043932" cy="4398308"/>
          </a:xfrm>
        </p:spPr>
      </p:pic>
    </p:spTree>
    <p:extLst>
      <p:ext uri="{BB962C8B-B14F-4D97-AF65-F5344CB8AC3E}">
        <p14:creationId xmlns:p14="http://schemas.microsoft.com/office/powerpoint/2010/main" val="1422421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7249"/>
            <a:ext cx="10058400" cy="105135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Blood supply of Vagina</a:t>
            </a:r>
            <a:b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Veins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610" y="2096226"/>
            <a:ext cx="5722070" cy="400963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Veins join the plexuses on the pelvic ﬂoor to drain into the internal iliac vein.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9556B38-417C-4111-96B6-684AC2A602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296" y="1822834"/>
            <a:ext cx="3926540" cy="4569510"/>
          </a:xfrm>
        </p:spPr>
      </p:pic>
    </p:spTree>
    <p:extLst>
      <p:ext uri="{BB962C8B-B14F-4D97-AF65-F5344CB8AC3E}">
        <p14:creationId xmlns:p14="http://schemas.microsoft.com/office/powerpoint/2010/main" val="324124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7249"/>
            <a:ext cx="10058400" cy="105135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Lymph drainage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4462" y="1954823"/>
            <a:ext cx="6013562" cy="404000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u="sng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Above level of hymen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Drains to external and internal iliac and sacral nodes.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u="sng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Below level of hymen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Drains to superﬁcial inguinal nodes.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422AB2-E50A-4053-9D27-4703D56A1B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018" y="1804435"/>
            <a:ext cx="5086500" cy="4225076"/>
          </a:xfrm>
        </p:spPr>
      </p:pic>
    </p:spTree>
    <p:extLst>
      <p:ext uri="{BB962C8B-B14F-4D97-AF65-F5344CB8AC3E}">
        <p14:creationId xmlns:p14="http://schemas.microsoft.com/office/powerpoint/2010/main" val="3943448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7249"/>
            <a:ext cx="10058400" cy="105135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Nerve Supply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4462" y="1954823"/>
            <a:ext cx="5633458" cy="4040005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u="sng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Lower end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Receives sensory fibers from: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Perineal &amp; posterior labial branches of pudendal nerve.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Ilioinguinal nerve.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u="sng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Upper part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Insensitive to pain.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Respond to stretch.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 receives sympathetic fibers from the hypogastric plexuses for supplying blood vessels and the smooth muscles of wall.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396561F-FD56-4594-845D-F4E027745A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038" y="1662242"/>
            <a:ext cx="3295500" cy="4821072"/>
          </a:xfrm>
        </p:spPr>
      </p:pic>
    </p:spTree>
    <p:extLst>
      <p:ext uri="{BB962C8B-B14F-4D97-AF65-F5344CB8AC3E}">
        <p14:creationId xmlns:p14="http://schemas.microsoft.com/office/powerpoint/2010/main" val="215046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228CC-9447-4364-A876-486122D7A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257" y="2703621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rgbClr val="FF0000"/>
                </a:solidFill>
                <a:latin typeface="Algerian" panose="04020705040A02060702" pitchFamily="82" charset="0"/>
              </a:rPr>
              <a:t>That is all…</a:t>
            </a:r>
            <a:endParaRPr lang="en-SD" sz="72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48859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1853</TotalTime>
  <Words>789</Words>
  <Application>Microsoft Office PowerPoint</Application>
  <PresentationFormat>Widescreen</PresentationFormat>
  <Paragraphs>111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Aharoni</vt:lpstr>
      <vt:lpstr>Algerian</vt:lpstr>
      <vt:lpstr>Arial</vt:lpstr>
      <vt:lpstr>Calibri</vt:lpstr>
      <vt:lpstr>Calibri Light</vt:lpstr>
      <vt:lpstr>Wingdings</vt:lpstr>
      <vt:lpstr>Retrospect</vt:lpstr>
      <vt:lpstr>Anatomy of Ovaries, Vagina</vt:lpstr>
      <vt:lpstr>Anatomy of OVARY</vt:lpstr>
      <vt:lpstr>Anatomy of OVARY</vt:lpstr>
      <vt:lpstr>Anatomy of OVARY</vt:lpstr>
      <vt:lpstr>Blood supply of Ovary Arteries</vt:lpstr>
      <vt:lpstr>Blood supply of Ovary Veins</vt:lpstr>
      <vt:lpstr>Lymph drainage</vt:lpstr>
      <vt:lpstr>Nerve Supply</vt:lpstr>
      <vt:lpstr>Anatomy of Vagina</vt:lpstr>
      <vt:lpstr>Anatomy of Vagina</vt:lpstr>
      <vt:lpstr>Anatomy of Vagina</vt:lpstr>
      <vt:lpstr>Anatomy of Vagina</vt:lpstr>
      <vt:lpstr>Anatomy of Vagina</vt:lpstr>
      <vt:lpstr>Blood supply of Vagina Arteries</vt:lpstr>
      <vt:lpstr>Blood supply of Vagina Veins</vt:lpstr>
      <vt:lpstr>Lymph drainage</vt:lpstr>
      <vt:lpstr>Nerve Supply</vt:lpstr>
      <vt:lpstr>That is all…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Anatomy of Uterus, Ovaries, Vagina</dc:title>
  <dc:creator>MEDICO126</dc:creator>
  <cp:lastModifiedBy>Mohamed Hammad</cp:lastModifiedBy>
  <cp:revision>30</cp:revision>
  <dcterms:created xsi:type="dcterms:W3CDTF">2021-10-20T09:16:14Z</dcterms:created>
  <dcterms:modified xsi:type="dcterms:W3CDTF">2025-10-24T16:47:27Z</dcterms:modified>
</cp:coreProperties>
</file>