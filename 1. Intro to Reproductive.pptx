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4"/>
          <p:cNvSpPr txBox="1">
            <a:spLocks noChangeArrowheads="1"/>
          </p:cNvSpPr>
          <p:nvPr/>
        </p:nvSpPr>
        <p:spPr bwMode="auto">
          <a:xfrm>
            <a:off x="3581400" y="228600"/>
            <a:ext cx="5257800" cy="18312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rtl="0">
              <a:spcBef>
                <a:spcPct val="50000"/>
              </a:spcBef>
            </a:pPr>
            <a:r>
              <a:rPr lang="en-US" sz="3200" b="1" dirty="0">
                <a:latin typeface="Elephant" pitchFamily="18" charset="0"/>
              </a:rPr>
              <a:t>Reproductive Physiology</a:t>
            </a:r>
            <a:endParaRPr lang="en-US" dirty="0">
              <a:latin typeface="Elephant" pitchFamily="18" charset="0"/>
            </a:endParaRPr>
          </a:p>
          <a:p>
            <a:pPr rtl="0">
              <a:spcBef>
                <a:spcPct val="50000"/>
              </a:spcBef>
            </a:pPr>
            <a:r>
              <a:rPr lang="en-US" b="1" dirty="0">
                <a:latin typeface="Elephant" pitchFamily="18" charset="0"/>
              </a:rPr>
              <a:t>Lecturer Of Physiology</a:t>
            </a:r>
          </a:p>
          <a:p>
            <a:pPr>
              <a:spcBef>
                <a:spcPct val="50000"/>
              </a:spcBef>
            </a:pPr>
            <a:endParaRPr lang="en-US" sz="3600" b="1" dirty="0">
              <a:latin typeface="Elephant" pitchFamily="18" charset="0"/>
            </a:endParaRPr>
          </a:p>
        </p:txBody>
      </p:sp>
      <p:sp>
        <p:nvSpPr>
          <p:cNvPr id="22531" name="Text Box 5"/>
          <p:cNvSpPr txBox="1">
            <a:spLocks noChangeArrowheads="1"/>
          </p:cNvSpPr>
          <p:nvPr/>
        </p:nvSpPr>
        <p:spPr bwMode="auto">
          <a:xfrm>
            <a:off x="0" y="6248400"/>
            <a:ext cx="8001000" cy="369332"/>
          </a:xfrm>
          <a:prstGeom prst="rect">
            <a:avLst/>
          </a:prstGeom>
          <a:gradFill rotWithShape="1">
            <a:gsLst>
              <a:gs pos="0">
                <a:srgbClr val="2F4776"/>
              </a:gs>
              <a:gs pos="50000">
                <a:srgbClr val="6699FF"/>
              </a:gs>
              <a:gs pos="100000">
                <a:srgbClr val="2F4776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rtl="0">
              <a:spcBef>
                <a:spcPct val="50000"/>
              </a:spcBef>
            </a:pPr>
            <a:r>
              <a:rPr lang="en-US" b="1" dirty="0"/>
              <a:t>Faculty Of Medicine </a:t>
            </a:r>
            <a:r>
              <a:rPr lang="en-US" b="1" dirty="0" err="1"/>
              <a:t>Dept.Of</a:t>
            </a:r>
            <a:r>
              <a:rPr lang="en-US" b="1" dirty="0"/>
              <a:t> Physiology</a:t>
            </a:r>
            <a:r>
              <a:rPr lang="en-US" b="1" dirty="0">
                <a:solidFill>
                  <a:schemeClr val="bg1"/>
                </a:solidFill>
              </a:rPr>
              <a:t>  </a:t>
            </a:r>
          </a:p>
        </p:txBody>
      </p:sp>
      <p:sp>
        <p:nvSpPr>
          <p:cNvPr id="22532" name="Text Box 7"/>
          <p:cNvSpPr txBox="1">
            <a:spLocks noChangeArrowheads="1"/>
          </p:cNvSpPr>
          <p:nvPr/>
        </p:nvSpPr>
        <p:spPr bwMode="auto">
          <a:xfrm>
            <a:off x="304800" y="2057400"/>
            <a:ext cx="3810000" cy="1323439"/>
          </a:xfrm>
          <a:prstGeom prst="rect">
            <a:avLst/>
          </a:prstGeom>
          <a:solidFill>
            <a:srgbClr val="00206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rtl="0">
              <a:spcBef>
                <a:spcPct val="50000"/>
              </a:spcBef>
            </a:pPr>
            <a:r>
              <a:rPr lang="en-US" sz="4000" b="1" dirty="0">
                <a:solidFill>
                  <a:srgbClr val="FFC000"/>
                </a:solidFill>
                <a:latin typeface="Andalus" pitchFamily="18" charset="-78"/>
                <a:cs typeface="Andalus" pitchFamily="18" charset="-78"/>
              </a:rPr>
              <a:t> Reproductive system</a:t>
            </a:r>
            <a:endParaRPr lang="en-US" sz="4000" b="1" baseline="30000" dirty="0">
              <a:solidFill>
                <a:srgbClr val="FFC000"/>
              </a:solidFill>
              <a:latin typeface="Andalus" pitchFamily="18" charset="-78"/>
              <a:cs typeface="Andalus" pitchFamily="18" charset="-78"/>
            </a:endParaRPr>
          </a:p>
        </p:txBody>
      </p:sp>
      <p:sp>
        <p:nvSpPr>
          <p:cNvPr id="22533" name="Text Box 9"/>
          <p:cNvSpPr txBox="1">
            <a:spLocks noChangeArrowheads="1"/>
          </p:cNvSpPr>
          <p:nvPr/>
        </p:nvSpPr>
        <p:spPr bwMode="auto">
          <a:xfrm>
            <a:off x="0" y="381000"/>
            <a:ext cx="3657600" cy="369332"/>
          </a:xfrm>
          <a:prstGeom prst="rect">
            <a:avLst/>
          </a:prstGeom>
          <a:gradFill rotWithShape="1">
            <a:gsLst>
              <a:gs pos="0">
                <a:srgbClr val="2F4776"/>
              </a:gs>
              <a:gs pos="50000">
                <a:srgbClr val="6699FF"/>
              </a:gs>
              <a:gs pos="100000">
                <a:srgbClr val="2F4776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rtl="0">
              <a:spcBef>
                <a:spcPct val="50000"/>
              </a:spcBef>
            </a:pPr>
            <a:r>
              <a:rPr lang="en-US" b="1" dirty="0"/>
              <a:t>LECTURE NO (1)   </a:t>
            </a:r>
            <a:endParaRPr lang="ar-SA" b="1" dirty="0"/>
          </a:p>
        </p:txBody>
      </p:sp>
      <p:pic>
        <p:nvPicPr>
          <p:cNvPr id="9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648200" y="1828800"/>
            <a:ext cx="40386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810000"/>
            <a:ext cx="4419600" cy="208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whee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b="1" dirty="0">
                <a:solidFill>
                  <a:schemeClr val="accent6">
                    <a:lumMod val="75000"/>
                  </a:schemeClr>
                </a:solidFill>
                <a:latin typeface="Comic Sans MS" pitchFamily="66" charset="0"/>
                <a:ea typeface="+mn-ea"/>
                <a:cs typeface="+mn-cs"/>
              </a:rPr>
              <a:t>OBJECTIVES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>
                <a:solidFill>
                  <a:srgbClr val="FF0000"/>
                </a:solidFill>
                <a:latin typeface="Comic Sans MS" pitchFamily="66" charset="0"/>
              </a:rPr>
              <a:t>Introduction</a:t>
            </a:r>
            <a:endParaRPr lang="en-US" sz="3600" dirty="0">
              <a:solidFill>
                <a:srgbClr val="FF0000"/>
              </a:solidFill>
              <a:latin typeface="Comic Sans MS" pitchFamily="66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mic Sans MS" pitchFamily="66" charset="0"/>
              </a:rPr>
              <a:t>Definition of Puberty</a:t>
            </a:r>
          </a:p>
          <a:p>
            <a:r>
              <a:rPr lang="en-US" dirty="0">
                <a:solidFill>
                  <a:srgbClr val="FF0000"/>
                </a:solidFill>
                <a:latin typeface="Comic Sans MS" pitchFamily="66" charset="0"/>
              </a:rPr>
              <a:t>Onset of Puberty</a:t>
            </a:r>
          </a:p>
          <a:p>
            <a:r>
              <a:rPr lang="en-US" dirty="0">
                <a:solidFill>
                  <a:srgbClr val="FF0000"/>
                </a:solidFill>
                <a:latin typeface="Comic Sans MS" pitchFamily="66" charset="0"/>
              </a:rPr>
              <a:t>Features of puberty</a:t>
            </a:r>
          </a:p>
          <a:p>
            <a:r>
              <a:rPr lang="en-US" dirty="0">
                <a:solidFill>
                  <a:srgbClr val="FF0000"/>
                </a:solidFill>
                <a:latin typeface="Comic Sans MS" pitchFamily="66" charset="0"/>
              </a:rPr>
              <a:t>Secondary sex characters</a:t>
            </a:r>
          </a:p>
          <a:p>
            <a:r>
              <a:rPr lang="en-GB" dirty="0">
                <a:solidFill>
                  <a:srgbClr val="FF0000"/>
                </a:solidFill>
                <a:latin typeface="Comic Sans MS" pitchFamily="66" charset="0"/>
              </a:rPr>
              <a:t>Abnormalities of puberty</a:t>
            </a:r>
            <a:endParaRPr lang="en-US" dirty="0">
              <a:solidFill>
                <a:srgbClr val="FF0000"/>
              </a:solidFill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987330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rgbClr val="FF0000"/>
                </a:solidFill>
                <a:latin typeface="Comic Sans MS" pitchFamily="66" charset="0"/>
                <a:ea typeface="+mn-ea"/>
                <a:cs typeface="+mn-cs"/>
              </a:rPr>
              <a:t>INTRODUCTION</a:t>
            </a:r>
            <a:r>
              <a:rPr lang="en-GB" b="1" dirty="0"/>
              <a:t> </a:t>
            </a:r>
            <a:endParaRPr lang="ar-OM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omic Sans MS" pitchFamily="66" charset="0"/>
              </a:rPr>
              <a:t>The differences between males &amp; females are due to the </a:t>
            </a:r>
            <a:r>
              <a:rPr lang="en-US" u="sng" dirty="0">
                <a:solidFill>
                  <a:srgbClr val="FF0000"/>
                </a:solidFill>
                <a:latin typeface="Comic Sans MS" pitchFamily="66" charset="0"/>
              </a:rPr>
              <a:t>Y chromosome</a:t>
            </a:r>
            <a:r>
              <a:rPr lang="en-US" dirty="0">
                <a:latin typeface="Comic Sans MS" pitchFamily="66" charset="0"/>
              </a:rPr>
              <a:t>.</a:t>
            </a:r>
          </a:p>
          <a:p>
            <a:r>
              <a:rPr lang="en-US" dirty="0">
                <a:latin typeface="Comic Sans MS" pitchFamily="66" charset="0"/>
              </a:rPr>
              <a:t>The embryo (in the 7th week of pregnancy) has both: </a:t>
            </a:r>
          </a:p>
          <a:p>
            <a:pPr>
              <a:buNone/>
            </a:pPr>
            <a:r>
              <a:rPr lang="en-US" dirty="0">
                <a:latin typeface="Comic Sans MS" pitchFamily="66" charset="0"/>
              </a:rPr>
              <a:t>- The male genital duct (wolffian duct) </a:t>
            </a:r>
          </a:p>
          <a:p>
            <a:pPr>
              <a:buNone/>
            </a:pPr>
            <a:r>
              <a:rPr lang="en-US" dirty="0">
                <a:latin typeface="Comic Sans MS" pitchFamily="66" charset="0"/>
              </a:rPr>
              <a:t>- The female genital duct (</a:t>
            </a:r>
            <a:r>
              <a:rPr lang="en-US" dirty="0" err="1">
                <a:latin typeface="Comic Sans MS" pitchFamily="66" charset="0"/>
              </a:rPr>
              <a:t>Mullerian</a:t>
            </a:r>
            <a:r>
              <a:rPr lang="en-US" dirty="0">
                <a:latin typeface="Comic Sans MS" pitchFamily="66" charset="0"/>
              </a:rPr>
              <a:t> duct)  </a:t>
            </a:r>
            <a:endParaRPr lang="ar-OM" dirty="0"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OM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u="sng" dirty="0">
                <a:solidFill>
                  <a:srgbClr val="0070C0"/>
                </a:solidFill>
                <a:latin typeface="Comic Sans MS" pitchFamily="66" charset="0"/>
              </a:rPr>
              <a:t>In the presence of Y chromosome:</a:t>
            </a:r>
          </a:p>
          <a:p>
            <a:pPr>
              <a:buNone/>
            </a:pPr>
            <a:r>
              <a:rPr lang="en-US" dirty="0">
                <a:latin typeface="Comic Sans MS" pitchFamily="66" charset="0"/>
              </a:rPr>
              <a:t>   the testes develops, it releases </a:t>
            </a:r>
            <a:r>
              <a:rPr lang="en-US" dirty="0">
                <a:solidFill>
                  <a:srgbClr val="FF0000"/>
                </a:solidFill>
                <a:latin typeface="Comic Sans MS" pitchFamily="66" charset="0"/>
              </a:rPr>
              <a:t>testosterone</a:t>
            </a:r>
            <a:r>
              <a:rPr lang="en-US" dirty="0">
                <a:latin typeface="Comic Sans MS" pitchFamily="66" charset="0"/>
              </a:rPr>
              <a:t>, which increases development of the </a:t>
            </a:r>
            <a:r>
              <a:rPr lang="en-US" dirty="0">
                <a:solidFill>
                  <a:srgbClr val="FF0000"/>
                </a:solidFill>
                <a:latin typeface="Comic Sans MS" pitchFamily="66" charset="0"/>
              </a:rPr>
              <a:t>wolffian duct </a:t>
            </a:r>
            <a:r>
              <a:rPr lang="en-US" dirty="0">
                <a:latin typeface="Comic Sans MS" pitchFamily="66" charset="0"/>
              </a:rPr>
              <a:t>into </a:t>
            </a:r>
            <a:r>
              <a:rPr lang="en-US" dirty="0" err="1">
                <a:solidFill>
                  <a:srgbClr val="FF0000"/>
                </a:solidFill>
                <a:latin typeface="Comic Sans MS" pitchFamily="66" charset="0"/>
              </a:rPr>
              <a:t>epididymis</a:t>
            </a:r>
            <a:r>
              <a:rPr lang="en-US" dirty="0">
                <a:latin typeface="Comic Sans MS" pitchFamily="66" charset="0"/>
              </a:rPr>
              <a:t> &amp; </a:t>
            </a:r>
            <a:r>
              <a:rPr lang="en-US" dirty="0">
                <a:solidFill>
                  <a:srgbClr val="FF0000"/>
                </a:solidFill>
                <a:latin typeface="Comic Sans MS" pitchFamily="66" charset="0"/>
              </a:rPr>
              <a:t>vas deferens</a:t>
            </a:r>
            <a:r>
              <a:rPr lang="en-US" dirty="0">
                <a:latin typeface="Comic Sans MS" pitchFamily="66" charset="0"/>
              </a:rPr>
              <a:t>; and </a:t>
            </a:r>
            <a:r>
              <a:rPr lang="en-US" dirty="0" err="1">
                <a:latin typeface="Comic Sans MS" pitchFamily="66" charset="0"/>
              </a:rPr>
              <a:t>mullerian</a:t>
            </a:r>
            <a:r>
              <a:rPr lang="en-US" dirty="0">
                <a:latin typeface="Comic Sans MS" pitchFamily="66" charset="0"/>
              </a:rPr>
              <a:t> inhibitory substance (</a:t>
            </a:r>
            <a:r>
              <a:rPr lang="en-US" dirty="0">
                <a:solidFill>
                  <a:srgbClr val="FF0000"/>
                </a:solidFill>
                <a:latin typeface="Comic Sans MS" pitchFamily="66" charset="0"/>
              </a:rPr>
              <a:t>MIS</a:t>
            </a:r>
            <a:r>
              <a:rPr lang="en-US" dirty="0">
                <a:latin typeface="Comic Sans MS" pitchFamily="66" charset="0"/>
              </a:rPr>
              <a:t>), which causes regression of </a:t>
            </a:r>
            <a:r>
              <a:rPr lang="en-US" dirty="0" err="1">
                <a:latin typeface="Comic Sans MS" pitchFamily="66" charset="0"/>
              </a:rPr>
              <a:t>Mullerian</a:t>
            </a:r>
            <a:r>
              <a:rPr lang="en-US" dirty="0">
                <a:latin typeface="Comic Sans MS" pitchFamily="66" charset="0"/>
              </a:rPr>
              <a:t> duct.</a:t>
            </a:r>
            <a:endParaRPr lang="ar-OM" dirty="0"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OM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>
                <a:solidFill>
                  <a:srgbClr val="0070C0"/>
                </a:solidFill>
                <a:latin typeface="Comic Sans MS" pitchFamily="66" charset="0"/>
              </a:rPr>
              <a:t>In the absence of the Y chromosome:</a:t>
            </a:r>
          </a:p>
          <a:p>
            <a:pPr>
              <a:buNone/>
            </a:pPr>
            <a:r>
              <a:rPr lang="en-US" dirty="0">
                <a:latin typeface="Comic Sans MS" pitchFamily="66" charset="0"/>
              </a:rPr>
              <a:t> the testes does not develop. The </a:t>
            </a:r>
            <a:r>
              <a:rPr lang="en-US" dirty="0" err="1">
                <a:latin typeface="Comic Sans MS" pitchFamily="66" charset="0"/>
              </a:rPr>
              <a:t>Mullerian</a:t>
            </a:r>
            <a:r>
              <a:rPr lang="en-US" dirty="0">
                <a:latin typeface="Comic Sans MS" pitchFamily="66" charset="0"/>
              </a:rPr>
              <a:t> duct persists. It gives the </a:t>
            </a:r>
            <a:r>
              <a:rPr lang="en-US" dirty="0">
                <a:solidFill>
                  <a:srgbClr val="FF0000"/>
                </a:solidFill>
                <a:latin typeface="Comic Sans MS" pitchFamily="66" charset="0"/>
              </a:rPr>
              <a:t>uterus</a:t>
            </a:r>
            <a:r>
              <a:rPr lang="en-US" dirty="0">
                <a:latin typeface="Comic Sans MS" pitchFamily="66" charset="0"/>
              </a:rPr>
              <a:t> &amp; the </a:t>
            </a:r>
            <a:r>
              <a:rPr lang="en-US" dirty="0">
                <a:solidFill>
                  <a:srgbClr val="FF0000"/>
                </a:solidFill>
                <a:latin typeface="Comic Sans MS" pitchFamily="66" charset="0"/>
              </a:rPr>
              <a:t>uterine tubes</a:t>
            </a:r>
            <a:r>
              <a:rPr lang="en-US" dirty="0"/>
              <a:t>. </a:t>
            </a:r>
            <a:endParaRPr lang="ar-OM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b="1" dirty="0">
                <a:solidFill>
                  <a:srgbClr val="FF0000"/>
                </a:solidFill>
                <a:latin typeface="Comic Sans MS" pitchFamily="66" charset="0"/>
                <a:ea typeface="+mn-ea"/>
                <a:cs typeface="+mn-cs"/>
              </a:rPr>
              <a:t>Puberty</a:t>
            </a:r>
            <a:r>
              <a:rPr lang="en-GB" b="1" dirty="0"/>
              <a:t> </a:t>
            </a:r>
            <a:endParaRPr lang="ar-OM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u="sng" dirty="0">
                <a:solidFill>
                  <a:srgbClr val="0070C0"/>
                </a:solidFill>
                <a:latin typeface="Comic Sans MS" pitchFamily="66" charset="0"/>
              </a:rPr>
              <a:t>Definition</a:t>
            </a:r>
            <a:r>
              <a:rPr lang="en-GB" i="1" dirty="0">
                <a:solidFill>
                  <a:srgbClr val="0070C0"/>
                </a:solidFill>
              </a:rPr>
              <a:t> </a:t>
            </a:r>
          </a:p>
          <a:p>
            <a:pPr>
              <a:buNone/>
            </a:pPr>
            <a:r>
              <a:rPr lang="en-US" dirty="0"/>
              <a:t>- </a:t>
            </a:r>
            <a:r>
              <a:rPr lang="en-US" dirty="0">
                <a:latin typeface="Comic Sans MS" pitchFamily="66" charset="0"/>
              </a:rPr>
              <a:t>The period when the endocrine &amp; </a:t>
            </a:r>
            <a:r>
              <a:rPr lang="en-US" dirty="0" err="1">
                <a:latin typeface="Comic Sans MS" pitchFamily="66" charset="0"/>
              </a:rPr>
              <a:t>gametogenic</a:t>
            </a:r>
            <a:r>
              <a:rPr lang="en-US" dirty="0">
                <a:latin typeface="Comic Sans MS" pitchFamily="66" charset="0"/>
              </a:rPr>
              <a:t> functions of the gonads have first developed to attain reproductive capacity </a:t>
            </a:r>
            <a:endParaRPr lang="ar-OM" dirty="0"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OM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GB" b="1" u="sng" dirty="0">
                <a:solidFill>
                  <a:srgbClr val="0070C0"/>
                </a:solidFill>
                <a:latin typeface="Comic Sans MS" pitchFamily="66" charset="0"/>
              </a:rPr>
              <a:t>Onset :</a:t>
            </a:r>
          </a:p>
          <a:p>
            <a:pPr>
              <a:buNone/>
            </a:pPr>
            <a:r>
              <a:rPr lang="en-US" dirty="0">
                <a:latin typeface="Comic Sans MS" pitchFamily="66" charset="0"/>
              </a:rPr>
              <a:t>Onset of puberty varies according to genetic and environmental factors. It is at the age of (9-13 y) in females and (11-15 y) in males </a:t>
            </a:r>
            <a:endParaRPr lang="ar-OM" dirty="0"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OM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602163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dirty="0"/>
              <a:t>- </a:t>
            </a:r>
            <a:r>
              <a:rPr lang="en-US" sz="4600" dirty="0">
                <a:latin typeface="Comic Sans MS" pitchFamily="66" charset="0"/>
              </a:rPr>
              <a:t>The mechanism of onset is unknown.</a:t>
            </a:r>
          </a:p>
          <a:p>
            <a:pPr>
              <a:buNone/>
            </a:pPr>
            <a:r>
              <a:rPr lang="en-US" sz="4600" dirty="0">
                <a:latin typeface="Comic Sans MS" pitchFamily="66" charset="0"/>
              </a:rPr>
              <a:t> - May be some sort of CNS maturation that initiates release of </a:t>
            </a:r>
            <a:r>
              <a:rPr lang="en-US" sz="4600" dirty="0" err="1">
                <a:latin typeface="Comic Sans MS" pitchFamily="66" charset="0"/>
              </a:rPr>
              <a:t>GnRH</a:t>
            </a:r>
            <a:r>
              <a:rPr lang="en-US" sz="4600" dirty="0">
                <a:latin typeface="Comic Sans MS" pitchFamily="66" charset="0"/>
              </a:rPr>
              <a:t> in a </a:t>
            </a:r>
            <a:r>
              <a:rPr lang="en-US" sz="4600" dirty="0" err="1">
                <a:latin typeface="Comic Sans MS" pitchFamily="66" charset="0"/>
              </a:rPr>
              <a:t>pulsatile</a:t>
            </a:r>
            <a:r>
              <a:rPr lang="en-US" sz="4600" dirty="0">
                <a:latin typeface="Comic Sans MS" pitchFamily="66" charset="0"/>
              </a:rPr>
              <a:t> pattern from the hypothalamus. </a:t>
            </a:r>
          </a:p>
          <a:p>
            <a:pPr>
              <a:buNone/>
            </a:pPr>
            <a:r>
              <a:rPr lang="en-US" sz="4600" dirty="0">
                <a:latin typeface="Comic Sans MS" pitchFamily="66" charset="0"/>
              </a:rPr>
              <a:t>- This results in release of </a:t>
            </a:r>
            <a:r>
              <a:rPr lang="en-US" sz="4600" dirty="0" err="1">
                <a:latin typeface="Comic Sans MS" pitchFamily="66" charset="0"/>
              </a:rPr>
              <a:t>gonadotrophins</a:t>
            </a:r>
            <a:r>
              <a:rPr lang="en-US" sz="4600" dirty="0">
                <a:latin typeface="Comic Sans MS" pitchFamily="66" charset="0"/>
              </a:rPr>
              <a:t> (FSH &amp; LH) from the pituitary gland. </a:t>
            </a:r>
          </a:p>
          <a:p>
            <a:pPr>
              <a:buNone/>
            </a:pPr>
            <a:r>
              <a:rPr lang="en-US" sz="4600" dirty="0">
                <a:latin typeface="Comic Sans MS" pitchFamily="66" charset="0"/>
              </a:rPr>
              <a:t>- The </a:t>
            </a:r>
            <a:r>
              <a:rPr lang="en-US" sz="4600" dirty="0" err="1">
                <a:latin typeface="Comic Sans MS" pitchFamily="66" charset="0"/>
              </a:rPr>
              <a:t>gonadotrophins</a:t>
            </a:r>
            <a:r>
              <a:rPr lang="en-US" sz="4600" dirty="0">
                <a:latin typeface="Comic Sans MS" pitchFamily="66" charset="0"/>
              </a:rPr>
              <a:t> control functions of the gonads and release of the sex hormones (testosterone in males; estrogen and progesterone in females).</a:t>
            </a:r>
          </a:p>
          <a:p>
            <a:pPr>
              <a:buNone/>
            </a:pPr>
            <a:r>
              <a:rPr lang="en-US" sz="4600" dirty="0">
                <a:latin typeface="Comic Sans MS" pitchFamily="66" charset="0"/>
              </a:rPr>
              <a:t>- The sex hormones result in appearance of the characteristic features of puberty</a:t>
            </a:r>
            <a:endParaRPr lang="ar-OM" sz="4600" dirty="0"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OM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GB" sz="2900" b="1" u="sng" dirty="0">
                <a:solidFill>
                  <a:srgbClr val="0070C0"/>
                </a:solidFill>
                <a:latin typeface="Comic Sans MS" pitchFamily="66" charset="0"/>
              </a:rPr>
              <a:t>Features: </a:t>
            </a:r>
          </a:p>
          <a:p>
            <a:pPr>
              <a:buNone/>
            </a:pPr>
            <a:r>
              <a:rPr lang="en-GB" sz="2900" dirty="0">
                <a:latin typeface="Comic Sans MS" pitchFamily="66" charset="0"/>
              </a:rPr>
              <a:t>- Growth spurt </a:t>
            </a:r>
          </a:p>
          <a:p>
            <a:pPr>
              <a:buNone/>
            </a:pPr>
            <a:r>
              <a:rPr lang="en-US" sz="2900" dirty="0">
                <a:latin typeface="Comic Sans MS" pitchFamily="66" charset="0"/>
              </a:rPr>
              <a:t>- Development of secondary sex characters </a:t>
            </a:r>
          </a:p>
          <a:p>
            <a:pPr>
              <a:buNone/>
            </a:pPr>
            <a:r>
              <a:rPr lang="en-GB" sz="2900" dirty="0">
                <a:latin typeface="Comic Sans MS" pitchFamily="66" charset="0"/>
              </a:rPr>
              <a:t>- Enlargement of reproductive organs </a:t>
            </a:r>
          </a:p>
          <a:p>
            <a:pPr>
              <a:buNone/>
            </a:pPr>
            <a:r>
              <a:rPr lang="en-GB" sz="2900" dirty="0">
                <a:latin typeface="Comic Sans MS" pitchFamily="66" charset="0"/>
              </a:rPr>
              <a:t>- Attainment of reproductive capacity</a:t>
            </a:r>
            <a:endParaRPr lang="ar-OM" sz="2900" dirty="0"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4000" b="1" dirty="0">
                <a:solidFill>
                  <a:srgbClr val="FF0000"/>
                </a:solidFill>
                <a:latin typeface="Comic Sans MS" pitchFamily="66" charset="0"/>
                <a:ea typeface="+mn-ea"/>
                <a:cs typeface="+mn-cs"/>
              </a:rPr>
              <a:t>The secondary sex characters </a:t>
            </a:r>
            <a:br>
              <a:rPr lang="en-GB" i="1" dirty="0">
                <a:solidFill>
                  <a:srgbClr val="FF0000"/>
                </a:solidFill>
              </a:rPr>
            </a:br>
            <a:endParaRPr lang="ar-OM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/>
            <a:r>
              <a:rPr lang="en-US" sz="2800" b="1" dirty="0">
                <a:solidFill>
                  <a:srgbClr val="0070C0"/>
                </a:solidFill>
                <a:latin typeface="Comic Sans MS" pitchFamily="66" charset="0"/>
              </a:rPr>
              <a:t>In males:</a:t>
            </a:r>
          </a:p>
          <a:p>
            <a:pPr marL="0" indent="0"/>
            <a:r>
              <a:rPr lang="en-US" sz="2800" dirty="0">
                <a:latin typeface="Comic Sans MS" pitchFamily="66" charset="0"/>
              </a:rPr>
              <a:t>Enlargement of internal genitalia</a:t>
            </a:r>
            <a:r>
              <a:rPr lang="ar-SA" sz="2800" dirty="0">
                <a:latin typeface="Comic Sans MS" pitchFamily="66" charset="0"/>
              </a:rPr>
              <a:t> </a:t>
            </a:r>
            <a:r>
              <a:rPr lang="en-US" sz="2800" dirty="0">
                <a:latin typeface="Comic Sans MS" pitchFamily="66" charset="0"/>
              </a:rPr>
              <a:t>(testes, ducts and glands) .</a:t>
            </a:r>
          </a:p>
          <a:p>
            <a:r>
              <a:rPr lang="en-US" sz="2800" dirty="0">
                <a:latin typeface="Comic Sans MS" pitchFamily="66" charset="0"/>
              </a:rPr>
              <a:t>Enlargement of external genitalia.</a:t>
            </a:r>
          </a:p>
          <a:p>
            <a:r>
              <a:rPr lang="en-US" sz="2800" dirty="0">
                <a:latin typeface="Comic Sans MS" pitchFamily="66" charset="0"/>
              </a:rPr>
              <a:t>Deep voice (due to enlargement of the larynx &amp; thickening of the vocal cords ).</a:t>
            </a:r>
          </a:p>
          <a:p>
            <a:r>
              <a:rPr lang="en-US" sz="2800" dirty="0">
                <a:latin typeface="Comic Sans MS" pitchFamily="66" charset="0"/>
              </a:rPr>
              <a:t>Growth of the hair in the :</a:t>
            </a:r>
          </a:p>
          <a:p>
            <a:pPr>
              <a:buFont typeface="Courier New" pitchFamily="49" charset="0"/>
              <a:buChar char="o"/>
            </a:pPr>
            <a:r>
              <a:rPr lang="en-US" sz="2800" dirty="0">
                <a:latin typeface="Comic Sans MS" pitchFamily="66" charset="0"/>
              </a:rPr>
              <a:t>face : beard &amp; mustache . </a:t>
            </a:r>
          </a:p>
          <a:p>
            <a:pPr>
              <a:buFont typeface="Courier New" pitchFamily="49" charset="0"/>
              <a:buChar char="o"/>
            </a:pPr>
            <a:r>
              <a:rPr lang="en-US" sz="2800" dirty="0">
                <a:latin typeface="Comic Sans MS" pitchFamily="66" charset="0"/>
              </a:rPr>
              <a:t>Pubic area, </a:t>
            </a:r>
            <a:r>
              <a:rPr lang="en-US" sz="2800" dirty="0" err="1">
                <a:latin typeface="Comic Sans MS" pitchFamily="66" charset="0"/>
              </a:rPr>
              <a:t>axilla</a:t>
            </a:r>
            <a:r>
              <a:rPr lang="ar-SA" sz="2800" dirty="0">
                <a:latin typeface="Comic Sans MS" pitchFamily="66" charset="0"/>
              </a:rPr>
              <a:t> &amp; </a:t>
            </a:r>
            <a:r>
              <a:rPr lang="en-US" sz="2800" dirty="0">
                <a:latin typeface="Comic Sans MS" pitchFamily="66" charset="0"/>
              </a:rPr>
              <a:t>chest. </a:t>
            </a:r>
            <a:endParaRPr lang="ar-SA" sz="2800" dirty="0"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OM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Comic Sans MS" pitchFamily="66" charset="0"/>
              </a:rPr>
              <a:t>Emotional changes (more active , aggressive &amp; interested in the opposite sex).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omic Sans MS" pitchFamily="66" charset="0"/>
              </a:rPr>
              <a:t>Conformational changes (enlargement of muscles ).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omic Sans MS" pitchFamily="66" charset="0"/>
              </a:rPr>
              <a:t>Secretion of fatty glands (predisposing to acne). </a:t>
            </a:r>
          </a:p>
          <a:p>
            <a:pPr>
              <a:buNone/>
            </a:pPr>
            <a:endParaRPr lang="ar-OM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>
                <a:solidFill>
                  <a:srgbClr val="FF0000"/>
                </a:solidFill>
                <a:latin typeface="Comic Sans MS" pitchFamily="66" charset="0"/>
              </a:rPr>
              <a:t>The secondary sex characters </a:t>
            </a:r>
            <a:br>
              <a:rPr lang="en-GB" i="1" dirty="0">
                <a:solidFill>
                  <a:srgbClr val="FF0000"/>
                </a:solidFill>
              </a:rPr>
            </a:br>
            <a:endParaRPr lang="ar-OM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70C0"/>
                </a:solidFill>
                <a:latin typeface="Comic Sans MS" pitchFamily="66" charset="0"/>
              </a:rPr>
              <a:t>In females:</a:t>
            </a:r>
          </a:p>
          <a:p>
            <a:pPr>
              <a:buNone/>
            </a:pPr>
            <a:r>
              <a:rPr lang="en-US" sz="2800" dirty="0">
                <a:latin typeface="Comic Sans MS" pitchFamily="66" charset="0"/>
              </a:rPr>
              <a:t>- Enlargement of the internal genitalia (uterus).</a:t>
            </a:r>
          </a:p>
          <a:p>
            <a:pPr>
              <a:buNone/>
            </a:pPr>
            <a:r>
              <a:rPr lang="en-US" sz="2800" dirty="0">
                <a:latin typeface="Comic Sans MS" pitchFamily="66" charset="0"/>
              </a:rPr>
              <a:t>- Enlargement  of the external genitalia.</a:t>
            </a:r>
          </a:p>
          <a:p>
            <a:pPr>
              <a:buNone/>
            </a:pPr>
            <a:r>
              <a:rPr lang="en-US" sz="2800" dirty="0">
                <a:latin typeface="Comic Sans MS" pitchFamily="66" charset="0"/>
              </a:rPr>
              <a:t>- Enlargement of the breasts.</a:t>
            </a:r>
          </a:p>
          <a:p>
            <a:pPr>
              <a:buNone/>
            </a:pPr>
            <a:r>
              <a:rPr lang="en-US" sz="2800" dirty="0">
                <a:latin typeface="Comic Sans MS" pitchFamily="66" charset="0"/>
              </a:rPr>
              <a:t>- The voice remain high pitched (no enlargement of the larynx).</a:t>
            </a:r>
          </a:p>
          <a:p>
            <a:pPr>
              <a:buFontTx/>
              <a:buChar char="-"/>
            </a:pPr>
            <a:r>
              <a:rPr lang="en-US" sz="2800" dirty="0">
                <a:latin typeface="Comic Sans MS" pitchFamily="66" charset="0"/>
              </a:rPr>
              <a:t>Deposition of subcutaneous fat( specially in breasts) .</a:t>
            </a:r>
          </a:p>
          <a:p>
            <a:r>
              <a:rPr lang="en-US" sz="2800" dirty="0">
                <a:latin typeface="Comic Sans MS" pitchFamily="66" charset="0"/>
              </a:rPr>
              <a:t>Development of pubic &amp; </a:t>
            </a:r>
            <a:r>
              <a:rPr lang="en-US" sz="2800" dirty="0" err="1">
                <a:latin typeface="Comic Sans MS" pitchFamily="66" charset="0"/>
              </a:rPr>
              <a:t>axillary</a:t>
            </a:r>
            <a:r>
              <a:rPr lang="en-US" sz="2800" dirty="0">
                <a:latin typeface="Comic Sans MS" pitchFamily="66" charset="0"/>
              </a:rPr>
              <a:t> hair </a:t>
            </a:r>
          </a:p>
          <a:p>
            <a:r>
              <a:rPr lang="en-US" sz="2800" dirty="0">
                <a:latin typeface="Comic Sans MS" pitchFamily="66" charset="0"/>
              </a:rPr>
              <a:t>Emotional changes &amp; conformational changes</a:t>
            </a:r>
          </a:p>
          <a:p>
            <a:pPr>
              <a:buNone/>
            </a:pPr>
            <a:r>
              <a:rPr lang="en-US" sz="2800" dirty="0">
                <a:latin typeface="Comic Sans MS" pitchFamily="66" charset="0"/>
              </a:rPr>
              <a:t> ( broad hips with narrow shoulders) .</a:t>
            </a:r>
          </a:p>
          <a:p>
            <a:pPr>
              <a:buFontTx/>
              <a:buChar char="-"/>
            </a:pPr>
            <a:endParaRPr lang="en-US" sz="2800" dirty="0"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GB" sz="3600" b="1" dirty="0">
                <a:solidFill>
                  <a:srgbClr val="FF0000"/>
                </a:solidFill>
                <a:latin typeface="Comic Sans MS" pitchFamily="66" charset="0"/>
                <a:ea typeface="+mn-ea"/>
                <a:cs typeface="+mn-cs"/>
              </a:rPr>
              <a:t>Abnormalities of puberty</a:t>
            </a:r>
            <a:endParaRPr lang="ar-OM" sz="3600" b="1" dirty="0">
              <a:solidFill>
                <a:srgbClr val="FF0000"/>
              </a:solidFill>
              <a:latin typeface="Comic Sans MS" pitchFamily="66" charset="0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GB" i="1" dirty="0"/>
          </a:p>
          <a:p>
            <a:pPr>
              <a:buNone/>
            </a:pPr>
            <a:r>
              <a:rPr lang="en-GB" sz="2800" b="1" u="sng" dirty="0">
                <a:solidFill>
                  <a:schemeClr val="accent1"/>
                </a:solidFill>
                <a:latin typeface="Comic Sans MS" pitchFamily="66" charset="0"/>
              </a:rPr>
              <a:t>Precocious puberty: </a:t>
            </a:r>
          </a:p>
          <a:p>
            <a:pPr>
              <a:buNone/>
            </a:pPr>
            <a:r>
              <a:rPr lang="en-GB" sz="2800" dirty="0">
                <a:latin typeface="Comic Sans MS" pitchFamily="66" charset="0"/>
              </a:rPr>
              <a:t>- True puberty (with </a:t>
            </a:r>
            <a:r>
              <a:rPr lang="en-GB" sz="2800" dirty="0" err="1">
                <a:latin typeface="Comic Sans MS" pitchFamily="66" charset="0"/>
              </a:rPr>
              <a:t>gametogenesis</a:t>
            </a:r>
            <a:r>
              <a:rPr lang="en-GB" sz="2800" dirty="0">
                <a:latin typeface="Comic Sans MS" pitchFamily="66" charset="0"/>
              </a:rPr>
              <a:t>) </a:t>
            </a:r>
          </a:p>
          <a:p>
            <a:pPr>
              <a:buNone/>
            </a:pPr>
            <a:r>
              <a:rPr lang="en-US" sz="2800" dirty="0">
                <a:latin typeface="Comic Sans MS" pitchFamily="66" charset="0"/>
              </a:rPr>
              <a:t>- Caused by early release of </a:t>
            </a:r>
            <a:r>
              <a:rPr lang="en-US" sz="2800" dirty="0" err="1">
                <a:latin typeface="Comic Sans MS" pitchFamily="66" charset="0"/>
              </a:rPr>
              <a:t>gonadotrophins</a:t>
            </a:r>
            <a:r>
              <a:rPr lang="en-US" sz="2800" dirty="0">
                <a:latin typeface="Comic Sans MS" pitchFamily="66" charset="0"/>
              </a:rPr>
              <a:t> </a:t>
            </a:r>
          </a:p>
          <a:p>
            <a:pPr>
              <a:buNone/>
            </a:pPr>
            <a:endParaRPr lang="ar-OM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OM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sz="2800" b="1" u="sng" dirty="0" err="1">
                <a:solidFill>
                  <a:schemeClr val="accent1"/>
                </a:solidFill>
                <a:latin typeface="Comic Sans MS" pitchFamily="66" charset="0"/>
              </a:rPr>
              <a:t>Pseudopuberty</a:t>
            </a:r>
            <a:r>
              <a:rPr lang="en-GB" sz="2800" b="1" u="sng" dirty="0">
                <a:solidFill>
                  <a:schemeClr val="accent1"/>
                </a:solidFill>
                <a:latin typeface="Comic Sans MS" pitchFamily="66" charset="0"/>
              </a:rPr>
              <a:t> </a:t>
            </a:r>
          </a:p>
          <a:p>
            <a:pPr>
              <a:buNone/>
            </a:pPr>
            <a:r>
              <a:rPr lang="en-US" sz="2800" dirty="0">
                <a:latin typeface="Comic Sans MS" pitchFamily="66" charset="0"/>
              </a:rPr>
              <a:t>- Only the secondary sex characters, with no </a:t>
            </a:r>
            <a:r>
              <a:rPr lang="en-US" sz="2800" dirty="0" err="1">
                <a:latin typeface="Comic Sans MS" pitchFamily="66" charset="0"/>
              </a:rPr>
              <a:t>gametogenesis</a:t>
            </a:r>
            <a:r>
              <a:rPr lang="en-US" sz="2800" dirty="0">
                <a:latin typeface="Comic Sans MS" pitchFamily="66" charset="0"/>
              </a:rPr>
              <a:t>, </a:t>
            </a:r>
          </a:p>
          <a:p>
            <a:pPr>
              <a:buNone/>
            </a:pPr>
            <a:r>
              <a:rPr lang="en-US" sz="2800" dirty="0">
                <a:latin typeface="Comic Sans MS" pitchFamily="66" charset="0"/>
              </a:rPr>
              <a:t>- Due to early release of sex hormones </a:t>
            </a:r>
          </a:p>
          <a:p>
            <a:pPr>
              <a:buNone/>
            </a:pPr>
            <a:endParaRPr lang="ar-OM" sz="2800" b="1" u="sng" dirty="0">
              <a:solidFill>
                <a:schemeClr val="accent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OM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GB" sz="2800" b="1" u="sng" dirty="0">
                <a:solidFill>
                  <a:schemeClr val="accent1"/>
                </a:solidFill>
                <a:latin typeface="Comic Sans MS" pitchFamily="66" charset="0"/>
              </a:rPr>
              <a:t>Delayed puberty </a:t>
            </a:r>
          </a:p>
          <a:p>
            <a:pPr>
              <a:buNone/>
            </a:pPr>
            <a:r>
              <a:rPr lang="en-US" sz="2800" dirty="0">
                <a:latin typeface="Comic Sans MS" pitchFamily="66" charset="0"/>
              </a:rPr>
              <a:t>- Delayed features of puberty due to delayed release of </a:t>
            </a:r>
            <a:r>
              <a:rPr lang="en-US" sz="2800" dirty="0" err="1">
                <a:latin typeface="Comic Sans MS" pitchFamily="66" charset="0"/>
              </a:rPr>
              <a:t>gonadotrophins</a:t>
            </a:r>
            <a:r>
              <a:rPr lang="en-US" sz="2800" dirty="0">
                <a:latin typeface="Comic Sans MS" pitchFamily="66" charset="0"/>
              </a:rPr>
              <a:t> or sex hormones. </a:t>
            </a:r>
          </a:p>
          <a:p>
            <a:pPr>
              <a:buNone/>
            </a:pPr>
            <a:r>
              <a:rPr lang="en-US" sz="2800" dirty="0">
                <a:latin typeface="Comic Sans MS" pitchFamily="66" charset="0"/>
              </a:rPr>
              <a:t>- May be caused by a pituitary disorder, a chromosomal abnormality or an unknown cause</a:t>
            </a:r>
            <a:endParaRPr lang="ar-OM" sz="2800" dirty="0"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66800" y="3733800"/>
            <a:ext cx="7772400" cy="1362456"/>
          </a:xfrm>
        </p:spPr>
        <p:txBody>
          <a:bodyPr>
            <a:normAutofit fontScale="90000"/>
          </a:bodyPr>
          <a:lstStyle/>
          <a:p>
            <a:r>
              <a:rPr lang="en-US" sz="9600" dirty="0">
                <a:latin typeface="Comic Sans MS" pitchFamily="66" charset="0"/>
              </a:rPr>
              <a:t>     </a:t>
            </a:r>
            <a:r>
              <a:rPr lang="en-US" sz="9600" b="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you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914400" y="2133600"/>
            <a:ext cx="7772400" cy="2080776"/>
          </a:xfrm>
        </p:spPr>
        <p:txBody>
          <a:bodyPr>
            <a:normAutofit/>
          </a:bodyPr>
          <a:lstStyle/>
          <a:p>
            <a:r>
              <a:rPr lang="en-US" sz="96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Thank</a:t>
            </a:r>
          </a:p>
        </p:txBody>
      </p:sp>
    </p:spTree>
    <p:extLst>
      <p:ext uri="{BB962C8B-B14F-4D97-AF65-F5344CB8AC3E}">
        <p14:creationId xmlns:p14="http://schemas.microsoft.com/office/powerpoint/2010/main" val="12798733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1011</TotalTime>
  <Words>553</Words>
  <Application>Microsoft Office PowerPoint</Application>
  <PresentationFormat>On-screen Show (4:3)</PresentationFormat>
  <Paragraphs>70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Andalus</vt:lpstr>
      <vt:lpstr>Arial</vt:lpstr>
      <vt:lpstr>Calibri</vt:lpstr>
      <vt:lpstr>Comic Sans MS</vt:lpstr>
      <vt:lpstr>Courier New</vt:lpstr>
      <vt:lpstr>Elephant</vt:lpstr>
      <vt:lpstr>Office Theme</vt:lpstr>
      <vt:lpstr>PowerPoint Presentation</vt:lpstr>
      <vt:lpstr>OBJECTIVES </vt:lpstr>
      <vt:lpstr>INTRODUCTION </vt:lpstr>
      <vt:lpstr>PowerPoint Presentation</vt:lpstr>
      <vt:lpstr>PowerPoint Presentation</vt:lpstr>
      <vt:lpstr>Puberty </vt:lpstr>
      <vt:lpstr>PowerPoint Presentation</vt:lpstr>
      <vt:lpstr>PowerPoint Presentation</vt:lpstr>
      <vt:lpstr>PowerPoint Presentation</vt:lpstr>
      <vt:lpstr>The secondary sex characters  </vt:lpstr>
      <vt:lpstr>PowerPoint Presentation</vt:lpstr>
      <vt:lpstr>The secondary sex characters  </vt:lpstr>
      <vt:lpstr>Abnormalities of puberty</vt:lpstr>
      <vt:lpstr>PowerPoint Presentation</vt:lpstr>
      <vt:lpstr>PowerPoint Presentation</vt:lpstr>
      <vt:lpstr>   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usetr</dc:creator>
  <cp:lastModifiedBy>Mazin Mohamed</cp:lastModifiedBy>
  <cp:revision>9</cp:revision>
  <dcterms:created xsi:type="dcterms:W3CDTF">2006-08-16T00:00:00Z</dcterms:created>
  <dcterms:modified xsi:type="dcterms:W3CDTF">2025-11-08T05:46:47Z</dcterms:modified>
</cp:coreProperties>
</file>