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346" r:id="rId2"/>
    <p:sldId id="347" r:id="rId3"/>
    <p:sldId id="348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12" r:id="rId15"/>
    <p:sldId id="313" r:id="rId16"/>
    <p:sldId id="314" r:id="rId17"/>
    <p:sldId id="315" r:id="rId18"/>
    <p:sldId id="317" r:id="rId19"/>
    <p:sldId id="318" r:id="rId20"/>
    <p:sldId id="279" r:id="rId21"/>
    <p:sldId id="299" r:id="rId22"/>
    <p:sldId id="301" r:id="rId23"/>
    <p:sldId id="282" r:id="rId24"/>
    <p:sldId id="260" r:id="rId25"/>
    <p:sldId id="261" r:id="rId26"/>
    <p:sldId id="262" r:id="rId27"/>
    <p:sldId id="265" r:id="rId28"/>
    <p:sldId id="267" r:id="rId29"/>
    <p:sldId id="269" r:id="rId30"/>
    <p:sldId id="309" r:id="rId31"/>
    <p:sldId id="281" r:id="rId32"/>
    <p:sldId id="36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09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1B91B4F-0416-469D-BADC-DCFEAA76AA91}" type="datetimeFigureOut">
              <a:rPr lang="ar-SA" smtClean="0"/>
              <a:t>15/04/1446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0030F9A-1656-47AE-B74A-F4AD29D57D42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37279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20</a:t>
            </a:fld>
            <a:endParaRPr lang="ar-S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23</a:t>
            </a:fld>
            <a:endParaRPr lang="ar-S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24</a:t>
            </a:fld>
            <a:endParaRPr lang="ar-S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25</a:t>
            </a:fld>
            <a:endParaRPr lang="ar-SA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26</a:t>
            </a:fld>
            <a:endParaRPr lang="ar-SA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27</a:t>
            </a:fld>
            <a:endParaRPr lang="ar-SA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28</a:t>
            </a:fld>
            <a:endParaRPr lang="ar-SA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29</a:t>
            </a:fld>
            <a:endParaRPr lang="ar-SA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030F9A-1656-47AE-B74A-F4AD29D57D42}" type="slidenum">
              <a:rPr lang="ar-SA" smtClean="0"/>
              <a:t>31</a:t>
            </a:fld>
            <a:endParaRPr lang="ar-S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438400" y="2505670"/>
            <a:ext cx="52889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300" dirty="0">
                <a:ln w="11430" cmpd="sng">
                  <a:solidFill>
                    <a:srgbClr val="FF388C">
                      <a:tint val="10000"/>
                    </a:srgbClr>
                  </a:solidFill>
                  <a:prstDash val="solid"/>
                  <a:miter lim="800000"/>
                </a:ln>
                <a:gradFill>
                  <a:gsLst>
                    <a:gs pos="10000">
                      <a:srgbClr val="FF388C">
                        <a:tint val="83000"/>
                        <a:shade val="100000"/>
                        <a:satMod val="200000"/>
                      </a:srgbClr>
                    </a:gs>
                    <a:gs pos="75000">
                      <a:srgbClr val="FF388C">
                        <a:tint val="100000"/>
                        <a:shade val="50000"/>
                        <a:satMod val="150000"/>
                      </a:srgbClr>
                    </a:gs>
                  </a:gsLst>
                  <a:lin ang="5400000"/>
                </a:gradFill>
                <a:effectLst>
                  <a:glow rad="45500">
                    <a:srgbClr val="FF388C">
                      <a:satMod val="220000"/>
                      <a:alpha val="35000"/>
                    </a:srgbClr>
                  </a:glow>
                </a:effectLst>
              </a:rPr>
              <a:t>BODY FLUIDS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47800" y="5257800"/>
            <a:ext cx="2653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Dr. Wafa Mubarak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376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effectLst/>
              </a:rPr>
              <a:t>Body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b="1" u="sng" dirty="0"/>
              <a:t>average young adult </a:t>
            </a:r>
            <a:r>
              <a:rPr lang="en-US" b="1" u="sng" dirty="0" smtClean="0"/>
              <a:t>male </a:t>
            </a:r>
            <a:r>
              <a:rPr lang="en-US" dirty="0" smtClean="0"/>
              <a:t>body compositions are: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(%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of body </a:t>
            </a:r>
            <a:r>
              <a:rPr lang="en-US" sz="2800" dirty="0" smtClean="0">
                <a:solidFill>
                  <a:schemeClr val="accent1">
                    <a:lumMod val="75000"/>
                  </a:schemeClr>
                </a:solidFill>
              </a:rPr>
              <a:t>weight)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/>
              <a:t>Protein, &amp; related substances </a:t>
            </a:r>
            <a:r>
              <a:rPr lang="en-US" dirty="0" smtClean="0"/>
              <a:t>        18</a:t>
            </a:r>
            <a:r>
              <a:rPr lang="en-US" dirty="0"/>
              <a:t>%</a:t>
            </a:r>
          </a:p>
          <a:p>
            <a:r>
              <a:rPr lang="en-US" dirty="0"/>
              <a:t>Fat </a:t>
            </a:r>
            <a:r>
              <a:rPr lang="en-US" dirty="0" smtClean="0"/>
              <a:t>                 15</a:t>
            </a:r>
            <a:r>
              <a:rPr lang="en-US" dirty="0"/>
              <a:t>%</a:t>
            </a:r>
          </a:p>
          <a:p>
            <a:r>
              <a:rPr lang="en-US" dirty="0"/>
              <a:t>Mineral </a:t>
            </a:r>
            <a:r>
              <a:rPr lang="en-US" dirty="0" smtClean="0"/>
              <a:t>           7</a:t>
            </a:r>
            <a:r>
              <a:rPr lang="en-US" dirty="0"/>
              <a:t>%</a:t>
            </a:r>
          </a:p>
          <a:p>
            <a:r>
              <a:rPr lang="en-US" dirty="0"/>
              <a:t>Water </a:t>
            </a:r>
            <a:r>
              <a:rPr lang="en-US" dirty="0" smtClean="0"/>
              <a:t>             </a:t>
            </a:r>
            <a:r>
              <a:rPr lang="en-US" b="1" u="sng" dirty="0" smtClean="0"/>
              <a:t>60%</a:t>
            </a:r>
          </a:p>
          <a:p>
            <a:r>
              <a:rPr lang="en-US" dirty="0"/>
              <a:t>Carbohydrates </a:t>
            </a:r>
            <a:r>
              <a:rPr lang="en-US" dirty="0" smtClean="0"/>
              <a:t>           &lt; </a:t>
            </a:r>
            <a:r>
              <a:rPr lang="en-US" dirty="0"/>
              <a:t>1%</a:t>
            </a:r>
          </a:p>
        </p:txBody>
      </p:sp>
      <p:sp>
        <p:nvSpPr>
          <p:cNvPr id="4" name="Right Arrow 3"/>
          <p:cNvSpPr/>
          <p:nvPr/>
        </p:nvSpPr>
        <p:spPr>
          <a:xfrm>
            <a:off x="6934200" y="2743200"/>
            <a:ext cx="9144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1" y="3358653"/>
            <a:ext cx="1249363" cy="19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837942"/>
            <a:ext cx="1203325" cy="186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562" y="4419600"/>
            <a:ext cx="1249363" cy="19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5029200"/>
            <a:ext cx="1201737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17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808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04800"/>
            <a:ext cx="8001000" cy="6172200"/>
          </a:xfrm>
        </p:spPr>
        <p:txBody>
          <a:bodyPr>
            <a:normAutofit/>
          </a:bodyPr>
          <a:lstStyle/>
          <a:p>
            <a:r>
              <a:rPr lang="en-US" dirty="0"/>
              <a:t>The % of TBW is affected by :-</a:t>
            </a:r>
          </a:p>
          <a:p>
            <a:pPr marL="82296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1- Age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</a:p>
          <a:p>
            <a:r>
              <a:rPr lang="en-US" dirty="0"/>
              <a:t>It decrease by increasing age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endParaRPr lang="en-US" dirty="0" smtClean="0"/>
          </a:p>
          <a:p>
            <a:pPr marL="82296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2- The percent of fats in the body: </a:t>
            </a:r>
          </a:p>
          <a:p>
            <a:r>
              <a:rPr lang="en-US" dirty="0"/>
              <a:t>Increased fats in the body </a:t>
            </a:r>
            <a:r>
              <a:rPr lang="en-US" dirty="0" smtClean="0"/>
              <a:t>is associated </a:t>
            </a:r>
            <a:r>
              <a:rPr lang="en-US" dirty="0"/>
              <a:t>with less water.</a:t>
            </a:r>
          </a:p>
          <a:p>
            <a:r>
              <a:rPr lang="en-US" dirty="0" smtClean="0"/>
              <a:t>This </a:t>
            </a:r>
            <a:r>
              <a:rPr lang="en-US" dirty="0"/>
              <a:t>explain the higher % of TBW in : </a:t>
            </a:r>
          </a:p>
          <a:p>
            <a:pPr marL="82296" indent="0">
              <a:buNone/>
            </a:pPr>
            <a:r>
              <a:rPr lang="en-US" dirty="0"/>
              <a:t>Adult male compared to equivalent female.</a:t>
            </a:r>
          </a:p>
          <a:p>
            <a:pPr marL="82296" indent="0">
              <a:buNone/>
            </a:pPr>
            <a:r>
              <a:rPr lang="en-US" dirty="0"/>
              <a:t>Thin tall subject when compared to obese-short subject.</a:t>
            </a:r>
          </a:p>
          <a:p>
            <a:pPr marL="82296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7924800" cy="4800600"/>
          </a:xfrm>
        </p:spPr>
        <p:txBody>
          <a:bodyPr/>
          <a:lstStyle/>
          <a:p>
            <a:pPr marL="82296" indent="0">
              <a:buNone/>
            </a:pPr>
            <a:r>
              <a:rPr lang="en-US" dirty="0" smtClean="0"/>
              <a:t>Water </a:t>
            </a:r>
            <a:r>
              <a:rPr lang="en-US" dirty="0"/>
              <a:t>content in body is divided into 2 </a:t>
            </a:r>
            <a:r>
              <a:rPr lang="en-US" dirty="0" smtClean="0"/>
              <a:t>compartments:</a:t>
            </a:r>
          </a:p>
          <a:p>
            <a:pPr marL="82296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524000"/>
            <a:ext cx="7391401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8148637" y="3962400"/>
            <a:ext cx="0" cy="2743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315200" y="3962400"/>
            <a:ext cx="8096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8148637" y="5334000"/>
            <a:ext cx="309564" cy="45719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5337" y="5149334"/>
            <a:ext cx="84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</a:rPr>
              <a:t>(</a:t>
            </a:r>
            <a:r>
              <a:rPr lang="en-US" b="1" dirty="0" smtClean="0">
                <a:solidFill>
                  <a:prstClr val="black"/>
                </a:solidFill>
              </a:rPr>
              <a:t>ECF</a:t>
            </a:r>
            <a:r>
              <a:rPr lang="en-US" dirty="0" smtClean="0">
                <a:solidFill>
                  <a:prstClr val="black"/>
                </a:solidFill>
              </a:rPr>
              <a:t>)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63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257800" y="3886200"/>
            <a:ext cx="23622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prstClr val="white"/>
                </a:solidFill>
              </a:rPr>
              <a:t>In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90800" y="4495800"/>
            <a:ext cx="685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24600" y="4717196"/>
            <a:ext cx="228600" cy="1787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58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629150" y="5149334"/>
            <a:ext cx="25908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76725" y="4652962"/>
            <a:ext cx="2286000" cy="6477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429000" y="3429000"/>
            <a:ext cx="1990725" cy="13369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05112" y="5867400"/>
            <a:ext cx="990600" cy="304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05112" y="5802868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black"/>
                </a:solidFill>
              </a:rPr>
              <a:t>3.5 L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19725" y="6172200"/>
            <a:ext cx="373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prstClr val="black"/>
                </a:solidFill>
              </a:rPr>
              <a:t>* </a:t>
            </a:r>
            <a:r>
              <a:rPr lang="en-US" sz="2800" b="1" i="1" u="sng" dirty="0" smtClean="0">
                <a:solidFill>
                  <a:srgbClr val="FF388C">
                    <a:lumMod val="75000"/>
                  </a:srgbClr>
                </a:solidFill>
                <a:latin typeface="Times New Roman" pitchFamily="18" charset="0"/>
                <a:cs typeface="Times New Roman" pitchFamily="18" charset="0"/>
              </a:rPr>
              <a:t>Trance-cellular fluids</a:t>
            </a:r>
            <a:endParaRPr lang="en-US" sz="2800" b="1" i="1" u="sng" dirty="0">
              <a:solidFill>
                <a:srgbClr val="FF388C">
                  <a:lumMod val="75000"/>
                </a:srgb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9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305800" cy="5410200"/>
          </a:xfrm>
        </p:spPr>
        <p:txBody>
          <a:bodyPr/>
          <a:lstStyle/>
          <a:p>
            <a:r>
              <a:rPr lang="en-US" dirty="0"/>
              <a:t>How to calculate total body water (TBW</a:t>
            </a:r>
            <a:r>
              <a:rPr lang="en-US" dirty="0" smtClean="0"/>
              <a:t>)?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Q. Calculate TBW for a 70 kg man.</a:t>
            </a:r>
          </a:p>
          <a:p>
            <a:r>
              <a:rPr lang="en-US" dirty="0"/>
              <a:t>TBW = 60% of body </a:t>
            </a:r>
            <a:r>
              <a:rPr lang="en-US" dirty="0" smtClean="0"/>
              <a:t>weight( 60/100)</a:t>
            </a:r>
            <a:endParaRPr lang="en-US" dirty="0"/>
          </a:p>
          <a:p>
            <a:r>
              <a:rPr lang="en-US" dirty="0"/>
              <a:t>TBW = </a:t>
            </a:r>
            <a:endParaRPr lang="en-US" dirty="0" smtClean="0"/>
          </a:p>
          <a:p>
            <a:pPr marL="82296" indent="0">
              <a:buNone/>
            </a:pPr>
            <a:r>
              <a:rPr lang="en-US" dirty="0"/>
              <a:t> </a:t>
            </a:r>
            <a:r>
              <a:rPr lang="en-US" dirty="0" smtClean="0"/>
              <a:t>   60</a:t>
            </a:r>
            <a:r>
              <a:rPr lang="en-US" dirty="0"/>
              <a:t>% X 70 = </a:t>
            </a:r>
            <a:r>
              <a:rPr lang="en-US" dirty="0" smtClean="0"/>
              <a:t>60/100 </a:t>
            </a:r>
            <a:r>
              <a:rPr lang="en-US" dirty="0" smtClean="0">
                <a:latin typeface="Calibri"/>
              </a:rPr>
              <a:t>x 70 </a:t>
            </a:r>
            <a:r>
              <a:rPr lang="en-US" dirty="0" smtClean="0"/>
              <a:t>= 42 </a:t>
            </a:r>
            <a:r>
              <a:rPr lang="en-US" dirty="0"/>
              <a:t>L of water</a:t>
            </a:r>
          </a:p>
        </p:txBody>
      </p:sp>
    </p:spTree>
    <p:extLst>
      <p:ext uri="{BB962C8B-B14F-4D97-AF65-F5344CB8AC3E}">
        <p14:creationId xmlns:p14="http://schemas.microsoft.com/office/powerpoint/2010/main" val="43454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Electrolyte composition of Body Fluids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What is an electrolyte</a:t>
            </a:r>
            <a:r>
              <a:rPr lang="en-US" dirty="0" smtClean="0"/>
              <a:t>?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An electrolyte is a substance that when dissolved in water, gives a solution that can conduct </a:t>
            </a:r>
            <a:r>
              <a:rPr lang="en-US" dirty="0" smtClean="0"/>
              <a:t>electricity.</a:t>
            </a:r>
            <a:endParaRPr lang="en-US" dirty="0"/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22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7" y="19050"/>
            <a:ext cx="8001000" cy="683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86250" y="1143000"/>
            <a:ext cx="609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53200" y="1143000"/>
            <a:ext cx="533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6250" y="1143000"/>
            <a:ext cx="1276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prstClr val="black"/>
                </a:solidFill>
              </a:rPr>
              <a:t>14 L</a:t>
            </a:r>
            <a:endParaRPr lang="en-US" sz="2000" b="1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3200" y="1143000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prstClr val="black"/>
                </a:solidFill>
              </a:rPr>
              <a:t>28 L</a:t>
            </a:r>
            <a:endParaRPr lang="en-US" sz="2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277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1">
                    <a:lumMod val="75000"/>
                  </a:schemeClr>
                </a:solidFill>
                <a:effectLst/>
              </a:rPr>
              <a:t>OSMOALRITY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7866888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Is the number of osmoles of solute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liter of solution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REMEMBER: </a:t>
            </a:r>
            <a:r>
              <a:rPr lang="en-US" sz="38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osmolality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the number of osmoles per kilograms of solvent)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a solute dissociate into ions to form an ideal solution, each liberated ion is an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osmotically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active particle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osmotically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active particles can exert osmotic pressure if they are in contact with another solution but separated from it by semipermeable membrane.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1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943088" cy="4800600"/>
          </a:xfrm>
        </p:spPr>
        <p:txBody>
          <a:bodyPr/>
          <a:lstStyle/>
          <a:p>
            <a:pPr marL="82296" indent="0" algn="ctr">
              <a:buNone/>
            </a:pPr>
            <a:r>
              <a:rPr lang="en-US" sz="4400" dirty="0" smtClean="0"/>
              <a:t>Osmolarity </a:t>
            </a:r>
            <a:r>
              <a:rPr lang="en-US" sz="4400" dirty="0"/>
              <a:t>of the plasma =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en-US" sz="44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82296" indent="0" algn="ctr">
              <a:buNone/>
            </a:pPr>
            <a:r>
              <a:rPr lang="en-US" sz="4400" b="1" dirty="0" smtClean="0">
                <a:solidFill>
                  <a:schemeClr val="accent1">
                    <a:lumMod val="75000"/>
                  </a:schemeClr>
                </a:solidFill>
              </a:rPr>
              <a:t>280-300</a:t>
            </a:r>
            <a:r>
              <a:rPr lang="en-US" sz="44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/>
              <a:t>mosm/l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6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498080" cy="1143000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Tonicity: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Used when describing the </a:t>
            </a:r>
            <a:r>
              <a:rPr lang="en-US" dirty="0" err="1"/>
              <a:t>osmolarity</a:t>
            </a:r>
            <a:r>
              <a:rPr lang="en-US" dirty="0"/>
              <a:t> of a solution relative to the </a:t>
            </a:r>
            <a:r>
              <a:rPr lang="en-US" dirty="0" err="1"/>
              <a:t>osmolarity</a:t>
            </a:r>
            <a:r>
              <a:rPr lang="en-US" dirty="0"/>
              <a:t> of the plasma.</a:t>
            </a:r>
          </a:p>
          <a:p>
            <a:r>
              <a:rPr lang="en-US" dirty="0"/>
              <a:t>So that there are 3 types of solution: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Isotonic</a:t>
            </a:r>
            <a:r>
              <a:rPr lang="en-US" dirty="0"/>
              <a:t> : with </a:t>
            </a:r>
            <a:r>
              <a:rPr lang="en-US" dirty="0" err="1"/>
              <a:t>osmolarity</a:t>
            </a:r>
            <a:r>
              <a:rPr lang="en-US" dirty="0"/>
              <a:t> similar to plasma.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Hypotonic</a:t>
            </a:r>
            <a:r>
              <a:rPr lang="en-US" dirty="0"/>
              <a:t> : with </a:t>
            </a:r>
            <a:r>
              <a:rPr lang="en-US" dirty="0" err="1"/>
              <a:t>osmolarity</a:t>
            </a:r>
            <a:r>
              <a:rPr lang="en-US" dirty="0"/>
              <a:t> lower than plasma.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Hypertonic</a:t>
            </a:r>
            <a:r>
              <a:rPr lang="en-US" dirty="0"/>
              <a:t>: with </a:t>
            </a:r>
            <a:r>
              <a:rPr lang="en-US" dirty="0" err="1"/>
              <a:t>osmolarity</a:t>
            </a:r>
            <a:r>
              <a:rPr lang="en-US" dirty="0"/>
              <a:t> higher than plasma.</a:t>
            </a:r>
          </a:p>
        </p:txBody>
      </p:sp>
    </p:spTree>
    <p:extLst>
      <p:ext uri="{BB962C8B-B14F-4D97-AF65-F5344CB8AC3E}">
        <p14:creationId xmlns:p14="http://schemas.microsoft.com/office/powerpoint/2010/main" val="112544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Effect of different types of solutions on cells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30129"/>
            <a:ext cx="7943850" cy="5227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30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7498080" cy="1143000"/>
          </a:xfrm>
        </p:spPr>
        <p:txBody>
          <a:bodyPr>
            <a:normAutofit fontScale="90000"/>
          </a:bodyPr>
          <a:lstStyle/>
          <a:p>
            <a:pPr marL="82296" lvl="0">
              <a:spcBef>
                <a:spcPts val="600"/>
              </a:spcBef>
            </a:pPr>
            <a:r>
              <a:rPr lang="en-US" sz="4800" dirty="0">
                <a:solidFill>
                  <a:srgbClr val="FF388C">
                    <a:lumMod val="75000"/>
                  </a:srgbClr>
                </a:solidFill>
                <a:effectLst/>
                <a:ea typeface="+mn-ea"/>
                <a:cs typeface="+mn-cs"/>
              </a:rPr>
              <a:t>Factors affecting body fluid compartments</a:t>
            </a:r>
            <a:br>
              <a:rPr lang="en-US" sz="4800" dirty="0">
                <a:solidFill>
                  <a:srgbClr val="FF388C">
                    <a:lumMod val="75000"/>
                  </a:srgbClr>
                </a:solidFill>
                <a:effectLst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2072640"/>
            <a:ext cx="7498080" cy="4800600"/>
          </a:xfrm>
        </p:spPr>
        <p:txBody>
          <a:bodyPr/>
          <a:lstStyle/>
          <a:p>
            <a:r>
              <a:rPr lang="en-US" dirty="0"/>
              <a:t>Diffusion </a:t>
            </a:r>
          </a:p>
          <a:p>
            <a:r>
              <a:rPr lang="en-US" dirty="0"/>
              <a:t>Osmosis </a:t>
            </a:r>
          </a:p>
          <a:p>
            <a:r>
              <a:rPr lang="en-US" dirty="0"/>
              <a:t>Gibbs </a:t>
            </a:r>
            <a:r>
              <a:rPr lang="en-US" dirty="0" err="1"/>
              <a:t>Donnan</a:t>
            </a:r>
            <a:r>
              <a:rPr lang="en-US" dirty="0"/>
              <a:t> equilibrium </a:t>
            </a:r>
          </a:p>
          <a:p>
            <a:r>
              <a:rPr lang="en-US" dirty="0"/>
              <a:t>Sodium potassium pump</a:t>
            </a:r>
          </a:p>
          <a:p>
            <a:r>
              <a:rPr lang="en-US" dirty="0"/>
              <a:t>Starling’s forces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0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1- Diffusion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diffusion is the process by which the gas or a substance in solution expands because of the motion of its particles to distribute in all the available volume. </a:t>
            </a:r>
          </a:p>
          <a:p>
            <a:endParaRPr lang="en-US" dirty="0"/>
          </a:p>
          <a:p>
            <a:r>
              <a:rPr lang="en-US" dirty="0"/>
              <a:t>Water follows somatically active particles.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34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2- Osmosis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/>
          <a:lstStyle/>
          <a:p>
            <a:r>
              <a:rPr lang="en-US" dirty="0"/>
              <a:t>It is the movement of water molecules across a semi permeable membrane, from a region of low concentration of solute to a region of high concentration of solute.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8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3- Gibbs </a:t>
            </a:r>
            <a:r>
              <a:rPr lang="en-US" dirty="0" err="1"/>
              <a:t>Donnan</a:t>
            </a:r>
            <a:r>
              <a:rPr lang="en-US" dirty="0"/>
              <a:t> equilibrium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/>
          <a:lstStyle/>
          <a:p>
            <a:r>
              <a:rPr lang="en-US" dirty="0"/>
              <a:t>The presence of non-diffusible anions (protein and organic phosphate) within the cell affects distribution of diffusible ions (both anions and </a:t>
            </a:r>
            <a:r>
              <a:rPr lang="en-US" dirty="0" err="1"/>
              <a:t>cations</a:t>
            </a:r>
            <a:r>
              <a:rPr lang="en-US" dirty="0"/>
              <a:t>);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allows entry of diffusible </a:t>
            </a:r>
            <a:r>
              <a:rPr lang="en-US" dirty="0" err="1"/>
              <a:t>cations</a:t>
            </a:r>
            <a:r>
              <a:rPr lang="en-US" dirty="0"/>
              <a:t> (e.g. Na+) into the cell and </a:t>
            </a:r>
            <a:r>
              <a:rPr lang="en-US" dirty="0" smtClean="0"/>
              <a:t>decrease </a:t>
            </a:r>
            <a:r>
              <a:rPr lang="en-US" dirty="0"/>
              <a:t>entry of diffusible anions (e.g. </a:t>
            </a:r>
            <a:r>
              <a:rPr lang="en-US" dirty="0" err="1"/>
              <a:t>Cl</a:t>
            </a:r>
            <a:r>
              <a:rPr lang="en-US" dirty="0"/>
              <a:t>-).</a:t>
            </a:r>
          </a:p>
        </p:txBody>
      </p:sp>
    </p:spTree>
    <p:extLst>
      <p:ext uri="{BB962C8B-B14F-4D97-AF65-F5344CB8AC3E}">
        <p14:creationId xmlns:p14="http://schemas.microsoft.com/office/powerpoint/2010/main" val="160246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4- Na </a:t>
            </a:r>
            <a:r>
              <a:rPr lang="en-US" dirty="0"/>
              <a:t>+ _ K +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4267200" cy="4800600"/>
          </a:xfrm>
        </p:spPr>
        <p:txBody>
          <a:bodyPr/>
          <a:lstStyle/>
          <a:p>
            <a:r>
              <a:rPr lang="en-US" dirty="0"/>
              <a:t>The energy extrude 3 Na+ from the cell and take  2 K + in  to the cell for each  molecules of ATP hydrolyzed .</a:t>
            </a:r>
          </a:p>
          <a:p>
            <a:r>
              <a:rPr lang="en-US" dirty="0"/>
              <a:t>Coupling ratio 3:2</a:t>
            </a:r>
          </a:p>
          <a:p>
            <a:r>
              <a:rPr lang="en-US" dirty="0"/>
              <a:t>Found in all parts of the body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08501"/>
            <a:ext cx="3543300" cy="386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42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7802880" cy="4800600"/>
          </a:xfrm>
        </p:spPr>
        <p:txBody>
          <a:bodyPr>
            <a:normAutofit lnSpcReduction="10000"/>
          </a:bodyPr>
          <a:lstStyle/>
          <a:p>
            <a:pPr marL="82296" indent="0">
              <a:buNone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</a:rPr>
              <a:t>Function of the Na + _ K + pump :</a:t>
            </a:r>
          </a:p>
          <a:p>
            <a:r>
              <a:rPr lang="en-US" dirty="0"/>
              <a:t>Participates in genesis of resting membrane potential (i.e. generate negative charges towards inner side of the cell membrane) → Electronic pump 3+ve charges out and 2+ve charges in</a:t>
            </a:r>
            <a:r>
              <a:rPr lang="en-US" dirty="0" smtClean="0"/>
              <a:t>.</a:t>
            </a:r>
          </a:p>
          <a:p>
            <a:pPr marL="82296" indent="0">
              <a:buNone/>
            </a:pPr>
            <a:endParaRPr lang="en-US" dirty="0"/>
          </a:p>
          <a:p>
            <a:r>
              <a:rPr lang="en-US" dirty="0"/>
              <a:t>Prevent swelling and rupture of the cell  by removing excess sodium ions to outside. </a:t>
            </a:r>
          </a:p>
        </p:txBody>
      </p:sp>
    </p:spTree>
    <p:extLst>
      <p:ext uri="{BB962C8B-B14F-4D97-AF65-F5344CB8AC3E}">
        <p14:creationId xmlns:p14="http://schemas.microsoft.com/office/powerpoint/2010/main" val="309407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0" y="228600"/>
            <a:ext cx="7543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Fluid Exchange Between Body Fluid Compartments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0600" y="2057400"/>
            <a:ext cx="8001000" cy="3886200"/>
          </a:xfrm>
        </p:spPr>
        <p:txBody>
          <a:bodyPr>
            <a:normAutofit/>
          </a:bodyPr>
          <a:lstStyle/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Movement of water between the ICF and the ISF (ECF) through the cell membrane is determined by :</a:t>
            </a:r>
          </a:p>
          <a:p>
            <a:pPr algn="ctr">
              <a:buNone/>
            </a:pPr>
            <a:r>
              <a:rPr lang="en-GB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Osmosis</a:t>
            </a:r>
          </a:p>
          <a:p>
            <a:pPr algn="ctr">
              <a:buNone/>
            </a:pPr>
            <a:endParaRPr lang="en-GB" b="1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457200"/>
            <a:ext cx="7866888" cy="58674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Distribution of water between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ISF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Plasma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determined by: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1-Movement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water  through the capillary walls, which is determined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Forces that leads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to:</a:t>
            </a:r>
          </a:p>
          <a:p>
            <a:pPr marL="82296" indent="0">
              <a:buNone/>
            </a:pP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*filtration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water out of the capillary 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*reabsorb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water into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capillaries</a:t>
            </a:r>
          </a:p>
          <a:p>
            <a:pPr marL="82296" indent="0" algn="ctr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Starling Forces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2296" indent="0" algn="ctr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Lymphatic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drainage of the ISF and proteins back to the plasma  (2-3 L/day)</a:t>
            </a:r>
          </a:p>
          <a:p>
            <a:pPr marL="82296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90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90800"/>
            <a:ext cx="749808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Fluid exchange at the Capillaries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85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0"/>
            <a:ext cx="8153400" cy="6629400"/>
          </a:xfrm>
        </p:spPr>
        <p:txBody>
          <a:bodyPr>
            <a:normAutofit/>
          </a:bodyPr>
          <a:lstStyle/>
          <a:p>
            <a:pPr marL="514350" indent="-514350"/>
            <a:r>
              <a:rPr lang="en-GB" dirty="0" smtClean="0"/>
              <a:t>The ECF compartment is divided into intravascular compartment(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plasma</a:t>
            </a:r>
            <a:r>
              <a:rPr lang="en-GB" dirty="0" smtClean="0"/>
              <a:t>) and the interstitial fluid compartment (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ISF</a:t>
            </a:r>
            <a:r>
              <a:rPr lang="en-GB" dirty="0" smtClean="0"/>
              <a:t>)</a:t>
            </a:r>
          </a:p>
          <a:p>
            <a:pPr marL="0" indent="0">
              <a:buNone/>
            </a:pPr>
            <a:endParaRPr lang="en-GB" dirty="0" smtClean="0"/>
          </a:p>
          <a:p>
            <a:pPr marL="457200" indent="-457200"/>
            <a:r>
              <a:rPr lang="en-GB" dirty="0" smtClean="0"/>
              <a:t>Plasma and ISF communicate at the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capillary walls</a:t>
            </a:r>
          </a:p>
          <a:p>
            <a:pPr marL="0" indent="0">
              <a:buNone/>
            </a:pPr>
            <a:endParaRPr lang="en-GB" dirty="0" smtClean="0"/>
          </a:p>
          <a:p>
            <a:pPr marL="457200" indent="-457200"/>
            <a:r>
              <a:rPr lang="en-GB" dirty="0" smtClean="0"/>
              <a:t>The </a:t>
            </a:r>
            <a:r>
              <a:rPr lang="en-GB" b="1" dirty="0" smtClean="0"/>
              <a:t>Exchange</a:t>
            </a:r>
            <a:r>
              <a:rPr lang="en-GB" dirty="0" smtClean="0"/>
              <a:t> between ISF and plasma at the capillaries is essential to the survival of cells and tissues. 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"/>
            <a:ext cx="8077200" cy="6324600"/>
          </a:xfrm>
        </p:spPr>
        <p:txBody>
          <a:bodyPr>
            <a:normAutofit/>
          </a:bodyPr>
          <a:lstStyle/>
          <a:p>
            <a:pPr marL="514350" indent="-514350"/>
            <a:r>
              <a:rPr lang="en-GB" dirty="0" smtClean="0"/>
              <a:t>Most of the Capillary walls have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pores </a:t>
            </a:r>
            <a:r>
              <a:rPr lang="en-GB" dirty="0" smtClean="0"/>
              <a:t>that make it highly permeable.</a:t>
            </a:r>
          </a:p>
          <a:p>
            <a:pPr marL="0" indent="0">
              <a:buNone/>
            </a:pPr>
            <a:endParaRPr lang="en-GB" dirty="0" smtClean="0"/>
          </a:p>
          <a:p>
            <a:pPr marL="514350" indent="-514350"/>
            <a:r>
              <a:rPr lang="en-GB" dirty="0" smtClean="0"/>
              <a:t>O2 and CO2 can diffuse across the membrane easily.</a:t>
            </a:r>
          </a:p>
          <a:p>
            <a:pPr marL="0" indent="0">
              <a:buNone/>
            </a:pPr>
            <a:endParaRPr lang="en-GB" dirty="0" smtClean="0"/>
          </a:p>
          <a:p>
            <a:pPr marL="514350" indent="-514350"/>
            <a:r>
              <a:rPr lang="en-GB" dirty="0" smtClean="0"/>
              <a:t>Water and all water soluble solutes can cross the capillary wall easily by diffusion through the pores except </a:t>
            </a:r>
            <a:r>
              <a:rPr lang="en-GB" dirty="0" smtClean="0">
                <a:solidFill>
                  <a:schemeClr val="accent1">
                    <a:lumMod val="75000"/>
                  </a:schemeClr>
                </a:solidFill>
              </a:rPr>
              <a:t>plasma proteins.</a:t>
            </a:r>
          </a:p>
          <a:p>
            <a:pPr marL="514350" indent="-514350"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://o.quizlet.com/29a5O7pILGFAt.oWmJOx6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04800"/>
            <a:ext cx="7772400" cy="601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04800"/>
            <a:ext cx="8153400" cy="6705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Forces that affect movement of water between plasma and ISF(starling forces): </a:t>
            </a:r>
          </a:p>
          <a:p>
            <a:pPr marL="0" indent="0">
              <a:buNone/>
            </a:pPr>
            <a:endParaRPr lang="en-GB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1- Capillary hydrostatic pressure: (Pc)</a:t>
            </a:r>
          </a:p>
          <a:p>
            <a:pPr marL="514350" indent="-51435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      Force exerted by blood as it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pushes fluid out from plasma into the ISF</a:t>
            </a:r>
          </a:p>
          <a:p>
            <a:pPr marL="514350" indent="-514350"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(push against the walls of the capillaries)</a:t>
            </a:r>
          </a:p>
          <a:p>
            <a:pPr marL="514350" indent="-514350"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Clr>
                <a:srgbClr val="FF388C"/>
              </a:buClr>
              <a:buNone/>
            </a:pPr>
            <a:r>
              <a:rPr lang="en-GB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2- Interstitial fluid hydrostatic pressure (Pi):</a:t>
            </a:r>
          </a:p>
          <a:p>
            <a:pPr marL="0" lvl="0" indent="0">
              <a:buClr>
                <a:srgbClr val="FF388C"/>
              </a:buClr>
              <a:buNone/>
            </a:pPr>
            <a:r>
              <a:rPr lang="en-GB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Positive hydrostatic pressure in the ISF can oppose filtration from plasma into the ISF</a:t>
            </a:r>
          </a:p>
          <a:p>
            <a:pPr marL="514350" indent="-514350"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None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38100"/>
            <a:ext cx="7924800" cy="6096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en-GB" b="1" dirty="0" smtClean="0"/>
          </a:p>
          <a:p>
            <a:pPr marL="82296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3- Capillary oncotic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pressure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Colloid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osmotic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pressure)</a:t>
            </a:r>
          </a:p>
          <a:p>
            <a:pPr marL="82296" indent="0">
              <a:buNone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It is the osmotic pressure exerted by proteins.</a:t>
            </a:r>
          </a:p>
          <a:p>
            <a:pPr marL="82296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-Plasma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oncotic pressure pulls water by osmosis from the ISF into plasma inside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capillaries</a:t>
            </a:r>
            <a:endParaRPr lang="en-GB" b="1" dirty="0" smtClean="0"/>
          </a:p>
          <a:p>
            <a:pPr marL="82296" indent="0" algn="ctr">
              <a:buNone/>
            </a:pPr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Remember that :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any solute that can not diffuse across a membrane can generate an osmotic pressure that pulls water in.</a:t>
            </a:r>
          </a:p>
          <a:p>
            <a:pPr marL="0" indent="0">
              <a:buNone/>
            </a:pPr>
            <a:endParaRPr lang="en-GB" b="1" dirty="0" smtClean="0">
              <a:solidFill>
                <a:schemeClr val="accent1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lang="en-GB" dirty="0" smtClean="0"/>
          </a:p>
          <a:p>
            <a:pPr>
              <a:buFont typeface="Wingdings" pitchFamily="2" charset="2"/>
              <a:buChar char="v"/>
            </a:pPr>
            <a:endParaRPr lang="en-GB" b="1" dirty="0" smtClean="0"/>
          </a:p>
          <a:p>
            <a:pPr marL="514350" indent="-514350">
              <a:buNone/>
            </a:pPr>
            <a:endParaRPr lang="en-GB" dirty="0" smtClean="0"/>
          </a:p>
          <a:p>
            <a:pPr>
              <a:buNone/>
            </a:pPr>
            <a:endParaRPr lang="en-GB" b="1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304800"/>
            <a:ext cx="7848600" cy="60198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endParaRPr lang="en-GB" dirty="0" smtClean="0"/>
          </a:p>
          <a:p>
            <a:pPr marL="82296" indent="0">
              <a:buNone/>
            </a:pPr>
            <a:r>
              <a:rPr lang="en-GB" sz="3800" b="1" dirty="0" smtClean="0">
                <a:latin typeface="Times New Roman" pitchFamily="18" charset="0"/>
                <a:cs typeface="Times New Roman" pitchFamily="18" charset="0"/>
              </a:rPr>
              <a:t>4- ISF </a:t>
            </a:r>
            <a:r>
              <a:rPr lang="en-GB" sz="3800" b="1" dirty="0">
                <a:latin typeface="Times New Roman" pitchFamily="18" charset="0"/>
                <a:cs typeface="Times New Roman" pitchFamily="18" charset="0"/>
              </a:rPr>
              <a:t>Oncotic pressure </a:t>
            </a:r>
            <a:endParaRPr lang="en-GB" dirty="0" smtClean="0"/>
          </a:p>
          <a:p>
            <a:pPr marL="82296" indent="0">
              <a:buNone/>
            </a:pPr>
            <a:r>
              <a:rPr lang="en-GB" dirty="0" smtClean="0"/>
              <a:t>In normal conditions:</a:t>
            </a:r>
          </a:p>
          <a:p>
            <a:pPr marL="82296" indent="0">
              <a:buNone/>
            </a:pPr>
            <a:r>
              <a:rPr lang="en-GB" dirty="0" smtClean="0"/>
              <a:t>  The protein concentration in ISF  is much less than plasma  </a:t>
            </a:r>
          </a:p>
          <a:p>
            <a:pPr marL="82296" indent="0">
              <a:buNone/>
            </a:pPr>
            <a:r>
              <a:rPr lang="en-GB" dirty="0" smtClean="0"/>
              <a:t> so the ISF oncotic pressure  is much less than capillary oncotic pressure </a:t>
            </a:r>
          </a:p>
          <a:p>
            <a:pPr>
              <a:buNone/>
            </a:pPr>
            <a:endParaRPr lang="en-GB" dirty="0" smtClean="0"/>
          </a:p>
          <a:p>
            <a:pPr marL="82296" indent="0">
              <a:buNone/>
            </a:pPr>
            <a:r>
              <a:rPr lang="en-GB" b="1" dirty="0" smtClean="0"/>
              <a:t>The causes of low protein concentration in the ISF: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The capillary walls are impermeable to plasma proteins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Plasma proteins which leak into the ISF are removed from ISF by action of the lymphatics</a:t>
            </a:r>
          </a:p>
          <a:p>
            <a:pPr marL="514350" indent="-514350">
              <a:buFont typeface="+mj-lt"/>
              <a:buAutoNum type="arabicPeriod"/>
            </a:pPr>
            <a:endParaRPr lang="en-GB" dirty="0" smtClean="0"/>
          </a:p>
          <a:p>
            <a:pPr>
              <a:buFont typeface="Wingdings" pitchFamily="2" charset="2"/>
              <a:buChar char="Ø"/>
            </a:pPr>
            <a:endParaRPr lang="en-GB" dirty="0" smtClean="0"/>
          </a:p>
          <a:p>
            <a:pPr>
              <a:buFont typeface="Wingdings" pitchFamily="2" charset="2"/>
              <a:buChar char="Ø"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381000"/>
            <a:ext cx="8001000" cy="59436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39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Forces that affect movement of water between plasma and ISF: 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Capillary hydrostatic pressure (Pc)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Interstitial fluid hydrostatic pressure (</a:t>
            </a:r>
            <a:r>
              <a:rPr lang="en-GB" sz="3900" dirty="0" err="1" smtClean="0">
                <a:latin typeface="Times New Roman" pitchFamily="18" charset="0"/>
                <a:cs typeface="Times New Roman" pitchFamily="18" charset="0"/>
              </a:rPr>
              <a:t>Pif</a:t>
            </a: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Capillary Oncotic pressure (∏c)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9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ISF Oncotic pressure (∏if) (</a:t>
            </a:r>
            <a:r>
              <a:rPr lang="en-GB" sz="3900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niglicted</a:t>
            </a:r>
            <a:r>
              <a:rPr lang="en-GB" sz="39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GB" sz="39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 algn="ctr">
              <a:buNone/>
            </a:pP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These</a:t>
            </a:r>
            <a:r>
              <a:rPr lang="en-GB" sz="39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900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Four</a:t>
            </a:r>
            <a:r>
              <a:rPr lang="en-GB" sz="3900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forces are called</a:t>
            </a:r>
          </a:p>
          <a:p>
            <a:pPr marL="514350" indent="-514350" algn="ctr">
              <a:buNone/>
            </a:pPr>
            <a:r>
              <a:rPr lang="en-GB" sz="39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3900" u="sng" dirty="0" smtClean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 Starling forces</a:t>
            </a:r>
          </a:p>
          <a:p>
            <a:pPr marL="514350" indent="-514350">
              <a:buNone/>
            </a:pPr>
            <a:r>
              <a:rPr lang="en-GB" sz="3900" u="sng" dirty="0" smtClean="0"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marL="514350" indent="-514350">
              <a:buNone/>
            </a:pPr>
            <a:r>
              <a:rPr lang="en-GB" dirty="0" smtClean="0"/>
              <a:t>       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15400" cy="662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352800" y="2743200"/>
            <a:ext cx="243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Capillary Oncotic p = 25mmhg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706880" y="4038600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CHP= 35 </a:t>
            </a:r>
            <a:r>
              <a:rPr lang="en-US" b="1" dirty="0" err="1" smtClean="0"/>
              <a:t>mmhg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6400800" y="4361765"/>
            <a:ext cx="11913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CHP= </a:t>
            </a:r>
            <a:r>
              <a:rPr lang="en-US" b="1" dirty="0" smtClean="0"/>
              <a:t>15 </a:t>
            </a:r>
          </a:p>
          <a:p>
            <a:pPr algn="ctr"/>
            <a:r>
              <a:rPr lang="en-US" b="1" dirty="0" err="1" smtClean="0"/>
              <a:t>mmhg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905000" y="6019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*CHP= capillary hydrostatic pressure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218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solidFill>
                  <a:schemeClr val="accent1">
                    <a:lumMod val="7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The role of lymph flow in fluid exchange between plasma and ISF</a:t>
            </a:r>
            <a:endParaRPr lang="en-GB" sz="3600" dirty="0">
              <a:solidFill>
                <a:schemeClr val="accent1">
                  <a:lumMod val="7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586" y="1447800"/>
            <a:ext cx="8077200" cy="4389120"/>
          </a:xfrm>
        </p:spPr>
        <p:txBody>
          <a:bodyPr>
            <a:normAutofit lnSpcReduction="10000"/>
          </a:bodyPr>
          <a:lstStyle/>
          <a:p>
            <a:endParaRPr lang="en-GB" dirty="0" smtClean="0"/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10% of filtered fluids are not reabsorbed. This amount of fluid is carried back to blood by the lymphatic flow</a:t>
            </a:r>
            <a:endParaRPr lang="ar-JO" dirty="0" smtClean="0">
              <a:latin typeface="Times New Roman" pitchFamily="18" charset="0"/>
              <a:cs typeface="Times New Roman" pitchFamily="18" charset="0"/>
            </a:endParaRPr>
          </a:p>
          <a:p>
            <a:pPr marL="82296" indent="0">
              <a:buNone/>
            </a:pP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The lymphatics also carries proteins and tissue debris from the interstitial space back to blood </a:t>
            </a:r>
          </a:p>
          <a:p>
            <a:pPr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43000"/>
            <a:ext cx="7543800" cy="416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0863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954</TotalTime>
  <Words>1080</Words>
  <Application>Microsoft Office PowerPoint</Application>
  <PresentationFormat>On-screen Show (4:3)</PresentationFormat>
  <Paragraphs>156</Paragraphs>
  <Slides>32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Solstice</vt:lpstr>
      <vt:lpstr>PowerPoint Presentation</vt:lpstr>
      <vt:lpstr>Body composition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Electrolyte composition of Body Fluids</vt:lpstr>
      <vt:lpstr>PowerPoint Presentation</vt:lpstr>
      <vt:lpstr>OSMOALRITY :</vt:lpstr>
      <vt:lpstr>PowerPoint Presentation</vt:lpstr>
      <vt:lpstr>Tonicity:</vt:lpstr>
      <vt:lpstr>Effect of different types of solutions on cells</vt:lpstr>
      <vt:lpstr>Factors affecting body fluid compartments </vt:lpstr>
      <vt:lpstr>1- Diffusion </vt:lpstr>
      <vt:lpstr>2- Osmosis </vt:lpstr>
      <vt:lpstr>3- Gibbs Donnan equilibrium </vt:lpstr>
      <vt:lpstr>4- Na + _ K + pump</vt:lpstr>
      <vt:lpstr>PowerPoint Presentation</vt:lpstr>
      <vt:lpstr>Fluid Exchange Between Body Fluid Compartments</vt:lpstr>
      <vt:lpstr>PowerPoint Presentation</vt:lpstr>
      <vt:lpstr>Fluid exchange at the Capillaries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role of lymph flow in fluid exchange between plasma and ISF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Volumes and Compositions of Body Fluid Compartments</dc:title>
  <dc:creator>Rehab</dc:creator>
  <cp:lastModifiedBy>Wafa</cp:lastModifiedBy>
  <cp:revision>138</cp:revision>
  <dcterms:created xsi:type="dcterms:W3CDTF">2006-08-16T00:00:00Z</dcterms:created>
  <dcterms:modified xsi:type="dcterms:W3CDTF">2024-10-18T05:32:03Z</dcterms:modified>
</cp:coreProperties>
</file>