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08" r:id="rId2"/>
    <p:sldId id="258" r:id="rId3"/>
    <p:sldId id="259" r:id="rId4"/>
    <p:sldId id="260" r:id="rId5"/>
    <p:sldId id="309" r:id="rId6"/>
    <p:sldId id="310" r:id="rId7"/>
    <p:sldId id="311" r:id="rId8"/>
    <p:sldId id="262" r:id="rId9"/>
    <p:sldId id="264" r:id="rId10"/>
    <p:sldId id="266" r:id="rId11"/>
    <p:sldId id="267" r:id="rId12"/>
    <p:sldId id="312" r:id="rId13"/>
    <p:sldId id="269" r:id="rId14"/>
    <p:sldId id="270" r:id="rId15"/>
    <p:sldId id="271" r:id="rId16"/>
    <p:sldId id="272" r:id="rId17"/>
    <p:sldId id="280" r:id="rId18"/>
    <p:sldId id="316" r:id="rId19"/>
    <p:sldId id="282" r:id="rId20"/>
    <p:sldId id="283" r:id="rId21"/>
    <p:sldId id="291" r:id="rId22"/>
    <p:sldId id="315" r:id="rId23"/>
    <p:sldId id="292" r:id="rId24"/>
    <p:sldId id="293" r:id="rId25"/>
    <p:sldId id="314" r:id="rId26"/>
    <p:sldId id="313" r:id="rId27"/>
    <p:sldId id="30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96FA1-5D0B-4840-8674-284C66D7AC51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283808-B7AB-4B3D-BBA7-4F1A5285BE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09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AEB9CC2-9C80-43FC-A499-1F7A721F9D81}" type="slidenum">
              <a:rPr lang="ar-SA"/>
              <a:pPr eaLnBrk="1" hangingPunct="1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316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ADA2-EC0B-4E19-9730-62F481775A04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8DA7-515F-45AE-B494-881D2A4BE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574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ADA2-EC0B-4E19-9730-62F481775A04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8DA7-515F-45AE-B494-881D2A4BE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590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ADA2-EC0B-4E19-9730-62F481775A04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8DA7-515F-45AE-B494-881D2A4BE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804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ADA2-EC0B-4E19-9730-62F481775A04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8DA7-515F-45AE-B494-881D2A4BE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192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ADA2-EC0B-4E19-9730-62F481775A04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8DA7-515F-45AE-B494-881D2A4BE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947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ADA2-EC0B-4E19-9730-62F481775A04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8DA7-515F-45AE-B494-881D2A4BE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06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ADA2-EC0B-4E19-9730-62F481775A04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8DA7-515F-45AE-B494-881D2A4BE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666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ADA2-EC0B-4E19-9730-62F481775A04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8DA7-515F-45AE-B494-881D2A4BE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820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ADA2-EC0B-4E19-9730-62F481775A04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8DA7-515F-45AE-B494-881D2A4BE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820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ADA2-EC0B-4E19-9730-62F481775A04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8DA7-515F-45AE-B494-881D2A4BE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196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ADA2-EC0B-4E19-9730-62F481775A04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8DA7-515F-45AE-B494-881D2A4BE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29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3ADA2-EC0B-4E19-9730-62F481775A04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08DA7-515F-45AE-B494-881D2A4BE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181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../../quz2/My%20Documents/Qi/Mangel%20-%20Tablet%20PC%20grant/HP%20Conference_BIOL%20129/HP%20CONF%20proposals_activities/reproductive_tracing.pp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5188" y="587376"/>
            <a:ext cx="7772400" cy="10763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ar-SA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 action="ppaction://hlinkpres?slideindex=1&amp;slidetitle="/>
              </a:rPr>
              <a:t>M</a:t>
            </a:r>
            <a:r>
              <a:rPr lang="en-US" altLang="ar-SA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 action="ppaction://hlinkpres?slideindex=1&amp;slidetitle="/>
              </a:rPr>
              <a:t>ale </a:t>
            </a:r>
            <a:r>
              <a:rPr lang="en-US" altLang="ar-SA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 action="ppaction://hlinkpres?slideindex=1&amp;slidetitle="/>
              </a:rPr>
              <a:t>reproductive </a:t>
            </a:r>
            <a:r>
              <a:rPr lang="en-US" altLang="ar-SA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 action="ppaction://hlinkpres?slideindex=1&amp;slidetitle="/>
              </a:rPr>
              <a:t>system</a:t>
            </a:r>
            <a:r>
              <a:rPr lang="en-US" altLang="ar-SA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ar-SA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ar-SA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919288" y="3101976"/>
            <a:ext cx="6400800" cy="684213"/>
          </a:xfrm>
        </p:spPr>
        <p:txBody>
          <a:bodyPr/>
          <a:lstStyle/>
          <a:p>
            <a:r>
              <a:rPr lang="en-US" altLang="ar-SA" b="1" dirty="0" smtClean="0">
                <a:solidFill>
                  <a:srgbClr val="3318FA"/>
                </a:solidFill>
              </a:rPr>
              <a:t>Presented by</a:t>
            </a:r>
            <a:r>
              <a:rPr lang="en-US" altLang="ar-SA" b="1" dirty="0" smtClean="0">
                <a:solidFill>
                  <a:srgbClr val="3318FA"/>
                </a:solidFill>
              </a:rPr>
              <a:t>: Dr. Mazin S. A. M</a:t>
            </a:r>
            <a:endParaRPr lang="ar-SA" altLang="ar-SA" b="1" dirty="0" smtClean="0">
              <a:solidFill>
                <a:srgbClr val="3318FA"/>
              </a:solidFill>
            </a:endParaRPr>
          </a:p>
        </p:txBody>
      </p:sp>
      <p:pic>
        <p:nvPicPr>
          <p:cNvPr id="2050" name="Picture 2" descr="M:\All physiology\Physiology to lecture\,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56588" y="1982789"/>
            <a:ext cx="1974850" cy="22383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19289" y="4643439"/>
            <a:ext cx="8480425" cy="1754187"/>
          </a:xfrm>
          <a:prstGeom prst="rect">
            <a:avLst/>
          </a:prstGeom>
          <a:noFill/>
        </p:spPr>
        <p:txBody>
          <a:bodyPr lIns="91398" tIns="45695" rIns="91398" bIns="45695" rtlCol="1">
            <a:spAutoFit/>
          </a:bodyPr>
          <a:lstStyle/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MBBS, Bogomolets National University….</a:t>
            </a:r>
          </a:p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Diploma in Research methodology and biostatistics, University of science and Technology….</a:t>
            </a:r>
          </a:p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Cardiology MD, Saransk city, Russian Federation….</a:t>
            </a:r>
          </a:p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Masters degree in human physiology, Ribat National University….</a:t>
            </a:r>
          </a:p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Masters degree in Molecular medicine, Khartoum University…. </a:t>
            </a:r>
            <a:endParaRPr lang="ar-SA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279650" y="1773239"/>
            <a:ext cx="5545138" cy="115093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398" tIns="45695" rIns="91398" bIns="45695" rtlCol="1" anchor="ctr"/>
          <a:lstStyle/>
          <a:p>
            <a:pPr algn="ctr">
              <a:defRPr/>
            </a:pPr>
            <a:r>
              <a:rPr lang="en-US" sz="33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Physioloize it to visualize it….</a:t>
            </a:r>
            <a:endParaRPr lang="ar-SA" sz="33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16475328"/>
      </p:ext>
    </p:extLst>
  </p:cSld>
  <p:clrMapOvr>
    <a:masterClrMapping/>
  </p:clrMapOvr>
  <p:transition advTm="5830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327" y="581891"/>
            <a:ext cx="10806546" cy="5971309"/>
          </a:xfrm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Autofit/>
          </a:bodyPr>
          <a:lstStyle/>
          <a:p>
            <a:pPr algn="l" rtl="0"/>
            <a:r>
              <a:rPr lang="en-US" b="1" dirty="0">
                <a:solidFill>
                  <a:srgbClr val="FFFF00"/>
                </a:solidFill>
                <a:latin typeface="Centaur" pitchFamily="18" charset="0"/>
              </a:rPr>
              <a:t>The male reproductive </a:t>
            </a:r>
            <a:r>
              <a:rPr lang="en-US" b="1" dirty="0" smtClean="0">
                <a:solidFill>
                  <a:srgbClr val="FFFF00"/>
                </a:solidFill>
                <a:latin typeface="Centaur" pitchFamily="18" charset="0"/>
              </a:rPr>
              <a:t>system:</a:t>
            </a:r>
          </a:p>
          <a:p>
            <a:pPr algn="l" rtl="0"/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produces 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and delivers sperm 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cells (spermatozoa) to the female reproductive tract .</a:t>
            </a:r>
          </a:p>
          <a:p>
            <a:pPr algn="l" rtl="0"/>
            <a:r>
              <a:rPr lang="en-US" b="1" dirty="0">
                <a:solidFill>
                  <a:srgbClr val="FFFF00"/>
                </a:solidFill>
                <a:latin typeface="Centaur" pitchFamily="18" charset="0"/>
              </a:rPr>
              <a:t>The female reproductive system: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produces 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and 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allows egg 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cells (oocytes ) to be fertilized by 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sperm.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supports the 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development of an 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offspring (gestation).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gives 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birth to 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a new 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individual (parturition) .</a:t>
            </a:r>
            <a:endParaRPr lang="ar-SA" dirty="0">
              <a:solidFill>
                <a:schemeClr val="bg2"/>
              </a:solidFill>
              <a:latin typeface="Centaur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993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rmAutofit fontScale="62500" lnSpcReduction="20000"/>
          </a:bodyPr>
          <a:lstStyle/>
          <a:p>
            <a:pPr algn="l" rtl="0"/>
            <a:r>
              <a:rPr lang="en-US" sz="5600" b="1" dirty="0">
                <a:solidFill>
                  <a:srgbClr val="FFFF00"/>
                </a:solidFill>
                <a:latin typeface="Centaur" pitchFamily="18" charset="0"/>
              </a:rPr>
              <a:t>Formation </a:t>
            </a:r>
            <a:r>
              <a:rPr lang="en-US" sz="5600" b="1" dirty="0">
                <a:solidFill>
                  <a:srgbClr val="FFFF00"/>
                </a:solidFill>
                <a:latin typeface="Centaur" pitchFamily="18" charset="0"/>
              </a:rPr>
              <a:t>of </a:t>
            </a:r>
            <a:r>
              <a:rPr lang="en-US" sz="5600" b="1" dirty="0">
                <a:solidFill>
                  <a:srgbClr val="FFFF00"/>
                </a:solidFill>
                <a:latin typeface="Centaur" pitchFamily="18" charset="0"/>
              </a:rPr>
              <a:t>sperms:</a:t>
            </a:r>
            <a:endParaRPr lang="en-US" sz="5600" b="1" dirty="0">
              <a:solidFill>
                <a:srgbClr val="FFFF00"/>
              </a:solidFill>
              <a:latin typeface="Centaur" pitchFamily="18" charset="0"/>
            </a:endParaRPr>
          </a:p>
          <a:p>
            <a:pPr algn="l" rtl="0"/>
            <a:r>
              <a:rPr lang="en-US" sz="5600" dirty="0">
                <a:solidFill>
                  <a:schemeClr val="bg2"/>
                </a:solidFill>
                <a:latin typeface="Centaur" pitchFamily="18" charset="0"/>
              </a:rPr>
              <a:t>Occurs </a:t>
            </a:r>
            <a:r>
              <a:rPr lang="en-US" sz="5600" dirty="0">
                <a:solidFill>
                  <a:schemeClr val="bg2"/>
                </a:solidFill>
                <a:latin typeface="Centaur" pitchFamily="18" charset="0"/>
              </a:rPr>
              <a:t>in the </a:t>
            </a:r>
            <a:r>
              <a:rPr lang="en-US" sz="5600" dirty="0" err="1">
                <a:solidFill>
                  <a:schemeClr val="bg2"/>
                </a:solidFill>
                <a:latin typeface="Centaur" pitchFamily="18" charset="0"/>
              </a:rPr>
              <a:t>seminiferous</a:t>
            </a:r>
            <a:r>
              <a:rPr lang="en-US" sz="5600" dirty="0">
                <a:solidFill>
                  <a:schemeClr val="bg2"/>
                </a:solidFill>
                <a:latin typeface="Centaur" pitchFamily="18" charset="0"/>
              </a:rPr>
              <a:t> tubules </a:t>
            </a:r>
            <a:r>
              <a:rPr lang="en-US" sz="5600" dirty="0">
                <a:solidFill>
                  <a:schemeClr val="bg2"/>
                </a:solidFill>
                <a:latin typeface="Centaur" pitchFamily="18" charset="0"/>
              </a:rPr>
              <a:t>during active sexual life due to stimulation by </a:t>
            </a:r>
            <a:r>
              <a:rPr lang="en-US" sz="5600" dirty="0">
                <a:solidFill>
                  <a:schemeClr val="bg2"/>
                </a:solidFill>
                <a:latin typeface="Centaur" pitchFamily="18" charset="0"/>
              </a:rPr>
              <a:t>AP-</a:t>
            </a:r>
            <a:r>
              <a:rPr lang="en-US" sz="5600" dirty="0" err="1">
                <a:solidFill>
                  <a:schemeClr val="bg2"/>
                </a:solidFill>
                <a:latin typeface="Centaur" pitchFamily="18" charset="0"/>
              </a:rPr>
              <a:t>GnRHs</a:t>
            </a:r>
            <a:r>
              <a:rPr lang="en-US" sz="5600" dirty="0">
                <a:solidFill>
                  <a:schemeClr val="bg2"/>
                </a:solidFill>
                <a:latin typeface="Centaur" pitchFamily="18" charset="0"/>
              </a:rPr>
              <a:t>.</a:t>
            </a:r>
            <a:endParaRPr lang="en-US" sz="5600" dirty="0">
              <a:solidFill>
                <a:schemeClr val="bg2"/>
              </a:solidFill>
              <a:latin typeface="Centaur" pitchFamily="18" charset="0"/>
            </a:endParaRPr>
          </a:p>
          <a:p>
            <a:pPr algn="l" rtl="0"/>
            <a:r>
              <a:rPr lang="en-US" sz="5600" dirty="0">
                <a:solidFill>
                  <a:schemeClr val="bg2"/>
                </a:solidFill>
                <a:latin typeface="Centaur" pitchFamily="18" charset="0"/>
              </a:rPr>
              <a:t>Begins </a:t>
            </a:r>
            <a:r>
              <a:rPr lang="en-US" sz="5600" dirty="0">
                <a:solidFill>
                  <a:schemeClr val="bg2"/>
                </a:solidFill>
                <a:latin typeface="Centaur" pitchFamily="18" charset="0"/>
              </a:rPr>
              <a:t>at age of </a:t>
            </a:r>
            <a:r>
              <a:rPr lang="en-US" sz="5600" dirty="0">
                <a:solidFill>
                  <a:schemeClr val="bg2"/>
                </a:solidFill>
                <a:latin typeface="Centaur" pitchFamily="18" charset="0"/>
              </a:rPr>
              <a:t>13-16 </a:t>
            </a:r>
            <a:r>
              <a:rPr lang="en-US" sz="5600" dirty="0">
                <a:solidFill>
                  <a:schemeClr val="bg2"/>
                </a:solidFill>
                <a:latin typeface="Centaur" pitchFamily="18" charset="0"/>
              </a:rPr>
              <a:t>years, continues throughout life &amp; decreases in old </a:t>
            </a:r>
            <a:r>
              <a:rPr lang="en-US" sz="5600" dirty="0">
                <a:solidFill>
                  <a:schemeClr val="bg2"/>
                </a:solidFill>
                <a:latin typeface="Centaur" pitchFamily="18" charset="0"/>
              </a:rPr>
              <a:t>age.</a:t>
            </a:r>
            <a:endParaRPr lang="en-US" sz="5600" dirty="0">
              <a:solidFill>
                <a:schemeClr val="bg2"/>
              </a:solidFill>
              <a:latin typeface="Centaur" pitchFamily="18" charset="0"/>
            </a:endParaRPr>
          </a:p>
          <a:p>
            <a:pPr algn="l" rtl="0"/>
            <a:r>
              <a:rPr lang="en-US" sz="5600" b="1" dirty="0" err="1">
                <a:solidFill>
                  <a:srgbClr val="FFFF00"/>
                </a:solidFill>
                <a:latin typeface="Centaur" pitchFamily="18" charset="0"/>
              </a:rPr>
              <a:t>Sertoli</a:t>
            </a:r>
            <a:r>
              <a:rPr lang="en-US" sz="5600" b="1" dirty="0">
                <a:solidFill>
                  <a:srgbClr val="FFFF00"/>
                </a:solidFill>
                <a:latin typeface="Centaur" pitchFamily="18" charset="0"/>
              </a:rPr>
              <a:t> cells</a:t>
            </a:r>
            <a:r>
              <a:rPr lang="en-US" sz="5600" b="1" dirty="0">
                <a:solidFill>
                  <a:srgbClr val="FFFF00"/>
                </a:solidFill>
                <a:latin typeface="Centaur" pitchFamily="18" charset="0"/>
              </a:rPr>
              <a:t>:</a:t>
            </a:r>
          </a:p>
          <a:p>
            <a:pPr algn="l" rtl="0"/>
            <a:r>
              <a:rPr lang="en-US" sz="5600" dirty="0">
                <a:solidFill>
                  <a:schemeClr val="bg2"/>
                </a:solidFill>
                <a:latin typeface="Centaur" pitchFamily="18" charset="0"/>
              </a:rPr>
              <a:t>Large cells that </a:t>
            </a:r>
            <a:r>
              <a:rPr lang="en-US" sz="5600" dirty="0">
                <a:solidFill>
                  <a:schemeClr val="bg2"/>
                </a:solidFill>
                <a:latin typeface="Centaur" pitchFamily="18" charset="0"/>
              </a:rPr>
              <a:t>surround the developing </a:t>
            </a:r>
            <a:r>
              <a:rPr lang="en-US" sz="5600" dirty="0" err="1">
                <a:solidFill>
                  <a:schemeClr val="bg2"/>
                </a:solidFill>
                <a:latin typeface="Centaur" pitchFamily="18" charset="0"/>
              </a:rPr>
              <a:t>spermatogonia</a:t>
            </a:r>
            <a:r>
              <a:rPr lang="en-US" sz="5600" dirty="0">
                <a:solidFill>
                  <a:schemeClr val="bg2"/>
                </a:solidFill>
                <a:latin typeface="Centaur" pitchFamily="18" charset="0"/>
              </a:rPr>
              <a:t> around </a:t>
            </a:r>
            <a:r>
              <a:rPr lang="en-US" sz="5600" dirty="0">
                <a:solidFill>
                  <a:schemeClr val="bg2"/>
                </a:solidFill>
                <a:latin typeface="Centaur" pitchFamily="18" charset="0"/>
              </a:rPr>
              <a:t>the central lumen of the </a:t>
            </a:r>
            <a:r>
              <a:rPr lang="en-US" sz="5600" dirty="0" err="1">
                <a:solidFill>
                  <a:schemeClr val="bg2"/>
                </a:solidFill>
                <a:latin typeface="Centaur" pitchFamily="18" charset="0"/>
              </a:rPr>
              <a:t>seminiferous</a:t>
            </a:r>
            <a:r>
              <a:rPr lang="en-US" sz="5600" dirty="0">
                <a:solidFill>
                  <a:schemeClr val="bg2"/>
                </a:solidFill>
                <a:latin typeface="Centaur" pitchFamily="18" charset="0"/>
              </a:rPr>
              <a:t> tubules.</a:t>
            </a:r>
          </a:p>
          <a:p>
            <a:pPr algn="l" rtl="0"/>
            <a:r>
              <a:rPr lang="en-US" sz="5600" dirty="0">
                <a:solidFill>
                  <a:schemeClr val="bg2"/>
                </a:solidFill>
                <a:latin typeface="Centaur" pitchFamily="18" charset="0"/>
              </a:rPr>
              <a:t>Secrete androgen </a:t>
            </a:r>
            <a:r>
              <a:rPr lang="en-US" sz="5600">
                <a:solidFill>
                  <a:schemeClr val="bg2"/>
                </a:solidFill>
                <a:latin typeface="Centaur" pitchFamily="18" charset="0"/>
              </a:rPr>
              <a:t>binding protein.</a:t>
            </a:r>
            <a:endParaRPr lang="en-US" sz="5600" dirty="0">
              <a:solidFill>
                <a:schemeClr val="bg2"/>
              </a:solidFill>
              <a:latin typeface="Centaur" pitchFamily="18" charset="0"/>
            </a:endParaRPr>
          </a:p>
          <a:p>
            <a:pPr algn="l" rtl="0"/>
            <a:endParaRPr lang="ar-SA" sz="5600" dirty="0">
              <a:solidFill>
                <a:schemeClr val="bg2"/>
              </a:solidFill>
              <a:latin typeface="Centaur" pitchFamily="18" charset="0"/>
            </a:endParaRPr>
          </a:p>
          <a:p>
            <a:pPr algn="l" rtl="0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44692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algn="l" rtl="0"/>
            <a:r>
              <a:rPr lang="en-US" b="1" dirty="0" err="1" smtClean="0">
                <a:solidFill>
                  <a:srgbClr val="FFFF00"/>
                </a:solidFill>
                <a:latin typeface="Centaur" pitchFamily="18" charset="0"/>
              </a:rPr>
              <a:t>Leydig</a:t>
            </a:r>
            <a:r>
              <a:rPr lang="en-US" b="1" dirty="0" smtClean="0">
                <a:solidFill>
                  <a:srgbClr val="FFFF00"/>
                </a:solidFill>
                <a:latin typeface="Centaur" pitchFamily="18" charset="0"/>
              </a:rPr>
              <a:t> cell: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Lie between </a:t>
            </a:r>
            <a:r>
              <a:rPr lang="en-US" dirty="0" err="1" smtClean="0">
                <a:solidFill>
                  <a:schemeClr val="bg2"/>
                </a:solidFill>
                <a:latin typeface="Centaur" pitchFamily="18" charset="0"/>
              </a:rPr>
              <a:t>seminiferous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tubules.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non-existent in the testis during childhood when the testis secrete no testosterone.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Numerous in the newborn male infants for the first few months of life.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Active at puberty &amp; throughout adult life &amp; secrete testosterone.</a:t>
            </a:r>
          </a:p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50658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6"/>
          <p:cNvGrpSpPr>
            <a:grpSpLocks/>
          </p:cNvGrpSpPr>
          <p:nvPr/>
        </p:nvGrpSpPr>
        <p:grpSpPr bwMode="auto">
          <a:xfrm>
            <a:off x="2063751" y="1125539"/>
            <a:ext cx="6911975" cy="4276725"/>
            <a:chOff x="340" y="709"/>
            <a:chExt cx="4354" cy="2694"/>
          </a:xfrm>
        </p:grpSpPr>
        <p:pic>
          <p:nvPicPr>
            <p:cNvPr id="5132" name="Picture 4" descr="New Pict_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8125"/>
            <a:stretch>
              <a:fillRect/>
            </a:stretch>
          </p:blipFill>
          <p:spPr bwMode="auto">
            <a:xfrm>
              <a:off x="2880" y="709"/>
              <a:ext cx="1814" cy="2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3" name="Picture 5" descr="New Pict_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582"/>
            <a:stretch>
              <a:fillRect/>
            </a:stretch>
          </p:blipFill>
          <p:spPr bwMode="auto">
            <a:xfrm>
              <a:off x="340" y="709"/>
              <a:ext cx="2574" cy="2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123" name="Text Box 7"/>
          <p:cNvSpPr txBox="1">
            <a:spLocks noChangeArrowheads="1"/>
          </p:cNvSpPr>
          <p:nvPr/>
        </p:nvSpPr>
        <p:spPr bwMode="auto">
          <a:xfrm>
            <a:off x="7342189" y="5780088"/>
            <a:ext cx="2282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b="1"/>
              <a:t>3- Leydig cells</a:t>
            </a:r>
            <a:endParaRPr lang="en-GB" sz="2400" b="1"/>
          </a:p>
        </p:txBody>
      </p:sp>
      <p:sp>
        <p:nvSpPr>
          <p:cNvPr id="5124" name="Text Box 8"/>
          <p:cNvSpPr txBox="1">
            <a:spLocks noChangeArrowheads="1"/>
          </p:cNvSpPr>
          <p:nvPr/>
        </p:nvSpPr>
        <p:spPr bwMode="auto">
          <a:xfrm>
            <a:off x="4870451" y="5780088"/>
            <a:ext cx="2665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b="1"/>
              <a:t>2- Sertoli cells </a:t>
            </a:r>
            <a:endParaRPr lang="en-GB" sz="2400" b="1"/>
          </a:p>
        </p:txBody>
      </p:sp>
      <p:sp>
        <p:nvSpPr>
          <p:cNvPr id="5125" name="Text Box 9"/>
          <p:cNvSpPr txBox="1">
            <a:spLocks noChangeArrowheads="1"/>
          </p:cNvSpPr>
          <p:nvPr/>
        </p:nvSpPr>
        <p:spPr bwMode="auto">
          <a:xfrm>
            <a:off x="1695450" y="5751513"/>
            <a:ext cx="296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b="1"/>
              <a:t>1-Spermatogonium</a:t>
            </a:r>
            <a:endParaRPr lang="en-GB" sz="2400" b="1"/>
          </a:p>
        </p:txBody>
      </p:sp>
      <p:sp>
        <p:nvSpPr>
          <p:cNvPr id="5126" name="Text Box 10"/>
          <p:cNvSpPr txBox="1">
            <a:spLocks noChangeArrowheads="1"/>
          </p:cNvSpPr>
          <p:nvPr/>
        </p:nvSpPr>
        <p:spPr bwMode="auto">
          <a:xfrm>
            <a:off x="4059238" y="279400"/>
            <a:ext cx="287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b="1"/>
              <a:t>Cells of the testes </a:t>
            </a:r>
            <a:endParaRPr lang="en-GB" sz="2400" b="1"/>
          </a:p>
        </p:txBody>
      </p:sp>
      <p:sp>
        <p:nvSpPr>
          <p:cNvPr id="5127" name="Freeform 12"/>
          <p:cNvSpPr>
            <a:spLocks/>
          </p:cNvSpPr>
          <p:nvPr/>
        </p:nvSpPr>
        <p:spPr bwMode="auto">
          <a:xfrm>
            <a:off x="4881564" y="3714751"/>
            <a:ext cx="854075" cy="1946275"/>
          </a:xfrm>
          <a:custGeom>
            <a:avLst/>
            <a:gdLst>
              <a:gd name="T0" fmla="*/ 1610268895 w 453"/>
              <a:gd name="T1" fmla="*/ 2147483647 h 1361"/>
              <a:gd name="T2" fmla="*/ 0 w 453"/>
              <a:gd name="T3" fmla="*/ 0 h 1361"/>
              <a:gd name="T4" fmla="*/ 0 60000 65536"/>
              <a:gd name="T5" fmla="*/ 0 60000 65536"/>
              <a:gd name="T6" fmla="*/ 0 w 453"/>
              <a:gd name="T7" fmla="*/ 0 h 1361"/>
              <a:gd name="T8" fmla="*/ 453 w 453"/>
              <a:gd name="T9" fmla="*/ 1361 h 136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3" h="1361">
                <a:moveTo>
                  <a:pt x="453" y="1361"/>
                </a:moveTo>
                <a:cubicBezTo>
                  <a:pt x="264" y="794"/>
                  <a:pt x="75" y="227"/>
                  <a:pt x="0" y="0"/>
                </a:cubicBezTo>
              </a:path>
            </a:pathLst>
          </a:custGeom>
          <a:noFill/>
          <a:ln w="57150">
            <a:solidFill>
              <a:srgbClr val="A5002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524251" y="1143001"/>
            <a:ext cx="714375" cy="500063"/>
          </a:xfrm>
          <a:prstGeom prst="straightConnector1">
            <a:avLst/>
          </a:prstGeom>
          <a:ln w="571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9" name="TextBox 13"/>
          <p:cNvSpPr txBox="1">
            <a:spLocks noChangeArrowheads="1"/>
          </p:cNvSpPr>
          <p:nvPr/>
        </p:nvSpPr>
        <p:spPr bwMode="auto">
          <a:xfrm>
            <a:off x="2024064" y="928688"/>
            <a:ext cx="13795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b="1">
                <a:solidFill>
                  <a:srgbClr val="C00000"/>
                </a:solidFill>
              </a:rPr>
              <a:t>Sperms</a:t>
            </a:r>
            <a:r>
              <a:rPr lang="en-US"/>
              <a:t> </a:t>
            </a:r>
          </a:p>
        </p:txBody>
      </p:sp>
      <p:sp>
        <p:nvSpPr>
          <p:cNvPr id="5130" name="Freeform 12"/>
          <p:cNvSpPr>
            <a:spLocks/>
          </p:cNvSpPr>
          <p:nvPr/>
        </p:nvSpPr>
        <p:spPr bwMode="auto">
          <a:xfrm>
            <a:off x="3381375" y="3500439"/>
            <a:ext cx="719138" cy="2160587"/>
          </a:xfrm>
          <a:custGeom>
            <a:avLst/>
            <a:gdLst>
              <a:gd name="T0" fmla="*/ 1141632458 w 453"/>
              <a:gd name="T1" fmla="*/ 2147483647 h 1361"/>
              <a:gd name="T2" fmla="*/ 0 w 453"/>
              <a:gd name="T3" fmla="*/ 0 h 1361"/>
              <a:gd name="T4" fmla="*/ 0 60000 65536"/>
              <a:gd name="T5" fmla="*/ 0 60000 65536"/>
              <a:gd name="T6" fmla="*/ 0 w 453"/>
              <a:gd name="T7" fmla="*/ 0 h 1361"/>
              <a:gd name="T8" fmla="*/ 453 w 453"/>
              <a:gd name="T9" fmla="*/ 1361 h 136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3" h="1361">
                <a:moveTo>
                  <a:pt x="453" y="1361"/>
                </a:moveTo>
                <a:cubicBezTo>
                  <a:pt x="264" y="794"/>
                  <a:pt x="75" y="227"/>
                  <a:pt x="0" y="0"/>
                </a:cubicBezTo>
              </a:path>
            </a:pathLst>
          </a:custGeom>
          <a:noFill/>
          <a:ln w="57150">
            <a:solidFill>
              <a:srgbClr val="A5002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5131" name="Freeform 12"/>
          <p:cNvSpPr>
            <a:spLocks/>
          </p:cNvSpPr>
          <p:nvPr/>
        </p:nvSpPr>
        <p:spPr bwMode="auto">
          <a:xfrm>
            <a:off x="6310314" y="4500564"/>
            <a:ext cx="928687" cy="1285875"/>
          </a:xfrm>
          <a:custGeom>
            <a:avLst/>
            <a:gdLst>
              <a:gd name="T0" fmla="*/ 1903898553 w 453"/>
              <a:gd name="T1" fmla="*/ 1214905318 h 1361"/>
              <a:gd name="T2" fmla="*/ 0 w 453"/>
              <a:gd name="T3" fmla="*/ 0 h 1361"/>
              <a:gd name="T4" fmla="*/ 0 60000 65536"/>
              <a:gd name="T5" fmla="*/ 0 60000 65536"/>
              <a:gd name="T6" fmla="*/ 0 w 453"/>
              <a:gd name="T7" fmla="*/ 0 h 1361"/>
              <a:gd name="T8" fmla="*/ 453 w 453"/>
              <a:gd name="T9" fmla="*/ 1361 h 136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3" h="1361">
                <a:moveTo>
                  <a:pt x="453" y="1361"/>
                </a:moveTo>
                <a:cubicBezTo>
                  <a:pt x="264" y="794"/>
                  <a:pt x="75" y="227"/>
                  <a:pt x="0" y="0"/>
                </a:cubicBezTo>
              </a:path>
            </a:pathLst>
          </a:custGeom>
          <a:noFill/>
          <a:ln w="57150">
            <a:solidFill>
              <a:srgbClr val="A5002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05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2164" y="477982"/>
            <a:ext cx="9538854" cy="5791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239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/>
          <a:srcRect l="783" t="1715" r="653" b="8522"/>
          <a:stretch>
            <a:fillRect/>
          </a:stretch>
        </p:blipFill>
        <p:spPr bwMode="auto">
          <a:xfrm>
            <a:off x="1524001" y="422563"/>
            <a:ext cx="8458199" cy="5791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2507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i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abic Transparent" pitchFamily="2" charset="-78"/>
              </a:rPr>
              <a:t>Spermatogenesis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76400"/>
            <a:ext cx="8382000" cy="4876800"/>
          </a:xfrm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Autofit/>
          </a:bodyPr>
          <a:lstStyle/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</a:t>
            </a:r>
            <a:r>
              <a:rPr lang="en-US" dirty="0" err="1">
                <a:solidFill>
                  <a:schemeClr val="bg2"/>
                </a:solidFill>
                <a:latin typeface="Centaur" pitchFamily="18" charset="0"/>
              </a:rPr>
              <a:t>Spermatogonia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(containing 46 chromosomes) undergo 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DNA replication </a:t>
            </a:r>
            <a:r>
              <a:rPr lang="en-US" dirty="0" smtClean="0">
                <a:solidFill>
                  <a:schemeClr val="bg2"/>
                </a:solidFill>
                <a:cs typeface="Calibri"/>
              </a:rPr>
              <a:t>→ 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primary </a:t>
            </a:r>
            <a:r>
              <a:rPr lang="en-US" dirty="0" err="1">
                <a:solidFill>
                  <a:schemeClr val="bg2"/>
                </a:solidFill>
                <a:latin typeface="Centaur" pitchFamily="18" charset="0"/>
              </a:rPr>
              <a:t>spermatocytes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(46 chromosomes).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Primary </a:t>
            </a:r>
            <a:r>
              <a:rPr lang="en-US" dirty="0" err="1">
                <a:solidFill>
                  <a:schemeClr val="bg2"/>
                </a:solidFill>
                <a:latin typeface="Centaur" pitchFamily="18" charset="0"/>
              </a:rPr>
              <a:t>spermatocytes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</a:t>
            </a:r>
            <a:r>
              <a:rPr lang="en-US" dirty="0" smtClean="0">
                <a:solidFill>
                  <a:schemeClr val="bg2"/>
                </a:solidFill>
                <a:latin typeface="Calibri"/>
                <a:cs typeface="Calibri"/>
              </a:rPr>
              <a:t>→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secondary </a:t>
            </a:r>
            <a:r>
              <a:rPr lang="en-US" dirty="0" err="1" smtClean="0">
                <a:solidFill>
                  <a:schemeClr val="bg2"/>
                </a:solidFill>
                <a:latin typeface="Centaur" pitchFamily="18" charset="0"/>
              </a:rPr>
              <a:t>spermatocytes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(46 chromosomes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) </a:t>
            </a:r>
            <a:r>
              <a:rPr lang="en-US" dirty="0" smtClean="0">
                <a:solidFill>
                  <a:schemeClr val="bg2"/>
                </a:solidFill>
                <a:cs typeface="Calibri"/>
              </a:rPr>
              <a:t>→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</a:t>
            </a:r>
            <a:r>
              <a:rPr lang="en-US" dirty="0" err="1" smtClean="0">
                <a:solidFill>
                  <a:schemeClr val="bg2"/>
                </a:solidFill>
                <a:latin typeface="Centaur" pitchFamily="18" charset="0"/>
              </a:rPr>
              <a:t>spermatids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(23 chromosomes)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</a:t>
            </a:r>
            <a:r>
              <a:rPr lang="en-US" dirty="0" err="1" smtClean="0">
                <a:solidFill>
                  <a:schemeClr val="bg2"/>
                </a:solidFill>
                <a:latin typeface="Centaur" pitchFamily="18" charset="0"/>
              </a:rPr>
              <a:t>Spermatids</a:t>
            </a:r>
            <a:r>
              <a:rPr lang="en-US" dirty="0" smtClean="0">
                <a:solidFill>
                  <a:schemeClr val="bg2"/>
                </a:solidFill>
                <a:cs typeface="Calibri"/>
              </a:rPr>
              <a:t> →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spermatozoa (23 chromosomes).  </a:t>
            </a:r>
            <a:endParaRPr lang="en-US" dirty="0">
              <a:solidFill>
                <a:schemeClr val="bg2"/>
              </a:solidFill>
              <a:latin typeface="Centaur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599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i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abic Transparent" pitchFamily="2" charset="-78"/>
              </a:rPr>
              <a:t>Formation of sperms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rmAutofit fontScale="92500"/>
          </a:bodyPr>
          <a:lstStyle/>
          <a:p>
            <a:pPr algn="l" rtl="0"/>
            <a:r>
              <a:rPr lang="en-US" sz="4100" dirty="0">
                <a:solidFill>
                  <a:schemeClr val="bg2"/>
                </a:solidFill>
                <a:latin typeface="Centaur" pitchFamily="18" charset="0"/>
              </a:rPr>
              <a:t>Sperm formed of </a:t>
            </a:r>
            <a:r>
              <a:rPr lang="en-US" sz="4100" b="1" dirty="0">
                <a:solidFill>
                  <a:srgbClr val="FFFF00"/>
                </a:solidFill>
                <a:latin typeface="Centaur" pitchFamily="18" charset="0"/>
              </a:rPr>
              <a:t>head &amp; tail:</a:t>
            </a:r>
          </a:p>
          <a:p>
            <a:pPr algn="l" rtl="0"/>
            <a:r>
              <a:rPr lang="en-US" sz="4100" b="1" dirty="0">
                <a:solidFill>
                  <a:srgbClr val="FFFF00"/>
                </a:solidFill>
                <a:latin typeface="Centaur" pitchFamily="18" charset="0"/>
              </a:rPr>
              <a:t>Head contains: </a:t>
            </a:r>
            <a:r>
              <a:rPr lang="en-US" sz="4100" dirty="0">
                <a:solidFill>
                  <a:schemeClr val="bg2"/>
                </a:solidFill>
                <a:latin typeface="Centaur" pitchFamily="18" charset="0"/>
              </a:rPr>
              <a:t>nucleus, cytoplasm &amp; cell membrane</a:t>
            </a:r>
          </a:p>
          <a:p>
            <a:pPr algn="l" rtl="0"/>
            <a:r>
              <a:rPr lang="en-US" sz="4100" dirty="0">
                <a:solidFill>
                  <a:schemeClr val="bg2"/>
                </a:solidFill>
                <a:latin typeface="Centaur" pitchFamily="18" charset="0"/>
              </a:rPr>
              <a:t> outside the </a:t>
            </a:r>
            <a:r>
              <a:rPr lang="en-US" sz="4100" dirty="0" err="1">
                <a:solidFill>
                  <a:schemeClr val="bg2"/>
                </a:solidFill>
                <a:latin typeface="Centaur" pitchFamily="18" charset="0"/>
              </a:rPr>
              <a:t>the</a:t>
            </a:r>
            <a:r>
              <a:rPr lang="en-US" sz="4100" dirty="0">
                <a:solidFill>
                  <a:schemeClr val="bg2"/>
                </a:solidFill>
                <a:latin typeface="Centaur" pitchFamily="18" charset="0"/>
              </a:rPr>
              <a:t> head is a thick cap called </a:t>
            </a:r>
            <a:r>
              <a:rPr lang="en-US" sz="41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aur" pitchFamily="18" charset="0"/>
              </a:rPr>
              <a:t>acrosome</a:t>
            </a:r>
            <a:r>
              <a:rPr lang="en-US" sz="4100" dirty="0">
                <a:solidFill>
                  <a:schemeClr val="bg2"/>
                </a:solidFill>
                <a:latin typeface="Centaur" pitchFamily="18" charset="0"/>
              </a:rPr>
              <a:t>  formed mainly from Golgi apparatus.</a:t>
            </a:r>
          </a:p>
          <a:p>
            <a:pPr algn="l" rtl="0"/>
            <a:r>
              <a:rPr lang="en-US" sz="4100" dirty="0">
                <a:solidFill>
                  <a:schemeClr val="bg2"/>
                </a:solidFill>
                <a:latin typeface="Centaur" pitchFamily="18" charset="0"/>
              </a:rPr>
              <a:t>contains powerful </a:t>
            </a:r>
            <a:r>
              <a:rPr lang="en-US" sz="4100" dirty="0" err="1">
                <a:solidFill>
                  <a:schemeClr val="bg2"/>
                </a:solidFill>
                <a:latin typeface="Centaur" pitchFamily="18" charset="0"/>
              </a:rPr>
              <a:t>proteolytic</a:t>
            </a:r>
            <a:r>
              <a:rPr lang="en-US" sz="4100" dirty="0">
                <a:solidFill>
                  <a:schemeClr val="bg2"/>
                </a:solidFill>
                <a:latin typeface="Centaur" pitchFamily="18" charset="0"/>
              </a:rPr>
              <a:t> enzymes.</a:t>
            </a:r>
          </a:p>
          <a:p>
            <a:pPr algn="l" rtl="0"/>
            <a:r>
              <a:rPr lang="en-US" sz="4100" dirty="0">
                <a:solidFill>
                  <a:srgbClr val="FFFF00"/>
                </a:solidFill>
                <a:latin typeface="Centaur" pitchFamily="18" charset="0"/>
              </a:rPr>
              <a:t>The tail </a:t>
            </a:r>
            <a:r>
              <a:rPr lang="en-US" sz="4100" dirty="0">
                <a:solidFill>
                  <a:schemeClr val="bg2"/>
                </a:solidFill>
                <a:latin typeface="Centaur" pitchFamily="18" charset="0"/>
              </a:rPr>
              <a:t>: contain a collection of mitochondria which synthesized ATP which is important for sperm motility.</a:t>
            </a:r>
          </a:p>
          <a:p>
            <a:pPr algn="l" rtl="0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53462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i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abic Transparent" pitchFamily="2" charset="-78"/>
              </a:rPr>
              <a:t>Maturation of sperm in the </a:t>
            </a:r>
            <a:r>
              <a:rPr lang="en-US" sz="4000" b="1" i="1" u="sng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abic Transparent" pitchFamily="2" charset="-78"/>
              </a:rPr>
              <a:t>epididymis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After formation in the </a:t>
            </a:r>
            <a:r>
              <a:rPr lang="en-US" dirty="0" err="1" smtClean="0">
                <a:solidFill>
                  <a:schemeClr val="bg2"/>
                </a:solidFill>
                <a:latin typeface="Centaur" pitchFamily="18" charset="0"/>
              </a:rPr>
              <a:t>seminiferous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tubules, the sperm require several days to pass through the </a:t>
            </a:r>
            <a:r>
              <a:rPr lang="en-US" dirty="0" err="1" smtClean="0">
                <a:solidFill>
                  <a:schemeClr val="bg2"/>
                </a:solidFill>
                <a:latin typeface="Centaur" pitchFamily="18" charset="0"/>
              </a:rPr>
              <a:t>epididymis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(still non-motile). 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After the sperm have been in the </a:t>
            </a:r>
            <a:r>
              <a:rPr lang="en-US" dirty="0" err="1" smtClean="0">
                <a:solidFill>
                  <a:schemeClr val="bg2"/>
                </a:solidFill>
                <a:latin typeface="Centaur" pitchFamily="18" charset="0"/>
              </a:rPr>
              <a:t>epididymis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for some 18 to 24 hour, they develop the capability of motility.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some inhibitory proteins in the </a:t>
            </a:r>
            <a:r>
              <a:rPr lang="en-US" dirty="0" err="1" smtClean="0">
                <a:solidFill>
                  <a:schemeClr val="bg2"/>
                </a:solidFill>
                <a:latin typeface="Centaur" pitchFamily="18" charset="0"/>
              </a:rPr>
              <a:t>epididymal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fluid prevent final motility until after ejaculation.</a:t>
            </a:r>
          </a:p>
          <a:p>
            <a:pPr algn="l" rtl="0"/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390876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i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abic Transparent" pitchFamily="2" charset="-78"/>
              </a:rPr>
              <a:t>Storage of sperm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47800"/>
            <a:ext cx="8229600" cy="4876800"/>
          </a:xfrm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Autofit/>
          </a:bodyPr>
          <a:lstStyle/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The 2 testis of adult human form up to 120 million sperm each day: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Small amount stored in the </a:t>
            </a:r>
            <a:r>
              <a:rPr lang="en-US" dirty="0" err="1" smtClean="0">
                <a:solidFill>
                  <a:schemeClr val="bg2"/>
                </a:solidFill>
                <a:latin typeface="Centaur" pitchFamily="18" charset="0"/>
              </a:rPr>
              <a:t>epididymis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Majority stored in the vas deferens, maintaining their fertility for at least a month. 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Sperms are kept in inactive state by multiple inhibitory substances in the secretion of the ducts.</a:t>
            </a:r>
          </a:p>
          <a:p>
            <a:pPr algn="l" rtl="0">
              <a:buNone/>
            </a:pP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</a:t>
            </a:r>
          </a:p>
          <a:p>
            <a:pPr algn="l" rtl="0"/>
            <a:endParaRPr lang="ar-SA" sz="2400" dirty="0"/>
          </a:p>
        </p:txBody>
      </p:sp>
    </p:spTree>
    <p:extLst>
      <p:ext uri="{BB962C8B-B14F-4D97-AF65-F5344CB8AC3E}">
        <p14:creationId xmlns:p14="http://schemas.microsoft.com/office/powerpoint/2010/main" val="1796810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 descr="28_03"/>
          <p:cNvPicPr>
            <a:picLocks noChangeAspect="1" noChangeArrowheads="1"/>
          </p:cNvPicPr>
          <p:nvPr/>
        </p:nvPicPr>
        <p:blipFill>
          <a:blip r:embed="rId2">
            <a:lum bright="-12000" contrast="12000"/>
          </a:blip>
          <a:srcRect t="13408" r="44000" b="22235"/>
          <a:stretch>
            <a:fillRect/>
          </a:stretch>
        </p:blipFill>
        <p:spPr bwMode="auto">
          <a:xfrm>
            <a:off x="2743200" y="762000"/>
            <a:ext cx="6477000" cy="5410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6676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rtl="0"/>
            <a:r>
              <a:rPr lang="en-US" b="1" dirty="0" smtClean="0">
                <a:solidFill>
                  <a:srgbClr val="C00000"/>
                </a:solidFill>
                <a:latin typeface="Centaur" pitchFamily="18" charset="0"/>
              </a:rPr>
              <a:t/>
            </a:r>
            <a:br>
              <a:rPr lang="en-US" b="1" dirty="0" smtClean="0">
                <a:solidFill>
                  <a:srgbClr val="C00000"/>
                </a:solidFill>
                <a:latin typeface="Centaur" pitchFamily="18" charset="0"/>
              </a:rPr>
            </a:br>
            <a:r>
              <a:rPr lang="en-US" sz="3600" b="1" i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abic Transparent" pitchFamily="2" charset="-78"/>
              </a:rPr>
              <a:t>Physiology of mature sperm</a:t>
            </a:r>
            <a:r>
              <a:rPr lang="en-US" b="1" dirty="0" smtClean="0">
                <a:solidFill>
                  <a:srgbClr val="C00000"/>
                </a:solidFill>
                <a:latin typeface="Centaur" pitchFamily="18" charset="0"/>
              </a:rPr>
              <a:t/>
            </a:r>
            <a:br>
              <a:rPr lang="en-US" b="1" dirty="0" smtClean="0">
                <a:solidFill>
                  <a:srgbClr val="C00000"/>
                </a:solidFill>
                <a:latin typeface="Centaur" pitchFamily="18" charset="0"/>
              </a:rPr>
            </a:br>
            <a:endParaRPr lang="ar-S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Autofit/>
          </a:bodyPr>
          <a:lstStyle/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Mature sperm are motile &amp; capable of fertilizing the ovum.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their activity is enhanced in a neutral &amp; slightly alkaline medium &amp; depressed in mildly acidic medium. 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The life  of ejaculated sperm in the female genital tract is only 1 to 2 days.</a:t>
            </a:r>
          </a:p>
        </p:txBody>
      </p:sp>
    </p:spTree>
    <p:extLst>
      <p:ext uri="{BB962C8B-B14F-4D97-AF65-F5344CB8AC3E}">
        <p14:creationId xmlns:p14="http://schemas.microsoft.com/office/powerpoint/2010/main" val="376267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algn="l" rtl="0"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FFFF00"/>
                </a:solidFill>
                <a:latin typeface="Centaur" pitchFamily="18" charset="0"/>
              </a:rPr>
              <a:t>Function of the seminal vesicles: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Secrete </a:t>
            </a:r>
            <a:r>
              <a:rPr lang="en-US" dirty="0" err="1" smtClean="0">
                <a:solidFill>
                  <a:schemeClr val="bg2"/>
                </a:solidFill>
                <a:latin typeface="Centaur" pitchFamily="18" charset="0"/>
              </a:rPr>
              <a:t>mucoid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material containing fructose, citric acid &amp; nutrient substances &amp; large quantities of prostaglandins &amp; fibrinogen. </a:t>
            </a:r>
          </a:p>
          <a:p>
            <a:pPr algn="l" rtl="0"/>
            <a:r>
              <a:rPr lang="en-US" b="1" dirty="0" smtClean="0">
                <a:solidFill>
                  <a:srgbClr val="FFFF00"/>
                </a:solidFill>
                <a:latin typeface="Centaur" pitchFamily="18" charset="0"/>
              </a:rPr>
              <a:t>Functions of </a:t>
            </a:r>
            <a:r>
              <a:rPr lang="en-US" b="1" smtClean="0">
                <a:solidFill>
                  <a:srgbClr val="FFFF00"/>
                </a:solidFill>
                <a:latin typeface="Centaur" pitchFamily="18" charset="0"/>
              </a:rPr>
              <a:t>prostaglandins :</a:t>
            </a:r>
            <a:endParaRPr lang="en-US" b="1" dirty="0" smtClean="0">
              <a:solidFill>
                <a:srgbClr val="FFFF00"/>
              </a:solidFill>
              <a:latin typeface="Centaur" pitchFamily="18" charset="0"/>
            </a:endParaRPr>
          </a:p>
          <a:p>
            <a:pPr marL="514350" indent="-514350">
              <a:buAutoNum type="arabicPeriod"/>
            </a:pP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Reacting with the female cervical mucus making it more receptive to sperm movement.</a:t>
            </a:r>
          </a:p>
          <a:p>
            <a:pPr marL="514350" indent="-514350">
              <a:buAutoNum type="arabicPeriod"/>
            </a:pP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Causing peristaltic contractions of the uterus &amp; fallopian tubes to move the ejaculated sperm toward the ovaries.</a:t>
            </a:r>
            <a:endParaRPr lang="ar-SA" dirty="0" smtClean="0">
              <a:solidFill>
                <a:schemeClr val="bg2"/>
              </a:solidFill>
              <a:latin typeface="Centaur" pitchFamily="18" charset="0"/>
            </a:endParaRPr>
          </a:p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910420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rtl="0"/>
            <a:r>
              <a:rPr lang="en-US" b="1" dirty="0" smtClean="0">
                <a:solidFill>
                  <a:srgbClr val="C00000"/>
                </a:solidFill>
                <a:latin typeface="Centaur" pitchFamily="18" charset="0"/>
              </a:rPr>
              <a:t/>
            </a:r>
            <a:br>
              <a:rPr lang="en-US" b="1" dirty="0" smtClean="0">
                <a:solidFill>
                  <a:srgbClr val="C00000"/>
                </a:solidFill>
                <a:latin typeface="Centaur" pitchFamily="18" charset="0"/>
              </a:rPr>
            </a:br>
            <a:r>
              <a:rPr lang="en-US" sz="3600" b="1" i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abic Transparent" pitchFamily="2" charset="-78"/>
              </a:rPr>
              <a:t>Function of the prostate gland</a:t>
            </a:r>
            <a:r>
              <a:rPr lang="en-US" b="1" dirty="0" smtClean="0">
                <a:solidFill>
                  <a:srgbClr val="C00000"/>
                </a:solidFill>
                <a:latin typeface="Centaur" pitchFamily="18" charset="0"/>
              </a:rPr>
              <a:t/>
            </a:r>
            <a:br>
              <a:rPr lang="en-US" b="1" dirty="0" smtClean="0">
                <a:solidFill>
                  <a:srgbClr val="C00000"/>
                </a:solidFill>
                <a:latin typeface="Centaur" pitchFamily="18" charset="0"/>
              </a:rPr>
            </a:br>
            <a:endParaRPr lang="ar-S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0"/>
            <a:ext cx="8382000" cy="5181600"/>
          </a:xfrm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Autofit/>
          </a:bodyPr>
          <a:lstStyle/>
          <a:p>
            <a:pPr marL="514350" indent="-514350"/>
            <a:r>
              <a:rPr lang="en-US" sz="3000" dirty="0">
                <a:solidFill>
                  <a:schemeClr val="bg2"/>
                </a:solidFill>
                <a:latin typeface="Centaur" pitchFamily="18" charset="0"/>
              </a:rPr>
              <a:t>The prostate gland secretes thin milky fluid contains Ca</a:t>
            </a:r>
            <a:r>
              <a:rPr lang="en-US" sz="3000" baseline="30000" dirty="0">
                <a:solidFill>
                  <a:schemeClr val="bg2"/>
                </a:solidFill>
                <a:latin typeface="Centaur" pitchFamily="18" charset="0"/>
              </a:rPr>
              <a:t>2+</a:t>
            </a:r>
            <a:r>
              <a:rPr lang="en-US" sz="3000" dirty="0">
                <a:solidFill>
                  <a:schemeClr val="bg2"/>
                </a:solidFill>
                <a:latin typeface="Centaur" pitchFamily="18" charset="0"/>
              </a:rPr>
              <a:t>, acidic phosphate, prostate specific antigen (PSA) &amp; </a:t>
            </a:r>
            <a:r>
              <a:rPr lang="en-US" sz="3000" dirty="0" err="1">
                <a:solidFill>
                  <a:schemeClr val="bg2"/>
                </a:solidFill>
                <a:latin typeface="Centaur" pitchFamily="18" charset="0"/>
              </a:rPr>
              <a:t>profibrinolysin</a:t>
            </a:r>
            <a:r>
              <a:rPr lang="en-US" sz="3000" dirty="0">
                <a:solidFill>
                  <a:schemeClr val="bg2"/>
                </a:solidFill>
                <a:latin typeface="Centaur" pitchFamily="18" charset="0"/>
              </a:rPr>
              <a:t>. </a:t>
            </a:r>
          </a:p>
          <a:p>
            <a:pPr marL="514350" indent="-514350"/>
            <a:r>
              <a:rPr lang="en-US" sz="3000" b="1" dirty="0">
                <a:solidFill>
                  <a:srgbClr val="FFFF00"/>
                </a:solidFill>
                <a:latin typeface="Centaur" pitchFamily="18" charset="0"/>
              </a:rPr>
              <a:t>Functions of alkaline prostate fluid:</a:t>
            </a:r>
          </a:p>
          <a:p>
            <a:pPr marL="514350" indent="-514350">
              <a:buNone/>
            </a:pPr>
            <a:r>
              <a:rPr lang="en-US" sz="3000" dirty="0">
                <a:solidFill>
                  <a:schemeClr val="bg2"/>
                </a:solidFill>
                <a:latin typeface="Centaur" pitchFamily="18" charset="0"/>
              </a:rPr>
              <a:t>1. Successful fertilization of the ovum.</a:t>
            </a:r>
          </a:p>
          <a:p>
            <a:pPr marL="514350" indent="-514350">
              <a:buNone/>
            </a:pPr>
            <a:r>
              <a:rPr lang="en-US" sz="3000" dirty="0">
                <a:solidFill>
                  <a:schemeClr val="bg2"/>
                </a:solidFill>
                <a:latin typeface="Centaur" pitchFamily="18" charset="0"/>
              </a:rPr>
              <a:t>2. Help to neutralize the slightly acidic fluid of the vas deferens.</a:t>
            </a:r>
          </a:p>
          <a:p>
            <a:pPr marL="514350" indent="-514350">
              <a:buNone/>
            </a:pPr>
            <a:r>
              <a:rPr lang="en-US" sz="3000" dirty="0">
                <a:solidFill>
                  <a:schemeClr val="bg2"/>
                </a:solidFill>
                <a:latin typeface="Centaur" pitchFamily="18" charset="0"/>
              </a:rPr>
              <a:t>3. PSA  enhances motility of  sperm by hydrolysis of substance that inhibit sperm motility. </a:t>
            </a:r>
            <a:endParaRPr lang="ar-SA" sz="3000" dirty="0">
              <a:solidFill>
                <a:schemeClr val="bg2"/>
              </a:solidFill>
              <a:latin typeface="Centaur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449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-US" sz="4000" b="1" i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abic Transparent" pitchFamily="2" charset="-78"/>
              </a:rPr>
              <a:t/>
            </a:r>
            <a:br>
              <a:rPr lang="en-US" sz="4000" b="1" i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abic Transparent" pitchFamily="2" charset="-78"/>
              </a:rPr>
            </a:br>
            <a:r>
              <a:rPr lang="en-US" sz="4000" b="1" i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abic Transparent" pitchFamily="2" charset="-78"/>
              </a:rPr>
              <a:t>Semen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47800"/>
            <a:ext cx="8229600" cy="4953000"/>
          </a:xfrm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algn="l" rtl="0"/>
            <a:r>
              <a:rPr lang="en-US" sz="3500" b="1" dirty="0">
                <a:solidFill>
                  <a:srgbClr val="FFFF00"/>
                </a:solidFill>
                <a:latin typeface="Centaur" pitchFamily="18" charset="0"/>
              </a:rPr>
              <a:t>Ejaculated semen is composed of:-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the fluid &amp; sperm from the vas deferens (~10%).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fluid from the prostate gland (~30%).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fluid from the seminal vesicles (~60%).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small amounts from the mucous glands the </a:t>
            </a:r>
            <a:r>
              <a:rPr lang="en-US" dirty="0" err="1">
                <a:solidFill>
                  <a:schemeClr val="bg2"/>
                </a:solidFill>
                <a:latin typeface="Centaur" pitchFamily="18" charset="0"/>
              </a:rPr>
              <a:t>bulbourethral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glands.</a:t>
            </a:r>
          </a:p>
          <a:p>
            <a:pPr algn="l" rtl="0"/>
            <a:r>
              <a:rPr lang="en-US" sz="3500" dirty="0">
                <a:solidFill>
                  <a:schemeClr val="bg2"/>
                </a:solidFill>
                <a:latin typeface="Centaur" pitchFamily="18" charset="0"/>
              </a:rPr>
              <a:t> 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pH is about 7.5. </a:t>
            </a:r>
          </a:p>
          <a:p>
            <a:pPr algn="l" rtl="0"/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Fluid from the seminal vesicles &amp; mucous glands give the semen </a:t>
            </a:r>
            <a:r>
              <a:rPr lang="en-US" dirty="0" err="1">
                <a:solidFill>
                  <a:schemeClr val="bg2"/>
                </a:solidFill>
                <a:latin typeface="Centaur" pitchFamily="18" charset="0"/>
              </a:rPr>
              <a:t>mucoid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consistency.</a:t>
            </a:r>
          </a:p>
          <a:p>
            <a:pPr algn="l" rtl="0"/>
            <a:endParaRPr lang="ar-SA" dirty="0" smtClean="0"/>
          </a:p>
          <a:p>
            <a:pPr algn="l" rtl="0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986237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rtl="0"/>
            <a:r>
              <a:rPr lang="en-US" sz="3600" b="1" i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abic Transparent" pitchFamily="2" charset="-78"/>
              </a:rPr>
              <a:t>Hormonal factors that stimulate spermatogenesis</a:t>
            </a:r>
            <a:endParaRPr lang="ar-SA" sz="3600" b="1" i="1" u="sng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cs typeface="Arabic Transparent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00600"/>
          </a:xfrm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algn="l" rtl="0">
              <a:buNone/>
            </a:pPr>
            <a:r>
              <a:rPr lang="en-US" b="1" dirty="0">
                <a:solidFill>
                  <a:srgbClr val="FFFF00"/>
                </a:solidFill>
                <a:latin typeface="Centaur" pitchFamily="18" charset="0"/>
              </a:rPr>
              <a:t>1. Testosterone: 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secreted by the </a:t>
            </a:r>
            <a:r>
              <a:rPr lang="en-US" dirty="0" err="1">
                <a:solidFill>
                  <a:schemeClr val="bg2"/>
                </a:solidFill>
                <a:latin typeface="Centaur" pitchFamily="18" charset="0"/>
              </a:rPr>
              <a:t>leydig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cells is essential for the growth &amp; division of testicular germinal cells (</a:t>
            </a:r>
            <a:r>
              <a:rPr lang="en-US" dirty="0" err="1">
                <a:solidFill>
                  <a:schemeClr val="bg2"/>
                </a:solidFill>
                <a:latin typeface="Centaur" pitchFamily="18" charset="0"/>
              </a:rPr>
              <a:t>spermatids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</a:t>
            </a:r>
            <a:r>
              <a:rPr lang="en-US" dirty="0">
                <a:solidFill>
                  <a:schemeClr val="bg2"/>
                </a:solidFill>
                <a:cs typeface="Calibri"/>
              </a:rPr>
              <a:t>→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sperm).</a:t>
            </a:r>
          </a:p>
          <a:p>
            <a:pPr algn="l" rtl="0">
              <a:buNone/>
            </a:pPr>
            <a:r>
              <a:rPr lang="en-US" b="1" dirty="0">
                <a:solidFill>
                  <a:srgbClr val="FFFF00"/>
                </a:solidFill>
                <a:latin typeface="Centaur" pitchFamily="18" charset="0"/>
              </a:rPr>
              <a:t>2. LH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: secreted by AP. gland, stimulates the </a:t>
            </a:r>
            <a:r>
              <a:rPr lang="en-US" dirty="0" err="1">
                <a:solidFill>
                  <a:schemeClr val="bg2"/>
                </a:solidFill>
                <a:latin typeface="Centaur" pitchFamily="18" charset="0"/>
              </a:rPr>
              <a:t>leydig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cells to secrete testosterone.</a:t>
            </a:r>
          </a:p>
          <a:p>
            <a:pPr algn="l" rtl="0">
              <a:buNone/>
            </a:pPr>
            <a:r>
              <a:rPr lang="en-US" b="1" dirty="0">
                <a:solidFill>
                  <a:srgbClr val="FFFF00"/>
                </a:solidFill>
                <a:latin typeface="Centaur" pitchFamily="18" charset="0"/>
              </a:rPr>
              <a:t>3. FSH: 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secreted by AP. gland, stimulates </a:t>
            </a:r>
            <a:r>
              <a:rPr lang="en-US" dirty="0" err="1">
                <a:solidFill>
                  <a:schemeClr val="bg2"/>
                </a:solidFill>
                <a:latin typeface="Centaur" pitchFamily="18" charset="0"/>
              </a:rPr>
              <a:t>sertoli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cells to stimulate the conversion of </a:t>
            </a:r>
            <a:r>
              <a:rPr lang="en-US" dirty="0" err="1">
                <a:solidFill>
                  <a:schemeClr val="bg2"/>
                </a:solidFill>
                <a:latin typeface="Centaur" pitchFamily="18" charset="0"/>
              </a:rPr>
              <a:t>spermatids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to sperm.</a:t>
            </a:r>
          </a:p>
          <a:p>
            <a:pPr algn="l" rtl="0">
              <a:buNone/>
            </a:pPr>
            <a:r>
              <a:rPr lang="en-US" b="1" dirty="0">
                <a:solidFill>
                  <a:srgbClr val="FFFF00"/>
                </a:solidFill>
                <a:latin typeface="Centaur" pitchFamily="18" charset="0"/>
              </a:rPr>
              <a:t>4. Estrogen: 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formed from testosterone by the </a:t>
            </a:r>
            <a:r>
              <a:rPr lang="en-US" dirty="0" err="1">
                <a:solidFill>
                  <a:schemeClr val="bg2"/>
                </a:solidFill>
                <a:latin typeface="Centaur" pitchFamily="18" charset="0"/>
              </a:rPr>
              <a:t>sertoli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cell (</a:t>
            </a:r>
            <a:r>
              <a:rPr lang="en-US" dirty="0" err="1">
                <a:solidFill>
                  <a:schemeClr val="bg2"/>
                </a:solidFill>
                <a:latin typeface="Centaur" pitchFamily="18" charset="0"/>
              </a:rPr>
              <a:t>aromatase</a:t>
            </a:r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enzyme) under FSH stimulation.</a:t>
            </a:r>
          </a:p>
          <a:p>
            <a:pPr algn="l" rtl="0"/>
            <a:r>
              <a:rPr lang="en-US" dirty="0">
                <a:solidFill>
                  <a:schemeClr val="bg2"/>
                </a:solidFill>
                <a:latin typeface="Centaur" pitchFamily="18" charset="0"/>
              </a:rPr>
              <a:t>  Essential for spermatogenesis.</a:t>
            </a:r>
          </a:p>
        </p:txBody>
      </p:sp>
    </p:spTree>
    <p:extLst>
      <p:ext uri="{BB962C8B-B14F-4D97-AF65-F5344CB8AC3E}">
        <p14:creationId xmlns:p14="http://schemas.microsoft.com/office/powerpoint/2010/main" val="272823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8473" y="357764"/>
            <a:ext cx="9490363" cy="58213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2848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algn="l" rtl="0"/>
            <a:r>
              <a:rPr lang="en-US" b="1" dirty="0" smtClean="0">
                <a:solidFill>
                  <a:srgbClr val="FFFF00"/>
                </a:solidFill>
                <a:latin typeface="Centaur" pitchFamily="18" charset="0"/>
              </a:rPr>
              <a:t>Regulation Testosterone  production by LH: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Testosterone is secreted by </a:t>
            </a:r>
            <a:r>
              <a:rPr lang="en-US" dirty="0" err="1" smtClean="0">
                <a:solidFill>
                  <a:schemeClr val="bg2"/>
                </a:solidFill>
                <a:latin typeface="Centaur" pitchFamily="18" charset="0"/>
              </a:rPr>
              <a:t>leydig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cells, Under LH stimulation . 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when Testosterone </a:t>
            </a:r>
            <a:r>
              <a:rPr lang="en-US" dirty="0" smtClean="0">
                <a:solidFill>
                  <a:schemeClr val="bg2"/>
                </a:solidFill>
                <a:latin typeface="Calibri"/>
                <a:cs typeface="Calibri"/>
              </a:rPr>
              <a:t>↑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inhibit LH secretion.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Mature </a:t>
            </a:r>
            <a:r>
              <a:rPr lang="en-US" dirty="0" err="1" smtClean="0">
                <a:solidFill>
                  <a:schemeClr val="bg2"/>
                </a:solidFill>
                <a:latin typeface="Centaur" pitchFamily="18" charset="0"/>
              </a:rPr>
              <a:t>leydig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cells are found in a child’s testis few weeks after birth &amp; then disappear until puberty when it appear again.</a:t>
            </a:r>
          </a:p>
          <a:p>
            <a:pPr algn="l" rtl="0"/>
            <a:endParaRPr lang="ar-SA" dirty="0" smtClean="0">
              <a:solidFill>
                <a:schemeClr val="bg2"/>
              </a:solidFill>
              <a:latin typeface="Centaur" pitchFamily="18" charset="0"/>
            </a:endParaRPr>
          </a:p>
          <a:p>
            <a:pPr algn="l" rtl="0"/>
            <a:endParaRPr lang="ar-SA" sz="2400" dirty="0"/>
          </a:p>
        </p:txBody>
      </p:sp>
    </p:spTree>
    <p:extLst>
      <p:ext uri="{BB962C8B-B14F-4D97-AF65-F5344CB8AC3E}">
        <p14:creationId xmlns:p14="http://schemas.microsoft.com/office/powerpoint/2010/main" val="3234492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rmAutofit fontScale="70000" lnSpcReduction="20000"/>
          </a:bodyPr>
          <a:lstStyle/>
          <a:p>
            <a:pPr algn="l" rtl="0"/>
            <a:r>
              <a:rPr lang="en-US" sz="5100" b="1" dirty="0">
                <a:solidFill>
                  <a:srgbClr val="FFFF00"/>
                </a:solidFill>
                <a:latin typeface="Centaur" pitchFamily="18" charset="0"/>
              </a:rPr>
              <a:t>Regulation of spermatogenesis by FSH &amp; testosterone:</a:t>
            </a:r>
          </a:p>
          <a:p>
            <a:pPr algn="l" rtl="0"/>
            <a:r>
              <a:rPr lang="en-US" sz="5100" dirty="0">
                <a:solidFill>
                  <a:schemeClr val="bg2"/>
                </a:solidFill>
                <a:latin typeface="Centaur" pitchFamily="18" charset="0"/>
              </a:rPr>
              <a:t>FSH binds its receptors on the </a:t>
            </a:r>
            <a:r>
              <a:rPr lang="en-US" sz="5100" dirty="0" err="1">
                <a:solidFill>
                  <a:schemeClr val="bg2"/>
                </a:solidFill>
                <a:latin typeface="Centaur" pitchFamily="18" charset="0"/>
              </a:rPr>
              <a:t>sertoli</a:t>
            </a:r>
            <a:r>
              <a:rPr lang="en-US" sz="5100" dirty="0">
                <a:solidFill>
                  <a:schemeClr val="bg2"/>
                </a:solidFill>
                <a:latin typeface="Centaur" pitchFamily="18" charset="0"/>
              </a:rPr>
              <a:t> cell in the </a:t>
            </a:r>
            <a:r>
              <a:rPr lang="en-US" sz="5100" dirty="0" err="1">
                <a:solidFill>
                  <a:schemeClr val="bg2"/>
                </a:solidFill>
                <a:latin typeface="Centaur" pitchFamily="18" charset="0"/>
              </a:rPr>
              <a:t>seminiferoustubules</a:t>
            </a:r>
            <a:r>
              <a:rPr lang="en-US" sz="5100" dirty="0">
                <a:solidFill>
                  <a:schemeClr val="bg2"/>
                </a:solidFill>
                <a:latin typeface="Centaur" pitchFamily="18" charset="0"/>
              </a:rPr>
              <a:t>, which causes these cells to grow &amp; secrete </a:t>
            </a:r>
            <a:r>
              <a:rPr lang="en-US" sz="5100" dirty="0" err="1">
                <a:solidFill>
                  <a:schemeClr val="bg2"/>
                </a:solidFill>
                <a:latin typeface="Centaur" pitchFamily="18" charset="0"/>
              </a:rPr>
              <a:t>spermatogenic</a:t>
            </a:r>
            <a:r>
              <a:rPr lang="en-US" sz="5100" dirty="0">
                <a:solidFill>
                  <a:schemeClr val="bg2"/>
                </a:solidFill>
                <a:latin typeface="Centaur" pitchFamily="18" charset="0"/>
              </a:rPr>
              <a:t> substances. </a:t>
            </a:r>
          </a:p>
          <a:p>
            <a:pPr algn="l" rtl="0"/>
            <a:r>
              <a:rPr lang="en-US" sz="5100" dirty="0">
                <a:solidFill>
                  <a:schemeClr val="bg2"/>
                </a:solidFill>
                <a:latin typeface="Centaur" pitchFamily="18" charset="0"/>
              </a:rPr>
              <a:t> testosterone &amp; dihydrotestosterone diffuses into the </a:t>
            </a:r>
            <a:r>
              <a:rPr lang="en-US" sz="5100" dirty="0" err="1">
                <a:solidFill>
                  <a:schemeClr val="bg2"/>
                </a:solidFill>
                <a:latin typeface="Centaur" pitchFamily="18" charset="0"/>
              </a:rPr>
              <a:t>seminiferous</a:t>
            </a:r>
            <a:r>
              <a:rPr lang="en-US" sz="5100" dirty="0">
                <a:solidFill>
                  <a:schemeClr val="bg2"/>
                </a:solidFill>
                <a:latin typeface="Centaur" pitchFamily="18" charset="0"/>
              </a:rPr>
              <a:t> tubules from the </a:t>
            </a:r>
            <a:r>
              <a:rPr lang="en-US" sz="5100" dirty="0" err="1">
                <a:solidFill>
                  <a:schemeClr val="bg2"/>
                </a:solidFill>
                <a:latin typeface="Centaur" pitchFamily="18" charset="0"/>
              </a:rPr>
              <a:t>leydig</a:t>
            </a:r>
            <a:r>
              <a:rPr lang="en-US" sz="5100" dirty="0">
                <a:solidFill>
                  <a:schemeClr val="bg2"/>
                </a:solidFill>
                <a:latin typeface="Centaur" pitchFamily="18" charset="0"/>
              </a:rPr>
              <a:t> cells affect the spermatogenesis.</a:t>
            </a:r>
          </a:p>
          <a:p>
            <a:pPr algn="l" rtl="0"/>
            <a:r>
              <a:rPr lang="en-US" sz="5100" dirty="0">
                <a:solidFill>
                  <a:schemeClr val="bg2"/>
                </a:solidFill>
                <a:latin typeface="Centaur" pitchFamily="18" charset="0"/>
              </a:rPr>
              <a:t> Both FSH &amp; testosterone are necessary to initiate spermatogenesis.</a:t>
            </a:r>
          </a:p>
          <a:p>
            <a:pPr algn="l" rtl="0"/>
            <a:endParaRPr lang="ar-SA" sz="5100" dirty="0">
              <a:solidFill>
                <a:schemeClr val="bg2"/>
              </a:solidFill>
              <a:latin typeface="Centaur" pitchFamily="18" charset="0"/>
            </a:endParaRPr>
          </a:p>
          <a:p>
            <a:pPr algn="l" rtl="0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63053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Autofit/>
          </a:bodyPr>
          <a:lstStyle/>
          <a:p>
            <a:pPr rtl="0"/>
            <a:r>
              <a:rPr lang="en-US" sz="3600" b="1" i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abic Transparent" pitchFamily="2" charset="-78"/>
              </a:rPr>
              <a:t>Testosterone</a:t>
            </a:r>
            <a:r>
              <a:rPr lang="en-US" sz="3600" b="1" dirty="0">
                <a:solidFill>
                  <a:srgbClr val="C00000"/>
                </a:solidFill>
                <a:latin typeface="Centaur" pitchFamily="18" charset="0"/>
                <a:ea typeface="+mn-ea"/>
                <a:cs typeface="+mn-cs"/>
              </a:rPr>
              <a:t> </a:t>
            </a:r>
            <a:endParaRPr lang="ar-SA" sz="3600" b="1" dirty="0">
              <a:solidFill>
                <a:srgbClr val="C00000"/>
              </a:solidFill>
              <a:latin typeface="Centaur" pitchFamily="18" charset="0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143000"/>
            <a:ext cx="8458200" cy="4724400"/>
          </a:xfrm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Autofit/>
          </a:bodyPr>
          <a:lstStyle/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Secreted by </a:t>
            </a:r>
            <a:r>
              <a:rPr lang="en-US" dirty="0" err="1">
                <a:solidFill>
                  <a:schemeClr val="bg2"/>
                </a:solidFill>
                <a:latin typeface="Centaur" pitchFamily="18" charset="0"/>
              </a:rPr>
              <a:t>L</a:t>
            </a:r>
            <a:r>
              <a:rPr lang="en-US" dirty="0" err="1" smtClean="0">
                <a:solidFill>
                  <a:schemeClr val="bg2"/>
                </a:solidFill>
                <a:latin typeface="Centaur" pitchFamily="18" charset="0"/>
              </a:rPr>
              <a:t>eydig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cells in the testis. 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dihydrotestosterone is the active form.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Testosterone converted into dihydrotestosterone in the target cells.</a:t>
            </a:r>
            <a:endParaRPr lang="ar-SA" dirty="0" smtClean="0">
              <a:solidFill>
                <a:schemeClr val="bg2"/>
              </a:solidFill>
              <a:latin typeface="Centaur" pitchFamily="18" charset="0"/>
            </a:endParaRPr>
          </a:p>
          <a:p>
            <a:pPr algn="l" rtl="0"/>
            <a:r>
              <a:rPr lang="en-US" b="1" dirty="0" smtClean="0">
                <a:solidFill>
                  <a:srgbClr val="FFFF00"/>
                </a:solidFill>
                <a:latin typeface="Centaur" pitchFamily="18" charset="0"/>
              </a:rPr>
              <a:t>Metabolism of testosterone: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Testosterone bound with beta globulin &amp; circulate in the blood for 30 minutes to several hours. converted to estrogen in the liver &amp; excreted.</a:t>
            </a:r>
          </a:p>
          <a:p>
            <a:pPr algn="l" rtl="0"/>
            <a:endParaRPr lang="ar-SA" sz="1800" dirty="0"/>
          </a:p>
        </p:txBody>
      </p:sp>
    </p:spTree>
    <p:extLst>
      <p:ext uri="{BB962C8B-B14F-4D97-AF65-F5344CB8AC3E}">
        <p14:creationId xmlns:p14="http://schemas.microsoft.com/office/powerpoint/2010/main" val="2585784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pf28_08"/>
          <p:cNvPicPr>
            <a:picLocks noChangeAspect="1" noChangeArrowheads="1"/>
          </p:cNvPicPr>
          <p:nvPr/>
        </p:nvPicPr>
        <p:blipFill>
          <a:blip r:embed="rId2">
            <a:lum contrast="6000"/>
          </a:blip>
          <a:srcRect t="2817"/>
          <a:stretch>
            <a:fillRect/>
          </a:stretch>
        </p:blipFill>
        <p:spPr bwMode="auto">
          <a:xfrm>
            <a:off x="3048000" y="457201"/>
            <a:ext cx="6477000" cy="58673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9790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u="sng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abic Transparent" pitchFamily="2" charset="-78"/>
              </a:rPr>
              <a:t>Mechanism </a:t>
            </a:r>
            <a:r>
              <a:rPr lang="en-US" sz="3600" b="1" i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abic Transparent" pitchFamily="2" charset="-78"/>
              </a:rPr>
              <a:t>of action</a:t>
            </a:r>
            <a:endParaRPr lang="ar-SA" sz="3600" b="1" i="1" u="sng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cs typeface="Arabic Transparent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Testosterone is converted by intracellular enzyme  5</a:t>
            </a:r>
            <a:r>
              <a:rPr lang="en-US" dirty="0" smtClean="0">
                <a:solidFill>
                  <a:schemeClr val="bg2"/>
                </a:solidFill>
                <a:latin typeface="Calibri"/>
                <a:cs typeface="Calibri"/>
              </a:rPr>
              <a:t>ᵅ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</a:t>
            </a:r>
            <a:r>
              <a:rPr lang="en-US" dirty="0" err="1" smtClean="0">
                <a:solidFill>
                  <a:schemeClr val="bg2"/>
                </a:solidFill>
                <a:latin typeface="Centaur" pitchFamily="18" charset="0"/>
              </a:rPr>
              <a:t>reductase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to  dihydrotestosterone , then it binds with </a:t>
            </a:r>
            <a:r>
              <a:rPr lang="en-US" dirty="0" err="1" smtClean="0">
                <a:solidFill>
                  <a:schemeClr val="bg2"/>
                </a:solidFill>
                <a:latin typeface="Centaur" pitchFamily="18" charset="0"/>
              </a:rPr>
              <a:t>cytoplasmic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receptor . 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This combination moves to nucleus where it binds a nuclear protein &amp; induces protein formation.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It increases the rate of protein synthesis in target cells. </a:t>
            </a:r>
          </a:p>
          <a:p>
            <a:pPr algn="l" rtl="0">
              <a:buNone/>
            </a:pPr>
            <a:endParaRPr lang="en-US" dirty="0" smtClean="0">
              <a:solidFill>
                <a:schemeClr val="bg2"/>
              </a:solidFill>
              <a:latin typeface="Centaur" pitchFamily="18" charset="0"/>
            </a:endParaRPr>
          </a:p>
          <a:p>
            <a:pPr algn="l" rtl="0"/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1836380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i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abic Transparent" pitchFamily="2" charset="-78"/>
              </a:rPr>
              <a:t>Functions of testosterone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It is responsible for the characteristic masculine body.</a:t>
            </a:r>
          </a:p>
          <a:p>
            <a:pPr algn="l" rtl="0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aur" pitchFamily="18" charset="0"/>
              </a:rPr>
              <a:t>During fetal life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: the testis are stimulated by placenta chorionic </a:t>
            </a:r>
            <a:r>
              <a:rPr lang="en-US" dirty="0" err="1" smtClean="0">
                <a:solidFill>
                  <a:schemeClr val="bg2"/>
                </a:solidFill>
                <a:latin typeface="Centaur" pitchFamily="18" charset="0"/>
              </a:rPr>
              <a:t>gonodotropin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to produce testosterone.</a:t>
            </a:r>
          </a:p>
          <a:p>
            <a:pPr algn="l" rtl="0"/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throughout fetal life &amp; the 10 weeks after birth then no more testosterone production during childhood.</a:t>
            </a:r>
          </a:p>
          <a:p>
            <a:pPr algn="l" rtl="0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aur" pitchFamily="18" charset="0"/>
              </a:rPr>
              <a:t>at puberty 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under the anterior pituitary </a:t>
            </a:r>
            <a:r>
              <a:rPr lang="en-US" dirty="0" err="1" smtClean="0">
                <a:solidFill>
                  <a:schemeClr val="bg2"/>
                </a:solidFill>
                <a:latin typeface="Centaur" pitchFamily="18" charset="0"/>
              </a:rPr>
              <a:t>gonadotropic</a:t>
            </a:r>
            <a:r>
              <a:rPr lang="en-US" dirty="0" smtClean="0">
                <a:solidFill>
                  <a:schemeClr val="bg2"/>
                </a:solidFill>
                <a:latin typeface="Centaur" pitchFamily="18" charset="0"/>
              </a:rPr>
              <a:t> hormones stimulation throughout life &amp; then decline beyond 80 years to 50%.</a:t>
            </a:r>
          </a:p>
          <a:p>
            <a:pPr algn="l" rtl="0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72576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 descr="C:\WINDOWS\TEMP\~AUT0016.bmp"/>
          <p:cNvPicPr>
            <a:picLocks noChangeAspect="1" noChangeArrowheads="1"/>
          </p:cNvPicPr>
          <p:nvPr/>
        </p:nvPicPr>
        <p:blipFill>
          <a:blip r:embed="rId2">
            <a:lum bright="12000" contrast="18000"/>
          </a:blip>
          <a:srcRect/>
          <a:stretch>
            <a:fillRect/>
          </a:stretch>
        </p:blipFill>
        <p:spPr bwMode="auto">
          <a:xfrm>
            <a:off x="2660073" y="415636"/>
            <a:ext cx="7391400" cy="5715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4906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1981200" y="1600200"/>
            <a:ext cx="8229600" cy="48006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rgbClr val="FF0000"/>
            </a:solidFill>
          </a:ln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 b="1" smtClean="0">
                <a:solidFill>
                  <a:srgbClr val="FFFF00"/>
                </a:solidFill>
                <a:latin typeface="Centaur" pitchFamily="18" charset="0"/>
              </a:rPr>
              <a:t>Function of testosterone during fetal development:</a:t>
            </a:r>
          </a:p>
          <a:p>
            <a:r>
              <a:rPr lang="en-US" sz="3500" smtClean="0">
                <a:solidFill>
                  <a:schemeClr val="bg2"/>
                </a:solidFill>
                <a:latin typeface="Centaur" pitchFamily="18" charset="0"/>
              </a:rPr>
              <a:t>Testosterone secreted by the fetal testis is responsible for development of the male body characteristics (formation of male genitalia)</a:t>
            </a:r>
          </a:p>
          <a:p>
            <a:r>
              <a:rPr lang="en-US" sz="3500" smtClean="0">
                <a:solidFill>
                  <a:schemeClr val="bg2"/>
                </a:solidFill>
                <a:latin typeface="Centaur" pitchFamily="18" charset="0"/>
              </a:rPr>
              <a:t> suppressing the formation of female genital organs.</a:t>
            </a:r>
          </a:p>
          <a:p>
            <a:pPr>
              <a:buFont typeface="Wingdings" pitchFamily="2" charset="2"/>
              <a:buChar char="Ø"/>
            </a:pPr>
            <a:r>
              <a:rPr lang="en-US" sz="3500" b="1" smtClean="0">
                <a:solidFill>
                  <a:srgbClr val="FFFF00"/>
                </a:solidFill>
                <a:latin typeface="Centaur" pitchFamily="18" charset="0"/>
              </a:rPr>
              <a:t>Effect of testosterone to cause descent of the testis:</a:t>
            </a:r>
          </a:p>
          <a:p>
            <a:r>
              <a:rPr lang="en-US" sz="3500" smtClean="0">
                <a:solidFill>
                  <a:schemeClr val="bg2"/>
                </a:solidFill>
                <a:latin typeface="Centaur" pitchFamily="18" charset="0"/>
              </a:rPr>
              <a:t>The testis descend into the scrotum during the last 2 to 3 months of gestation when the testis begin secreting testosterone.</a:t>
            </a:r>
          </a:p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365439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PH" sz="3600" b="1" i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abic Transparent" pitchFamily="2" charset="-78"/>
              </a:rPr>
              <a:t>Actions of testosterone</a:t>
            </a:r>
          </a:p>
        </p:txBody>
      </p:sp>
      <p:pic>
        <p:nvPicPr>
          <p:cNvPr id="1026" name="Picture 2" descr="C:\Users\marwa\Desktop\Picture1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81200" y="1371600"/>
            <a:ext cx="8153400" cy="5029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759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1134</Words>
  <Application>Microsoft Office PowerPoint</Application>
  <PresentationFormat>Widescreen</PresentationFormat>
  <Paragraphs>109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Arabic Transparent</vt:lpstr>
      <vt:lpstr>Arial</vt:lpstr>
      <vt:lpstr>Calibri</vt:lpstr>
      <vt:lpstr>Calibri Light</vt:lpstr>
      <vt:lpstr>Centaur</vt:lpstr>
      <vt:lpstr>Times New Roman</vt:lpstr>
      <vt:lpstr>Wingdings</vt:lpstr>
      <vt:lpstr>Office Theme</vt:lpstr>
      <vt:lpstr>Male reproductive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Spermatogenesis </vt:lpstr>
      <vt:lpstr> Formation of sperms </vt:lpstr>
      <vt:lpstr> Maturation of sperm in the epididymis </vt:lpstr>
      <vt:lpstr> Storage of sperm </vt:lpstr>
      <vt:lpstr>PowerPoint Presentation</vt:lpstr>
      <vt:lpstr> Physiology of mature sperm </vt:lpstr>
      <vt:lpstr>PowerPoint Presentation</vt:lpstr>
      <vt:lpstr> Function of the prostate gland </vt:lpstr>
      <vt:lpstr> Semen </vt:lpstr>
      <vt:lpstr>Hormonal factors that stimulate spermatogenesis</vt:lpstr>
      <vt:lpstr>PowerPoint Presentation</vt:lpstr>
      <vt:lpstr>PowerPoint Presentation</vt:lpstr>
      <vt:lpstr>PowerPoint Presentation</vt:lpstr>
      <vt:lpstr>Testosterone </vt:lpstr>
      <vt:lpstr>PowerPoint Presentation</vt:lpstr>
      <vt:lpstr>Mechanism of action</vt:lpstr>
      <vt:lpstr> Functions of testosterone </vt:lpstr>
      <vt:lpstr>PowerPoint Presentation</vt:lpstr>
      <vt:lpstr>PowerPoint Presentation</vt:lpstr>
      <vt:lpstr>Actions of testosterone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Mazin</dc:creator>
  <cp:lastModifiedBy>Mazin</cp:lastModifiedBy>
  <cp:revision>3</cp:revision>
  <dcterms:created xsi:type="dcterms:W3CDTF">2022-03-03T02:47:04Z</dcterms:created>
  <dcterms:modified xsi:type="dcterms:W3CDTF">2022-03-03T02:49:36Z</dcterms:modified>
</cp:coreProperties>
</file>