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9" r:id="rId3"/>
    <p:sldId id="290" r:id="rId4"/>
    <p:sldId id="291" r:id="rId5"/>
    <p:sldId id="292" r:id="rId6"/>
    <p:sldId id="258" r:id="rId7"/>
    <p:sldId id="259" r:id="rId8"/>
    <p:sldId id="264" r:id="rId9"/>
    <p:sldId id="265" r:id="rId10"/>
    <p:sldId id="294" r:id="rId11"/>
    <p:sldId id="284" r:id="rId12"/>
    <p:sldId id="267" r:id="rId13"/>
    <p:sldId id="295" r:id="rId14"/>
    <p:sldId id="285" r:id="rId15"/>
    <p:sldId id="261" r:id="rId16"/>
    <p:sldId id="296" r:id="rId17"/>
    <p:sldId id="269" r:id="rId18"/>
    <p:sldId id="262" r:id="rId19"/>
    <p:sldId id="297" r:id="rId20"/>
    <p:sldId id="271" r:id="rId21"/>
    <p:sldId id="298" r:id="rId22"/>
    <p:sldId id="272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19" r:id="rId39"/>
    <p:sldId id="320" r:id="rId40"/>
    <p:sldId id="321" r:id="rId41"/>
    <p:sldId id="322" r:id="rId42"/>
    <p:sldId id="323" r:id="rId43"/>
    <p:sldId id="324" r:id="rId44"/>
    <p:sldId id="325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11/24/2024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600200"/>
            <a:ext cx="7940040" cy="1472184"/>
          </a:xfrm>
        </p:spPr>
        <p:txBody>
          <a:bodyPr>
            <a:noAutofit/>
          </a:bodyPr>
          <a:lstStyle/>
          <a:p>
            <a:r>
              <a:rPr lang="en-US" sz="5400" dirty="0" smtClean="0"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Autonomic nervous system</a:t>
            </a:r>
            <a:endParaRPr lang="en-US" sz="5400" dirty="0"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4648200"/>
            <a:ext cx="7406640" cy="1752600"/>
          </a:xfrm>
        </p:spPr>
        <p:txBody>
          <a:bodyPr/>
          <a:lstStyle/>
          <a:p>
            <a:r>
              <a:rPr lang="en-US" dirty="0" smtClean="0"/>
              <a:t>Dr. Wafa Mubarak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53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-152400"/>
            <a:ext cx="7498080" cy="1143000"/>
          </a:xfrm>
        </p:spPr>
        <p:txBody>
          <a:bodyPr/>
          <a:lstStyle/>
          <a:p>
            <a:r>
              <a:rPr lang="en-US" dirty="0"/>
              <a:t>synapse: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685800"/>
            <a:ext cx="7498080" cy="4800600"/>
          </a:xfrm>
        </p:spPr>
        <p:txBody>
          <a:bodyPr/>
          <a:lstStyle/>
          <a:p>
            <a:r>
              <a:rPr lang="en-US" dirty="0"/>
              <a:t>Junction between two neuron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Nerve impulse is an action potential propagated along the nerve of the neuron.</a:t>
            </a:r>
          </a:p>
          <a:p>
            <a:r>
              <a:rPr lang="en-US" dirty="0"/>
              <a:t>Nerve impulse is transmit to other cell at the synapse 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209675"/>
            <a:ext cx="6858000" cy="264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538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640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176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498080" cy="1143000"/>
          </a:xfrm>
        </p:spPr>
        <p:txBody>
          <a:bodyPr/>
          <a:lstStyle/>
          <a:p>
            <a:r>
              <a:rPr lang="en-US" dirty="0"/>
              <a:t>FUNCTIONS OF SYNAPSE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38200"/>
            <a:ext cx="8153400" cy="5410200"/>
          </a:xfrm>
        </p:spPr>
        <p:txBody>
          <a:bodyPr>
            <a:normAutofit/>
          </a:bodyPr>
          <a:lstStyle/>
          <a:p>
            <a:r>
              <a:rPr lang="en-US" dirty="0"/>
              <a:t>Main function of the synapse is to transmit the impulses, i.e. action potential from one neuron to another.</a:t>
            </a:r>
          </a:p>
          <a:p>
            <a:r>
              <a:rPr lang="en-US" dirty="0"/>
              <a:t>In a chemical synapse, electrical activity in the presynaptic neuron is converted into the release of a chemical called a </a:t>
            </a:r>
            <a:r>
              <a:rPr lang="en-US" dirty="0" smtClean="0"/>
              <a:t>neurotransmitters.</a:t>
            </a:r>
          </a:p>
          <a:p>
            <a:r>
              <a:rPr lang="en-US" dirty="0" smtClean="0"/>
              <a:t> Neurotransmitters </a:t>
            </a:r>
            <a:r>
              <a:rPr lang="en-US" dirty="0"/>
              <a:t>binds to receptors located in the plasma membrane of the postsynaptic cell.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27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685800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2209800"/>
            <a:ext cx="8153400" cy="4800600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the system for involuntary subconscious functions , it controls the internal environment to maintain homeostasis .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00200" y="152400"/>
            <a:ext cx="6962162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Autonomic nervous </a:t>
            </a: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system</a:t>
            </a:r>
          </a:p>
          <a:p>
            <a:endParaRPr lang="en-US" sz="4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617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9144000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259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381000"/>
            <a:ext cx="8077200" cy="4800600"/>
          </a:xfrm>
        </p:spPr>
        <p:txBody>
          <a:bodyPr>
            <a:noAutofit/>
          </a:bodyPr>
          <a:lstStyle/>
          <a:p>
            <a:r>
              <a:rPr lang="en-US" sz="2800" dirty="0" smtClean="0"/>
              <a:t>ANS -  </a:t>
            </a:r>
            <a:r>
              <a:rPr lang="en-US" sz="2800" dirty="0"/>
              <a:t>is the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efferent</a:t>
            </a:r>
            <a:r>
              <a:rPr lang="en-US" sz="2800" dirty="0"/>
              <a:t> pathway to involuntary visceral activities</a:t>
            </a:r>
          </a:p>
          <a:p>
            <a:r>
              <a:rPr lang="en-US" sz="2800" dirty="0"/>
              <a:t>It has two subdivisions:</a:t>
            </a:r>
          </a:p>
          <a:p>
            <a:pPr marL="82296" indent="0">
              <a:buNone/>
            </a:pP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1-The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sympathetic nervous system</a:t>
            </a:r>
          </a:p>
          <a:p>
            <a:pPr marL="82296" indent="0">
              <a:buNone/>
            </a:pP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2-Parasympathetic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nervous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system</a:t>
            </a:r>
          </a:p>
          <a:p>
            <a:pPr marL="82296" indent="0">
              <a:buNone/>
            </a:pP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800" dirty="0"/>
              <a:t>In both system the efferent pathway is composed of two </a:t>
            </a:r>
            <a:r>
              <a:rPr lang="en-US" sz="2800" dirty="0" smtClean="0"/>
              <a:t>neurons:</a:t>
            </a:r>
            <a:endParaRPr lang="en-US" sz="2800" dirty="0"/>
          </a:p>
          <a:p>
            <a:pPr marL="82296" indent="0">
              <a:buNone/>
            </a:pPr>
            <a:r>
              <a:rPr lang="en-US" sz="2800" dirty="0" smtClean="0"/>
              <a:t>1- Preganglionic neuron            located </a:t>
            </a:r>
            <a:r>
              <a:rPr lang="en-US" sz="2800" dirty="0"/>
              <a:t>inside the central nervous system (CNS</a:t>
            </a:r>
            <a:r>
              <a:rPr lang="en-US" sz="2800" dirty="0" smtClean="0"/>
              <a:t>).</a:t>
            </a:r>
            <a:endParaRPr lang="en-US" sz="2800" dirty="0"/>
          </a:p>
          <a:p>
            <a:pPr marL="82296" indent="0">
              <a:buNone/>
            </a:pPr>
            <a:r>
              <a:rPr lang="en-US" sz="2800" dirty="0"/>
              <a:t>2- postganglionic </a:t>
            </a:r>
            <a:r>
              <a:rPr lang="en-US" sz="2800" dirty="0" smtClean="0"/>
              <a:t>neurons          located </a:t>
            </a:r>
            <a:r>
              <a:rPr lang="en-US" sz="2800" dirty="0"/>
              <a:t>outside the CNS in </a:t>
            </a:r>
            <a:r>
              <a:rPr lang="en-US" sz="2800" dirty="0" smtClean="0"/>
              <a:t>ganglia. </a:t>
            </a:r>
            <a:endParaRPr lang="en-US" sz="2800" dirty="0"/>
          </a:p>
        </p:txBody>
      </p:sp>
      <p:sp>
        <p:nvSpPr>
          <p:cNvPr id="6" name="Right Arrow 5"/>
          <p:cNvSpPr/>
          <p:nvPr/>
        </p:nvSpPr>
        <p:spPr>
          <a:xfrm>
            <a:off x="5181600" y="4495800"/>
            <a:ext cx="7620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5410200"/>
            <a:ext cx="7921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392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0"/>
            <a:ext cx="4267199" cy="7467600"/>
          </a:xfrm>
        </p:spPr>
        <p:txBody>
          <a:bodyPr>
            <a:normAutofit/>
          </a:bodyPr>
          <a:lstStyle/>
          <a:p>
            <a:pPr marL="82296" indent="0" algn="ctr">
              <a:buNone/>
            </a:pPr>
            <a:r>
              <a:rPr lang="en-US" sz="4000" u="sng" dirty="0" smtClean="0"/>
              <a:t>Sympathetic division of ANS:</a:t>
            </a:r>
            <a:endParaRPr lang="en-US" dirty="0"/>
          </a:p>
          <a:p>
            <a:pPr algn="ctr"/>
            <a:r>
              <a:rPr lang="en-US" sz="2800" dirty="0"/>
              <a:t>Sympathetic division is otherwise called </a:t>
            </a:r>
            <a:r>
              <a:rPr lang="en-US" sz="2800" dirty="0" smtClean="0"/>
              <a:t>         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thoracolumbar</a:t>
            </a:r>
          </a:p>
          <a:p>
            <a:pPr marL="82296" indent="0">
              <a:buNone/>
            </a:pP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800" dirty="0" smtClean="0"/>
              <a:t>The fibers </a:t>
            </a:r>
            <a:r>
              <a:rPr lang="en-US" sz="2800" dirty="0"/>
              <a:t>arising from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12 thoracic </a:t>
            </a:r>
            <a:r>
              <a:rPr lang="en-US" sz="2800" dirty="0"/>
              <a:t>and first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two lumbar</a:t>
            </a:r>
            <a:r>
              <a:rPr lang="en-US" sz="2800" dirty="0" smtClean="0"/>
              <a:t> </a:t>
            </a:r>
            <a:r>
              <a:rPr lang="en-US" sz="2800" dirty="0"/>
              <a:t>segments of </a:t>
            </a:r>
            <a:r>
              <a:rPr lang="en-US" sz="2800" dirty="0" smtClean="0"/>
              <a:t> spinal cord</a:t>
            </a:r>
            <a:r>
              <a:rPr lang="en-US" sz="2800" dirty="0"/>
              <a:t> </a:t>
            </a:r>
            <a:r>
              <a:rPr lang="en-US" sz="2800" dirty="0" smtClean="0"/>
              <a:t> </a:t>
            </a:r>
            <a:r>
              <a:rPr lang="en-US" sz="2800" dirty="0"/>
              <a:t>are known as preganglionic </a:t>
            </a:r>
            <a:r>
              <a:rPr lang="en-US" sz="2800" dirty="0" smtClean="0"/>
              <a:t>fibers,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46482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4597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533400"/>
            <a:ext cx="8019288" cy="5867400"/>
          </a:xfrm>
        </p:spPr>
        <p:txBody>
          <a:bodyPr/>
          <a:lstStyle/>
          <a:p>
            <a:r>
              <a:rPr lang="en-US" dirty="0"/>
              <a:t>Pre ganglionic fibers leave the spinal cord and terminate in the postganglionic neurons, which are situated in the sympathetic ganglia</a:t>
            </a:r>
            <a:r>
              <a:rPr lang="en-US" dirty="0" smtClean="0"/>
              <a:t>.</a:t>
            </a:r>
          </a:p>
          <a:p>
            <a:pPr marL="82296" indent="0">
              <a:buNone/>
            </a:pPr>
            <a:endParaRPr lang="en-US" dirty="0"/>
          </a:p>
          <a:p>
            <a:r>
              <a:rPr lang="en-US" dirty="0" smtClean="0"/>
              <a:t>Sympathetic </a:t>
            </a:r>
            <a:r>
              <a:rPr lang="en-US" dirty="0"/>
              <a:t>division : In emergencies that cause stress and require us to “fight” or “flight.” leads to  mobilization &amp; increased metabolism.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03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-152400"/>
            <a:ext cx="7498080" cy="1143000"/>
          </a:xfrm>
        </p:spPr>
        <p:txBody>
          <a:bodyPr/>
          <a:lstStyle/>
          <a:p>
            <a:pPr algn="ctr"/>
            <a:r>
              <a:rPr lang="en-US" dirty="0" smtClean="0"/>
              <a:t>Sympathetic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" y="781050"/>
            <a:ext cx="8915400" cy="607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470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943088" cy="1143000"/>
          </a:xfrm>
        </p:spPr>
        <p:txBody>
          <a:bodyPr>
            <a:normAutofit fontScale="90000"/>
          </a:bodyPr>
          <a:lstStyle/>
          <a:p>
            <a:r>
              <a:rPr lang="en-US" u="sng" dirty="0" smtClean="0">
                <a:effectLst/>
              </a:rPr>
              <a:t>Parasympathetic </a:t>
            </a:r>
            <a:r>
              <a:rPr lang="en-US" u="sng" dirty="0">
                <a:effectLst/>
              </a:rPr>
              <a:t>division of ANS: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0" y="838200"/>
            <a:ext cx="4724400" cy="6019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Parasympathetic division </a:t>
            </a:r>
            <a:r>
              <a:rPr lang="en-US" dirty="0" smtClean="0"/>
              <a:t>is </a:t>
            </a:r>
            <a:r>
              <a:rPr lang="en-US" dirty="0"/>
              <a:t>otherwise called </a:t>
            </a:r>
            <a:r>
              <a:rPr lang="en-US" dirty="0" smtClean="0"/>
              <a:t>    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craniosacral </a:t>
            </a:r>
          </a:p>
          <a:p>
            <a:pPr marL="82296" indent="0">
              <a:buNone/>
            </a:pPr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 smtClean="0"/>
              <a:t> </a:t>
            </a:r>
            <a:r>
              <a:rPr lang="en-US" dirty="0"/>
              <a:t>the fibers of this </a:t>
            </a:r>
            <a:r>
              <a:rPr lang="en-US" dirty="0" smtClean="0"/>
              <a:t>division arise </a:t>
            </a:r>
            <a:r>
              <a:rPr lang="en-US" dirty="0"/>
              <a:t>from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brain</a:t>
            </a:r>
            <a:r>
              <a:rPr lang="en-US" dirty="0"/>
              <a:t> and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sacral segments </a:t>
            </a:r>
            <a:r>
              <a:rPr lang="en-US" dirty="0"/>
              <a:t>of spinal </a:t>
            </a:r>
            <a:r>
              <a:rPr lang="en-US" dirty="0" smtClean="0"/>
              <a:t>cord.</a:t>
            </a:r>
          </a:p>
          <a:p>
            <a:pPr marL="82296" indent="0">
              <a:buNone/>
            </a:pPr>
            <a:endParaRPr lang="en-US" dirty="0" smtClean="0"/>
          </a:p>
          <a:p>
            <a:r>
              <a:rPr lang="en-US" dirty="0" smtClean="0"/>
              <a:t>Fibers leave the spinal cord and end </a:t>
            </a:r>
            <a:r>
              <a:rPr lang="en-US" dirty="0"/>
              <a:t>on </a:t>
            </a:r>
            <a:r>
              <a:rPr lang="en-US" dirty="0" smtClean="0"/>
              <a:t>postganglionic neurons</a:t>
            </a:r>
            <a:r>
              <a:rPr lang="en-US" dirty="0"/>
              <a:t>, which are situated </a:t>
            </a:r>
            <a:r>
              <a:rPr lang="en-US" dirty="0" smtClean="0"/>
              <a:t>near </a:t>
            </a:r>
            <a:r>
              <a:rPr lang="en-US" dirty="0"/>
              <a:t>the </a:t>
            </a:r>
            <a:r>
              <a:rPr lang="en-US" dirty="0" smtClean="0"/>
              <a:t>visceral organs</a:t>
            </a:r>
            <a:r>
              <a:rPr lang="en-US" dirty="0"/>
              <a:t>.</a:t>
            </a:r>
            <a:endParaRPr lang="en-US" dirty="0" smtClean="0"/>
          </a:p>
          <a:p>
            <a:pPr marL="82296" indent="0">
              <a:buNone/>
            </a:pPr>
            <a:endParaRPr lang="en-US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5" y="762000"/>
            <a:ext cx="4558145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485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Parasympathetic: routine maintenance </a:t>
            </a:r>
            <a:r>
              <a:rPr lang="en-US" dirty="0" smtClean="0"/>
              <a:t> is allow </a:t>
            </a:r>
            <a:r>
              <a:rPr lang="en-US" dirty="0"/>
              <a:t>us to “rest” &amp; “digest”. </a:t>
            </a:r>
          </a:p>
          <a:p>
            <a:endParaRPr lang="en-US" dirty="0"/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Both</a:t>
            </a:r>
            <a:r>
              <a:rPr lang="en-US" dirty="0" smtClean="0"/>
              <a:t> serve </a:t>
            </a:r>
            <a:r>
              <a:rPr lang="en-US" dirty="0"/>
              <a:t>most of the same organs but cause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opposing</a:t>
            </a:r>
            <a:r>
              <a:rPr lang="en-US" dirty="0"/>
              <a:t> or antagonistic effects</a:t>
            </a:r>
          </a:p>
        </p:txBody>
      </p:sp>
    </p:spTree>
    <p:extLst>
      <p:ext uri="{BB962C8B-B14F-4D97-AF65-F5344CB8AC3E}">
        <p14:creationId xmlns:p14="http://schemas.microsoft.com/office/powerpoint/2010/main" val="404580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460" y="0"/>
            <a:ext cx="7498080" cy="1143000"/>
          </a:xfrm>
        </p:spPr>
        <p:txBody>
          <a:bodyPr/>
          <a:lstStyle/>
          <a:p>
            <a:r>
              <a:rPr lang="en-US" dirty="0" smtClean="0"/>
              <a:t>        Parasympathetic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143000"/>
            <a:ext cx="8001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2338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-228600"/>
            <a:ext cx="7943088" cy="114300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Anatomical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1288" y="1295400"/>
            <a:ext cx="4203192" cy="5410200"/>
          </a:xfrm>
        </p:spPr>
        <p:txBody>
          <a:bodyPr/>
          <a:lstStyle/>
          <a:p>
            <a:r>
              <a:rPr lang="en-US" dirty="0"/>
              <a:t>Issue from different regions of the CNS</a:t>
            </a:r>
          </a:p>
          <a:p>
            <a:r>
              <a:rPr lang="en-US" dirty="0"/>
              <a:t>Sympathetic - </a:t>
            </a:r>
            <a:r>
              <a:rPr lang="en-US" dirty="0" smtClean="0"/>
              <a:t> </a:t>
            </a:r>
            <a:r>
              <a:rPr lang="en-US" dirty="0"/>
              <a:t>the thoracolumbar division</a:t>
            </a:r>
          </a:p>
          <a:p>
            <a:r>
              <a:rPr lang="en-US" dirty="0"/>
              <a:t>Parasympathetic – </a:t>
            </a:r>
            <a:r>
              <a:rPr lang="en-US" dirty="0" smtClean="0"/>
              <a:t> </a:t>
            </a:r>
            <a:r>
              <a:rPr lang="en-US" dirty="0"/>
              <a:t>the craniosacral division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5181600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4029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705" y="381000"/>
            <a:ext cx="8077200" cy="5791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4713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" y="1828800"/>
            <a:ext cx="91440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295400" y="533400"/>
            <a:ext cx="7162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Differences between sympathetic 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parasympathetic divisions</a:t>
            </a:r>
            <a:endParaRPr lang="en-US" sz="32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664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-152400"/>
            <a:ext cx="9924288" cy="11430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Differences between sympathetic </a:t>
            </a:r>
            <a:br>
              <a:rPr lang="en-US" sz="3200" dirty="0" smtClean="0"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and parasympathetic </a:t>
            </a:r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divisions</a:t>
            </a:r>
            <a:endParaRPr lang="en-US" sz="3200" dirty="0"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893445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232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2716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0"/>
            <a:ext cx="7498080" cy="1143000"/>
          </a:xfrm>
        </p:spPr>
        <p:txBody>
          <a:bodyPr/>
          <a:lstStyle/>
          <a:p>
            <a:r>
              <a:rPr lang="en-US" dirty="0"/>
              <a:t>Neurotransmitters of the 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4287" y="914400"/>
            <a:ext cx="7943088" cy="4800600"/>
          </a:xfrm>
        </p:spPr>
        <p:txBody>
          <a:bodyPr>
            <a:normAutofit lnSpcReduction="10000"/>
          </a:bodyPr>
          <a:lstStyle/>
          <a:p>
            <a:pPr marL="82296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Neurotransmitters are chemical substance that is released at the end of a nerve to transfer of the impulse to another nerve fiber.</a:t>
            </a:r>
          </a:p>
          <a:p>
            <a:pPr marL="82296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neurotransmitteres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of the ANS  fibers are mainly:</a:t>
            </a: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1-Acetylcholine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ACh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2-Norepinephrine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(Noradrenaline)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0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0" y="914400"/>
            <a:ext cx="4056888" cy="4800600"/>
          </a:xfrm>
        </p:spPr>
        <p:txBody>
          <a:bodyPr/>
          <a:lstStyle/>
          <a:p>
            <a:r>
              <a:rPr lang="en-US" dirty="0"/>
              <a:t>Fibers secreting </a:t>
            </a:r>
            <a:r>
              <a:rPr lang="en-US" dirty="0" err="1"/>
              <a:t>ACh</a:t>
            </a:r>
            <a:r>
              <a:rPr lang="en-US" dirty="0"/>
              <a:t>  are called </a:t>
            </a:r>
            <a:r>
              <a:rPr lang="en-US" dirty="0" smtClean="0"/>
              <a:t>=          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Cholinergic fibers</a:t>
            </a:r>
          </a:p>
          <a:p>
            <a:pPr marL="82296" indent="0"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/>
              <a:t>Fibers secreting norepinephrine are called=   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Adrenergic fibers 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5" y="990600"/>
            <a:ext cx="457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3342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34636"/>
            <a:ext cx="8305800" cy="6670964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      * </a:t>
            </a:r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Cholinergic </a:t>
            </a:r>
            <a:r>
              <a:rPr lang="en-US" sz="3600" b="1" u="sng" dirty="0">
                <a:latin typeface="Times New Roman" pitchFamily="18" charset="0"/>
                <a:cs typeface="Times New Roman" pitchFamily="18" charset="0"/>
              </a:rPr>
              <a:t>nerve fibers are</a:t>
            </a:r>
            <a:r>
              <a:rPr lang="en-US" sz="3600" b="1" u="sng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b="1" u="sng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All preganglionic nerve fibers in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All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postganglionic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fibers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parasympathetic ANS.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Some of the postganglionic sympathetic nerve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fibers:</a:t>
            </a: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sweat glands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to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piloerector muscles of the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hair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few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blood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vessels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82296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dirty="0"/>
              <a:t> </a:t>
            </a:r>
            <a:r>
              <a:rPr lang="en-US" b="1" u="sng" dirty="0"/>
              <a:t>* Adrenergic nerve fibers are</a:t>
            </a:r>
            <a:r>
              <a:rPr lang="en-US" b="1" u="sng" dirty="0" smtClean="0"/>
              <a:t>:</a:t>
            </a:r>
            <a:endParaRPr lang="en-US" b="1" u="sng" dirty="0"/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Most postganglionic sympathetic nerve fibers. </a:t>
            </a:r>
          </a:p>
        </p:txBody>
      </p:sp>
    </p:spTree>
    <p:extLst>
      <p:ext uri="{BB962C8B-B14F-4D97-AF65-F5344CB8AC3E}">
        <p14:creationId xmlns:p14="http://schemas.microsoft.com/office/powerpoint/2010/main" val="4902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5247" y="-304800"/>
            <a:ext cx="7866888" cy="11430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Receptors in the 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685800"/>
            <a:ext cx="7943088" cy="57912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3600" u="sng" dirty="0" smtClean="0">
                <a:latin typeface="Times New Roman" pitchFamily="18" charset="0"/>
                <a:cs typeface="Times New Roman" pitchFamily="18" charset="0"/>
              </a:rPr>
              <a:t>Cholinergic receptors (Acetylcholine receptors):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1- Nicotinic 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receptors</a:t>
            </a: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36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/>
              <a:t>Nicotinic receptors are found on the</a:t>
            </a:r>
          </a:p>
          <a:p>
            <a:pPr marL="82296" indent="0">
              <a:buNone/>
            </a:pPr>
            <a:r>
              <a:rPr lang="en-US" dirty="0"/>
              <a:t>postganglionic cell bodies in all autonomic</a:t>
            </a:r>
          </a:p>
          <a:p>
            <a:pPr marL="82296" indent="0">
              <a:buNone/>
            </a:pPr>
            <a:r>
              <a:rPr lang="en-US" dirty="0"/>
              <a:t>ganglia.</a:t>
            </a:r>
          </a:p>
          <a:p>
            <a:r>
              <a:rPr lang="en-US" dirty="0" smtClean="0"/>
              <a:t>Response </a:t>
            </a:r>
            <a:r>
              <a:rPr lang="en-US" dirty="0"/>
              <a:t>to acetylcholine released from</a:t>
            </a:r>
          </a:p>
          <a:p>
            <a:pPr marL="82296" indent="0">
              <a:buNone/>
            </a:pPr>
            <a:r>
              <a:rPr lang="en-US" dirty="0"/>
              <a:t>both sympathetic and parasympathetic</a:t>
            </a:r>
          </a:p>
        </p:txBody>
      </p:sp>
    </p:spTree>
    <p:extLst>
      <p:ext uri="{BB962C8B-B14F-4D97-AF65-F5344CB8AC3E}">
        <p14:creationId xmlns:p14="http://schemas.microsoft.com/office/powerpoint/2010/main" val="363405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8888" y="-457200"/>
            <a:ext cx="7498080" cy="2971800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N1</a:t>
            </a:r>
            <a:r>
              <a:rPr lang="en-US" dirty="0"/>
              <a:t> in the synapse of somatic nerves with skeletal muscles (neuromuscular junctions)</a:t>
            </a:r>
          </a:p>
          <a:p>
            <a:r>
              <a:rPr lang="en-US" dirty="0"/>
              <a:t>(Blocked by curare</a:t>
            </a:r>
            <a:r>
              <a:rPr lang="en-US" dirty="0" smtClean="0"/>
              <a:t>)</a:t>
            </a:r>
          </a:p>
          <a:p>
            <a:pPr marL="82296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447800"/>
            <a:ext cx="2047701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22" y="2209800"/>
            <a:ext cx="3697778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108364" y="4773730"/>
            <a:ext cx="758397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FF388C">
                    <a:lumMod val="75000"/>
                  </a:srgbClr>
                </a:solidFill>
              </a:rPr>
              <a:t>N2</a:t>
            </a:r>
            <a:r>
              <a:rPr lang="en-US" sz="3200" dirty="0" smtClean="0">
                <a:solidFill>
                  <a:prstClr val="black"/>
                </a:solidFill>
              </a:rPr>
              <a:t> in the postganglionic neurons in all  autonomic ganglia (Sympathetic and parasympathetic)</a:t>
            </a:r>
          </a:p>
          <a:p>
            <a:r>
              <a:rPr lang="en-US" sz="3200" dirty="0" smtClean="0">
                <a:solidFill>
                  <a:prstClr val="black"/>
                </a:solidFill>
              </a:rPr>
              <a:t>(</a:t>
            </a:r>
            <a:r>
              <a:rPr lang="en-US" sz="3200" dirty="0">
                <a:solidFill>
                  <a:prstClr val="black"/>
                </a:solidFill>
              </a:rPr>
              <a:t>Blocked by </a:t>
            </a:r>
            <a:r>
              <a:rPr lang="en-US" sz="3200" dirty="0" err="1">
                <a:solidFill>
                  <a:prstClr val="black"/>
                </a:solidFill>
              </a:rPr>
              <a:t>Hexamethonium</a:t>
            </a:r>
            <a:r>
              <a:rPr lang="en-US" sz="3200" dirty="0">
                <a:solidFill>
                  <a:prstClr val="black"/>
                </a:solidFill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75842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381000"/>
            <a:ext cx="8153400" cy="58674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dirty="0" smtClean="0"/>
              <a:t>   </a:t>
            </a: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2-Muscarinic 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receptors</a:t>
            </a: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82296" indent="0">
              <a:buNone/>
            </a:pPr>
            <a:endParaRPr lang="en-US" sz="36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 smtClean="0"/>
              <a:t>Found </a:t>
            </a:r>
            <a:r>
              <a:rPr lang="en-US" dirty="0"/>
              <a:t>on cell membranes of </a:t>
            </a:r>
            <a:r>
              <a:rPr lang="en-US" dirty="0" smtClean="0"/>
              <a:t>effector</a:t>
            </a:r>
            <a:endParaRPr lang="en-US" dirty="0"/>
          </a:p>
          <a:p>
            <a:pPr marL="82296" indent="0">
              <a:buNone/>
            </a:pPr>
            <a:r>
              <a:rPr lang="en-US" dirty="0" smtClean="0"/>
              <a:t>organs .</a:t>
            </a:r>
            <a:endParaRPr lang="en-US" dirty="0"/>
          </a:p>
          <a:p>
            <a:r>
              <a:rPr lang="en-US" dirty="0"/>
              <a:t>T</a:t>
            </a:r>
            <a:r>
              <a:rPr lang="en-US" dirty="0" smtClean="0"/>
              <a:t>hey </a:t>
            </a:r>
            <a:r>
              <a:rPr lang="en-US" dirty="0"/>
              <a:t>bind with acetylcholine released </a:t>
            </a:r>
            <a:r>
              <a:rPr lang="en-US" dirty="0" smtClean="0"/>
              <a:t>from parasympathetic </a:t>
            </a:r>
            <a:r>
              <a:rPr lang="en-US" dirty="0"/>
              <a:t>postganglionic </a:t>
            </a:r>
            <a:r>
              <a:rPr lang="en-US" dirty="0" smtClean="0"/>
              <a:t>nerve fiber</a:t>
            </a:r>
            <a:endParaRPr lang="en-US" dirty="0"/>
          </a:p>
          <a:p>
            <a:pPr marL="82296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6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28600"/>
            <a:ext cx="8229600" cy="61722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3900" u="sng" dirty="0">
                <a:latin typeface="Times New Roman" pitchFamily="18" charset="0"/>
                <a:cs typeface="Times New Roman" pitchFamily="18" charset="0"/>
              </a:rPr>
              <a:t>Adrenergic receptors (adrenoceptors):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Receptors which are activated by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norepinephrine (noradrenaline)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epinephrine (adrenaline)</a:t>
            </a:r>
          </a:p>
          <a:p>
            <a:pPr marL="82296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Found in target organs supplied by adrenergic  postganglionic sympathetic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fibers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Two main types :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1- α ( alpha1, alpha2)</a:t>
            </a: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2-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β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Beta1 , Beta 2, Beta 3)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94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838200"/>
            <a:ext cx="7498080" cy="4800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β1-Adrenergic</a:t>
            </a:r>
            <a:r>
              <a:rPr lang="en-US" dirty="0"/>
              <a:t> receptors are located mainly </a:t>
            </a:r>
            <a:r>
              <a:rPr lang="en-US" dirty="0" smtClean="0"/>
              <a:t>in the </a:t>
            </a:r>
            <a:r>
              <a:rPr lang="en-US" dirty="0"/>
              <a:t>heart. </a:t>
            </a:r>
            <a:endParaRPr lang="en-US" dirty="0" smtClean="0"/>
          </a:p>
          <a:p>
            <a:pPr marL="82296" indent="0">
              <a:buNone/>
            </a:pPr>
            <a:r>
              <a:rPr lang="en-US" dirty="0" smtClean="0"/>
              <a:t>Sensitive </a:t>
            </a:r>
            <a:r>
              <a:rPr lang="en-US" dirty="0"/>
              <a:t>to both </a:t>
            </a:r>
            <a:r>
              <a:rPr lang="en-US" dirty="0" smtClean="0"/>
              <a:t>epinephrine </a:t>
            </a:r>
            <a:r>
              <a:rPr lang="en-US" dirty="0"/>
              <a:t>and </a:t>
            </a:r>
            <a:r>
              <a:rPr lang="en-US" dirty="0" smtClean="0"/>
              <a:t>norepinephrine</a:t>
            </a:r>
          </a:p>
          <a:p>
            <a:pPr marL="82296" indent="0">
              <a:buNone/>
            </a:pPr>
            <a:endParaRPr lang="en-US" dirty="0"/>
          </a:p>
          <a:p>
            <a:r>
              <a:rPr lang="en-US" dirty="0" smtClean="0"/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β2-Adrenergic</a:t>
            </a:r>
            <a:r>
              <a:rPr lang="en-US" dirty="0"/>
              <a:t> receptors are located mainly </a:t>
            </a:r>
            <a:r>
              <a:rPr lang="en-US" dirty="0" smtClean="0"/>
              <a:t>in the lungs</a:t>
            </a:r>
          </a:p>
          <a:p>
            <a:r>
              <a:rPr lang="en-US" dirty="0" smtClean="0"/>
              <a:t>sensitive </a:t>
            </a:r>
            <a:r>
              <a:rPr lang="en-US" dirty="0"/>
              <a:t>to </a:t>
            </a:r>
            <a:r>
              <a:rPr lang="en-US" dirty="0" smtClean="0"/>
              <a:t>epinephrine </a:t>
            </a:r>
            <a:r>
              <a:rPr lang="en-US" dirty="0"/>
              <a:t>only.</a:t>
            </a:r>
          </a:p>
        </p:txBody>
      </p:sp>
    </p:spTree>
    <p:extLst>
      <p:ext uri="{BB962C8B-B14F-4D97-AF65-F5344CB8AC3E}">
        <p14:creationId xmlns:p14="http://schemas.microsoft.com/office/powerpoint/2010/main" val="827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51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9554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ADRENAL GLAND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a gland found on </a:t>
            </a:r>
            <a:r>
              <a:rPr lang="en-US" dirty="0"/>
              <a:t>top of </a:t>
            </a:r>
            <a:r>
              <a:rPr lang="en-US" dirty="0" smtClean="0"/>
              <a:t>kidneys</a:t>
            </a:r>
          </a:p>
          <a:p>
            <a:r>
              <a:rPr lang="en-US" dirty="0" smtClean="0"/>
              <a:t>One of organs of the sympathetic nervous system</a:t>
            </a:r>
          </a:p>
          <a:p>
            <a:r>
              <a:rPr lang="en-US" dirty="0" smtClean="0"/>
              <a:t>Release adrenaline</a:t>
            </a:r>
          </a:p>
          <a:p>
            <a:pPr marL="82296" indent="0">
              <a:buNone/>
            </a:pPr>
            <a:r>
              <a:rPr lang="en-US" dirty="0" smtClean="0"/>
              <a:t>and noradrenaline</a:t>
            </a:r>
          </a:p>
          <a:p>
            <a:pPr marL="82296" indent="0">
              <a:buNone/>
            </a:pPr>
            <a:r>
              <a:rPr lang="en-US" dirty="0" smtClean="0"/>
              <a:t> directly to the blood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796" y="3429000"/>
            <a:ext cx="28956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277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-533400"/>
            <a:ext cx="7467600" cy="739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629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0"/>
            <a:ext cx="65532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825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609600"/>
            <a:ext cx="7086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574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828800"/>
            <a:ext cx="7498080" cy="4800600"/>
          </a:xfrm>
        </p:spPr>
        <p:txBody>
          <a:bodyPr>
            <a:normAutofit/>
          </a:bodyPr>
          <a:lstStyle/>
          <a:p>
            <a:pPr marL="82296" indent="0" algn="ctr">
              <a:buNone/>
            </a:pPr>
            <a:r>
              <a:rPr lang="en-US" sz="4800" u="sng" dirty="0">
                <a:solidFill>
                  <a:schemeClr val="accent1">
                    <a:lumMod val="75000"/>
                  </a:schemeClr>
                </a:solidFill>
              </a:rPr>
              <a:t>Pharmacology of </a:t>
            </a:r>
            <a:r>
              <a:rPr lang="en-US" sz="4800" u="sng" dirty="0" smtClean="0">
                <a:solidFill>
                  <a:schemeClr val="accent1">
                    <a:lumMod val="75000"/>
                  </a:schemeClr>
                </a:solidFill>
              </a:rPr>
              <a:t>the</a:t>
            </a:r>
          </a:p>
          <a:p>
            <a:pPr marL="82296" indent="0" algn="ctr">
              <a:buNone/>
            </a:pPr>
            <a:r>
              <a:rPr lang="en-US" sz="4800" u="sng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800" u="sng" dirty="0">
                <a:solidFill>
                  <a:schemeClr val="accent1">
                    <a:lumMod val="75000"/>
                  </a:schemeClr>
                </a:solidFill>
              </a:rPr>
              <a:t>ANS</a:t>
            </a:r>
          </a:p>
        </p:txBody>
      </p:sp>
    </p:spTree>
    <p:extLst>
      <p:ext uri="{BB962C8B-B14F-4D97-AF65-F5344CB8AC3E}">
        <p14:creationId xmlns:p14="http://schemas.microsoft.com/office/powerpoint/2010/main" val="2744095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609600"/>
            <a:ext cx="8153400" cy="525780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Because the nature of signal transmission in autonomic ganglia is a chemical transmission it is a good site for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pharmacologic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manipulation</a:t>
            </a:r>
            <a:r>
              <a:rPr lang="en-US" sz="2800" dirty="0" smtClean="0"/>
              <a:t>:</a:t>
            </a:r>
          </a:p>
          <a:p>
            <a:pPr marL="82296" indent="0">
              <a:buNone/>
            </a:pPr>
            <a:endParaRPr lang="en-US" sz="2800" dirty="0"/>
          </a:p>
          <a:p>
            <a:pPr marL="82296" indent="0">
              <a:buNone/>
            </a:pPr>
            <a:r>
              <a:rPr lang="en-US" sz="2800" dirty="0" smtClean="0"/>
              <a:t>1-Synthesis </a:t>
            </a:r>
            <a:r>
              <a:rPr lang="en-US" sz="2800" dirty="0"/>
              <a:t>and storage of the </a:t>
            </a:r>
            <a:r>
              <a:rPr lang="en-US" sz="2800" dirty="0" smtClean="0"/>
              <a:t>neurotransmitter</a:t>
            </a:r>
          </a:p>
          <a:p>
            <a:pPr marL="82296" indent="0">
              <a:buNone/>
            </a:pPr>
            <a:endParaRPr lang="en-US" sz="2800" dirty="0"/>
          </a:p>
          <a:p>
            <a:pPr marL="82296" indent="0">
              <a:buNone/>
            </a:pPr>
            <a:r>
              <a:rPr lang="en-US" sz="2800" dirty="0" smtClean="0"/>
              <a:t>2-Release </a:t>
            </a:r>
            <a:r>
              <a:rPr lang="en-US" sz="2800" dirty="0"/>
              <a:t>of the </a:t>
            </a:r>
            <a:r>
              <a:rPr lang="en-US" sz="2800" dirty="0" smtClean="0"/>
              <a:t>neurotransmitter</a:t>
            </a:r>
          </a:p>
          <a:p>
            <a:pPr marL="82296" indent="0">
              <a:buNone/>
            </a:pPr>
            <a:endParaRPr lang="en-US" sz="2800" dirty="0"/>
          </a:p>
          <a:p>
            <a:pPr marL="82296" indent="0">
              <a:buNone/>
            </a:pPr>
            <a:r>
              <a:rPr lang="en-US" sz="2800" dirty="0"/>
              <a:t>3</a:t>
            </a:r>
            <a:r>
              <a:rPr lang="en-US" sz="2800" dirty="0" smtClean="0"/>
              <a:t>-Binding </a:t>
            </a:r>
            <a:r>
              <a:rPr lang="en-US" sz="2800" dirty="0"/>
              <a:t>to the </a:t>
            </a:r>
            <a:r>
              <a:rPr lang="en-US" sz="2800" dirty="0" smtClean="0"/>
              <a:t>receptor</a:t>
            </a:r>
          </a:p>
          <a:p>
            <a:pPr marL="82296" indent="0">
              <a:buNone/>
            </a:pPr>
            <a:endParaRPr lang="en-US" sz="2800" dirty="0"/>
          </a:p>
          <a:p>
            <a:pPr marL="82296" indent="0">
              <a:buNone/>
            </a:pPr>
            <a:r>
              <a:rPr lang="en-US" sz="2800" dirty="0" smtClean="0"/>
              <a:t>(All </a:t>
            </a:r>
            <a:r>
              <a:rPr lang="en-US" sz="2800" dirty="0"/>
              <a:t>these sites can be targeted by </a:t>
            </a:r>
            <a:r>
              <a:rPr lang="en-US" sz="2800" dirty="0" smtClean="0"/>
              <a:t>chemicals)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8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304800"/>
            <a:ext cx="8153400" cy="59436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b="1" u="sng" dirty="0" smtClean="0"/>
              <a:t>1- Adrenergic </a:t>
            </a:r>
            <a:r>
              <a:rPr lang="en-US" b="1" u="sng" dirty="0"/>
              <a:t>Agonist (Sympathomimetic</a:t>
            </a:r>
            <a:r>
              <a:rPr lang="en-US" b="1" u="sng" dirty="0" smtClean="0"/>
              <a:t>)</a:t>
            </a:r>
          </a:p>
          <a:p>
            <a:pPr marL="82296" indent="0">
              <a:buNone/>
            </a:pPr>
            <a:r>
              <a:rPr lang="en-US" dirty="0" smtClean="0"/>
              <a:t>the </a:t>
            </a:r>
            <a:r>
              <a:rPr lang="en-US" dirty="0"/>
              <a:t>drugs, which produce the </a:t>
            </a:r>
            <a:r>
              <a:rPr lang="en-US" dirty="0" smtClean="0"/>
              <a:t>effects </a:t>
            </a:r>
            <a:r>
              <a:rPr lang="en-US" dirty="0"/>
              <a:t>of </a:t>
            </a:r>
            <a:r>
              <a:rPr lang="en-US" dirty="0" smtClean="0"/>
              <a:t>sympathetic stimulation.</a:t>
            </a:r>
          </a:p>
          <a:p>
            <a:r>
              <a:rPr lang="en-US" dirty="0" smtClean="0"/>
              <a:t> </a:t>
            </a:r>
            <a:r>
              <a:rPr lang="en-US" dirty="0"/>
              <a:t>Adrenaline and noradrenaline </a:t>
            </a:r>
            <a:r>
              <a:rPr lang="en-US" dirty="0" smtClean="0"/>
              <a:t>produced in </a:t>
            </a:r>
            <a:r>
              <a:rPr lang="en-US" dirty="0"/>
              <a:t>the body act only for a short duration of about 1 </a:t>
            </a:r>
            <a:r>
              <a:rPr lang="en-US" dirty="0" smtClean="0"/>
              <a:t>to 2 </a:t>
            </a:r>
            <a:r>
              <a:rPr lang="en-US" dirty="0"/>
              <a:t>minutes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Whereas, sympathomimetic drugs </a:t>
            </a:r>
            <a:r>
              <a:rPr lang="en-US" dirty="0" smtClean="0"/>
              <a:t>injected intravenously </a:t>
            </a:r>
            <a:r>
              <a:rPr lang="en-US" dirty="0"/>
              <a:t>act for a longer period of about 30 </a:t>
            </a:r>
            <a:r>
              <a:rPr lang="en-US" dirty="0" smtClean="0"/>
              <a:t>minutes to </a:t>
            </a:r>
            <a:r>
              <a:rPr lang="en-US" dirty="0"/>
              <a:t>2 hours. </a:t>
            </a:r>
          </a:p>
        </p:txBody>
      </p:sp>
    </p:spTree>
    <p:extLst>
      <p:ext uri="{BB962C8B-B14F-4D97-AF65-F5344CB8AC3E}">
        <p14:creationId xmlns:p14="http://schemas.microsoft.com/office/powerpoint/2010/main" val="303968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Sympathomimetic drugs are: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66800"/>
            <a:ext cx="7943088" cy="4800600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A-Drugs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Stimulating the Receptors Directly</a:t>
            </a:r>
          </a:p>
          <a:p>
            <a:pPr marL="82296" indent="0">
              <a:buNone/>
            </a:pPr>
            <a:r>
              <a:rPr lang="en-US" dirty="0"/>
              <a:t>1. </a:t>
            </a:r>
            <a:r>
              <a:rPr lang="en-US" dirty="0" smtClean="0"/>
              <a:t>alpha receptors </a:t>
            </a:r>
            <a:r>
              <a:rPr lang="en-US" dirty="0" err="1" smtClean="0"/>
              <a:t>e.g</a:t>
            </a:r>
            <a:r>
              <a:rPr lang="en-US" dirty="0" smtClean="0"/>
              <a:t>  (Phenylephrine)</a:t>
            </a:r>
            <a:endParaRPr lang="en-US" dirty="0"/>
          </a:p>
          <a:p>
            <a:pPr marL="82296" indent="0">
              <a:buNone/>
            </a:pPr>
            <a:r>
              <a:rPr lang="en-US" dirty="0"/>
              <a:t>2</a:t>
            </a:r>
            <a:r>
              <a:rPr lang="en-US" dirty="0" smtClean="0"/>
              <a:t>. beta receptors </a:t>
            </a:r>
            <a:r>
              <a:rPr lang="en-US" dirty="0" err="1" smtClean="0"/>
              <a:t>e.g</a:t>
            </a:r>
            <a:r>
              <a:rPr lang="en-US" dirty="0" smtClean="0"/>
              <a:t> (Isoproterenol) </a:t>
            </a:r>
            <a:endParaRPr lang="en-US" dirty="0"/>
          </a:p>
          <a:p>
            <a:pPr marL="82296" indent="0">
              <a:buNone/>
            </a:pPr>
            <a:r>
              <a:rPr lang="en-US" dirty="0"/>
              <a:t>3</a:t>
            </a:r>
            <a:r>
              <a:rPr lang="en-US" dirty="0" smtClean="0"/>
              <a:t>. Selective B receptors </a:t>
            </a:r>
            <a:r>
              <a:rPr lang="en-US" dirty="0" err="1" smtClean="0"/>
              <a:t>e.g</a:t>
            </a:r>
            <a:r>
              <a:rPr lang="en-US" dirty="0" smtClean="0"/>
              <a:t>  Salbutamol (beta2 receptors</a:t>
            </a:r>
            <a:r>
              <a:rPr lang="en-US" dirty="0"/>
              <a:t>).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B-Drugs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Inducing the Release of Noradrenaline</a:t>
            </a:r>
          </a:p>
          <a:p>
            <a:pPr marL="82296" indent="0">
              <a:buNone/>
            </a:pPr>
            <a:r>
              <a:rPr lang="en-US" dirty="0"/>
              <a:t>1. Ephedrine</a:t>
            </a:r>
          </a:p>
          <a:p>
            <a:pPr marL="82296" indent="0">
              <a:buNone/>
            </a:pPr>
            <a:r>
              <a:rPr lang="en-US" dirty="0"/>
              <a:t>2</a:t>
            </a:r>
            <a:r>
              <a:rPr lang="en-US" dirty="0" smtClean="0"/>
              <a:t>. </a:t>
            </a:r>
            <a:r>
              <a:rPr lang="en-US" dirty="0"/>
              <a:t>Amphetamine.</a:t>
            </a:r>
          </a:p>
        </p:txBody>
      </p:sp>
    </p:spTree>
    <p:extLst>
      <p:ext uri="{BB962C8B-B14F-4D97-AF65-F5344CB8AC3E}">
        <p14:creationId xmlns:p14="http://schemas.microsoft.com/office/powerpoint/2010/main" val="416826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28600"/>
            <a:ext cx="8001000" cy="6477000"/>
          </a:xfrm>
        </p:spPr>
        <p:txBody>
          <a:bodyPr>
            <a:normAutofit fontScale="92500" lnSpcReduction="20000"/>
          </a:bodyPr>
          <a:lstStyle/>
          <a:p>
            <a:pPr marL="82296" indent="0">
              <a:buNone/>
            </a:pPr>
            <a:r>
              <a:rPr lang="en-US" sz="46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 Adrenergic </a:t>
            </a:r>
            <a:r>
              <a:rPr lang="en-US" sz="4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Blocking drugs</a:t>
            </a:r>
          </a:p>
          <a:p>
            <a:pPr marL="82296" indent="0">
              <a:buNone/>
            </a:pPr>
            <a:r>
              <a:rPr lang="en-US" sz="4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46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sympatholytic or anti sympathetic)</a:t>
            </a:r>
            <a:endParaRPr lang="en-US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2296" indent="0">
              <a:buNone/>
            </a:pPr>
            <a:r>
              <a:rPr lang="en-US" dirty="0" smtClean="0"/>
              <a:t> </a:t>
            </a:r>
            <a:r>
              <a:rPr lang="en-US" sz="4100" dirty="0">
                <a:latin typeface="Times New Roman" pitchFamily="18" charset="0"/>
                <a:cs typeface="Times New Roman" pitchFamily="18" charset="0"/>
              </a:rPr>
              <a:t>drugs that can </a:t>
            </a:r>
            <a:r>
              <a:rPr lang="en-US" sz="4100" dirty="0" smtClean="0">
                <a:latin typeface="Times New Roman" pitchFamily="18" charset="0"/>
                <a:cs typeface="Times New Roman" pitchFamily="18" charset="0"/>
              </a:rPr>
              <a:t>decrease the </a:t>
            </a:r>
            <a:r>
              <a:rPr lang="en-US" sz="4100" dirty="0">
                <a:latin typeface="Times New Roman" pitchFamily="18" charset="0"/>
                <a:cs typeface="Times New Roman" pitchFamily="18" charset="0"/>
              </a:rPr>
              <a:t>sympathetic </a:t>
            </a:r>
            <a:r>
              <a:rPr lang="en-US" sz="4100" dirty="0" smtClean="0">
                <a:latin typeface="Times New Roman" pitchFamily="18" charset="0"/>
                <a:cs typeface="Times New Roman" pitchFamily="18" charset="0"/>
              </a:rPr>
              <a:t>activity</a:t>
            </a:r>
            <a:endParaRPr lang="en-US" sz="41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4100" smtClean="0">
                <a:latin typeface="Times New Roman" pitchFamily="18" charset="0"/>
                <a:cs typeface="Times New Roman" pitchFamily="18" charset="0"/>
              </a:rPr>
              <a:t>Affect </a:t>
            </a:r>
            <a:r>
              <a:rPr lang="en-US" sz="4100" dirty="0">
                <a:latin typeface="Times New Roman" pitchFamily="18" charset="0"/>
                <a:cs typeface="Times New Roman" pitchFamily="18" charset="0"/>
              </a:rPr>
              <a:t>synthesis, storage or </a:t>
            </a:r>
            <a:r>
              <a:rPr lang="en-US" sz="4100" dirty="0" smtClean="0">
                <a:latin typeface="Times New Roman" pitchFamily="18" charset="0"/>
                <a:cs typeface="Times New Roman" pitchFamily="18" charset="0"/>
              </a:rPr>
              <a:t>release </a:t>
            </a:r>
            <a:r>
              <a:rPr lang="en-US" sz="4100" dirty="0">
                <a:latin typeface="Times New Roman" pitchFamily="18" charset="0"/>
                <a:cs typeface="Times New Roman" pitchFamily="18" charset="0"/>
              </a:rPr>
              <a:t>of the neurotransmitter: </a:t>
            </a:r>
            <a:r>
              <a:rPr lang="en-US" sz="4100" dirty="0" smtClean="0">
                <a:latin typeface="Times New Roman" pitchFamily="18" charset="0"/>
                <a:cs typeface="Times New Roman" pitchFamily="18" charset="0"/>
              </a:rPr>
              <a:t>Methyldopa </a:t>
            </a:r>
            <a:r>
              <a:rPr lang="en-US" sz="41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4100" dirty="0" err="1">
                <a:latin typeface="Times New Roman" pitchFamily="18" charset="0"/>
                <a:cs typeface="Times New Roman" pitchFamily="18" charset="0"/>
              </a:rPr>
              <a:t>aldomet</a:t>
            </a:r>
            <a:r>
              <a:rPr lang="en-US" sz="41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41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4100" dirty="0">
                <a:latin typeface="Times New Roman" pitchFamily="18" charset="0"/>
                <a:cs typeface="Times New Roman" pitchFamily="18" charset="0"/>
              </a:rPr>
              <a:t>Adrenergic receptor blockers:</a:t>
            </a:r>
          </a:p>
          <a:p>
            <a:pPr marL="82296" indent="0">
              <a:buNone/>
            </a:pPr>
            <a:r>
              <a:rPr lang="en-US" sz="4100" dirty="0" smtClean="0">
                <a:latin typeface="Times New Roman" pitchFamily="18" charset="0"/>
                <a:cs typeface="Times New Roman" pitchFamily="18" charset="0"/>
              </a:rPr>
              <a:t>1-alpha blockers: </a:t>
            </a:r>
            <a:r>
              <a:rPr lang="en-US" sz="4100" dirty="0" err="1" smtClean="0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sz="4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100" dirty="0" err="1" smtClean="0">
                <a:latin typeface="Times New Roman" pitchFamily="18" charset="0"/>
                <a:cs typeface="Times New Roman" pitchFamily="18" charset="0"/>
              </a:rPr>
              <a:t>phentolamine</a:t>
            </a:r>
            <a:endParaRPr lang="en-US" sz="4100" dirty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r>
              <a:rPr lang="en-US" sz="4100" dirty="0" smtClean="0">
                <a:latin typeface="Times New Roman" pitchFamily="18" charset="0"/>
                <a:cs typeface="Times New Roman" pitchFamily="18" charset="0"/>
              </a:rPr>
              <a:t>2-beta blockers </a:t>
            </a:r>
            <a:r>
              <a:rPr lang="en-US" sz="4100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4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100" dirty="0" err="1" smtClean="0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sz="4100" dirty="0" smtClean="0">
                <a:latin typeface="Times New Roman" pitchFamily="18" charset="0"/>
                <a:cs typeface="Times New Roman" pitchFamily="18" charset="0"/>
              </a:rPr>
              <a:t> Propranolol ( Inderal )</a:t>
            </a:r>
            <a:endParaRPr lang="en-US" sz="41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82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685800"/>
            <a:ext cx="7498080" cy="48006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b="1" dirty="0" smtClean="0"/>
              <a:t>a. Alpha </a:t>
            </a:r>
            <a:r>
              <a:rPr lang="en-US" b="1" dirty="0"/>
              <a:t>blockers</a:t>
            </a:r>
          </a:p>
          <a:p>
            <a:r>
              <a:rPr lang="en-US" dirty="0" err="1"/>
              <a:t>prazosin</a:t>
            </a:r>
            <a:r>
              <a:rPr lang="en-US" dirty="0"/>
              <a:t> (</a:t>
            </a:r>
            <a:r>
              <a:rPr lang="en-US" dirty="0" err="1"/>
              <a:t>Minipress</a:t>
            </a:r>
            <a:r>
              <a:rPr lang="en-US" dirty="0"/>
              <a:t>)</a:t>
            </a:r>
          </a:p>
          <a:p>
            <a:pPr marL="82296" indent="0">
              <a:buNone/>
            </a:pPr>
            <a:r>
              <a:rPr lang="en-US" b="1" dirty="0"/>
              <a:t>b. Beta blockers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1. selective B1 (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cardio selective)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82296" indent="0">
              <a:buNone/>
            </a:pPr>
            <a:r>
              <a:rPr lang="en-US" dirty="0" smtClean="0"/>
              <a:t> *Atenolol </a:t>
            </a:r>
            <a:r>
              <a:rPr lang="en-US" dirty="0"/>
              <a:t>( Tenormin)</a:t>
            </a:r>
          </a:p>
          <a:p>
            <a:pPr marL="82296" indent="0">
              <a:buNone/>
            </a:pPr>
            <a:r>
              <a:rPr lang="en-US" dirty="0" smtClean="0"/>
              <a:t> *</a:t>
            </a:r>
            <a:r>
              <a:rPr lang="en-US" dirty="0" err="1" smtClean="0"/>
              <a:t>Metroprolol</a:t>
            </a:r>
            <a:r>
              <a:rPr lang="en-US" dirty="0" smtClean="0"/>
              <a:t> </a:t>
            </a:r>
            <a:r>
              <a:rPr lang="en-US" dirty="0"/>
              <a:t>(Lopressor)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2. non selective</a:t>
            </a:r>
          </a:p>
          <a:p>
            <a:pPr marL="82296" indent="0">
              <a:buNone/>
            </a:pPr>
            <a:r>
              <a:rPr lang="en-US" dirty="0" smtClean="0"/>
              <a:t> *propranolol </a:t>
            </a:r>
            <a:r>
              <a:rPr lang="en-US" dirty="0"/>
              <a:t>(Inderal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672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28600"/>
            <a:ext cx="8458200" cy="60198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3- Cholinergic </a:t>
            </a: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agonist (</a:t>
            </a:r>
            <a:r>
              <a:rPr lang="en-US" b="1" u="sng" dirty="0" err="1">
                <a:latin typeface="Times New Roman" pitchFamily="18" charset="0"/>
                <a:cs typeface="Times New Roman" pitchFamily="18" charset="0"/>
              </a:rPr>
              <a:t>Parasympathomimetic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82296" indent="0">
              <a:buNone/>
            </a:pPr>
            <a:r>
              <a:rPr lang="en-US" dirty="0" smtClean="0"/>
              <a:t>Increase the activity of parasympathetic</a:t>
            </a:r>
          </a:p>
          <a:p>
            <a:pPr marL="82296" indent="0"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Cholinenergic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drugs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Drugs  that directly stimulates muscarinic receptors):</a:t>
            </a:r>
          </a:p>
          <a:p>
            <a:pPr marL="82296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Pilocarpine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Drugs which inhibit acetylcholine esterase : prevent degradation of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ACh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there by potentiates its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effect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Neostigmine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04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u="sng" dirty="0" smtClean="0">
                <a:effectLst/>
                <a:latin typeface="Times New Roman" pitchFamily="18" charset="0"/>
                <a:cs typeface="Times New Roman" pitchFamily="18" charset="0"/>
              </a:rPr>
              <a:t>4-Parasympathetic blockers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Parasympathetic </a:t>
            </a:r>
            <a:r>
              <a:rPr lang="en-US" dirty="0"/>
              <a:t>blockers are drugs, which prevent </a:t>
            </a:r>
            <a:r>
              <a:rPr lang="en-US" dirty="0" smtClean="0"/>
              <a:t>the actions </a:t>
            </a:r>
            <a:r>
              <a:rPr lang="en-US" dirty="0"/>
              <a:t>of parasympathetic neurotransmitter. </a:t>
            </a:r>
            <a:endParaRPr lang="en-US" dirty="0" smtClean="0"/>
          </a:p>
          <a:p>
            <a:r>
              <a:rPr lang="en-US" dirty="0" smtClean="0"/>
              <a:t>The drugs:</a:t>
            </a:r>
            <a:endParaRPr lang="en-US" dirty="0"/>
          </a:p>
          <a:p>
            <a:pPr marL="82296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tropine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copolamine</a:t>
            </a:r>
            <a:r>
              <a:rPr lang="en-US" dirty="0" smtClean="0"/>
              <a:t> </a:t>
            </a:r>
            <a:r>
              <a:rPr lang="en-US" dirty="0"/>
              <a:t>inhibit the</a:t>
            </a:r>
          </a:p>
          <a:p>
            <a:pPr marL="82296" indent="0">
              <a:buNone/>
            </a:pPr>
            <a:r>
              <a:rPr lang="en-US" dirty="0"/>
              <a:t>actions of Ach by blocking the muscarinic receptors.</a:t>
            </a:r>
          </a:p>
        </p:txBody>
      </p:sp>
    </p:spTree>
    <p:extLst>
      <p:ext uri="{BB962C8B-B14F-4D97-AF65-F5344CB8AC3E}">
        <p14:creationId xmlns:p14="http://schemas.microsoft.com/office/powerpoint/2010/main" val="239189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133600"/>
            <a:ext cx="7498080" cy="114300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Applied physiology</a:t>
            </a:r>
          </a:p>
        </p:txBody>
      </p:sp>
    </p:spTree>
    <p:extLst>
      <p:ext uri="{BB962C8B-B14F-4D97-AF65-F5344CB8AC3E}">
        <p14:creationId xmlns:p14="http://schemas.microsoft.com/office/powerpoint/2010/main" val="405643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0"/>
            <a:ext cx="7498080" cy="11430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Horner’s Syndrome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90600"/>
            <a:ext cx="8077200" cy="5715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Results from damage to sympathetic neurons that supply the </a:t>
            </a:r>
            <a:r>
              <a:rPr lang="en-US" dirty="0" smtClean="0"/>
              <a:t>face</a:t>
            </a:r>
          </a:p>
          <a:p>
            <a:r>
              <a:rPr lang="en-US" dirty="0"/>
              <a:t>The syndrome is characterized by the following signs (on the affected side of the face):</a:t>
            </a:r>
          </a:p>
          <a:p>
            <a:r>
              <a:rPr lang="en-US" dirty="0" smtClean="0"/>
              <a:t>Ptosis </a:t>
            </a:r>
            <a:r>
              <a:rPr lang="en-US" dirty="0"/>
              <a:t>(drooping of the upper eye lid)</a:t>
            </a:r>
          </a:p>
          <a:p>
            <a:r>
              <a:rPr lang="en-US" dirty="0" smtClean="0"/>
              <a:t>Meiosis </a:t>
            </a:r>
            <a:r>
              <a:rPr lang="en-US" dirty="0"/>
              <a:t>(constriction of the eye pupil)</a:t>
            </a:r>
          </a:p>
          <a:p>
            <a:r>
              <a:rPr lang="en-US" dirty="0" smtClean="0"/>
              <a:t>Anhydrosis </a:t>
            </a:r>
            <a:r>
              <a:rPr lang="en-US" dirty="0"/>
              <a:t>(dryness, due to loss of sweating)</a:t>
            </a:r>
          </a:p>
          <a:p>
            <a:r>
              <a:rPr lang="en-US" dirty="0" smtClean="0"/>
              <a:t>Enophthalmos </a:t>
            </a:r>
            <a:r>
              <a:rPr lang="en-US" dirty="0"/>
              <a:t>(abnormal recession of the eyeball in the orbit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33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57200"/>
            <a:ext cx="8153400" cy="5810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503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1064</TotalTime>
  <Words>1083</Words>
  <Application>Microsoft Office PowerPoint</Application>
  <PresentationFormat>On-screen Show (4:3)</PresentationFormat>
  <Paragraphs>160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Solstice</vt:lpstr>
      <vt:lpstr>Autonomic nervous system</vt:lpstr>
      <vt:lpstr>synapse:</vt:lpstr>
      <vt:lpstr>PowerPoint Presentation</vt:lpstr>
      <vt:lpstr>PowerPoint Presentation</vt:lpstr>
      <vt:lpstr>FUNCTIONS OF SYNAPSE</vt:lpstr>
      <vt:lpstr> Definition </vt:lpstr>
      <vt:lpstr>PowerPoint Presentation</vt:lpstr>
      <vt:lpstr>PowerPoint Presentation</vt:lpstr>
      <vt:lpstr>PowerPoint Presentation</vt:lpstr>
      <vt:lpstr>PowerPoint Presentation</vt:lpstr>
      <vt:lpstr>Sympathetic</vt:lpstr>
      <vt:lpstr>Parasympathetic division of ANS: </vt:lpstr>
      <vt:lpstr>PowerPoint Presentation</vt:lpstr>
      <vt:lpstr>        Parasympathetic</vt:lpstr>
      <vt:lpstr>Anatomical Differences</vt:lpstr>
      <vt:lpstr>PowerPoint Presentation</vt:lpstr>
      <vt:lpstr>PowerPoint Presentation</vt:lpstr>
      <vt:lpstr>Differences between sympathetic  and parasympathetic divisions</vt:lpstr>
      <vt:lpstr>PowerPoint Presentation</vt:lpstr>
      <vt:lpstr>Neurotransmitters of the ANS</vt:lpstr>
      <vt:lpstr>PowerPoint Presentation</vt:lpstr>
      <vt:lpstr>PowerPoint Presentation</vt:lpstr>
      <vt:lpstr>Receptors in the 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ADRENAL GLAND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Sympathomimetic drugs are: </vt:lpstr>
      <vt:lpstr>PowerPoint Presentation</vt:lpstr>
      <vt:lpstr>PowerPoint Presentation</vt:lpstr>
      <vt:lpstr>PowerPoint Presentation</vt:lpstr>
      <vt:lpstr>4-Parasympathetic blockers </vt:lpstr>
      <vt:lpstr>Applied physiology</vt:lpstr>
      <vt:lpstr>Horner’s Syndrome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Autonomic nervous system</dc:title>
  <dc:creator>Wafa</dc:creator>
  <cp:lastModifiedBy>Wafa</cp:lastModifiedBy>
  <cp:revision>78</cp:revision>
  <dcterms:created xsi:type="dcterms:W3CDTF">2006-08-16T00:00:00Z</dcterms:created>
  <dcterms:modified xsi:type="dcterms:W3CDTF">2024-11-24T06:24:09Z</dcterms:modified>
</cp:coreProperties>
</file>