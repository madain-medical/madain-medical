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11" r:id="rId2"/>
    <p:sldId id="312" r:id="rId3"/>
    <p:sldId id="313" r:id="rId4"/>
    <p:sldId id="315" r:id="rId5"/>
    <p:sldId id="324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0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2F15A-F5BC-4239-BCBF-45337D50CF28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20C04-5A9C-428D-BDE2-81EF510C5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1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B780892-4558-4DDB-A9CD-A2F9790F03F6}" type="datetime1">
              <a:rPr lang="LID4096" smtClean="0"/>
              <a:t>08/07/2025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508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4920E-13A3-405C-B56B-C541A7530F89}" type="datetime1">
              <a:rPr lang="LID4096" smtClean="0"/>
              <a:t>08/07/2025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89116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5E00-8937-4FAF-8E09-9A1302C29A07}" type="datetime1">
              <a:rPr lang="LID4096" smtClean="0"/>
              <a:t>08/07/2025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285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517D6-833C-468B-89F2-57358199A1CE}" type="datetime1">
              <a:rPr lang="LID4096" smtClean="0"/>
              <a:t>08/07/2025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15459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0B122-3D64-46A0-A26D-DFF96FE24C9C}" type="datetime1">
              <a:rPr lang="LID4096" smtClean="0"/>
              <a:t>08/07/2025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91716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8B96-E350-4602-9C5F-34BE9CC03971}" type="datetime1">
              <a:rPr lang="LID4096" smtClean="0"/>
              <a:t>08/07/2025</a:t>
            </a:fld>
            <a:endParaRPr lang="en-S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84788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5709-89B9-4B4B-9693-5551E9BFD4EB}" type="datetime1">
              <a:rPr lang="LID4096" smtClean="0"/>
              <a:t>08/07/2025</a:t>
            </a:fld>
            <a:endParaRPr lang="en-S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7560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A500-69B2-4432-AB1C-D1D0AADA86B6}" type="datetime1">
              <a:rPr lang="LID4096" smtClean="0"/>
              <a:t>08/07/2025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65049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FE9E1-41E8-47E8-B1A1-9E6D58D78527}" type="datetime1">
              <a:rPr lang="LID4096" smtClean="0"/>
              <a:t>08/07/2025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72935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F27FE-958B-4C6E-B227-C4B4459214A3}" type="datetime1">
              <a:rPr lang="LID4096" smtClean="0"/>
              <a:t>08/07/2025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4871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E2DF-B343-49F0-8C68-51CFA1891979}" type="datetime1">
              <a:rPr lang="LID4096" smtClean="0"/>
              <a:t>08/07/2025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39116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0357304-B978-40A5-8F5C-6C9EA4767C40}" type="datetime1">
              <a:rPr lang="LID4096" smtClean="0"/>
              <a:t>08/07/2025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7937345-1A69-4805-891E-FBD342651EC8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30537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2DC5-6F13-4D8B-9031-7BAD11A48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209964"/>
            <a:ext cx="8915399" cy="356741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PERINEUM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632D079-B6DE-4053-B9F1-7E162852A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5430982"/>
            <a:ext cx="9144000" cy="899760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Brush Script MT" panose="03060802040406070304" pitchFamily="66" charset="0"/>
              </a:rPr>
              <a:t>BY: M. G. HAMMAD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84C371-7AB9-4753-971D-DD88BF80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7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671" y="465903"/>
            <a:ext cx="8911687" cy="639082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PERINEUM</a:t>
            </a:r>
            <a:endParaRPr lang="en-SD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422" y="1317523"/>
            <a:ext cx="5909693" cy="475503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Part of the trunk of the body caudal to the pelvic diaphragm (levator ani and coccygeus).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is a diamond-shaped area.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divided by line joining ischial tuberosities into: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u="sng" dirty="0"/>
              <a:t>Large posterior area</a:t>
            </a:r>
            <a:r>
              <a:rPr lang="en-US" sz="2400" dirty="0"/>
              <a:t>: </a:t>
            </a:r>
            <a:r>
              <a:rPr lang="en-US" sz="2400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 region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u="sng" dirty="0"/>
              <a:t>Small anterior area</a:t>
            </a:r>
            <a:r>
              <a:rPr lang="en-US" sz="2400" dirty="0"/>
              <a:t>: </a:t>
            </a:r>
            <a:r>
              <a:rPr lang="en-US" sz="2400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Urogenital region</a:t>
            </a:r>
            <a:r>
              <a:rPr lang="en-US" sz="2400" dirty="0"/>
              <a:t>.</a:t>
            </a:r>
            <a:endParaRPr lang="en-SD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2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FDD95A-90B7-44D8-B2BC-F1FD21A7FC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3967" y="1506217"/>
            <a:ext cx="5117722" cy="4422958"/>
          </a:xfrm>
        </p:spPr>
      </p:pic>
    </p:spTree>
    <p:extLst>
      <p:ext uri="{BB962C8B-B14F-4D97-AF65-F5344CB8AC3E}">
        <p14:creationId xmlns:p14="http://schemas.microsoft.com/office/powerpoint/2010/main" val="426406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599" y="624569"/>
            <a:ext cx="8911687" cy="639082"/>
          </a:xfrm>
        </p:spPr>
        <p:txBody>
          <a:bodyPr>
            <a:normAutofit/>
          </a:bodyPr>
          <a:lstStyle/>
          <a:p>
            <a:pPr algn="ctr"/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 REGION {TRIANGLE}</a:t>
            </a:r>
            <a:endParaRPr lang="en-SD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9932" y="1630838"/>
            <a:ext cx="5291092" cy="49371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Boundaries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Sides</a:t>
            </a:r>
            <a:r>
              <a:rPr lang="en-US" sz="2400" dirty="0"/>
              <a:t>: by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Sacrotuberous ligament.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Lower edge of GM.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Anal canal.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Ischioanal  fossa &amp; its contents.</a:t>
            </a:r>
            <a:endParaRPr lang="en-SD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3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26E43E-631E-4D01-B09C-66CA43CA3E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40978" y="1404300"/>
            <a:ext cx="5597102" cy="4767900"/>
          </a:xfrm>
        </p:spPr>
      </p:pic>
    </p:spTree>
    <p:extLst>
      <p:ext uri="{BB962C8B-B14F-4D97-AF65-F5344CB8AC3E}">
        <p14:creationId xmlns:p14="http://schemas.microsoft.com/office/powerpoint/2010/main" val="62024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/>
              <a:t>UROGENITAL REGION {TRIANGLE}</a:t>
            </a:r>
            <a:endParaRPr lang="en-SD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284" y="1263192"/>
            <a:ext cx="6450792" cy="4970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region lies in front of the line joining the anterior parts of the ischial tuberosities.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Boundaries: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Laterally: by the conjoined ischiopubic rami.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Posteriorly: line joins ischial tuberosities.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4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FDD95A-90B7-44D8-B2BC-F1FD21A7FC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8767" y="1810932"/>
            <a:ext cx="5117722" cy="4422958"/>
          </a:xfrm>
        </p:spPr>
      </p:pic>
    </p:spTree>
    <p:extLst>
      <p:ext uri="{BB962C8B-B14F-4D97-AF65-F5344CB8AC3E}">
        <p14:creationId xmlns:p14="http://schemas.microsoft.com/office/powerpoint/2010/main" val="246102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/>
              <a:t>UROGENITAL REGION {TRIANGLE}</a:t>
            </a:r>
            <a:endParaRPr lang="en-SD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284" y="1263192"/>
            <a:ext cx="6450792" cy="4970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u="sng" dirty="0"/>
              <a:t>Contents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External genitalia.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Muscles.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Fascia.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Pouches.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5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FDD95A-90B7-44D8-B2BC-F1FD21A7FC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25432" y="1263192"/>
            <a:ext cx="6043980" cy="5223470"/>
          </a:xfrm>
        </p:spPr>
      </p:pic>
    </p:spTree>
    <p:extLst>
      <p:ext uri="{BB962C8B-B14F-4D97-AF65-F5344CB8AC3E}">
        <p14:creationId xmlns:p14="http://schemas.microsoft.com/office/powerpoint/2010/main" val="212543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Autofit/>
          </a:bodyPr>
          <a:lstStyle/>
          <a:p>
            <a:pPr algn="ctr"/>
            <a:r>
              <a:rPr lang="en-US" sz="2800" u="sng" dirty="0"/>
              <a:t>FASCIAE AND POUCHES OF UROGENITAL TRIANGLE</a:t>
            </a:r>
            <a:endParaRPr lang="en-SD" sz="2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116" y="1263191"/>
            <a:ext cx="6440961" cy="55027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PERINEAL FASCIAE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Consist of: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Superficial P fascia.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Deep P fascia.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subcutaneous tissue of the perineum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Consists of </a:t>
            </a:r>
            <a:r>
              <a:rPr lang="en-US" sz="2000" i="1" u="sng" dirty="0"/>
              <a:t>superficial fatty layer</a:t>
            </a:r>
            <a:r>
              <a:rPr lang="en-US" sz="2000" dirty="0"/>
              <a:t> and </a:t>
            </a:r>
            <a:r>
              <a:rPr lang="en-US" sz="2000" i="1" u="sng" dirty="0"/>
              <a:t>deep membranous layer</a:t>
            </a:r>
            <a:r>
              <a:rPr lang="en-US" sz="2000" dirty="0"/>
              <a:t> {superficial perineal fascia or Colle's fascia}.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6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C16A3A-7210-4343-A5CB-F1740A8185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7382" y="1700493"/>
            <a:ext cx="5004618" cy="4682376"/>
          </a:xfrm>
        </p:spPr>
      </p:pic>
    </p:spTree>
    <p:extLst>
      <p:ext uri="{BB962C8B-B14F-4D97-AF65-F5344CB8AC3E}">
        <p14:creationId xmlns:p14="http://schemas.microsoft.com/office/powerpoint/2010/main" val="217484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Autofit/>
          </a:bodyPr>
          <a:lstStyle/>
          <a:p>
            <a:pPr algn="ctr"/>
            <a:r>
              <a:rPr lang="en-US" sz="2800" u="sng" dirty="0"/>
              <a:t>FASCIAE AND POUCHES OF UROGENITAL TRIANGLE</a:t>
            </a:r>
            <a:endParaRPr lang="en-SD" sz="2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2" y="1263192"/>
            <a:ext cx="7983793" cy="550273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Fatty layer of perineal subcutaneous tissue: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Female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The fatty layer makes up substance of </a:t>
            </a:r>
            <a:r>
              <a:rPr lang="en-US" sz="2000" i="1" u="sng" dirty="0"/>
              <a:t>labia majora</a:t>
            </a:r>
            <a:r>
              <a:rPr lang="en-US" sz="2000" dirty="0"/>
              <a:t> and </a:t>
            </a:r>
            <a:r>
              <a:rPr lang="en-US" sz="2000" i="1" u="sng" dirty="0"/>
              <a:t>mons pubis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It continuous anteriorly and superiorly with the fatty layer of abdomen (</a:t>
            </a:r>
            <a:r>
              <a:rPr lang="en-US" sz="2000" i="1" u="sng" dirty="0"/>
              <a:t>Camper fascia</a:t>
            </a:r>
            <a:r>
              <a:rPr lang="en-US" sz="2000" dirty="0"/>
              <a:t>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Male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Replaced in the </a:t>
            </a:r>
            <a:r>
              <a:rPr lang="en-US" sz="2000" u="sng" dirty="0"/>
              <a:t>penis</a:t>
            </a:r>
            <a:r>
              <a:rPr lang="en-US" sz="2000" dirty="0"/>
              <a:t> and </a:t>
            </a:r>
            <a:r>
              <a:rPr lang="en-US" sz="2000" u="sng" dirty="0"/>
              <a:t>scrotum</a:t>
            </a:r>
            <a:r>
              <a:rPr lang="en-US" sz="2000" dirty="0"/>
              <a:t> with smooth (dartos) muscle.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both sexes</a:t>
            </a:r>
            <a:r>
              <a:rPr lang="en-US" sz="2000" dirty="0"/>
              <a:t>: it continuous posteriorly with the Ischioanal fat pad in the anal region.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7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C16A3A-7210-4343-A5CB-F1740A8185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38835"/>
          <a:stretch/>
        </p:blipFill>
        <p:spPr>
          <a:xfrm>
            <a:off x="8318090" y="1376508"/>
            <a:ext cx="3775587" cy="4682376"/>
          </a:xfrm>
        </p:spPr>
      </p:pic>
    </p:spTree>
    <p:extLst>
      <p:ext uri="{BB962C8B-B14F-4D97-AF65-F5344CB8AC3E}">
        <p14:creationId xmlns:p14="http://schemas.microsoft.com/office/powerpoint/2010/main" val="89059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11395"/>
            <a:ext cx="8911687" cy="526264"/>
          </a:xfrm>
        </p:spPr>
        <p:txBody>
          <a:bodyPr>
            <a:noAutofit/>
          </a:bodyPr>
          <a:lstStyle/>
          <a:p>
            <a:pPr algn="ctr"/>
            <a:r>
              <a:rPr lang="en-US" sz="2400" u="sng" dirty="0"/>
              <a:t>FASCIAE AND POUCHES OF UROGENITAL TRIANGLE</a:t>
            </a:r>
            <a:endParaRPr lang="en-SD" sz="24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8594" y="845574"/>
            <a:ext cx="7334864" cy="580103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Membranous layer of perineal subcutaneous tissue: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Female</a:t>
            </a:r>
            <a:r>
              <a:rPr lang="en-US" dirty="0"/>
              <a:t>: does not extend into the anal triangle.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It forms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SUPERFICIAL PERINEAL FASCIA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u="sng" dirty="0"/>
              <a:t>Laterally</a:t>
            </a:r>
            <a:r>
              <a:rPr lang="en-US" dirty="0"/>
              <a:t>: it is attached to the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fascia lata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u="sng" dirty="0"/>
              <a:t>Superiorly</a:t>
            </a:r>
            <a:r>
              <a:rPr lang="en-US" dirty="0"/>
              <a:t>: passes to the </a:t>
            </a:r>
            <a:r>
              <a:rPr lang="en-US" u="sng" dirty="0"/>
              <a:t>fatty layer</a:t>
            </a:r>
            <a:r>
              <a:rPr lang="en-US" dirty="0"/>
              <a:t> forming the </a:t>
            </a:r>
            <a:r>
              <a:rPr lang="en-US" u="sng" dirty="0"/>
              <a:t>labia majora</a:t>
            </a:r>
            <a:r>
              <a:rPr lang="en-US" dirty="0"/>
              <a:t> and becomes continuous with the </a:t>
            </a:r>
            <a:r>
              <a:rPr lang="en-US" u="sng" dirty="0"/>
              <a:t>membranous layer</a:t>
            </a:r>
            <a:r>
              <a:rPr lang="en-US" dirty="0"/>
              <a:t> of abdomen.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Male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It forms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SUPERFICIAL PERINEAL FASCIA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u="sng" dirty="0"/>
              <a:t>Anteriorly</a:t>
            </a:r>
            <a:r>
              <a:rPr lang="en-US" dirty="0"/>
              <a:t>: continuous with the dartos fascia of the penis and scrotum.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u="sng" dirty="0"/>
              <a:t>On each side of and anterior to the scrotum</a:t>
            </a:r>
            <a:r>
              <a:rPr lang="en-US" dirty="0"/>
              <a:t>: it becomes continuous with the membranous layer of abdomen (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Scarpa fascia</a:t>
            </a:r>
            <a:r>
              <a:rPr lang="en-US" dirty="0"/>
              <a:t>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8</a:t>
            </a:fld>
            <a:endParaRPr lang="en-US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ED3B1768-1071-4DE9-A0D1-82DB493B66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38835"/>
          <a:stretch/>
        </p:blipFill>
        <p:spPr>
          <a:xfrm>
            <a:off x="8078099" y="1542027"/>
            <a:ext cx="4113901" cy="4351338"/>
          </a:xfrm>
        </p:spPr>
      </p:pic>
    </p:spTree>
    <p:extLst>
      <p:ext uri="{BB962C8B-B14F-4D97-AF65-F5344CB8AC3E}">
        <p14:creationId xmlns:p14="http://schemas.microsoft.com/office/powerpoint/2010/main" val="272598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85785"/>
            <a:ext cx="8911687" cy="639082"/>
          </a:xfrm>
        </p:spPr>
        <p:txBody>
          <a:bodyPr>
            <a:noAutofit/>
          </a:bodyPr>
          <a:lstStyle/>
          <a:p>
            <a:pPr algn="ctr"/>
            <a:r>
              <a:rPr lang="en-US" sz="2400" u="sng" dirty="0"/>
              <a:t>FASCIAE AND POUCHES OF UROGENITAL TRIANGLE</a:t>
            </a:r>
            <a:endParaRPr lang="en-SD" sz="24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278" y="824867"/>
            <a:ext cx="7905134" cy="570143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 perineal Fascia (investing or Gallaudet fascia)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invests the </a:t>
            </a: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ischiocavernosus</a:t>
            </a:r>
            <a:r>
              <a:rPr lang="en-US" sz="2400" dirty="0"/>
              <a:t>, </a:t>
            </a: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bulbospongiosus</a:t>
            </a:r>
            <a:r>
              <a:rPr lang="en-US" sz="2400" dirty="0"/>
              <a:t>, and </a:t>
            </a: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superficial transverse perineal muscles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Attached laterally to the ischiopubic rami.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Female</a:t>
            </a:r>
            <a:r>
              <a:rPr lang="en-US" sz="21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Fused with the suspensory ligament of the clitoris.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It continuous with the </a:t>
            </a:r>
            <a:r>
              <a:rPr lang="en-US" sz="2100" u="sng" dirty="0"/>
              <a:t>deep fascia</a:t>
            </a:r>
            <a:r>
              <a:rPr lang="en-US" sz="2100" dirty="0"/>
              <a:t> covering the </a:t>
            </a:r>
            <a:r>
              <a:rPr lang="en-US" sz="2100" u="sng" dirty="0"/>
              <a:t>external oblique muscle</a:t>
            </a:r>
            <a:r>
              <a:rPr lang="en-US" sz="2100" dirty="0"/>
              <a:t> and </a:t>
            </a:r>
            <a:r>
              <a:rPr lang="en-US" sz="2100" u="sng" dirty="0"/>
              <a:t>rectus sheath</a:t>
            </a:r>
            <a:r>
              <a:rPr lang="en-US" sz="21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Male</a:t>
            </a:r>
            <a:r>
              <a:rPr lang="en-US" sz="21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u="sng" dirty="0"/>
              <a:t>Anteriorly</a:t>
            </a:r>
            <a:r>
              <a:rPr lang="en-US" sz="2100" dirty="0"/>
              <a:t>: it is fused to the suspensory ligament of the penis.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It continuous with the </a:t>
            </a:r>
            <a:r>
              <a:rPr lang="en-US" sz="2100" u="sng" dirty="0"/>
              <a:t>deep fascia</a:t>
            </a:r>
            <a:r>
              <a:rPr lang="en-US" sz="2100" dirty="0"/>
              <a:t> covering the </a:t>
            </a:r>
            <a:r>
              <a:rPr lang="en-US" sz="2100" u="sng" dirty="0"/>
              <a:t>external oblique muscle</a:t>
            </a:r>
            <a:r>
              <a:rPr lang="en-US" sz="2100" dirty="0"/>
              <a:t> and </a:t>
            </a:r>
            <a:r>
              <a:rPr lang="en-US" sz="2100" u="sng" dirty="0"/>
              <a:t>rectus sheath</a:t>
            </a:r>
            <a:r>
              <a:rPr lang="en-US" sz="21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9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C16A3A-7210-4343-A5CB-F1740A8185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2490"/>
          <a:stretch/>
        </p:blipFill>
        <p:spPr>
          <a:xfrm>
            <a:off x="8858865" y="1350757"/>
            <a:ext cx="3333134" cy="4682376"/>
          </a:xfrm>
        </p:spPr>
      </p:pic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AEDC21F9-14AE-4663-A2A8-91115BB27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412" y="2117107"/>
            <a:ext cx="3775587" cy="395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8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Autofit/>
          </a:bodyPr>
          <a:lstStyle/>
          <a:p>
            <a:pPr algn="ctr"/>
            <a:r>
              <a:rPr lang="en-US" sz="2800" u="sng" dirty="0"/>
              <a:t>SUPERFICIAL PERINEAL POUCH</a:t>
            </a:r>
            <a:endParaRPr lang="en-SD" sz="2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789" y="1380565"/>
            <a:ext cx="6436658" cy="514574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Potential space between the perineal fascia and the perineal membrane.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Bounded </a:t>
            </a:r>
            <a:r>
              <a:rPr lang="en-US" sz="2000" u="sng" dirty="0"/>
              <a:t>laterally</a:t>
            </a:r>
            <a:r>
              <a:rPr lang="en-US" sz="2000" dirty="0"/>
              <a:t> by the ischiopubic rami.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Male</a:t>
            </a:r>
            <a:r>
              <a:rPr lang="en-US" sz="2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Root (bulb and crura) of the penis and associated muscles (ischiocavernosus and bulbospongiosus).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Proximal (bulbous) part of the spongy urethra.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Superficial transverse perineal muscles.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Deep perineal branches of the internal pudendal vessels and pudendal nerves.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10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B72B697-21C9-41A1-B875-4A831D7A8D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576" y="1518712"/>
            <a:ext cx="5329424" cy="5007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053A2-8420-48E5-A5FA-311FEC0C3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677" y="2158018"/>
            <a:ext cx="4769222" cy="417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5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Autofit/>
          </a:bodyPr>
          <a:lstStyle/>
          <a:p>
            <a:pPr algn="ctr"/>
            <a:r>
              <a:rPr lang="en-US" sz="2800" u="sng" dirty="0"/>
              <a:t>SUPERFICIAL PERINEAL POUCH</a:t>
            </a:r>
            <a:endParaRPr lang="en-SD" sz="2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789" y="1380565"/>
            <a:ext cx="6149787" cy="51457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r>
              <a:rPr lang="en-US" sz="20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Female</a:t>
            </a:r>
            <a:r>
              <a:rPr lang="en-US" sz="2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Clitoris and associated muscles (ischiocavernosus).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Bulbs of the vestibule and surrounding muscle (bulbospongiosus).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Greater vestibular glands.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Superficial transverse perineal muscles.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Related vessels and nerves (</a:t>
            </a:r>
            <a:r>
              <a:rPr lang="en-US" u="sng" dirty="0"/>
              <a:t>deep perineal branches</a:t>
            </a:r>
            <a:r>
              <a:rPr lang="en-US" dirty="0"/>
              <a:t> of the </a:t>
            </a:r>
            <a:r>
              <a:rPr lang="en-US" u="sng" dirty="0"/>
              <a:t>internal pudendal vessels</a:t>
            </a:r>
            <a:r>
              <a:rPr lang="en-US" dirty="0"/>
              <a:t> and </a:t>
            </a:r>
            <a:r>
              <a:rPr lang="en-US" u="sng" dirty="0"/>
              <a:t>pudendal nerves</a:t>
            </a:r>
            <a:r>
              <a:rPr lang="en-US" dirty="0"/>
              <a:t>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11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493E48-D871-44F5-A7BA-174C31DBE6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031" y="2312894"/>
            <a:ext cx="4885151" cy="3887882"/>
          </a:xfrm>
        </p:spPr>
      </p:pic>
    </p:spTree>
    <p:extLst>
      <p:ext uri="{BB962C8B-B14F-4D97-AF65-F5344CB8AC3E}">
        <p14:creationId xmlns:p14="http://schemas.microsoft.com/office/powerpoint/2010/main" val="229398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Autofit/>
          </a:bodyPr>
          <a:lstStyle/>
          <a:p>
            <a:pPr algn="ctr"/>
            <a:r>
              <a:rPr lang="en-US" sz="2800" u="sng" dirty="0"/>
              <a:t>DEEP PERINEAL POUCH</a:t>
            </a:r>
            <a:endParaRPr lang="en-SD" sz="2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789" y="1380565"/>
            <a:ext cx="6436658" cy="514574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Bounded </a:t>
            </a:r>
            <a:r>
              <a:rPr lang="en-US" sz="2000" i="1" u="sng" dirty="0"/>
              <a:t>inferiorly</a:t>
            </a:r>
            <a:r>
              <a:rPr lang="en-US" sz="2000" dirty="0"/>
              <a:t> by the </a:t>
            </a:r>
            <a:r>
              <a:rPr lang="en-US" sz="2000" i="1" u="sng" dirty="0"/>
              <a:t>perineal membrane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i="1" u="sng" dirty="0"/>
              <a:t>Superiorly</a:t>
            </a:r>
            <a:r>
              <a:rPr lang="en-US" dirty="0"/>
              <a:t> by the </a:t>
            </a:r>
            <a:r>
              <a:rPr lang="en-US" sz="2000" i="1" u="sng" dirty="0"/>
              <a:t>inferior fascia</a:t>
            </a:r>
            <a:r>
              <a:rPr lang="en-US" dirty="0"/>
              <a:t> of the </a:t>
            </a:r>
            <a:r>
              <a:rPr lang="en-US" sz="2000" i="1" u="sng" dirty="0"/>
              <a:t>pelvic diaphragm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i="1" u="sng" dirty="0"/>
              <a:t>Laterally</a:t>
            </a:r>
            <a:r>
              <a:rPr lang="en-US" dirty="0"/>
              <a:t> by the inferior portion of the </a:t>
            </a:r>
            <a:r>
              <a:rPr lang="en-US" sz="2000" i="1" u="sng" dirty="0"/>
              <a:t>obturator fascia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i="1" u="sng" dirty="0">
                <a:solidFill>
                  <a:srgbClr val="FF0000"/>
                </a:solidFill>
              </a:rPr>
              <a:t>In both sex</a:t>
            </a:r>
            <a:r>
              <a:rPr lang="en-US" dirty="0"/>
              <a:t>:</a:t>
            </a:r>
          </a:p>
          <a:p>
            <a:r>
              <a:rPr lang="en-US" dirty="0"/>
              <a:t>Part of the urethra.</a:t>
            </a:r>
          </a:p>
          <a:p>
            <a:r>
              <a:rPr lang="en-US" dirty="0"/>
              <a:t>The inferior part of the external urethral sphincter muscle.</a:t>
            </a:r>
          </a:p>
          <a:p>
            <a:r>
              <a:rPr lang="en-US" dirty="0"/>
              <a:t>Anterior extensions of the Ischioanal fat pads.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12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09B5EEC-A416-4EE7-9AFC-B6AD1AFED3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058" y="2026024"/>
            <a:ext cx="4840941" cy="4092732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2DFC96-0974-4506-B7AD-36926FEA7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168" y="2217364"/>
            <a:ext cx="4581832" cy="37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6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755-F660-4BDF-B8F9-69DDECB6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39082"/>
          </a:xfrm>
        </p:spPr>
        <p:txBody>
          <a:bodyPr>
            <a:noAutofit/>
          </a:bodyPr>
          <a:lstStyle/>
          <a:p>
            <a:pPr algn="ctr"/>
            <a:r>
              <a:rPr lang="en-US" sz="2800" u="sng" dirty="0"/>
              <a:t>DEEP PERINEAL POUCH</a:t>
            </a:r>
            <a:endParaRPr lang="en-SD" sz="2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5552-DC28-4900-8098-952A01F04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789" y="1380565"/>
            <a:ext cx="6069105" cy="51457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i="1" u="sng" dirty="0">
                <a:solidFill>
                  <a:srgbClr val="FF0000"/>
                </a:solidFill>
              </a:rPr>
              <a:t>In Male</a:t>
            </a:r>
            <a:r>
              <a:rPr lang="en-US" dirty="0"/>
              <a:t>:</a:t>
            </a:r>
          </a:p>
          <a:p>
            <a:r>
              <a:rPr lang="en-US" dirty="0"/>
              <a:t>Intermediate part of the urethra.</a:t>
            </a:r>
          </a:p>
          <a:p>
            <a:r>
              <a:rPr lang="en-US" dirty="0"/>
              <a:t>Deep transverse perineal muscles.</a:t>
            </a:r>
          </a:p>
          <a:p>
            <a:r>
              <a:rPr lang="en-US" dirty="0"/>
              <a:t>Bulbourethral glands.</a:t>
            </a:r>
          </a:p>
          <a:p>
            <a:r>
              <a:rPr lang="en-US" dirty="0"/>
              <a:t>Dorsal neurovascular structures of the penis.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i="1" u="sng" dirty="0">
                <a:solidFill>
                  <a:srgbClr val="FF0000"/>
                </a:solidFill>
              </a:rPr>
              <a:t>In Female</a:t>
            </a:r>
            <a:r>
              <a:rPr lang="en-US" dirty="0"/>
              <a:t>:</a:t>
            </a:r>
          </a:p>
          <a:p>
            <a:r>
              <a:rPr lang="en-US" dirty="0"/>
              <a:t>Proximal part of the urethra.</a:t>
            </a:r>
          </a:p>
          <a:p>
            <a:r>
              <a:rPr lang="en-US" dirty="0"/>
              <a:t>A mass of </a:t>
            </a:r>
            <a:r>
              <a:rPr lang="en-US"/>
              <a:t>smooth tissues associated </a:t>
            </a:r>
            <a:r>
              <a:rPr lang="en-US" dirty="0"/>
              <a:t>with the perineal body.</a:t>
            </a:r>
          </a:p>
          <a:p>
            <a:r>
              <a:rPr lang="en-US" dirty="0"/>
              <a:t>Dorsal neuro- vasculature of the clitoris.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98E6F-6B53-40AB-B8C1-ADBB61C8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988EE636-584C-488B-AEA2-BFA1633D88C6}" type="slidenum">
              <a:rPr lang="en-US" smtClean="0"/>
              <a:t>13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F7EC39-9AD0-4649-B7D0-6230FB45D9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952" y="1990165"/>
            <a:ext cx="5491096" cy="410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51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689" y="2958480"/>
            <a:ext cx="8229600" cy="19302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3800" dirty="0">
                <a:ln w="0">
                  <a:solidFill>
                    <a:srgbClr val="FF0000"/>
                  </a:solidFill>
                </a:ln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THANKS</a:t>
            </a:r>
            <a:endParaRPr lang="ar-SA" sz="13800" dirty="0">
              <a:ln w="0">
                <a:solidFill>
                  <a:srgbClr val="FF0000"/>
                </a:solidFill>
              </a:ln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F2C738-2C54-2B98-E18F-E65A6A35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7937345-1A69-4805-891E-FBD342651EC8}" type="slidenum">
              <a:rPr lang="en-SD" smtClean="0"/>
              <a:t>14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1659884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1036</TotalTime>
  <Words>711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Brush Script MT</vt:lpstr>
      <vt:lpstr>Calibri</vt:lpstr>
      <vt:lpstr>Century Schoolbook</vt:lpstr>
      <vt:lpstr>Times New Roman</vt:lpstr>
      <vt:lpstr>Wingdings</vt:lpstr>
      <vt:lpstr>Wingdings 2</vt:lpstr>
      <vt:lpstr>View</vt:lpstr>
      <vt:lpstr>PERINEUM </vt:lpstr>
      <vt:lpstr>PERINEUM</vt:lpstr>
      <vt:lpstr>ANAL REGION {TRIANGLE}</vt:lpstr>
      <vt:lpstr>UROGENITAL REGION {TRIANGLE}</vt:lpstr>
      <vt:lpstr>UROGENITAL REGION {TRIANGLE}</vt:lpstr>
      <vt:lpstr>FASCIAE AND POUCHES OF UROGENITAL TRIANGLE</vt:lpstr>
      <vt:lpstr>FASCIAE AND POUCHES OF UROGENITAL TRIANGLE</vt:lpstr>
      <vt:lpstr>FASCIAE AND POUCHES OF UROGENITAL TRIANGLE</vt:lpstr>
      <vt:lpstr>FASCIAE AND POUCHES OF UROGENITAL TRIANGLE</vt:lpstr>
      <vt:lpstr>SUPERFICIAL PERINEAL POUCH</vt:lpstr>
      <vt:lpstr>SUPERFICIAL PERINEAL POUCH</vt:lpstr>
      <vt:lpstr>DEEP PERINEAL POUCH</vt:lpstr>
      <vt:lpstr>DEEP PERINEAL POUCH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PERINEUM  MALE UROGENITAL TRIANGLE</dc:title>
  <dc:creator>MEDICO126</dc:creator>
  <cp:lastModifiedBy>Mohamed Hammad</cp:lastModifiedBy>
  <cp:revision>37</cp:revision>
  <dcterms:created xsi:type="dcterms:W3CDTF">2021-11-14T05:07:25Z</dcterms:created>
  <dcterms:modified xsi:type="dcterms:W3CDTF">2025-08-07T08:27:49Z</dcterms:modified>
</cp:coreProperties>
</file>