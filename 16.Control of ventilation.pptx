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2.xml" ContentType="application/vnd.openxmlformats-officedocument.presentationml.slideLayout+xml"/>
  <Default Extension="wav" ContentType="audio/wav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18"/>
  </p:notesMasterIdLst>
  <p:sldIdLst>
    <p:sldId id="270" r:id="rId3"/>
    <p:sldId id="257" r:id="rId4"/>
    <p:sldId id="269" r:id="rId5"/>
    <p:sldId id="258" r:id="rId6"/>
    <p:sldId id="259" r:id="rId7"/>
    <p:sldId id="264" r:id="rId8"/>
    <p:sldId id="260" r:id="rId9"/>
    <p:sldId id="261" r:id="rId10"/>
    <p:sldId id="265" r:id="rId11"/>
    <p:sldId id="266" r:id="rId12"/>
    <p:sldId id="262" r:id="rId13"/>
    <p:sldId id="263" r:id="rId14"/>
    <p:sldId id="267" r:id="rId15"/>
    <p:sldId id="268" r:id="rId16"/>
    <p:sldId id="274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888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رأس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C4B06C-B5B7-40BB-B153-EAA0DC239AA2}" type="datetimeFigureOut">
              <a:rPr lang="en-US" smtClean="0"/>
              <a:pPr/>
              <a:t>3/28/2021</a:t>
            </a:fld>
            <a:endParaRPr lang="en-US"/>
          </a:p>
        </p:txBody>
      </p:sp>
      <p:sp>
        <p:nvSpPr>
          <p:cNvPr id="4" name="عنصر نائب لصورة الشريحة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عنصر نائب للملاحظات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en-US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DD4F05-F2A0-4952-90EA-0B36DEB33D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6256637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DD4F05-F2A0-4952-90EA-0B36DEB33D8B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8874662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عنصر نائب للتاريخ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9B69808-D37C-43F1-B868-93104A9DFB2C}" type="datetimeFigureOut">
              <a:rPr lang="en-US" smtClean="0"/>
              <a:pPr/>
              <a:t>3/28/2021</a:t>
            </a:fld>
            <a:endParaRPr lang="en-US"/>
          </a:p>
        </p:txBody>
      </p:sp>
      <p:sp>
        <p:nvSpPr>
          <p:cNvPr id="17" name="عنصر نائب للتذييل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29" name="عنصر نائب لرقم الشريحة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0BB6608-02F7-4545-A78A-9D3CF64313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2" name="مستطيل 31"/>
          <p:cNvSpPr/>
          <p:nvPr/>
        </p:nvSpPr>
        <p:spPr>
          <a:xfrm>
            <a:off x="0" y="-1"/>
            <a:ext cx="365760" cy="6854456"/>
          </a:xfrm>
          <a:prstGeom prst="rect">
            <a:avLst/>
          </a:prstGeom>
          <a:solidFill>
            <a:srgbClr val="FFFFF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39" name="مستطيل 38"/>
          <p:cNvSpPr/>
          <p:nvPr/>
        </p:nvSpPr>
        <p:spPr>
          <a:xfrm>
            <a:off x="309558" y="680477"/>
            <a:ext cx="45720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0" name="مستطيل 39"/>
          <p:cNvSpPr/>
          <p:nvPr/>
        </p:nvSpPr>
        <p:spPr>
          <a:xfrm>
            <a:off x="269073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1" name="مستطيل 40"/>
          <p:cNvSpPr/>
          <p:nvPr/>
        </p:nvSpPr>
        <p:spPr>
          <a:xfrm>
            <a:off x="250020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42" name="مستطيل 41"/>
          <p:cNvSpPr/>
          <p:nvPr/>
        </p:nvSpPr>
        <p:spPr>
          <a:xfrm>
            <a:off x="221768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8" name="عنوان 7"/>
          <p:cNvSpPr>
            <a:spLocks noGrp="1"/>
          </p:cNvSpPr>
          <p:nvPr>
            <p:ph type="ctrTitle"/>
          </p:nvPr>
        </p:nvSpPr>
        <p:spPr>
          <a:xfrm>
            <a:off x="914400" y="4343400"/>
            <a:ext cx="7772400" cy="1975104"/>
          </a:xfrm>
        </p:spPr>
        <p:txBody>
          <a:bodyPr/>
          <a:lstStyle>
            <a:lvl1pPr marR="9144" algn="l">
              <a:defRPr sz="4000" b="1" cap="all" spc="0" baseline="0">
                <a:effectLst>
                  <a:reflection blurRad="12700" stA="34000" endA="740" endPos="53000" dir="5400000" sy="-100000" algn="bl" rotWithShape="0"/>
                </a:effectLst>
              </a:defRPr>
            </a:lvl1pPr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9" name="عنوان فرعي 8"/>
          <p:cNvSpPr>
            <a:spLocks noGrp="1"/>
          </p:cNvSpPr>
          <p:nvPr>
            <p:ph type="subTitle" idx="1"/>
          </p:nvPr>
        </p:nvSpPr>
        <p:spPr>
          <a:xfrm>
            <a:off x="914400" y="2834640"/>
            <a:ext cx="7772400" cy="1508760"/>
          </a:xfrm>
        </p:spPr>
        <p:txBody>
          <a:bodyPr lIns="100584" tIns="45720" anchor="b"/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ar-SA" smtClean="0"/>
              <a:t>انقر لتحرير نمط العنوان الثانوي الرئيسي</a:t>
            </a:r>
            <a:endParaRPr kumimoji="0" lang="en-US"/>
          </a:p>
        </p:txBody>
      </p:sp>
      <p:sp>
        <p:nvSpPr>
          <p:cNvPr id="56" name="مستطيل 55"/>
          <p:cNvSpPr/>
          <p:nvPr/>
        </p:nvSpPr>
        <p:spPr>
          <a:xfrm>
            <a:off x="255291" y="5047394"/>
            <a:ext cx="73152" cy="169164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5" name="مستطيل 64"/>
          <p:cNvSpPr/>
          <p:nvPr/>
        </p:nvSpPr>
        <p:spPr>
          <a:xfrm>
            <a:off x="255291" y="4796819"/>
            <a:ext cx="73152" cy="2286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6" name="مستطيل 65"/>
          <p:cNvSpPr/>
          <p:nvPr/>
        </p:nvSpPr>
        <p:spPr>
          <a:xfrm>
            <a:off x="255291" y="4637685"/>
            <a:ext cx="73152" cy="137160"/>
          </a:xfrm>
          <a:prstGeom prst="rect">
            <a:avLst/>
          </a:prstGeom>
          <a:solidFill>
            <a:schemeClr val="bg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7" name="مستطيل 66"/>
          <p:cNvSpPr/>
          <p:nvPr/>
        </p:nvSpPr>
        <p:spPr>
          <a:xfrm>
            <a:off x="255291" y="4542559"/>
            <a:ext cx="73152" cy="7315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9B69808-D37C-43F1-B868-93104A9DFB2C}" type="datetimeFigureOut">
              <a:rPr lang="en-US" smtClean="0"/>
              <a:pPr/>
              <a:t>3/28/2021</a:t>
            </a:fld>
            <a:endParaRPr lang="en-US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0BB6608-02F7-4545-A78A-9D3CF64313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شكل حر 13"/>
          <p:cNvSpPr>
            <a:spLocks/>
          </p:cNvSpPr>
          <p:nvPr/>
        </p:nvSpPr>
        <p:spPr bwMode="auto">
          <a:xfrm>
            <a:off x="4828952" y="1073888"/>
            <a:ext cx="4322136" cy="5791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3648"/>
              </a:cxn>
              <a:cxn ang="0">
                <a:pos x="720" y="2016"/>
              </a:cxn>
              <a:cxn ang="0">
                <a:pos x="2736" y="0"/>
              </a:cxn>
              <a:cxn ang="0">
                <a:pos x="2736" y="96"/>
              </a:cxn>
              <a:cxn ang="0">
                <a:pos x="744" y="2038"/>
              </a:cxn>
              <a:cxn ang="0">
                <a:pos x="48" y="3648"/>
              </a:cxn>
              <a:cxn ang="0">
                <a:pos x="0" y="3648"/>
              </a:cxn>
            </a:cxnLst>
            <a:rect l="0" t="0" r="0" b="0"/>
            <a:pathLst>
              <a:path w="2736" h="3648">
                <a:moveTo>
                  <a:pt x="0" y="3648"/>
                </a:moveTo>
                <a:lnTo>
                  <a:pt x="720" y="2016"/>
                </a:lnTo>
                <a:lnTo>
                  <a:pt x="2736" y="672"/>
                </a:lnTo>
                <a:lnTo>
                  <a:pt x="2736" y="720"/>
                </a:lnTo>
                <a:lnTo>
                  <a:pt x="744" y="2038"/>
                </a:lnTo>
                <a:lnTo>
                  <a:pt x="48" y="3648"/>
                </a:lnTo>
                <a:lnTo>
                  <a:pt x="48" y="3648"/>
                </a:lnTo>
                <a:close/>
              </a:path>
            </a:pathLst>
          </a:custGeom>
          <a:noFill/>
          <a:ln w="3175" cap="flat" cmpd="sng" algn="ctr">
            <a:solidFill>
              <a:schemeClr val="accent2">
                <a:alpha val="5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5" name="شكل حر 14"/>
          <p:cNvSpPr>
            <a:spLocks/>
          </p:cNvSpPr>
          <p:nvPr/>
        </p:nvSpPr>
        <p:spPr bwMode="auto">
          <a:xfrm>
            <a:off x="373966" y="0"/>
            <a:ext cx="5514536" cy="661533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4080"/>
              </a:cxn>
              <a:cxn ang="0">
                <a:pos x="0" y="4128"/>
              </a:cxn>
              <a:cxn ang="0">
                <a:pos x="3504" y="2640"/>
              </a:cxn>
              <a:cxn ang="0">
                <a:pos x="2880" y="0"/>
              </a:cxn>
              <a:cxn ang="0">
                <a:pos x="2832" y="0"/>
              </a:cxn>
              <a:cxn ang="0">
                <a:pos x="3465" y="2619"/>
              </a:cxn>
              <a:cxn ang="0">
                <a:pos x="0" y="4080"/>
              </a:cxn>
            </a:cxnLst>
            <a:rect l="0" t="0" r="0" b="0"/>
            <a:pathLst>
              <a:path w="3504" h="4128">
                <a:moveTo>
                  <a:pt x="0" y="4080"/>
                </a:moveTo>
                <a:lnTo>
                  <a:pt x="0" y="4128"/>
                </a:lnTo>
                <a:lnTo>
                  <a:pt x="3504" y="2640"/>
                </a:lnTo>
                <a:lnTo>
                  <a:pt x="2880" y="0"/>
                </a:lnTo>
                <a:lnTo>
                  <a:pt x="2832" y="0"/>
                </a:lnTo>
                <a:lnTo>
                  <a:pt x="3465" y="2619"/>
                </a:lnTo>
                <a:lnTo>
                  <a:pt x="0" y="4080"/>
                </a:lnTo>
                <a:close/>
              </a:path>
            </a:pathLst>
          </a:custGeom>
          <a:noFill/>
          <a:ln w="3175" cap="flat" cmpd="sng" algn="ctr">
            <a:solidFill>
              <a:schemeClr val="accent2">
                <a:alpha val="5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3" name="شكل حر 12"/>
          <p:cNvSpPr>
            <a:spLocks/>
          </p:cNvSpPr>
          <p:nvPr/>
        </p:nvSpPr>
        <p:spPr bwMode="auto">
          <a:xfrm rot="5236414">
            <a:off x="4462128" y="1483600"/>
            <a:ext cx="4114800" cy="118872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344"/>
              </a:cxn>
              <a:cxn ang="0">
                <a:pos x="0" y="48"/>
              </a:cxn>
              <a:cxn ang="0">
                <a:pos x="0" y="0"/>
              </a:cxn>
            </a:cxnLst>
            <a:rect l="0" t="0" r="0" b="0"/>
            <a:pathLst>
              <a:path w="3552" h="1344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18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6" name="شكل حر 15"/>
          <p:cNvSpPr>
            <a:spLocks/>
          </p:cNvSpPr>
          <p:nvPr/>
        </p:nvSpPr>
        <p:spPr bwMode="auto">
          <a:xfrm>
            <a:off x="5943600" y="0"/>
            <a:ext cx="2743200" cy="4267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104" y="0"/>
              </a:cxn>
              <a:cxn ang="0">
                <a:pos x="1728" y="0"/>
              </a:cxn>
              <a:cxn ang="0">
                <a:pos x="0" y="2688"/>
              </a:cxn>
              <a:cxn ang="0">
                <a:pos x="1104" y="0"/>
              </a:cxn>
            </a:cxnLst>
            <a:rect l="0" t="0" r="0" b="0"/>
            <a:pathLst>
              <a:path w="1728" h="2688">
                <a:moveTo>
                  <a:pt x="1104" y="0"/>
                </a:moveTo>
                <a:lnTo>
                  <a:pt x="1728" y="0"/>
                </a:lnTo>
                <a:lnTo>
                  <a:pt x="0" y="2688"/>
                </a:lnTo>
                <a:lnTo>
                  <a:pt x="1104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7" name="شكل حر 16"/>
          <p:cNvSpPr>
            <a:spLocks/>
          </p:cNvSpPr>
          <p:nvPr/>
        </p:nvSpPr>
        <p:spPr bwMode="auto">
          <a:xfrm>
            <a:off x="5943600" y="4267200"/>
            <a:ext cx="3200400" cy="11430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2016" y="240"/>
              </a:cxn>
              <a:cxn ang="0">
                <a:pos x="2016" y="720"/>
              </a:cxn>
              <a:cxn ang="0">
                <a:pos x="0" y="0"/>
              </a:cxn>
            </a:cxnLst>
            <a:rect l="0" t="0" r="0" b="0"/>
            <a:pathLst>
              <a:path w="2016" h="720">
                <a:moveTo>
                  <a:pt x="0" y="0"/>
                </a:moveTo>
                <a:lnTo>
                  <a:pt x="2016" y="240"/>
                </a:lnTo>
                <a:lnTo>
                  <a:pt x="2016" y="72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8" name="شكل حر 17"/>
          <p:cNvSpPr>
            <a:spLocks/>
          </p:cNvSpPr>
          <p:nvPr/>
        </p:nvSpPr>
        <p:spPr bwMode="auto">
          <a:xfrm>
            <a:off x="5943600" y="0"/>
            <a:ext cx="1371600" cy="4267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864" y="0"/>
              </a:cxn>
              <a:cxn ang="0">
                <a:pos x="0" y="2688"/>
              </a:cxn>
              <a:cxn ang="0">
                <a:pos x="768" y="0"/>
              </a:cxn>
              <a:cxn ang="0">
                <a:pos x="864" y="0"/>
              </a:cxn>
            </a:cxnLst>
            <a:rect l="0" t="0" r="0" b="0"/>
            <a:pathLst>
              <a:path w="864" h="2688">
                <a:moveTo>
                  <a:pt x="864" y="0"/>
                </a:moveTo>
                <a:lnTo>
                  <a:pt x="0" y="2688"/>
                </a:lnTo>
                <a:lnTo>
                  <a:pt x="768" y="0"/>
                </a:lnTo>
                <a:lnTo>
                  <a:pt x="864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9" name="شكل حر 18"/>
          <p:cNvSpPr>
            <a:spLocks/>
          </p:cNvSpPr>
          <p:nvPr/>
        </p:nvSpPr>
        <p:spPr bwMode="auto">
          <a:xfrm>
            <a:off x="5948363" y="4246563"/>
            <a:ext cx="2090737" cy="261143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071" y="1645"/>
              </a:cxn>
              <a:cxn ang="0">
                <a:pos x="1317" y="1645"/>
              </a:cxn>
              <a:cxn ang="0">
                <a:pos x="0" y="0"/>
              </a:cxn>
              <a:cxn ang="0">
                <a:pos x="1071" y="1645"/>
              </a:cxn>
            </a:cxnLst>
            <a:rect l="0" t="0" r="0" b="0"/>
            <a:pathLst>
              <a:path w="1317" h="1645">
                <a:moveTo>
                  <a:pt x="1071" y="1645"/>
                </a:moveTo>
                <a:lnTo>
                  <a:pt x="1317" y="1645"/>
                </a:lnTo>
                <a:lnTo>
                  <a:pt x="0" y="0"/>
                </a:lnTo>
                <a:lnTo>
                  <a:pt x="1071" y="1645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0" name="شكل حر 19"/>
          <p:cNvSpPr>
            <a:spLocks/>
          </p:cNvSpPr>
          <p:nvPr/>
        </p:nvSpPr>
        <p:spPr bwMode="auto">
          <a:xfrm>
            <a:off x="5943600" y="4267200"/>
            <a:ext cx="16002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008" y="1632"/>
              </a:cxn>
              <a:cxn ang="0">
                <a:pos x="0" y="0"/>
              </a:cxn>
              <a:cxn ang="0">
                <a:pos x="960" y="1632"/>
              </a:cxn>
              <a:cxn ang="0">
                <a:pos x="1008" y="1632"/>
              </a:cxn>
            </a:cxnLst>
            <a:rect l="0" t="0" r="0" b="0"/>
            <a:pathLst>
              <a:path w="1008" h="1632">
                <a:moveTo>
                  <a:pt x="1008" y="1632"/>
                </a:moveTo>
                <a:lnTo>
                  <a:pt x="0" y="0"/>
                </a:lnTo>
                <a:lnTo>
                  <a:pt x="960" y="1632"/>
                </a:lnTo>
                <a:lnTo>
                  <a:pt x="1008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1" name="شكل حر 20"/>
          <p:cNvSpPr>
            <a:spLocks/>
          </p:cNvSpPr>
          <p:nvPr/>
        </p:nvSpPr>
        <p:spPr bwMode="auto">
          <a:xfrm>
            <a:off x="5943600" y="1371600"/>
            <a:ext cx="3200400" cy="2895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2016" y="0"/>
              </a:cxn>
              <a:cxn ang="0">
                <a:pos x="2016" y="144"/>
              </a:cxn>
              <a:cxn ang="0">
                <a:pos x="0" y="1824"/>
              </a:cxn>
              <a:cxn ang="0">
                <a:pos x="2016" y="0"/>
              </a:cxn>
            </a:cxnLst>
            <a:rect l="0" t="0" r="0" b="0"/>
            <a:pathLst>
              <a:path w="2016" h="1824">
                <a:moveTo>
                  <a:pt x="2016" y="0"/>
                </a:moveTo>
                <a:lnTo>
                  <a:pt x="2016" y="144"/>
                </a:lnTo>
                <a:lnTo>
                  <a:pt x="0" y="1824"/>
                </a:lnTo>
                <a:lnTo>
                  <a:pt x="2016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2" name="شكل حر 21"/>
          <p:cNvSpPr>
            <a:spLocks/>
          </p:cNvSpPr>
          <p:nvPr/>
        </p:nvSpPr>
        <p:spPr bwMode="auto">
          <a:xfrm>
            <a:off x="5943600" y="1752600"/>
            <a:ext cx="3200400" cy="2514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2016" y="0"/>
              </a:cxn>
              <a:cxn ang="0">
                <a:pos x="0" y="1584"/>
              </a:cxn>
              <a:cxn ang="0">
                <a:pos x="2016" y="48"/>
              </a:cxn>
              <a:cxn ang="0">
                <a:pos x="2016" y="0"/>
              </a:cxn>
            </a:cxnLst>
            <a:rect l="0" t="0" r="0" b="0"/>
            <a:pathLst>
              <a:path w="2016" h="1584">
                <a:moveTo>
                  <a:pt x="2016" y="0"/>
                </a:moveTo>
                <a:lnTo>
                  <a:pt x="0" y="1584"/>
                </a:lnTo>
                <a:lnTo>
                  <a:pt x="2016" y="48"/>
                </a:lnTo>
                <a:lnTo>
                  <a:pt x="2016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3" name="شكل حر 22"/>
          <p:cNvSpPr>
            <a:spLocks/>
          </p:cNvSpPr>
          <p:nvPr/>
        </p:nvSpPr>
        <p:spPr bwMode="auto">
          <a:xfrm>
            <a:off x="990600" y="4267200"/>
            <a:ext cx="49530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3120" y="0"/>
              </a:cxn>
              <a:cxn ang="0">
                <a:pos x="1056" y="1632"/>
              </a:cxn>
              <a:cxn ang="0">
                <a:pos x="0" y="1632"/>
              </a:cxn>
            </a:cxnLst>
            <a:rect l="0" t="0" r="0" b="0"/>
            <a:pathLst>
              <a:path w="3120" h="1632">
                <a:moveTo>
                  <a:pt x="0" y="1632"/>
                </a:moveTo>
                <a:lnTo>
                  <a:pt x="3120" y="0"/>
                </a:lnTo>
                <a:lnTo>
                  <a:pt x="1056" y="1632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4" name="شكل حر 23"/>
          <p:cNvSpPr>
            <a:spLocks/>
          </p:cNvSpPr>
          <p:nvPr/>
        </p:nvSpPr>
        <p:spPr bwMode="auto">
          <a:xfrm>
            <a:off x="533400" y="4267200"/>
            <a:ext cx="53340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3360" y="0"/>
              </a:cxn>
              <a:cxn ang="0">
                <a:pos x="144" y="1632"/>
              </a:cxn>
              <a:cxn ang="0">
                <a:pos x="0" y="1632"/>
              </a:cxn>
            </a:cxnLst>
            <a:rect l="0" t="0" r="0" b="0"/>
            <a:pathLst>
              <a:path w="3360" h="1632">
                <a:moveTo>
                  <a:pt x="0" y="1632"/>
                </a:moveTo>
                <a:lnTo>
                  <a:pt x="3360" y="0"/>
                </a:lnTo>
                <a:lnTo>
                  <a:pt x="144" y="1632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5" name="شكل حر 24"/>
          <p:cNvSpPr>
            <a:spLocks/>
          </p:cNvSpPr>
          <p:nvPr/>
        </p:nvSpPr>
        <p:spPr bwMode="auto">
          <a:xfrm>
            <a:off x="366824" y="2438400"/>
            <a:ext cx="5638800" cy="1828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152"/>
              </a:cxn>
              <a:cxn ang="0">
                <a:pos x="0" y="384"/>
              </a:cxn>
              <a:cxn ang="0">
                <a:pos x="0" y="0"/>
              </a:cxn>
            </a:cxnLst>
            <a:rect l="0" t="0" r="0" b="0"/>
            <a:pathLst>
              <a:path w="3552" h="1152">
                <a:moveTo>
                  <a:pt x="0" y="0"/>
                </a:moveTo>
                <a:lnTo>
                  <a:pt x="3504" y="1152"/>
                </a:lnTo>
                <a:lnTo>
                  <a:pt x="0" y="384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6" name="شكل حر 25"/>
          <p:cNvSpPr>
            <a:spLocks/>
          </p:cNvSpPr>
          <p:nvPr/>
        </p:nvSpPr>
        <p:spPr bwMode="auto">
          <a:xfrm>
            <a:off x="366824" y="2133600"/>
            <a:ext cx="5638800" cy="2133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344"/>
              </a:cxn>
              <a:cxn ang="0">
                <a:pos x="0" y="48"/>
              </a:cxn>
              <a:cxn ang="0">
                <a:pos x="0" y="0"/>
              </a:cxn>
            </a:cxnLst>
            <a:rect l="0" t="0" r="0" b="0"/>
            <a:pathLst>
              <a:path w="3552" h="1344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7" name="شكل حر 26"/>
          <p:cNvSpPr>
            <a:spLocks/>
          </p:cNvSpPr>
          <p:nvPr/>
        </p:nvSpPr>
        <p:spPr bwMode="auto">
          <a:xfrm>
            <a:off x="4572000" y="4267200"/>
            <a:ext cx="13716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96" y="1632"/>
              </a:cxn>
              <a:cxn ang="0">
                <a:pos x="864" y="0"/>
              </a:cxn>
              <a:cxn ang="0">
                <a:pos x="0" y="1632"/>
              </a:cxn>
            </a:cxnLst>
            <a:rect l="0" t="0" r="0" b="0"/>
            <a:pathLst>
              <a:path w="864" h="1632">
                <a:moveTo>
                  <a:pt x="0" y="1632"/>
                </a:moveTo>
                <a:lnTo>
                  <a:pt x="96" y="1632"/>
                </a:lnTo>
                <a:lnTo>
                  <a:pt x="864" y="0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18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>
            <a:off x="706902" y="1351672"/>
            <a:ext cx="5718048" cy="977486"/>
          </a:xfrm>
        </p:spPr>
        <p:txBody>
          <a:bodyPr lIns="82296" tIns="45720" bIns="0" anchor="t"/>
          <a:lstStyle>
            <a:lvl1pPr marL="54864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ar-SA" smtClean="0"/>
              <a:t>انقر لتحرير أنماط النص الرئيسي</a:t>
            </a:r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9B69808-D37C-43F1-B868-93104A9DFB2C}" type="datetimeFigureOut">
              <a:rPr lang="en-US" smtClean="0"/>
              <a:pPr/>
              <a:t>3/28/2021</a:t>
            </a:fld>
            <a:endParaRPr lang="en-US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0BB6608-02F7-4545-A78A-9D3CF64313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مستطيل 6"/>
          <p:cNvSpPr/>
          <p:nvPr/>
        </p:nvSpPr>
        <p:spPr>
          <a:xfrm>
            <a:off x="363160" y="402264"/>
            <a:ext cx="8503920" cy="886265"/>
          </a:xfrm>
          <a:prstGeom prst="rect">
            <a:avLst/>
          </a:prstGeom>
          <a:solidFill>
            <a:schemeClr val="bg2">
              <a:tint val="95000"/>
              <a:satMod val="180000"/>
              <a:alpha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706902" y="512064"/>
            <a:ext cx="8156448" cy="777240"/>
          </a:xfrm>
        </p:spPr>
        <p:txBody>
          <a:bodyPr tIns="64008"/>
          <a:lstStyle>
            <a:lvl1pPr algn="l">
              <a:buNone/>
              <a:defRPr sz="3800" b="0" cap="none" spc="-150" baseline="0"/>
            </a:lvl1pPr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8" name="مستطيل 7"/>
          <p:cNvSpPr/>
          <p:nvPr/>
        </p:nvSpPr>
        <p:spPr>
          <a:xfrm flipH="1">
            <a:off x="371538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9" name="مستطيل 8"/>
          <p:cNvSpPr/>
          <p:nvPr/>
        </p:nvSpPr>
        <p:spPr>
          <a:xfrm flipH="1">
            <a:off x="411109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0" name="مستطيل 9"/>
          <p:cNvSpPr/>
          <p:nvPr/>
        </p:nvSpPr>
        <p:spPr>
          <a:xfrm flipH="1">
            <a:off x="448450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مستطيل 10"/>
          <p:cNvSpPr/>
          <p:nvPr/>
        </p:nvSpPr>
        <p:spPr>
          <a:xfrm flipH="1">
            <a:off x="476702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2" name="مستطيل 11"/>
          <p:cNvSpPr/>
          <p:nvPr/>
        </p:nvSpPr>
        <p:spPr>
          <a:xfrm>
            <a:off x="500478" y="680477"/>
            <a:ext cx="36576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محتويي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457200" y="512064"/>
            <a:ext cx="8229600" cy="914400"/>
          </a:xfrm>
        </p:spPr>
        <p:txBody>
          <a:bodyPr/>
          <a:lstStyle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محتوى 2"/>
          <p:cNvSpPr>
            <a:spLocks noGrp="1"/>
          </p:cNvSpPr>
          <p:nvPr>
            <p:ph sz="half" idx="1"/>
          </p:nvPr>
        </p:nvSpPr>
        <p:spPr>
          <a:xfrm>
            <a:off x="464344" y="17705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4" name="عنصر نائب للمحتوى 3"/>
          <p:cNvSpPr>
            <a:spLocks noGrp="1"/>
          </p:cNvSpPr>
          <p:nvPr>
            <p:ph sz="half" idx="2"/>
          </p:nvPr>
        </p:nvSpPr>
        <p:spPr>
          <a:xfrm>
            <a:off x="4655344" y="17705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9B69808-D37C-43F1-B868-93104A9DFB2C}" type="datetimeFigureOut">
              <a:rPr lang="en-US" smtClean="0"/>
              <a:pPr/>
              <a:t>3/28/2021</a:t>
            </a:fld>
            <a:endParaRPr lang="en-US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0BB6608-02F7-4545-A78A-9D3CF64313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مستطيل 24"/>
          <p:cNvSpPr/>
          <p:nvPr/>
        </p:nvSpPr>
        <p:spPr>
          <a:xfrm>
            <a:off x="0" y="402265"/>
            <a:ext cx="8867080" cy="886265"/>
          </a:xfrm>
          <a:prstGeom prst="rect">
            <a:avLst/>
          </a:prstGeom>
          <a:solidFill>
            <a:schemeClr val="bg2">
              <a:tint val="95000"/>
              <a:satMod val="180000"/>
              <a:alpha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504824" y="512064"/>
            <a:ext cx="7772400" cy="914400"/>
          </a:xfrm>
        </p:spPr>
        <p:txBody>
          <a:bodyPr anchor="t"/>
          <a:lstStyle>
            <a:lvl1pPr>
              <a:defRPr sz="4000"/>
            </a:lvl1pPr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>
            <a:off x="457200" y="1809750"/>
            <a:ext cx="4040188" cy="639762"/>
          </a:xfrm>
        </p:spPr>
        <p:txBody>
          <a:bodyPr anchor="ctr"/>
          <a:lstStyle>
            <a:lvl1pPr marL="73152" indent="0" algn="l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ar-SA" smtClean="0"/>
              <a:t>انقر لتحرير أنماط النص الرئيسي</a:t>
            </a:r>
          </a:p>
        </p:txBody>
      </p:sp>
      <p:sp>
        <p:nvSpPr>
          <p:cNvPr id="4" name="عنصر نائب للنص 3"/>
          <p:cNvSpPr>
            <a:spLocks noGrp="1"/>
          </p:cNvSpPr>
          <p:nvPr>
            <p:ph type="body" sz="half" idx="3"/>
          </p:nvPr>
        </p:nvSpPr>
        <p:spPr>
          <a:xfrm>
            <a:off x="4645025" y="1809750"/>
            <a:ext cx="4041775" cy="639762"/>
          </a:xfrm>
        </p:spPr>
        <p:txBody>
          <a:bodyPr anchor="ctr"/>
          <a:lstStyle>
            <a:lvl1pPr marL="73152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ar-SA" smtClean="0"/>
              <a:t>انقر لتحرير أنماط النص الرئيسي</a:t>
            </a:r>
          </a:p>
        </p:txBody>
      </p:sp>
      <p:sp>
        <p:nvSpPr>
          <p:cNvPr id="5" name="عنصر نائب للمحتوى 4"/>
          <p:cNvSpPr>
            <a:spLocks noGrp="1"/>
          </p:cNvSpPr>
          <p:nvPr>
            <p:ph sz="quarter" idx="2"/>
          </p:nvPr>
        </p:nvSpPr>
        <p:spPr>
          <a:xfrm>
            <a:off x="457200" y="2459037"/>
            <a:ext cx="4040188" cy="39593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6" name="عنصر نائب للمحتوى 5"/>
          <p:cNvSpPr>
            <a:spLocks noGrp="1"/>
          </p:cNvSpPr>
          <p:nvPr>
            <p:ph sz="quarter" idx="4"/>
          </p:nvPr>
        </p:nvSpPr>
        <p:spPr>
          <a:xfrm>
            <a:off x="4645025" y="2459037"/>
            <a:ext cx="4041775" cy="39593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7" name="عنصر نائب للتاريخ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9B69808-D37C-43F1-B868-93104A9DFB2C}" type="datetimeFigureOut">
              <a:rPr lang="en-US" smtClean="0"/>
              <a:pPr/>
              <a:t>3/28/2021</a:t>
            </a:fld>
            <a:endParaRPr lang="en-US"/>
          </a:p>
        </p:txBody>
      </p:sp>
      <p:sp>
        <p:nvSpPr>
          <p:cNvPr id="8" name="عنصر نائب للتذييل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عنصر نائب لرقم الشريحة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0BB6608-02F7-4545-A78A-9D3CF64313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مستطيل 15"/>
          <p:cNvSpPr/>
          <p:nvPr/>
        </p:nvSpPr>
        <p:spPr>
          <a:xfrm>
            <a:off x="87790" y="680477"/>
            <a:ext cx="45720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7" name="مستطيل 16"/>
          <p:cNvSpPr/>
          <p:nvPr/>
        </p:nvSpPr>
        <p:spPr>
          <a:xfrm>
            <a:off x="47305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8" name="مستطيل 17"/>
          <p:cNvSpPr/>
          <p:nvPr/>
        </p:nvSpPr>
        <p:spPr>
          <a:xfrm>
            <a:off x="28252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9" name="مستطيل 18"/>
          <p:cNvSpPr/>
          <p:nvPr/>
        </p:nvSpPr>
        <p:spPr>
          <a:xfrm>
            <a:off x="0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0" name="مستطيل 19"/>
          <p:cNvSpPr/>
          <p:nvPr/>
        </p:nvSpPr>
        <p:spPr>
          <a:xfrm flipH="1">
            <a:off x="149770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1" name="مستطيل 20"/>
          <p:cNvSpPr/>
          <p:nvPr/>
        </p:nvSpPr>
        <p:spPr>
          <a:xfrm flipH="1">
            <a:off x="189341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2" name="مستطيل 21"/>
          <p:cNvSpPr/>
          <p:nvPr/>
        </p:nvSpPr>
        <p:spPr>
          <a:xfrm flipH="1">
            <a:off x="226682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9" name="مستطيل 28"/>
          <p:cNvSpPr/>
          <p:nvPr/>
        </p:nvSpPr>
        <p:spPr>
          <a:xfrm flipH="1">
            <a:off x="254934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30" name="مستطيل 29"/>
          <p:cNvSpPr/>
          <p:nvPr/>
        </p:nvSpPr>
        <p:spPr>
          <a:xfrm>
            <a:off x="278710" y="680477"/>
            <a:ext cx="36576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914400" y="512064"/>
            <a:ext cx="7772400" cy="914400"/>
          </a:xfrm>
        </p:spPr>
        <p:txBody>
          <a:bodyPr/>
          <a:lstStyle>
            <a:lvl1pPr>
              <a:defRPr sz="4000" cap="none" baseline="0"/>
            </a:lvl1pPr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9B69808-D37C-43F1-B868-93104A9DFB2C}" type="datetimeFigureOut">
              <a:rPr lang="en-US" smtClean="0"/>
              <a:pPr/>
              <a:t>3/28/2021</a:t>
            </a:fld>
            <a:endParaRPr lang="en-US"/>
          </a:p>
        </p:txBody>
      </p:sp>
      <p:sp>
        <p:nvSpPr>
          <p:cNvPr id="4" name="عنصر نائب للتذييل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عنصر نائب لرقم الشريحة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0BB6608-02F7-4545-A78A-9D3CF64313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تاريخ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9B69808-D37C-43F1-B868-93104A9DFB2C}" type="datetimeFigureOut">
              <a:rPr lang="en-US" smtClean="0"/>
              <a:pPr/>
              <a:t>3/28/2021</a:t>
            </a:fld>
            <a:endParaRPr lang="en-US"/>
          </a:p>
        </p:txBody>
      </p:sp>
      <p:sp>
        <p:nvSpPr>
          <p:cNvPr id="3" name="عنصر نائب للتذييل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0BB6608-02F7-4545-A78A-9D3CF64313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محتوى ذو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685800" y="273050"/>
            <a:ext cx="8229600" cy="1162050"/>
          </a:xfrm>
        </p:spPr>
        <p:txBody>
          <a:bodyPr anchor="ctr"/>
          <a:lstStyle>
            <a:lvl1pPr algn="l">
              <a:buNone/>
              <a:defRPr sz="3600" b="0"/>
            </a:lvl1pPr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2"/>
          </p:nvPr>
        </p:nvSpPr>
        <p:spPr>
          <a:xfrm>
            <a:off x="685800" y="1435100"/>
            <a:ext cx="2514600" cy="4572000"/>
          </a:xfrm>
        </p:spPr>
        <p:txBody>
          <a:bodyPr/>
          <a:lstStyle>
            <a:lvl1pPr marL="54864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ar-SA" smtClean="0"/>
              <a:t>انقر لتحرير أنماط النص الرئيسي</a:t>
            </a:r>
          </a:p>
        </p:txBody>
      </p:sp>
      <p:sp>
        <p:nvSpPr>
          <p:cNvPr id="4" name="عنصر نائب للمحتوى 3"/>
          <p:cNvSpPr>
            <a:spLocks noGrp="1"/>
          </p:cNvSpPr>
          <p:nvPr>
            <p:ph sz="half" idx="1"/>
          </p:nvPr>
        </p:nvSpPr>
        <p:spPr>
          <a:xfrm>
            <a:off x="3429000" y="1435100"/>
            <a:ext cx="54864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9B69808-D37C-43F1-B868-93104A9DFB2C}" type="datetimeFigureOut">
              <a:rPr lang="en-US" smtClean="0"/>
              <a:pPr/>
              <a:t>3/28/2021</a:t>
            </a:fld>
            <a:endParaRPr lang="en-US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0BB6608-02F7-4545-A78A-9D3CF64313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صورة ذو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مستطيل 7"/>
          <p:cNvSpPr/>
          <p:nvPr/>
        </p:nvSpPr>
        <p:spPr>
          <a:xfrm>
            <a:off x="368032" y="0"/>
            <a:ext cx="8778240" cy="1878037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9" name="رابط مستقيم 8"/>
          <p:cNvCxnSpPr/>
          <p:nvPr/>
        </p:nvCxnSpPr>
        <p:spPr>
          <a:xfrm flipV="1">
            <a:off x="363195" y="1885028"/>
            <a:ext cx="8782622" cy="0"/>
          </a:xfrm>
          <a:prstGeom prst="line">
            <a:avLst/>
          </a:prstGeom>
          <a:noFill/>
          <a:ln w="19050" cap="flat" cmpd="sng" algn="ctr">
            <a:solidFill>
              <a:srgbClr val="FFFFFF">
                <a:alpha val="100000"/>
              </a:srgbClr>
            </a:soli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" name="مجموعة 9"/>
          <p:cNvGrpSpPr/>
          <p:nvPr/>
        </p:nvGrpSpPr>
        <p:grpSpPr>
          <a:xfrm rot="5400000">
            <a:off x="8514581" y="1219200"/>
            <a:ext cx="132763" cy="128466"/>
            <a:chOff x="6668087" y="1297746"/>
            <a:chExt cx="161840" cy="156602"/>
          </a:xfrm>
        </p:grpSpPr>
        <p:cxnSp>
          <p:nvCxnSpPr>
            <p:cNvPr id="15" name="رابط مستقيم 14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رابط مستقيم 15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رابط مستقيم 16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عنوان 1"/>
          <p:cNvSpPr>
            <a:spLocks noGrp="1"/>
          </p:cNvSpPr>
          <p:nvPr>
            <p:ph type="title"/>
          </p:nvPr>
        </p:nvSpPr>
        <p:spPr bwMode="grayWhite">
          <a:xfrm>
            <a:off x="914400" y="441251"/>
            <a:ext cx="6858000" cy="701749"/>
          </a:xfrm>
        </p:spPr>
        <p:txBody>
          <a:bodyPr anchor="b"/>
          <a:lstStyle>
            <a:lvl1pPr algn="l">
              <a:buNone/>
              <a:defRPr sz="2100" b="0"/>
            </a:lvl1pPr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صورة 2"/>
          <p:cNvSpPr>
            <a:spLocks noGrp="1"/>
          </p:cNvSpPr>
          <p:nvPr>
            <p:ph type="pic" idx="1"/>
          </p:nvPr>
        </p:nvSpPr>
        <p:spPr>
          <a:xfrm>
            <a:off x="368032" y="1893781"/>
            <a:ext cx="8778240" cy="4960144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ar-SA" smtClean="0"/>
              <a:t>انقر فوق الرمز لإضافة صورة</a:t>
            </a:r>
            <a:endParaRPr kumimoji="0" lang="en-US"/>
          </a:p>
        </p:txBody>
      </p:sp>
      <p:sp>
        <p:nvSpPr>
          <p:cNvPr id="4" name="عنصر نائب للنص 3"/>
          <p:cNvSpPr>
            <a:spLocks noGrp="1"/>
          </p:cNvSpPr>
          <p:nvPr>
            <p:ph type="body" sz="half" idx="2"/>
          </p:nvPr>
        </p:nvSpPr>
        <p:spPr bwMode="grayWhite">
          <a:xfrm>
            <a:off x="914400" y="1150144"/>
            <a:ext cx="6858000" cy="685800"/>
          </a:xfrm>
        </p:spPr>
        <p:txBody>
          <a:bodyPr/>
          <a:lstStyle>
            <a:lvl1pPr marL="27432" indent="0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ar-SA" smtClean="0"/>
              <a:t>انقر لتحرير أنماط النص الرئيسي</a:t>
            </a:r>
          </a:p>
        </p:txBody>
      </p:sp>
      <p:grpSp>
        <p:nvGrpSpPr>
          <p:cNvPr id="14" name="مجموعة 13"/>
          <p:cNvGrpSpPr/>
          <p:nvPr/>
        </p:nvGrpSpPr>
        <p:grpSpPr>
          <a:xfrm rot="5400000">
            <a:off x="8666981" y="1371600"/>
            <a:ext cx="132763" cy="128466"/>
            <a:chOff x="6668087" y="1297746"/>
            <a:chExt cx="161840" cy="156602"/>
          </a:xfrm>
        </p:grpSpPr>
        <p:cxnSp>
          <p:nvCxnSpPr>
            <p:cNvPr id="11" name="رابط مستقيم 10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رابط مستقيم 11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رابط مستقيم 12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مجموعة 17"/>
          <p:cNvGrpSpPr/>
          <p:nvPr/>
        </p:nvGrpSpPr>
        <p:grpSpPr>
          <a:xfrm rot="5400000">
            <a:off x="8320088" y="1474763"/>
            <a:ext cx="132763" cy="128466"/>
            <a:chOff x="6668087" y="1297746"/>
            <a:chExt cx="161840" cy="156602"/>
          </a:xfrm>
        </p:grpSpPr>
        <p:cxnSp>
          <p:nvCxnSpPr>
            <p:cNvPr id="19" name="رابط مستقيم 18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رابط مستقيم 19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رابط مستقيم 20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>
          <a:xfrm>
            <a:off x="6477000" y="55499"/>
            <a:ext cx="2133600" cy="365125"/>
          </a:xfrm>
        </p:spPr>
        <p:txBody>
          <a:bodyPr/>
          <a:lstStyle>
            <a:extLst/>
          </a:lstStyle>
          <a:p>
            <a:fld id="{79B69808-D37C-43F1-B868-93104A9DFB2C}" type="datetimeFigureOut">
              <a:rPr lang="en-US" smtClean="0"/>
              <a:pPr/>
              <a:t>3/28/2021</a:t>
            </a:fld>
            <a:endParaRPr lang="en-US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>
          <a:xfrm>
            <a:off x="914400" y="55499"/>
            <a:ext cx="5562600" cy="365125"/>
          </a:xfrm>
        </p:spPr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>
          <a:xfrm>
            <a:off x="8610600" y="55499"/>
            <a:ext cx="457200" cy="365125"/>
          </a:xfrm>
        </p:spPr>
        <p:txBody>
          <a:bodyPr/>
          <a:lstStyle>
            <a:extLst/>
          </a:lstStyle>
          <a:p>
            <a:fld id="{90BB6608-02F7-4545-A78A-9D3CF64313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عنوان العمودي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9B69808-D37C-43F1-B868-93104A9DFB2C}" type="datetimeFigureOut">
              <a:rPr lang="en-US" smtClean="0"/>
              <a:pPr/>
              <a:t>3/28/2021</a:t>
            </a:fld>
            <a:endParaRPr lang="en-US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0BB6608-02F7-4545-A78A-9D3CF64313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عمودي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981200" cy="5851525"/>
          </a:xfrm>
        </p:spPr>
        <p:txBody>
          <a:bodyPr vert="eaVert" anchor="ctr"/>
          <a:lstStyle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عنوان العمودي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58674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9B69808-D37C-43F1-B868-93104A9DFB2C}" type="datetimeFigureOut">
              <a:rPr lang="en-US" smtClean="0"/>
              <a:pPr/>
              <a:t>3/28/2021</a:t>
            </a:fld>
            <a:endParaRPr lang="en-US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0BB6608-02F7-4545-A78A-9D3CF64313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عنوان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22" name="عنوان فرعي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ar-SA" smtClean="0"/>
              <a:t>انقر لتحرير نمط العنوان الثانوي الرئيسي</a:t>
            </a:r>
            <a:endParaRPr kumimoji="0" lang="en-US"/>
          </a:p>
        </p:txBody>
      </p:sp>
      <p:sp>
        <p:nvSpPr>
          <p:cNvPr id="7" name="عنصر نائب للتاريخ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9B69808-D37C-43F1-B868-93104A9DFB2C}" type="datetimeFigureOut">
              <a:rPr lang="en-US" smtClean="0"/>
              <a:pPr/>
              <a:t>3/28/2021</a:t>
            </a:fld>
            <a:endParaRPr lang="en-US"/>
          </a:p>
        </p:txBody>
      </p:sp>
      <p:sp>
        <p:nvSpPr>
          <p:cNvPr id="20" name="عنصر نائب للتذييل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10" name="عنصر نائب لرقم الشريحة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0BB6608-02F7-4545-A78A-9D3CF64313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شكل بيضاوي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شكل بيضاوي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9B69808-D37C-43F1-B868-93104A9DFB2C}" type="datetimeFigureOut">
              <a:rPr lang="en-US" smtClean="0"/>
              <a:pPr/>
              <a:t>3/28/2021</a:t>
            </a:fld>
            <a:endParaRPr lang="en-US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0BB6608-02F7-4545-A78A-9D3CF64313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مستطيل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ar-SA" smtClean="0"/>
              <a:t>انقر لتحرير أنماط النص الرئيسي</a:t>
            </a:r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9B69808-D37C-43F1-B868-93104A9DFB2C}" type="datetimeFigureOut">
              <a:rPr lang="en-US" smtClean="0"/>
              <a:pPr/>
              <a:t>3/28/2021</a:t>
            </a:fld>
            <a:endParaRPr lang="en-US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0BB6608-02F7-4545-A78A-9D3CF64313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مستطيل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شكل بيضاوي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شكل بيضاوي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ي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محتوى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4" name="عنصر نائب للمحتوى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9B69808-D37C-43F1-B868-93104A9DFB2C}" type="datetimeFigureOut">
              <a:rPr lang="en-US" smtClean="0"/>
              <a:pPr/>
              <a:t>3/28/2021</a:t>
            </a:fld>
            <a:endParaRPr lang="en-US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0BB6608-02F7-4545-A78A-9D3CF64313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ar-SA" smtClean="0"/>
              <a:t>انقر لتحرير أنماط النص الرئيسي</a:t>
            </a:r>
          </a:p>
        </p:txBody>
      </p:sp>
      <p:sp>
        <p:nvSpPr>
          <p:cNvPr id="4" name="عنصر نائب للنص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ar-SA" smtClean="0"/>
              <a:t>انقر لتحرير أنماط النص الرئيسي</a:t>
            </a:r>
          </a:p>
        </p:txBody>
      </p:sp>
      <p:sp>
        <p:nvSpPr>
          <p:cNvPr id="5" name="عنصر نائب للمحتوى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6" name="عنصر نائب للمحتوى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7" name="عنصر نائب للتاريخ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9B69808-D37C-43F1-B868-93104A9DFB2C}" type="datetimeFigureOut">
              <a:rPr lang="en-US" smtClean="0"/>
              <a:pPr/>
              <a:t>3/28/2021</a:t>
            </a:fld>
            <a:endParaRPr lang="en-US"/>
          </a:p>
        </p:txBody>
      </p:sp>
      <p:sp>
        <p:nvSpPr>
          <p:cNvPr id="8" name="عنصر نائب للتذييل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عنصر نائب لرقم الشريحة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0BB6608-02F7-4545-A78A-9D3CF64313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9B69808-D37C-43F1-B868-93104A9DFB2C}" type="datetimeFigureOut">
              <a:rPr lang="en-US" smtClean="0"/>
              <a:pPr/>
              <a:t>3/28/2021</a:t>
            </a:fld>
            <a:endParaRPr lang="en-US"/>
          </a:p>
        </p:txBody>
      </p:sp>
      <p:sp>
        <p:nvSpPr>
          <p:cNvPr id="4" name="عنصر نائب للتذييل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عنصر نائب لرقم الشريحة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0BB6608-02F7-4545-A78A-9D3CF64313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مستطيل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عنصر نائب للتاريخ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9B69808-D37C-43F1-B868-93104A9DFB2C}" type="datetimeFigureOut">
              <a:rPr lang="en-US" smtClean="0"/>
              <a:pPr/>
              <a:t>3/28/2021</a:t>
            </a:fld>
            <a:endParaRPr lang="en-US"/>
          </a:p>
        </p:txBody>
      </p:sp>
      <p:sp>
        <p:nvSpPr>
          <p:cNvPr id="3" name="عنصر نائب للتذييل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0BB6608-02F7-4545-A78A-9D3CF64313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مستطيل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محتوى ذو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ar-SA" smtClean="0"/>
              <a:t>انقر لتحرير أنماط النص الرئيسي</a:t>
            </a:r>
          </a:p>
        </p:txBody>
      </p:sp>
      <p:sp>
        <p:nvSpPr>
          <p:cNvPr id="4" name="عنصر نائب للمحتوى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9B69808-D37C-43F1-B868-93104A9DFB2C}" type="datetimeFigureOut">
              <a:rPr lang="en-US" smtClean="0"/>
              <a:pPr/>
              <a:t>3/28/2021</a:t>
            </a:fld>
            <a:endParaRPr lang="en-US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0BB6608-02F7-4545-A78A-9D3CF64313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صورة ذو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9B69808-D37C-43F1-B868-93104A9DFB2C}" type="datetimeFigureOut">
              <a:rPr lang="en-US" smtClean="0"/>
              <a:pPr/>
              <a:t>3/28/2021</a:t>
            </a:fld>
            <a:endParaRPr lang="en-US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0BB6608-02F7-4545-A78A-9D3CF64313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مستطيل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عنصر نائب للصورة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ar-SA" smtClean="0"/>
              <a:t>انقر فوق الرمز لإضافة صورة</a:t>
            </a:r>
            <a:endParaRPr kumimoji="0" lang="en-US" dirty="0"/>
          </a:p>
        </p:txBody>
      </p:sp>
      <p:sp>
        <p:nvSpPr>
          <p:cNvPr id="9" name="مخطط انسيابي: معالجة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مخطط انسيابي: معالجة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عنصر نائب للنص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ar-SA" smtClean="0"/>
              <a:t>انقر لتحرير أنماط النص الرئيسي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عنوان العمودي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9B69808-D37C-43F1-B868-93104A9DFB2C}" type="datetimeFigureOut">
              <a:rPr lang="en-US" smtClean="0"/>
              <a:pPr/>
              <a:t>3/28/2021</a:t>
            </a:fld>
            <a:endParaRPr lang="en-US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0BB6608-02F7-4545-A78A-9D3CF64313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عمودي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عنوان العمودي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9B69808-D37C-43F1-B868-93104A9DFB2C}" type="datetimeFigureOut">
              <a:rPr lang="en-US" smtClean="0"/>
              <a:pPr/>
              <a:t>3/28/2021</a:t>
            </a:fld>
            <a:endParaRPr lang="en-US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0BB6608-02F7-4545-A78A-9D3CF64313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مستطيل 6"/>
          <p:cNvSpPr/>
          <p:nvPr/>
        </p:nvSpPr>
        <p:spPr>
          <a:xfrm>
            <a:off x="0" y="-1"/>
            <a:ext cx="365760" cy="6854456"/>
          </a:xfrm>
          <a:prstGeom prst="rect">
            <a:avLst/>
          </a:prstGeom>
          <a:solidFill>
            <a:srgbClr val="FFFFF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مستطيل 7"/>
          <p:cNvSpPr/>
          <p:nvPr/>
        </p:nvSpPr>
        <p:spPr>
          <a:xfrm>
            <a:off x="255291" y="5047394"/>
            <a:ext cx="73152" cy="169164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مستطيل 8"/>
          <p:cNvSpPr/>
          <p:nvPr/>
        </p:nvSpPr>
        <p:spPr>
          <a:xfrm>
            <a:off x="255291" y="4796819"/>
            <a:ext cx="73152" cy="2286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مستطيل 9"/>
          <p:cNvSpPr/>
          <p:nvPr/>
        </p:nvSpPr>
        <p:spPr>
          <a:xfrm>
            <a:off x="255291" y="4637685"/>
            <a:ext cx="73152" cy="137160"/>
          </a:xfrm>
          <a:prstGeom prst="rect">
            <a:avLst/>
          </a:prstGeom>
          <a:solidFill>
            <a:schemeClr val="bg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مستطيل 10"/>
          <p:cNvSpPr/>
          <p:nvPr/>
        </p:nvSpPr>
        <p:spPr>
          <a:xfrm>
            <a:off x="255291" y="4542559"/>
            <a:ext cx="73152" cy="7315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2" name="مستطيل 11"/>
          <p:cNvSpPr/>
          <p:nvPr/>
        </p:nvSpPr>
        <p:spPr>
          <a:xfrm>
            <a:off x="309558" y="680477"/>
            <a:ext cx="45720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5" name="مستطيل 14"/>
          <p:cNvSpPr/>
          <p:nvPr/>
        </p:nvSpPr>
        <p:spPr>
          <a:xfrm>
            <a:off x="269073" y="680477"/>
            <a:ext cx="27432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6" name="مستطيل 15"/>
          <p:cNvSpPr/>
          <p:nvPr/>
        </p:nvSpPr>
        <p:spPr>
          <a:xfrm>
            <a:off x="250020" y="680477"/>
            <a:ext cx="9144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7" name="مستطيل 16"/>
          <p:cNvSpPr/>
          <p:nvPr/>
        </p:nvSpPr>
        <p:spPr>
          <a:xfrm>
            <a:off x="221768" y="680477"/>
            <a:ext cx="9144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2" name="عنصر نائب للعنوان 21"/>
          <p:cNvSpPr>
            <a:spLocks noGrp="1"/>
          </p:cNvSpPr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</p:spPr>
        <p:txBody>
          <a:bodyPr vert="horz" anchor="t">
            <a:noAutofit/>
          </a:bodyPr>
          <a:lstStyle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13" name="عنصر نائب للنص 12"/>
          <p:cNvSpPr>
            <a:spLocks noGrp="1"/>
          </p:cNvSpPr>
          <p:nvPr>
            <p:ph type="body" idx="1"/>
          </p:nvPr>
        </p:nvSpPr>
        <p:spPr>
          <a:xfrm>
            <a:off x="914400" y="1783560"/>
            <a:ext cx="7772400" cy="4572000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ar-SA" smtClean="0"/>
              <a:t>انقر لتحرير أنماط النص الرئيسي</a:t>
            </a:r>
          </a:p>
          <a:p>
            <a:pPr lvl="1" eaLnBrk="1" latinLnBrk="0" hangingPunct="1"/>
            <a:r>
              <a:rPr kumimoji="0" lang="ar-SA" smtClean="0"/>
              <a:t>المستوى الثاني</a:t>
            </a:r>
          </a:p>
          <a:p>
            <a:pPr lvl="2" eaLnBrk="1" latinLnBrk="0" hangingPunct="1"/>
            <a:r>
              <a:rPr kumimoji="0" lang="ar-SA" smtClean="0"/>
              <a:t>المستوى الثالث</a:t>
            </a:r>
          </a:p>
          <a:p>
            <a:pPr lvl="3" eaLnBrk="1" latinLnBrk="0" hangingPunct="1"/>
            <a:r>
              <a:rPr kumimoji="0" lang="ar-SA" smtClean="0"/>
              <a:t>المستوى الرابع</a:t>
            </a:r>
          </a:p>
          <a:p>
            <a:pPr lvl="4" eaLnBrk="1" latinLnBrk="0" hangingPunct="1"/>
            <a:r>
              <a:rPr kumimoji="0" lang="ar-SA" smtClean="0"/>
              <a:t>المستوى الخامس</a:t>
            </a:r>
            <a:endParaRPr kumimoji="0" lang="en-US"/>
          </a:p>
        </p:txBody>
      </p:sp>
      <p:sp>
        <p:nvSpPr>
          <p:cNvPr id="14" name="عنصر نائب للتاريخ 13"/>
          <p:cNvSpPr>
            <a:spLocks noGrp="1"/>
          </p:cNvSpPr>
          <p:nvPr>
            <p:ph type="dt" sz="half" idx="2"/>
          </p:nvPr>
        </p:nvSpPr>
        <p:spPr>
          <a:xfrm>
            <a:off x="64770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fld id="{79B69808-D37C-43F1-B868-93104A9DFB2C}" type="datetimeFigureOut">
              <a:rPr lang="en-US" smtClean="0"/>
              <a:pPr/>
              <a:t>3/28/2021</a:t>
            </a:fld>
            <a:endParaRPr lang="en-US"/>
          </a:p>
        </p:txBody>
      </p:sp>
      <p:sp>
        <p:nvSpPr>
          <p:cNvPr id="3" name="عنصر نائب للتذييل 2"/>
          <p:cNvSpPr>
            <a:spLocks noGrp="1"/>
          </p:cNvSpPr>
          <p:nvPr>
            <p:ph type="ftr" sz="quarter" idx="3"/>
          </p:nvPr>
        </p:nvSpPr>
        <p:spPr>
          <a:xfrm>
            <a:off x="914400" y="6416675"/>
            <a:ext cx="55626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3" name="عنصر نائب لرقم الشريحة 22"/>
          <p:cNvSpPr>
            <a:spLocks noGrp="1"/>
          </p:cNvSpPr>
          <p:nvPr>
            <p:ph type="sldNum" sz="quarter" idx="4"/>
          </p:nvPr>
        </p:nvSpPr>
        <p:spPr>
          <a:xfrm>
            <a:off x="8610600" y="6416675"/>
            <a:ext cx="4572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  <a:extLst/>
          </a:lstStyle>
          <a:p>
            <a:fld id="{90BB6608-02F7-4545-A78A-9D3CF64313B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 spc="-100" baseline="0">
          <a:solidFill>
            <a:schemeClr val="tx2">
              <a:satMod val="200000"/>
            </a:schemeClr>
          </a:solidFill>
          <a:latin typeface="+mj-lt"/>
          <a:ea typeface="+mj-ea"/>
          <a:cs typeface="+mj-cs"/>
        </a:defRPr>
      </a:lvl1pPr>
      <a:extLst/>
    </p:titleStyle>
    <p:bodyStyle>
      <a:lvl1pPr marL="411480" indent="-342900" algn="l" rtl="0" eaLnBrk="1" latinLnBrk="0" hangingPunct="1">
        <a:spcBef>
          <a:spcPts val="700"/>
        </a:spcBef>
        <a:buClr>
          <a:schemeClr val="tx2"/>
        </a:buClr>
        <a:buSzPct val="95000"/>
        <a:buFont typeface="Wingdings"/>
        <a:buChar char="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40664" indent="-28575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2"/>
        </a:buClr>
        <a:buFont typeface="Wingdings 2"/>
        <a:buChar char="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61872" indent="-228600" algn="l" rtl="0" eaLnBrk="1" latinLnBrk="0" hangingPunct="1">
        <a:spcBef>
          <a:spcPct val="20000"/>
        </a:spcBef>
        <a:buClr>
          <a:schemeClr val="accent3"/>
        </a:buClr>
        <a:buFont typeface="Wingdings 3"/>
        <a:buChar char="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14813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99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01952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93976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دائري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شكل بيضاوي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دائرة مجوفة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مستطيل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عنصر نائب للعنوان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9" name="عنصر نائب للنص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ar-SA" smtClean="0"/>
              <a:t>انقر لتحرير أنماط النص الرئيسي</a:t>
            </a:r>
          </a:p>
          <a:p>
            <a:pPr lvl="1" eaLnBrk="1" latinLnBrk="0" hangingPunct="1"/>
            <a:r>
              <a:rPr kumimoji="0" lang="ar-SA" smtClean="0"/>
              <a:t>المستوى الثاني</a:t>
            </a:r>
          </a:p>
          <a:p>
            <a:pPr lvl="2" eaLnBrk="1" latinLnBrk="0" hangingPunct="1"/>
            <a:r>
              <a:rPr kumimoji="0" lang="ar-SA" smtClean="0"/>
              <a:t>المستوى الثالث</a:t>
            </a:r>
          </a:p>
          <a:p>
            <a:pPr lvl="3" eaLnBrk="1" latinLnBrk="0" hangingPunct="1"/>
            <a:r>
              <a:rPr kumimoji="0" lang="ar-SA" smtClean="0"/>
              <a:t>المستوى الرابع</a:t>
            </a:r>
          </a:p>
          <a:p>
            <a:pPr lvl="4" eaLnBrk="1" latinLnBrk="0" hangingPunct="1"/>
            <a:r>
              <a:rPr kumimoji="0" lang="ar-SA" smtClean="0"/>
              <a:t>المستوى الخامس</a:t>
            </a:r>
            <a:endParaRPr kumimoji="0" lang="en-US"/>
          </a:p>
        </p:txBody>
      </p:sp>
      <p:sp>
        <p:nvSpPr>
          <p:cNvPr id="24" name="عنصر نائب للتاريخ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79B69808-D37C-43F1-B868-93104A9DFB2C}" type="datetimeFigureOut">
              <a:rPr lang="en-US" smtClean="0"/>
              <a:pPr/>
              <a:t>3/28/2021</a:t>
            </a:fld>
            <a:endParaRPr lang="en-US"/>
          </a:p>
        </p:txBody>
      </p:sp>
      <p:sp>
        <p:nvSpPr>
          <p:cNvPr id="10" name="عنصر نائب للتذييل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عنصر نائب لرقم الشريحة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90BB6608-02F7-4545-A78A-9D3CF64313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مستطيل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4"/>
          <p:cNvSpPr txBox="1">
            <a:spLocks noChangeArrowheads="1"/>
          </p:cNvSpPr>
          <p:nvPr/>
        </p:nvSpPr>
        <p:spPr bwMode="auto">
          <a:xfrm>
            <a:off x="2819400" y="228600"/>
            <a:ext cx="5867400" cy="21082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3200" b="1" dirty="0" smtClean="0">
                <a:solidFill>
                  <a:srgbClr val="002060"/>
                </a:solidFill>
                <a:latin typeface="Elephant" pitchFamily="18" charset="0"/>
              </a:rPr>
              <a:t>Respiratory  </a:t>
            </a:r>
            <a:r>
              <a:rPr lang="en-US" sz="3200" b="1" dirty="0">
                <a:solidFill>
                  <a:srgbClr val="002060"/>
                </a:solidFill>
                <a:latin typeface="Elephant" pitchFamily="18" charset="0"/>
              </a:rPr>
              <a:t>Physiology</a:t>
            </a:r>
            <a:r>
              <a:rPr lang="en-US" sz="3600" b="1" dirty="0">
                <a:solidFill>
                  <a:srgbClr val="002060"/>
                </a:solidFill>
                <a:latin typeface="Elephant" pitchFamily="18" charset="0"/>
              </a:rPr>
              <a:t/>
            </a:r>
            <a:br>
              <a:rPr lang="en-US" sz="3600" b="1" dirty="0">
                <a:solidFill>
                  <a:srgbClr val="002060"/>
                </a:solidFill>
                <a:latin typeface="Elephant" pitchFamily="18" charset="0"/>
              </a:rPr>
            </a:br>
            <a:r>
              <a:rPr lang="en-US" b="1" dirty="0" smtClean="0">
                <a:solidFill>
                  <a:srgbClr val="002060"/>
                </a:solidFill>
                <a:latin typeface="Elephant" pitchFamily="18" charset="0"/>
              </a:rPr>
              <a:t>Bader Hassan</a:t>
            </a:r>
          </a:p>
          <a:p>
            <a:pPr algn="r">
              <a:spcBef>
                <a:spcPct val="50000"/>
              </a:spcBef>
            </a:pPr>
            <a:r>
              <a:rPr lang="en-US" b="1" dirty="0" smtClean="0">
                <a:solidFill>
                  <a:srgbClr val="002060"/>
                </a:solidFill>
                <a:latin typeface="Elephant" pitchFamily="18" charset="0"/>
              </a:rPr>
              <a:t>Lecturer </a:t>
            </a:r>
            <a:r>
              <a:rPr lang="en-US" b="1" dirty="0">
                <a:solidFill>
                  <a:srgbClr val="002060"/>
                </a:solidFill>
                <a:latin typeface="Elephant" pitchFamily="18" charset="0"/>
              </a:rPr>
              <a:t>Of Physiology</a:t>
            </a:r>
          </a:p>
          <a:p>
            <a:pPr algn="r">
              <a:spcBef>
                <a:spcPct val="50000"/>
              </a:spcBef>
            </a:pPr>
            <a:endParaRPr lang="en-US" sz="3600" b="1" dirty="0">
              <a:solidFill>
                <a:srgbClr val="0066FF"/>
              </a:solidFill>
              <a:latin typeface="Elephant" pitchFamily="18" charset="0"/>
            </a:endParaRPr>
          </a:p>
        </p:txBody>
      </p:sp>
      <p:sp>
        <p:nvSpPr>
          <p:cNvPr id="22531" name="Text Box 5"/>
          <p:cNvSpPr txBox="1">
            <a:spLocks noChangeArrowheads="1"/>
          </p:cNvSpPr>
          <p:nvPr/>
        </p:nvSpPr>
        <p:spPr bwMode="auto">
          <a:xfrm>
            <a:off x="381000" y="6248400"/>
            <a:ext cx="8001000" cy="461963"/>
          </a:xfrm>
          <a:prstGeom prst="rect">
            <a:avLst/>
          </a:prstGeom>
          <a:gradFill rotWithShape="1">
            <a:gsLst>
              <a:gs pos="0">
                <a:srgbClr val="2F4776"/>
              </a:gs>
              <a:gs pos="50000">
                <a:srgbClr val="6699FF"/>
              </a:gs>
              <a:gs pos="100000">
                <a:srgbClr val="2F4776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/>
              <a:t>Faculty Of Medicine Dept.Of Physiology</a:t>
            </a:r>
            <a:r>
              <a:rPr lang="en-US" b="1">
                <a:solidFill>
                  <a:schemeClr val="bg1"/>
                </a:solidFill>
              </a:rPr>
              <a:t>  </a:t>
            </a:r>
          </a:p>
        </p:txBody>
      </p:sp>
      <p:sp>
        <p:nvSpPr>
          <p:cNvPr id="22532" name="Text Box 7"/>
          <p:cNvSpPr txBox="1">
            <a:spLocks noChangeArrowheads="1"/>
          </p:cNvSpPr>
          <p:nvPr/>
        </p:nvSpPr>
        <p:spPr bwMode="auto">
          <a:xfrm>
            <a:off x="228600" y="1752600"/>
            <a:ext cx="3810000" cy="3754874"/>
          </a:xfrm>
          <a:prstGeom prst="rect">
            <a:avLst/>
          </a:prstGeom>
          <a:solidFill>
            <a:srgbClr val="002060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4400" b="1" dirty="0" smtClean="0">
                <a:solidFill>
                  <a:srgbClr val="FFC000"/>
                </a:solidFill>
                <a:latin typeface="Andalus" pitchFamily="18" charset="-78"/>
                <a:cs typeface="Andalus" pitchFamily="18" charset="-78"/>
              </a:rPr>
              <a:t>    Control </a:t>
            </a:r>
          </a:p>
          <a:p>
            <a:pPr>
              <a:spcBef>
                <a:spcPct val="50000"/>
              </a:spcBef>
            </a:pPr>
            <a:r>
              <a:rPr lang="en-US" sz="4400" b="1" dirty="0" smtClean="0">
                <a:solidFill>
                  <a:srgbClr val="FFC000"/>
                </a:solidFill>
                <a:latin typeface="Andalus" pitchFamily="18" charset="-78"/>
                <a:cs typeface="Andalus" pitchFamily="18" charset="-78"/>
              </a:rPr>
              <a:t>        of </a:t>
            </a:r>
          </a:p>
          <a:p>
            <a:pPr>
              <a:spcBef>
                <a:spcPct val="50000"/>
              </a:spcBef>
            </a:pPr>
            <a:r>
              <a:rPr lang="en-US" sz="4400" b="1" dirty="0" smtClean="0">
                <a:solidFill>
                  <a:srgbClr val="FFC000"/>
                </a:solidFill>
                <a:latin typeface="Andalus" pitchFamily="18" charset="-78"/>
                <a:cs typeface="Andalus" pitchFamily="18" charset="-78"/>
              </a:rPr>
              <a:t>   respiration</a:t>
            </a:r>
            <a:r>
              <a:rPr lang="en-US" sz="4400" b="1" dirty="0" smtClean="0">
                <a:solidFill>
                  <a:schemeClr val="bg2"/>
                </a:solidFill>
                <a:latin typeface="Andalus" pitchFamily="18" charset="-78"/>
                <a:cs typeface="Andalus" pitchFamily="18" charset="-78"/>
              </a:rPr>
              <a:t>   </a:t>
            </a:r>
            <a:r>
              <a:rPr lang="en-US" sz="2000" b="1" i="1" dirty="0"/>
              <a:t/>
            </a:r>
            <a:br>
              <a:rPr lang="en-US" sz="2000" b="1" i="1" dirty="0"/>
            </a:br>
            <a:endParaRPr lang="en-US" sz="2000" b="1" i="1" dirty="0"/>
          </a:p>
          <a:p>
            <a:pPr>
              <a:spcBef>
                <a:spcPct val="50000"/>
              </a:spcBef>
            </a:pPr>
            <a:endParaRPr lang="en-US" sz="2800" b="1" dirty="0">
              <a:solidFill>
                <a:srgbClr val="FF3300"/>
              </a:solidFill>
            </a:endParaRPr>
          </a:p>
        </p:txBody>
      </p:sp>
      <p:sp>
        <p:nvSpPr>
          <p:cNvPr id="22533" name="Text Box 9"/>
          <p:cNvSpPr txBox="1">
            <a:spLocks noChangeArrowheads="1"/>
          </p:cNvSpPr>
          <p:nvPr/>
        </p:nvSpPr>
        <p:spPr bwMode="auto">
          <a:xfrm>
            <a:off x="0" y="152400"/>
            <a:ext cx="3657600" cy="369332"/>
          </a:xfrm>
          <a:prstGeom prst="rect">
            <a:avLst/>
          </a:prstGeom>
          <a:gradFill rotWithShape="1">
            <a:gsLst>
              <a:gs pos="0">
                <a:srgbClr val="2F4776"/>
              </a:gs>
              <a:gs pos="50000">
                <a:srgbClr val="6699FF"/>
              </a:gs>
              <a:gs pos="100000">
                <a:srgbClr val="2F4776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 dirty="0"/>
              <a:t>LECTURE NO </a:t>
            </a:r>
            <a:r>
              <a:rPr lang="en-US" b="1" dirty="0" smtClean="0"/>
              <a:t>(6)   </a:t>
            </a:r>
            <a:endParaRPr lang="ar-SA" b="1" dirty="0"/>
          </a:p>
        </p:txBody>
      </p:sp>
      <p:pic>
        <p:nvPicPr>
          <p:cNvPr id="9" name="Picture 4" descr="untitled.bmp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91000" y="1524000"/>
            <a:ext cx="4800600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whee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Control of respiration</a:t>
            </a:r>
            <a:endParaRPr lang="en-US" dirty="0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914400" y="1447800"/>
            <a:ext cx="7772400" cy="4907760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sz="3200" b="1" u="sng" dirty="0" smtClean="0">
                <a:solidFill>
                  <a:srgbClr val="FFC000"/>
                </a:solidFill>
                <a:latin typeface="Centaur" pitchFamily="18" charset="0"/>
              </a:rPr>
              <a:t>Can be studied as:-</a:t>
            </a:r>
          </a:p>
          <a:p>
            <a:r>
              <a:rPr lang="en-US" dirty="0" smtClean="0">
                <a:latin typeface="Centaur" pitchFamily="18" charset="0"/>
              </a:rPr>
              <a:t>Neural control.</a:t>
            </a:r>
          </a:p>
          <a:p>
            <a:r>
              <a:rPr lang="en-US" dirty="0" smtClean="0">
                <a:latin typeface="Centaur" pitchFamily="18" charset="0"/>
              </a:rPr>
              <a:t>Chemical control.</a:t>
            </a:r>
          </a:p>
          <a:p>
            <a:pPr>
              <a:buFont typeface="Wingdings" pitchFamily="2" charset="2"/>
              <a:buChar char="Ø"/>
            </a:pPr>
            <a:r>
              <a:rPr lang="en-US" sz="3200" b="1" u="sng" dirty="0" smtClean="0">
                <a:solidFill>
                  <a:srgbClr val="FFC000"/>
                </a:solidFill>
                <a:latin typeface="Centaur" pitchFamily="18" charset="0"/>
              </a:rPr>
              <a:t>The neural control includes 2 types:</a:t>
            </a:r>
          </a:p>
          <a:p>
            <a:r>
              <a:rPr lang="en-US" dirty="0" smtClean="0">
                <a:latin typeface="Centaur" pitchFamily="18" charset="0"/>
              </a:rPr>
              <a:t>Involuntary control (via the respiratory center). </a:t>
            </a:r>
          </a:p>
          <a:p>
            <a:r>
              <a:rPr lang="en-US" dirty="0" smtClean="0">
                <a:latin typeface="Centaur" pitchFamily="18" charset="0"/>
              </a:rPr>
              <a:t>Voluntary control (via the cerebral cortex).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304800"/>
            <a:ext cx="8153400" cy="632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Respiratory center </a:t>
            </a:r>
            <a:endParaRPr lang="en-US" dirty="0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>
                <a:latin typeface="Centaur" pitchFamily="18" charset="0"/>
              </a:rPr>
              <a:t>Found in the brain stem (in the medulla &amp; pons).</a:t>
            </a:r>
          </a:p>
          <a:p>
            <a:r>
              <a:rPr lang="en-US" dirty="0" smtClean="0">
                <a:latin typeface="Centaur" pitchFamily="18" charset="0"/>
              </a:rPr>
              <a:t>It discharges impulses rhythmically to cause respiration.</a:t>
            </a:r>
          </a:p>
          <a:p>
            <a:pPr>
              <a:buFont typeface="Wingdings" pitchFamily="2" charset="2"/>
              <a:buChar char="Ø"/>
            </a:pPr>
            <a:r>
              <a:rPr lang="en-US" sz="3200" b="1" u="sng" dirty="0" smtClean="0">
                <a:solidFill>
                  <a:srgbClr val="FFC000"/>
                </a:solidFill>
                <a:latin typeface="Centaur" pitchFamily="18" charset="0"/>
              </a:rPr>
              <a:t>Factors that affect the respiratory center and modify respiration include:</a:t>
            </a:r>
          </a:p>
          <a:p>
            <a:r>
              <a:rPr lang="en-US" b="1" i="1" u="sng" dirty="0" smtClean="0">
                <a:latin typeface="Centaur" pitchFamily="18" charset="0"/>
              </a:rPr>
              <a:t>The cerebral cortex</a:t>
            </a:r>
            <a:r>
              <a:rPr lang="en-US" dirty="0" smtClean="0">
                <a:latin typeface="Centaur" pitchFamily="18" charset="0"/>
              </a:rPr>
              <a:t>: responsible for voluntary control.</a:t>
            </a:r>
          </a:p>
          <a:p>
            <a:r>
              <a:rPr lang="en-US" b="1" i="1" u="sng" dirty="0" smtClean="0">
                <a:latin typeface="Centaur" pitchFamily="18" charset="0"/>
              </a:rPr>
              <a:t>The hypothalamus: </a:t>
            </a:r>
            <a:r>
              <a:rPr lang="en-US" dirty="0" smtClean="0">
                <a:latin typeface="Centaur" pitchFamily="18" charset="0"/>
              </a:rPr>
              <a:t>↑respiration when the body temperature rises.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i="1" u="sng" dirty="0" smtClean="0">
                <a:latin typeface="Centaur" pitchFamily="18" charset="0"/>
              </a:rPr>
              <a:t>Baroreceptors: </a:t>
            </a:r>
            <a:r>
              <a:rPr lang="en-US" dirty="0" smtClean="0">
                <a:latin typeface="Centaur" pitchFamily="18" charset="0"/>
              </a:rPr>
              <a:t>↓ respiration when the blood pressure rises.</a:t>
            </a:r>
          </a:p>
          <a:p>
            <a:r>
              <a:rPr lang="en-US" b="1" i="1" u="sng" dirty="0" smtClean="0">
                <a:latin typeface="Centaur" pitchFamily="18" charset="0"/>
              </a:rPr>
              <a:t>Chemoreceptors:  </a:t>
            </a:r>
            <a:r>
              <a:rPr lang="en-US" dirty="0" smtClean="0">
                <a:latin typeface="Centaur" pitchFamily="18" charset="0"/>
              </a:rPr>
              <a:t>responsible for the chemical control.</a:t>
            </a:r>
          </a:p>
          <a:p>
            <a:r>
              <a:rPr lang="en-US" b="1" i="1" u="sng" dirty="0" smtClean="0">
                <a:latin typeface="Centaur" pitchFamily="18" charset="0"/>
              </a:rPr>
              <a:t>Proprioceptors: </a:t>
            </a:r>
            <a:r>
              <a:rPr lang="en-US" dirty="0" smtClean="0">
                <a:latin typeface="Centaur" pitchFamily="18" charset="0"/>
              </a:rPr>
              <a:t>↑ respiration during exercise.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9" name="Oval 5"/>
          <p:cNvSpPr>
            <a:spLocks noChangeArrowheads="1"/>
          </p:cNvSpPr>
          <p:nvPr/>
        </p:nvSpPr>
        <p:spPr bwMode="auto">
          <a:xfrm>
            <a:off x="2627313" y="6092825"/>
            <a:ext cx="3887787" cy="576263"/>
          </a:xfrm>
          <a:prstGeom prst="ellipse">
            <a:avLst/>
          </a:prstGeom>
          <a:solidFill>
            <a:schemeClr val="bg2">
              <a:lumMod val="9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6150" name="Oval 6"/>
          <p:cNvSpPr>
            <a:spLocks noChangeArrowheads="1"/>
          </p:cNvSpPr>
          <p:nvPr/>
        </p:nvSpPr>
        <p:spPr bwMode="auto">
          <a:xfrm>
            <a:off x="4427538" y="6338888"/>
            <a:ext cx="271462" cy="1143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6151" name="AutoShape 7"/>
          <p:cNvSpPr>
            <a:spLocks noChangeArrowheads="1"/>
          </p:cNvSpPr>
          <p:nvPr/>
        </p:nvSpPr>
        <p:spPr bwMode="auto">
          <a:xfrm>
            <a:off x="1692275" y="549275"/>
            <a:ext cx="5759450" cy="576263"/>
          </a:xfrm>
          <a:prstGeom prst="roundRect">
            <a:avLst>
              <a:gd name="adj" fmla="val 16667"/>
            </a:avLst>
          </a:prstGeom>
          <a:solidFill>
            <a:schemeClr val="bg2">
              <a:lumMod val="9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6152" name="AutoShape 8"/>
          <p:cNvSpPr>
            <a:spLocks noChangeArrowheads="1"/>
          </p:cNvSpPr>
          <p:nvPr/>
        </p:nvSpPr>
        <p:spPr bwMode="auto">
          <a:xfrm>
            <a:off x="3563938" y="1773238"/>
            <a:ext cx="2016125" cy="503237"/>
          </a:xfrm>
          <a:prstGeom prst="roundRect">
            <a:avLst>
              <a:gd name="adj" fmla="val 16667"/>
            </a:avLst>
          </a:prstGeom>
          <a:solidFill>
            <a:schemeClr val="bg2">
              <a:lumMod val="9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6153" name="AutoShape 9"/>
          <p:cNvSpPr>
            <a:spLocks noChangeArrowheads="1"/>
          </p:cNvSpPr>
          <p:nvPr/>
        </p:nvSpPr>
        <p:spPr bwMode="auto">
          <a:xfrm>
            <a:off x="611188" y="1700213"/>
            <a:ext cx="1584325" cy="576262"/>
          </a:xfrm>
          <a:prstGeom prst="roundRect">
            <a:avLst>
              <a:gd name="adj" fmla="val 16667"/>
            </a:avLst>
          </a:prstGeom>
          <a:solidFill>
            <a:schemeClr val="bg2">
              <a:lumMod val="9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6154" name="AutoShape 10"/>
          <p:cNvSpPr>
            <a:spLocks noChangeArrowheads="1"/>
          </p:cNvSpPr>
          <p:nvPr/>
        </p:nvSpPr>
        <p:spPr bwMode="auto">
          <a:xfrm>
            <a:off x="1692275" y="3213100"/>
            <a:ext cx="5759450" cy="2232025"/>
          </a:xfrm>
          <a:prstGeom prst="roundRect">
            <a:avLst>
              <a:gd name="adj" fmla="val 16667"/>
            </a:avLst>
          </a:prstGeom>
          <a:solidFill>
            <a:schemeClr val="bg2">
              <a:lumMod val="9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6155" name="Line 11"/>
          <p:cNvSpPr>
            <a:spLocks noChangeShapeType="1"/>
          </p:cNvSpPr>
          <p:nvPr/>
        </p:nvSpPr>
        <p:spPr bwMode="auto">
          <a:xfrm>
            <a:off x="1692275" y="3716338"/>
            <a:ext cx="57594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dirty="0"/>
          </a:p>
        </p:txBody>
      </p:sp>
      <p:sp>
        <p:nvSpPr>
          <p:cNvPr id="6156" name="Text Box 12"/>
          <p:cNvSpPr txBox="1">
            <a:spLocks noChangeArrowheads="1"/>
          </p:cNvSpPr>
          <p:nvPr/>
        </p:nvSpPr>
        <p:spPr bwMode="auto">
          <a:xfrm>
            <a:off x="7596188" y="484188"/>
            <a:ext cx="1296987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dirty="0">
                <a:latin typeface="Verdana" pitchFamily="34" charset="0"/>
              </a:rPr>
              <a:t>Cerebral cortex</a:t>
            </a:r>
          </a:p>
        </p:txBody>
      </p:sp>
      <p:sp>
        <p:nvSpPr>
          <p:cNvPr id="6157" name="Text Box 13"/>
          <p:cNvSpPr txBox="1">
            <a:spLocks noChangeArrowheads="1"/>
          </p:cNvSpPr>
          <p:nvPr/>
        </p:nvSpPr>
        <p:spPr bwMode="auto">
          <a:xfrm>
            <a:off x="7235825" y="1844675"/>
            <a:ext cx="1835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dirty="0">
                <a:latin typeface="Verdana" pitchFamily="34" charset="0"/>
              </a:rPr>
              <a:t>Hypothalamus</a:t>
            </a:r>
          </a:p>
        </p:txBody>
      </p:sp>
      <p:sp>
        <p:nvSpPr>
          <p:cNvPr id="6158" name="Text Box 14"/>
          <p:cNvSpPr txBox="1">
            <a:spLocks noChangeArrowheads="1"/>
          </p:cNvSpPr>
          <p:nvPr/>
        </p:nvSpPr>
        <p:spPr bwMode="auto">
          <a:xfrm>
            <a:off x="7308850" y="3429000"/>
            <a:ext cx="1835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dirty="0">
                <a:latin typeface="Verdana" pitchFamily="34" charset="0"/>
              </a:rPr>
              <a:t>Pons</a:t>
            </a:r>
          </a:p>
        </p:txBody>
      </p:sp>
      <p:sp>
        <p:nvSpPr>
          <p:cNvPr id="6159" name="Text Box 15"/>
          <p:cNvSpPr txBox="1">
            <a:spLocks noChangeArrowheads="1"/>
          </p:cNvSpPr>
          <p:nvPr/>
        </p:nvSpPr>
        <p:spPr bwMode="auto">
          <a:xfrm>
            <a:off x="7308850" y="4292600"/>
            <a:ext cx="1835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dirty="0">
                <a:latin typeface="Verdana" pitchFamily="34" charset="0"/>
              </a:rPr>
              <a:t>Medulla</a:t>
            </a:r>
          </a:p>
        </p:txBody>
      </p:sp>
      <p:sp>
        <p:nvSpPr>
          <p:cNvPr id="6160" name="Text Box 16"/>
          <p:cNvSpPr txBox="1">
            <a:spLocks noChangeArrowheads="1"/>
          </p:cNvSpPr>
          <p:nvPr/>
        </p:nvSpPr>
        <p:spPr bwMode="auto">
          <a:xfrm>
            <a:off x="7308850" y="5799138"/>
            <a:ext cx="18351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dirty="0">
                <a:latin typeface="Verdana" pitchFamily="34" charset="0"/>
              </a:rPr>
              <a:t>Cervical spinal cord</a:t>
            </a:r>
          </a:p>
        </p:txBody>
      </p:sp>
      <p:sp>
        <p:nvSpPr>
          <p:cNvPr id="6161" name="Text Box 17"/>
          <p:cNvSpPr txBox="1">
            <a:spLocks noChangeArrowheads="1"/>
          </p:cNvSpPr>
          <p:nvPr/>
        </p:nvSpPr>
        <p:spPr bwMode="auto">
          <a:xfrm>
            <a:off x="3132138" y="4941888"/>
            <a:ext cx="287972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dirty="0">
                <a:latin typeface="Verdana" pitchFamily="34" charset="0"/>
              </a:rPr>
              <a:t>Rhythm generator</a:t>
            </a:r>
          </a:p>
        </p:txBody>
      </p:sp>
      <p:sp>
        <p:nvSpPr>
          <p:cNvPr id="6162" name="Text Box 18"/>
          <p:cNvSpPr txBox="1">
            <a:spLocks noChangeArrowheads="1"/>
          </p:cNvSpPr>
          <p:nvPr/>
        </p:nvSpPr>
        <p:spPr bwMode="auto">
          <a:xfrm>
            <a:off x="3132138" y="4076700"/>
            <a:ext cx="287972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dirty="0" smtClean="0">
                <a:latin typeface="Verdana" pitchFamily="34" charset="0"/>
              </a:rPr>
              <a:t>Respiratory </a:t>
            </a:r>
            <a:r>
              <a:rPr lang="en-GB" dirty="0" err="1" smtClean="0">
                <a:latin typeface="Verdana" pitchFamily="34" charset="0"/>
              </a:rPr>
              <a:t>center</a:t>
            </a:r>
            <a:endParaRPr lang="en-GB" dirty="0">
              <a:latin typeface="Verdana" pitchFamily="34" charset="0"/>
            </a:endParaRPr>
          </a:p>
        </p:txBody>
      </p:sp>
      <p:sp>
        <p:nvSpPr>
          <p:cNvPr id="6164" name="Text Box 20"/>
          <p:cNvSpPr txBox="1">
            <a:spLocks noChangeArrowheads="1"/>
          </p:cNvSpPr>
          <p:nvPr/>
        </p:nvSpPr>
        <p:spPr bwMode="auto">
          <a:xfrm>
            <a:off x="3708400" y="1844675"/>
            <a:ext cx="172878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dirty="0">
                <a:latin typeface="Verdana" pitchFamily="34" charset="0"/>
              </a:rPr>
              <a:t>Temperature</a:t>
            </a:r>
          </a:p>
        </p:txBody>
      </p:sp>
      <p:sp>
        <p:nvSpPr>
          <p:cNvPr id="6165" name="Text Box 21"/>
          <p:cNvSpPr txBox="1">
            <a:spLocks noChangeArrowheads="1"/>
          </p:cNvSpPr>
          <p:nvPr/>
        </p:nvSpPr>
        <p:spPr bwMode="auto">
          <a:xfrm>
            <a:off x="685800" y="1773238"/>
            <a:ext cx="1447800" cy="366712"/>
          </a:xfrm>
          <a:prstGeom prst="rect">
            <a:avLst/>
          </a:prstGeom>
          <a:solidFill>
            <a:schemeClr val="bg2">
              <a:lumMod val="9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dirty="0">
                <a:latin typeface="Verdana" pitchFamily="34" charset="0"/>
              </a:rPr>
              <a:t>Emotion</a:t>
            </a:r>
          </a:p>
        </p:txBody>
      </p:sp>
      <p:sp>
        <p:nvSpPr>
          <p:cNvPr id="6166" name="Text Box 22"/>
          <p:cNvSpPr txBox="1">
            <a:spLocks noChangeArrowheads="1"/>
          </p:cNvSpPr>
          <p:nvPr/>
        </p:nvSpPr>
        <p:spPr bwMode="auto">
          <a:xfrm>
            <a:off x="3132138" y="685800"/>
            <a:ext cx="2879725" cy="366713"/>
          </a:xfrm>
          <a:prstGeom prst="rect">
            <a:avLst/>
          </a:prstGeom>
          <a:solidFill>
            <a:schemeClr val="bg2">
              <a:lumMod val="9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dirty="0">
                <a:latin typeface="Verdana" pitchFamily="34" charset="0"/>
              </a:rPr>
              <a:t>Voluntary Control</a:t>
            </a:r>
          </a:p>
        </p:txBody>
      </p:sp>
      <p:sp>
        <p:nvSpPr>
          <p:cNvPr id="6168" name="Line 24"/>
          <p:cNvSpPr>
            <a:spLocks noChangeShapeType="1"/>
          </p:cNvSpPr>
          <p:nvPr/>
        </p:nvSpPr>
        <p:spPr bwMode="auto">
          <a:xfrm>
            <a:off x="4572000" y="2276475"/>
            <a:ext cx="0" cy="865188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dirty="0"/>
          </a:p>
        </p:txBody>
      </p:sp>
      <p:sp>
        <p:nvSpPr>
          <p:cNvPr id="6169" name="Line 25"/>
          <p:cNvSpPr>
            <a:spLocks noChangeShapeType="1"/>
          </p:cNvSpPr>
          <p:nvPr/>
        </p:nvSpPr>
        <p:spPr bwMode="auto">
          <a:xfrm>
            <a:off x="2916238" y="1125538"/>
            <a:ext cx="0" cy="5040312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dirty="0"/>
          </a:p>
        </p:txBody>
      </p:sp>
      <p:sp>
        <p:nvSpPr>
          <p:cNvPr id="6170" name="Line 26"/>
          <p:cNvSpPr>
            <a:spLocks noChangeShapeType="1"/>
          </p:cNvSpPr>
          <p:nvPr/>
        </p:nvSpPr>
        <p:spPr bwMode="auto">
          <a:xfrm>
            <a:off x="6227763" y="1125538"/>
            <a:ext cx="0" cy="5040312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dirty="0"/>
          </a:p>
        </p:txBody>
      </p:sp>
      <p:sp>
        <p:nvSpPr>
          <p:cNvPr id="6171" name="Line 27"/>
          <p:cNvSpPr>
            <a:spLocks noChangeShapeType="1"/>
          </p:cNvSpPr>
          <p:nvPr/>
        </p:nvSpPr>
        <p:spPr bwMode="auto">
          <a:xfrm>
            <a:off x="3851275" y="5445125"/>
            <a:ext cx="0" cy="64770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dirty="0"/>
          </a:p>
        </p:txBody>
      </p:sp>
      <p:sp>
        <p:nvSpPr>
          <p:cNvPr id="6172" name="Line 28"/>
          <p:cNvSpPr>
            <a:spLocks noChangeShapeType="1"/>
          </p:cNvSpPr>
          <p:nvPr/>
        </p:nvSpPr>
        <p:spPr bwMode="auto">
          <a:xfrm>
            <a:off x="5292725" y="5445125"/>
            <a:ext cx="0" cy="64770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dirty="0"/>
          </a:p>
        </p:txBody>
      </p:sp>
      <p:sp>
        <p:nvSpPr>
          <p:cNvPr id="6173" name="Line 29"/>
          <p:cNvSpPr>
            <a:spLocks noChangeShapeType="1"/>
          </p:cNvSpPr>
          <p:nvPr/>
        </p:nvSpPr>
        <p:spPr bwMode="auto">
          <a:xfrm>
            <a:off x="4572000" y="4510088"/>
            <a:ext cx="0" cy="503237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dirty="0"/>
          </a:p>
        </p:txBody>
      </p:sp>
      <p:sp>
        <p:nvSpPr>
          <p:cNvPr id="6175" name="Line 31"/>
          <p:cNvSpPr>
            <a:spLocks noChangeShapeType="1"/>
          </p:cNvSpPr>
          <p:nvPr/>
        </p:nvSpPr>
        <p:spPr bwMode="auto">
          <a:xfrm>
            <a:off x="2051050" y="2276475"/>
            <a:ext cx="576263" cy="865188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914400" y="512064"/>
            <a:ext cx="8001000" cy="914400"/>
          </a:xfrm>
        </p:spPr>
        <p:txBody>
          <a:bodyPr/>
          <a:lstStyle/>
          <a:p>
            <a:r>
              <a:rPr lang="en-US" dirty="0" smtClean="0"/>
              <a:t>Chemical control of breathing</a:t>
            </a:r>
            <a:endParaRPr lang="en-US" dirty="0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Centaur" pitchFamily="18" charset="0"/>
              </a:rPr>
              <a:t>The chemical control occurs through stimulation of chemoreceptors that detect chemical changes in the blood or CSF.</a:t>
            </a:r>
          </a:p>
          <a:p>
            <a:pPr>
              <a:buFont typeface="Wingdings" pitchFamily="2" charset="2"/>
              <a:buChar char="Ø"/>
            </a:pPr>
            <a:r>
              <a:rPr lang="en-US" sz="3200" b="1" u="sng" dirty="0" smtClean="0">
                <a:solidFill>
                  <a:srgbClr val="FFC000"/>
                </a:solidFill>
                <a:latin typeface="Centaur" pitchFamily="18" charset="0"/>
              </a:rPr>
              <a:t>Chemoreceptors are divided into:</a:t>
            </a:r>
          </a:p>
          <a:p>
            <a:pPr>
              <a:buFont typeface="Wingdings" pitchFamily="2" charset="2"/>
              <a:buChar char="Ø"/>
            </a:pPr>
            <a:r>
              <a:rPr lang="en-US" sz="3200" b="1" u="sng" dirty="0" smtClean="0">
                <a:solidFill>
                  <a:srgbClr val="FFC000"/>
                </a:solidFill>
                <a:latin typeface="Centaur" pitchFamily="18" charset="0"/>
              </a:rPr>
              <a:t>Peripheral chemoreceptors:</a:t>
            </a:r>
          </a:p>
          <a:p>
            <a:r>
              <a:rPr lang="en-US" dirty="0" smtClean="0">
                <a:latin typeface="Centaur" pitchFamily="18" charset="0"/>
              </a:rPr>
              <a:t>Found in the aortic bodies &amp; carotid bodies. </a:t>
            </a:r>
          </a:p>
          <a:p>
            <a:r>
              <a:rPr lang="en-US" dirty="0" smtClean="0">
                <a:latin typeface="Centaur" pitchFamily="18" charset="0"/>
              </a:rPr>
              <a:t>Stimulated mainly by hypoxia  &amp; also by ↑hydrogen ion (acidosis) and ↑ CO2.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Centaur" pitchFamily="18" charset="0"/>
              </a:rPr>
              <a:t>They send excitatory impulses to stimulate the respiratory center.</a:t>
            </a:r>
          </a:p>
          <a:p>
            <a:r>
              <a:rPr lang="en-US" dirty="0" smtClean="0">
                <a:latin typeface="Centaur" pitchFamily="18" charset="0"/>
              </a:rPr>
              <a:t>This result in hyperventilation to correct  the stimulus.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عنصر نائب للمحتوى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 descr="22_25"/>
          <p:cNvPicPr>
            <a:picLocks noChangeAspect="1" noChangeArrowheads="1"/>
          </p:cNvPicPr>
          <p:nvPr/>
        </p:nvPicPr>
        <p:blipFill>
          <a:blip r:embed="rId2" cstate="print"/>
          <a:srcRect l="4062" t="2499" r="5937" b="1250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2"/>
          <p:cNvSpPr txBox="1">
            <a:spLocks noChangeArrowheads="1"/>
          </p:cNvSpPr>
          <p:nvPr/>
        </p:nvSpPr>
        <p:spPr bwMode="auto">
          <a:xfrm>
            <a:off x="1143000" y="5867400"/>
            <a:ext cx="6886575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ar-SA" sz="4000">
                <a:solidFill>
                  <a:srgbClr val="FFFFFF"/>
                </a:solidFill>
              </a:rPr>
              <a:t>Effect of O2 lack on ventilation</a:t>
            </a:r>
          </a:p>
        </p:txBody>
      </p:sp>
      <p:sp>
        <p:nvSpPr>
          <p:cNvPr id="14339" name="Rectangle 3"/>
          <p:cNvSpPr>
            <a:spLocks noChangeArrowheads="1"/>
          </p:cNvSpPr>
          <p:nvPr/>
        </p:nvSpPr>
        <p:spPr bwMode="auto">
          <a:xfrm>
            <a:off x="990600" y="304800"/>
            <a:ext cx="2438400" cy="8382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40" name="Text Box 4"/>
          <p:cNvSpPr txBox="1">
            <a:spLocks noChangeArrowheads="1"/>
          </p:cNvSpPr>
          <p:nvPr/>
        </p:nvSpPr>
        <p:spPr bwMode="auto">
          <a:xfrm>
            <a:off x="1447800" y="533400"/>
            <a:ext cx="118173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ar-SA" sz="2000" b="1" dirty="0">
                <a:solidFill>
                  <a:schemeClr val="bg1"/>
                </a:solidFill>
              </a:rPr>
              <a:t>Low </a:t>
            </a:r>
            <a:r>
              <a:rPr lang="en-US" altLang="ar-SA" sz="2000" b="1" dirty="0" smtClean="0">
                <a:solidFill>
                  <a:schemeClr val="bg1"/>
                </a:solidFill>
              </a:rPr>
              <a:t>PO2</a:t>
            </a:r>
            <a:endParaRPr lang="en-US" altLang="ar-SA" sz="2000" b="1" dirty="0">
              <a:solidFill>
                <a:schemeClr val="bg1"/>
              </a:solidFill>
            </a:endParaRPr>
          </a:p>
        </p:txBody>
      </p:sp>
      <p:sp>
        <p:nvSpPr>
          <p:cNvPr id="14341" name="AutoShape 5"/>
          <p:cNvSpPr>
            <a:spLocks noChangeArrowheads="1"/>
          </p:cNvSpPr>
          <p:nvPr/>
        </p:nvSpPr>
        <p:spPr bwMode="auto">
          <a:xfrm>
            <a:off x="3429000" y="533400"/>
            <a:ext cx="2133600" cy="304800"/>
          </a:xfrm>
          <a:prstGeom prst="rightArrow">
            <a:avLst>
              <a:gd name="adj1" fmla="val 50000"/>
              <a:gd name="adj2" fmla="val 175000"/>
            </a:avLst>
          </a:prstGeom>
          <a:solidFill>
            <a:srgbClr val="FF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62" name="Text Box 8"/>
          <p:cNvSpPr txBox="1">
            <a:spLocks noChangeArrowheads="1"/>
          </p:cNvSpPr>
          <p:nvPr/>
        </p:nvSpPr>
        <p:spPr bwMode="auto">
          <a:xfrm>
            <a:off x="6096000" y="304800"/>
            <a:ext cx="20574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ar-SA"/>
              <a:t>Peripheral </a:t>
            </a:r>
          </a:p>
          <a:p>
            <a:r>
              <a:rPr lang="en-US" altLang="ar-SA"/>
              <a:t>chemoreceptor</a:t>
            </a:r>
          </a:p>
        </p:txBody>
      </p:sp>
      <p:sp>
        <p:nvSpPr>
          <p:cNvPr id="14345" name="Text Box 9"/>
          <p:cNvSpPr txBox="1">
            <a:spLocks noChangeArrowheads="1"/>
          </p:cNvSpPr>
          <p:nvPr/>
        </p:nvSpPr>
        <p:spPr bwMode="auto">
          <a:xfrm>
            <a:off x="3733800" y="838200"/>
            <a:ext cx="14509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ar-SA">
                <a:solidFill>
                  <a:srgbClr val="FFFFFF"/>
                </a:solidFill>
              </a:rPr>
              <a:t>stimulate</a:t>
            </a:r>
          </a:p>
        </p:txBody>
      </p:sp>
      <p:sp>
        <p:nvSpPr>
          <p:cNvPr id="14346" name="AutoShape 10"/>
          <p:cNvSpPr>
            <a:spLocks noChangeArrowheads="1"/>
          </p:cNvSpPr>
          <p:nvPr/>
        </p:nvSpPr>
        <p:spPr bwMode="auto">
          <a:xfrm>
            <a:off x="7010400" y="1066800"/>
            <a:ext cx="685800" cy="2133600"/>
          </a:xfrm>
          <a:prstGeom prst="downArrow">
            <a:avLst>
              <a:gd name="adj1" fmla="val 50000"/>
              <a:gd name="adj2" fmla="val 77778"/>
            </a:avLst>
          </a:prstGeom>
          <a:solidFill>
            <a:srgbClr val="FF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47" name="Rectangle 11"/>
          <p:cNvSpPr>
            <a:spLocks noChangeArrowheads="1"/>
          </p:cNvSpPr>
          <p:nvPr/>
        </p:nvSpPr>
        <p:spPr bwMode="auto">
          <a:xfrm>
            <a:off x="6019800" y="3352800"/>
            <a:ext cx="2438400" cy="8382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48" name="Text Box 12"/>
          <p:cNvSpPr txBox="1">
            <a:spLocks noChangeArrowheads="1"/>
          </p:cNvSpPr>
          <p:nvPr/>
        </p:nvSpPr>
        <p:spPr bwMode="auto">
          <a:xfrm>
            <a:off x="5943600" y="3581400"/>
            <a:ext cx="222830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ar-SA" sz="2000" b="1" dirty="0">
                <a:solidFill>
                  <a:schemeClr val="bg1"/>
                </a:solidFill>
              </a:rPr>
              <a:t>Respiratory center</a:t>
            </a:r>
          </a:p>
        </p:txBody>
      </p:sp>
      <p:sp>
        <p:nvSpPr>
          <p:cNvPr id="14349" name="AutoShape 13"/>
          <p:cNvSpPr>
            <a:spLocks noChangeArrowheads="1"/>
          </p:cNvSpPr>
          <p:nvPr/>
        </p:nvSpPr>
        <p:spPr bwMode="auto">
          <a:xfrm>
            <a:off x="6324600" y="1066800"/>
            <a:ext cx="304800" cy="2057400"/>
          </a:xfrm>
          <a:prstGeom prst="downArrow">
            <a:avLst>
              <a:gd name="adj1" fmla="val 50000"/>
              <a:gd name="adj2" fmla="val 168750"/>
            </a:avLst>
          </a:prstGeom>
          <a:solidFill>
            <a:srgbClr val="FF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52" name="Text Box 16"/>
          <p:cNvSpPr txBox="1">
            <a:spLocks noChangeArrowheads="1"/>
          </p:cNvSpPr>
          <p:nvPr/>
        </p:nvSpPr>
        <p:spPr bwMode="auto">
          <a:xfrm rot="5490615">
            <a:off x="6208712" y="1868488"/>
            <a:ext cx="14509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ar-SA">
                <a:solidFill>
                  <a:srgbClr val="FFFFFF"/>
                </a:solidFill>
              </a:rPr>
              <a:t>stimulate</a:t>
            </a:r>
            <a:endParaRPr lang="en-US" altLang="ar-SA"/>
          </a:p>
        </p:txBody>
      </p:sp>
      <p:sp>
        <p:nvSpPr>
          <p:cNvPr id="14354" name="Rectangle 18"/>
          <p:cNvSpPr>
            <a:spLocks noChangeArrowheads="1"/>
          </p:cNvSpPr>
          <p:nvPr/>
        </p:nvSpPr>
        <p:spPr bwMode="auto">
          <a:xfrm>
            <a:off x="2209800" y="3352800"/>
            <a:ext cx="2438400" cy="8382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55" name="Text Box 19"/>
          <p:cNvSpPr txBox="1">
            <a:spLocks noChangeArrowheads="1"/>
          </p:cNvSpPr>
          <p:nvPr/>
        </p:nvSpPr>
        <p:spPr bwMode="auto">
          <a:xfrm>
            <a:off x="2743200" y="3581400"/>
            <a:ext cx="139012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ar-SA" sz="2000" b="1" dirty="0">
                <a:solidFill>
                  <a:schemeClr val="bg1"/>
                </a:solidFill>
              </a:rPr>
              <a:t>ventilation</a:t>
            </a:r>
          </a:p>
        </p:txBody>
      </p:sp>
      <p:sp>
        <p:nvSpPr>
          <p:cNvPr id="14356" name="AutoShape 20"/>
          <p:cNvSpPr>
            <a:spLocks noChangeArrowheads="1"/>
          </p:cNvSpPr>
          <p:nvPr/>
        </p:nvSpPr>
        <p:spPr bwMode="auto">
          <a:xfrm>
            <a:off x="4724400" y="3581400"/>
            <a:ext cx="1295400" cy="304800"/>
          </a:xfrm>
          <a:prstGeom prst="leftArrow">
            <a:avLst>
              <a:gd name="adj1" fmla="val 50000"/>
              <a:gd name="adj2" fmla="val 106250"/>
            </a:avLst>
          </a:prstGeom>
          <a:solidFill>
            <a:srgbClr val="FF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57" name="Text Box 21"/>
          <p:cNvSpPr txBox="1">
            <a:spLocks noChangeArrowheads="1"/>
          </p:cNvSpPr>
          <p:nvPr/>
        </p:nvSpPr>
        <p:spPr bwMode="auto">
          <a:xfrm>
            <a:off x="4724400" y="4038600"/>
            <a:ext cx="13335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ar-SA">
                <a:solidFill>
                  <a:srgbClr val="FFFFFF"/>
                </a:solidFill>
              </a:rPr>
              <a:t>increase</a:t>
            </a:r>
          </a:p>
        </p:txBody>
      </p:sp>
      <p:sp>
        <p:nvSpPr>
          <p:cNvPr id="19475" name="Text Box 22"/>
          <p:cNvSpPr txBox="1">
            <a:spLocks noChangeArrowheads="1"/>
          </p:cNvSpPr>
          <p:nvPr/>
        </p:nvSpPr>
        <p:spPr bwMode="auto">
          <a:xfrm>
            <a:off x="990600" y="1828800"/>
            <a:ext cx="2046288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ar-SA"/>
              <a:t>PO2 returned </a:t>
            </a:r>
          </a:p>
          <a:p>
            <a:r>
              <a:rPr lang="en-US" altLang="ar-SA"/>
              <a:t>to normal</a:t>
            </a:r>
          </a:p>
        </p:txBody>
      </p:sp>
      <p:sp>
        <p:nvSpPr>
          <p:cNvPr id="14359" name="Rectangle 23"/>
          <p:cNvSpPr>
            <a:spLocks noChangeArrowheads="1"/>
          </p:cNvSpPr>
          <p:nvPr/>
        </p:nvSpPr>
        <p:spPr bwMode="auto">
          <a:xfrm>
            <a:off x="838200" y="1828800"/>
            <a:ext cx="2438400" cy="8382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60" name="Text Box 24"/>
          <p:cNvSpPr txBox="1">
            <a:spLocks noChangeArrowheads="1"/>
          </p:cNvSpPr>
          <p:nvPr/>
        </p:nvSpPr>
        <p:spPr bwMode="auto">
          <a:xfrm>
            <a:off x="914400" y="1905000"/>
            <a:ext cx="1899879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ar-SA" sz="2000" b="1" dirty="0">
                <a:solidFill>
                  <a:schemeClr val="bg1"/>
                </a:solidFill>
              </a:rPr>
              <a:t>PO2 is returned</a:t>
            </a:r>
          </a:p>
          <a:p>
            <a:r>
              <a:rPr lang="en-US" altLang="ar-SA" sz="2000" b="1" dirty="0">
                <a:solidFill>
                  <a:schemeClr val="bg1"/>
                </a:solidFill>
              </a:rPr>
              <a:t>to normal</a:t>
            </a:r>
          </a:p>
        </p:txBody>
      </p:sp>
      <p:sp>
        <p:nvSpPr>
          <p:cNvPr id="14361" name="AutoShape 25"/>
          <p:cNvSpPr>
            <a:spLocks noChangeArrowheads="1"/>
          </p:cNvSpPr>
          <p:nvPr/>
        </p:nvSpPr>
        <p:spPr bwMode="auto">
          <a:xfrm rot="3220799">
            <a:off x="2209800" y="2971800"/>
            <a:ext cx="762000" cy="304800"/>
          </a:xfrm>
          <a:prstGeom prst="leftArrow">
            <a:avLst>
              <a:gd name="adj1" fmla="val 50000"/>
              <a:gd name="adj2" fmla="val 62500"/>
            </a:avLst>
          </a:prstGeom>
          <a:solidFill>
            <a:srgbClr val="FF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63" name="Rectangle 27"/>
          <p:cNvSpPr>
            <a:spLocks noChangeArrowheads="1"/>
          </p:cNvSpPr>
          <p:nvPr/>
        </p:nvSpPr>
        <p:spPr bwMode="auto">
          <a:xfrm>
            <a:off x="5943600" y="228600"/>
            <a:ext cx="2438400" cy="8382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64" name="Text Box 28"/>
          <p:cNvSpPr txBox="1">
            <a:spLocks noChangeArrowheads="1"/>
          </p:cNvSpPr>
          <p:nvPr/>
        </p:nvSpPr>
        <p:spPr bwMode="auto">
          <a:xfrm>
            <a:off x="6019800" y="228600"/>
            <a:ext cx="1981633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ar-SA" sz="2000" b="1" dirty="0">
                <a:solidFill>
                  <a:schemeClr val="bg1"/>
                </a:solidFill>
              </a:rPr>
              <a:t>Peripheral</a:t>
            </a:r>
          </a:p>
          <a:p>
            <a:r>
              <a:rPr lang="en-US" altLang="ar-SA" sz="2000" b="1" dirty="0">
                <a:solidFill>
                  <a:schemeClr val="bg1"/>
                </a:solidFill>
              </a:rPr>
              <a:t>chemoreceptors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3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3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3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3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3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3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3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3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3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3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3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3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3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3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43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43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43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43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43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43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43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43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43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43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43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43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43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43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43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43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4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4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143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143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143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143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143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143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143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143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 animBg="1"/>
      <p:bldP spid="14340" grpId="0" build="p" autoUpdateAnimBg="0"/>
      <p:bldP spid="14341" grpId="0" animBg="1"/>
      <p:bldP spid="14345" grpId="0" build="p" autoUpdateAnimBg="0"/>
      <p:bldP spid="14346" grpId="0" animBg="1"/>
      <p:bldP spid="14347" grpId="0" animBg="1"/>
      <p:bldP spid="14348" grpId="0" build="p" autoUpdateAnimBg="0"/>
      <p:bldP spid="14349" grpId="0" animBg="1"/>
      <p:bldP spid="14352" grpId="0" build="p" autoUpdateAnimBg="0"/>
      <p:bldP spid="14354" grpId="0" animBg="1"/>
      <p:bldP spid="14355" grpId="0" build="p" autoUpdateAnimBg="0"/>
      <p:bldP spid="14356" grpId="0" animBg="1"/>
      <p:bldP spid="14357" grpId="0" build="p" autoUpdateAnimBg="0"/>
      <p:bldP spid="14359" grpId="0" animBg="1"/>
      <p:bldP spid="14360" grpId="0" build="p" autoUpdateAnimBg="0"/>
      <p:bldP spid="14361" grpId="0" animBg="1"/>
      <p:bldP spid="14363" grpId="0" animBg="1"/>
      <p:bldP spid="14364" grpId="0" build="p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3200" b="1" u="sng" dirty="0" smtClean="0">
                <a:solidFill>
                  <a:srgbClr val="FFC000"/>
                </a:solidFill>
                <a:latin typeface="Centaur" pitchFamily="18" charset="0"/>
              </a:rPr>
              <a:t>The central chemoreceptors: </a:t>
            </a:r>
          </a:p>
          <a:p>
            <a:r>
              <a:rPr lang="en-US" dirty="0" smtClean="0">
                <a:latin typeface="Centaur" pitchFamily="18" charset="0"/>
              </a:rPr>
              <a:t>Found on the surface of the medulla.</a:t>
            </a:r>
          </a:p>
          <a:p>
            <a:r>
              <a:rPr lang="en-US" dirty="0" smtClean="0">
                <a:latin typeface="Centaur" pitchFamily="18" charset="0"/>
              </a:rPr>
              <a:t>Stimulated by:</a:t>
            </a:r>
          </a:p>
          <a:p>
            <a:r>
              <a:rPr lang="en-US" dirty="0" smtClean="0">
                <a:latin typeface="Centaur" pitchFamily="18" charset="0"/>
              </a:rPr>
              <a:t>High carbon dioxide (↑CO2).</a:t>
            </a:r>
          </a:p>
          <a:p>
            <a:r>
              <a:rPr lang="en-US" dirty="0" smtClean="0">
                <a:latin typeface="Centaur" pitchFamily="18" charset="0"/>
              </a:rPr>
              <a:t>High hydrogen ion (in the CSF).</a:t>
            </a:r>
          </a:p>
          <a:p>
            <a:r>
              <a:rPr lang="en-US" dirty="0" smtClean="0">
                <a:latin typeface="Centaur" pitchFamily="18" charset="0"/>
              </a:rPr>
              <a:t>Hydrogen ion in the blood can not cross the blood brain barrier (BBB).</a:t>
            </a:r>
          </a:p>
          <a:p>
            <a:r>
              <a:rPr lang="en-US" dirty="0" smtClean="0">
                <a:latin typeface="Centaur" pitchFamily="18" charset="0"/>
              </a:rPr>
              <a:t>Hydrogen ions in the CSF are formed from CO2 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Centaur" pitchFamily="18" charset="0"/>
              </a:rPr>
              <a:t>CO2 can cross the BBB &amp; react with water in the CSF to produce carbonic acid &amp; then bicarbonate &amp; hydrogen ions.</a:t>
            </a:r>
          </a:p>
          <a:p>
            <a:r>
              <a:rPr lang="en-US" dirty="0" smtClean="0">
                <a:latin typeface="Centaur" pitchFamily="18" charset="0"/>
              </a:rPr>
              <a:t>Hydrogen ions then stimulate the central chemoreceptors.</a:t>
            </a:r>
          </a:p>
          <a:p>
            <a:r>
              <a:rPr lang="en-US" dirty="0" smtClean="0">
                <a:latin typeface="Centaur" pitchFamily="18" charset="0"/>
              </a:rPr>
              <a:t>This mean that CO2 stimulate the central chemoreceptors directly &amp; indirectly.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2"/>
          <p:cNvSpPr txBox="1">
            <a:spLocks noChangeArrowheads="1"/>
          </p:cNvSpPr>
          <p:nvPr/>
        </p:nvSpPr>
        <p:spPr bwMode="auto">
          <a:xfrm>
            <a:off x="0" y="6156325"/>
            <a:ext cx="856615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ar-SA" sz="4000">
                <a:solidFill>
                  <a:srgbClr val="FFFFFF"/>
                </a:solidFill>
              </a:rPr>
              <a:t>Effect of increase in CO2 on ventilation</a:t>
            </a:r>
          </a:p>
        </p:txBody>
      </p:sp>
      <p:sp>
        <p:nvSpPr>
          <p:cNvPr id="15363" name="Rectangle 3"/>
          <p:cNvSpPr>
            <a:spLocks noChangeArrowheads="1"/>
          </p:cNvSpPr>
          <p:nvPr/>
        </p:nvSpPr>
        <p:spPr bwMode="auto">
          <a:xfrm>
            <a:off x="990600" y="304800"/>
            <a:ext cx="2438400" cy="8382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64" name="Text Box 4"/>
          <p:cNvSpPr txBox="1">
            <a:spLocks noChangeArrowheads="1"/>
          </p:cNvSpPr>
          <p:nvPr/>
        </p:nvSpPr>
        <p:spPr bwMode="auto">
          <a:xfrm>
            <a:off x="1066800" y="533400"/>
            <a:ext cx="186301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ar-SA" sz="2400" b="1" dirty="0">
                <a:solidFill>
                  <a:schemeClr val="bg1"/>
                </a:solidFill>
              </a:rPr>
              <a:t>Rise in P</a:t>
            </a:r>
            <a:r>
              <a:rPr lang="en-US" altLang="ar-SA" sz="2400" b="1" dirty="0" smtClean="0">
                <a:solidFill>
                  <a:schemeClr val="bg1"/>
                </a:solidFill>
              </a:rPr>
              <a:t>CO2</a:t>
            </a:r>
            <a:endParaRPr lang="en-US" altLang="ar-SA" sz="2400" b="1" dirty="0">
              <a:solidFill>
                <a:schemeClr val="bg1"/>
              </a:solidFill>
            </a:endParaRPr>
          </a:p>
        </p:txBody>
      </p:sp>
      <p:sp>
        <p:nvSpPr>
          <p:cNvPr id="15365" name="AutoShape 5"/>
          <p:cNvSpPr>
            <a:spLocks noChangeArrowheads="1"/>
          </p:cNvSpPr>
          <p:nvPr/>
        </p:nvSpPr>
        <p:spPr bwMode="auto">
          <a:xfrm>
            <a:off x="3429000" y="533400"/>
            <a:ext cx="2133600" cy="304800"/>
          </a:xfrm>
          <a:prstGeom prst="rightArrow">
            <a:avLst>
              <a:gd name="adj1" fmla="val 50000"/>
              <a:gd name="adj2" fmla="val 175000"/>
            </a:avLst>
          </a:prstGeom>
          <a:solidFill>
            <a:srgbClr val="FF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68" name="AutoShape 8"/>
          <p:cNvSpPr>
            <a:spLocks noChangeArrowheads="1"/>
          </p:cNvSpPr>
          <p:nvPr/>
        </p:nvSpPr>
        <p:spPr bwMode="auto">
          <a:xfrm>
            <a:off x="7010400" y="2590800"/>
            <a:ext cx="685800" cy="685800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FF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69" name="Rectangle 9"/>
          <p:cNvSpPr>
            <a:spLocks noChangeArrowheads="1"/>
          </p:cNvSpPr>
          <p:nvPr/>
        </p:nvSpPr>
        <p:spPr bwMode="auto">
          <a:xfrm>
            <a:off x="6096000" y="4800600"/>
            <a:ext cx="2438400" cy="8382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70" name="Text Box 10"/>
          <p:cNvSpPr txBox="1">
            <a:spLocks noChangeArrowheads="1"/>
          </p:cNvSpPr>
          <p:nvPr/>
        </p:nvSpPr>
        <p:spPr bwMode="auto">
          <a:xfrm>
            <a:off x="6096000" y="5029200"/>
            <a:ext cx="222830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ar-SA" sz="2000" b="1" dirty="0">
                <a:solidFill>
                  <a:schemeClr val="bg1"/>
                </a:solidFill>
              </a:rPr>
              <a:t>Respiratory center</a:t>
            </a:r>
          </a:p>
        </p:txBody>
      </p:sp>
      <p:sp>
        <p:nvSpPr>
          <p:cNvPr id="15375" name="Rectangle 15"/>
          <p:cNvSpPr>
            <a:spLocks noChangeArrowheads="1"/>
          </p:cNvSpPr>
          <p:nvPr/>
        </p:nvSpPr>
        <p:spPr bwMode="auto">
          <a:xfrm>
            <a:off x="914400" y="3962400"/>
            <a:ext cx="2438400" cy="8382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76" name="Text Box 16"/>
          <p:cNvSpPr txBox="1">
            <a:spLocks noChangeArrowheads="1"/>
          </p:cNvSpPr>
          <p:nvPr/>
        </p:nvSpPr>
        <p:spPr bwMode="auto">
          <a:xfrm>
            <a:off x="1447800" y="4191000"/>
            <a:ext cx="139012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ar-SA" sz="2000" b="1" dirty="0">
                <a:solidFill>
                  <a:schemeClr val="bg1"/>
                </a:solidFill>
              </a:rPr>
              <a:t>ventilation</a:t>
            </a:r>
          </a:p>
        </p:txBody>
      </p:sp>
      <p:sp>
        <p:nvSpPr>
          <p:cNvPr id="15377" name="AutoShape 17"/>
          <p:cNvSpPr>
            <a:spLocks noChangeArrowheads="1"/>
          </p:cNvSpPr>
          <p:nvPr/>
        </p:nvSpPr>
        <p:spPr bwMode="auto">
          <a:xfrm rot="978393">
            <a:off x="3581400" y="4724400"/>
            <a:ext cx="2563813" cy="258763"/>
          </a:xfrm>
          <a:prstGeom prst="leftArrow">
            <a:avLst>
              <a:gd name="adj1" fmla="val 50000"/>
              <a:gd name="adj2" fmla="val 247699"/>
            </a:avLst>
          </a:prstGeom>
          <a:solidFill>
            <a:srgbClr val="FF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492" name="Text Box 19"/>
          <p:cNvSpPr txBox="1">
            <a:spLocks noChangeArrowheads="1"/>
          </p:cNvSpPr>
          <p:nvPr/>
        </p:nvSpPr>
        <p:spPr bwMode="auto">
          <a:xfrm>
            <a:off x="990600" y="1828800"/>
            <a:ext cx="2046288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ar-SA"/>
              <a:t>PO2 returned </a:t>
            </a:r>
          </a:p>
          <a:p>
            <a:r>
              <a:rPr lang="en-US" altLang="ar-SA"/>
              <a:t>to normal</a:t>
            </a:r>
          </a:p>
        </p:txBody>
      </p:sp>
      <p:sp>
        <p:nvSpPr>
          <p:cNvPr id="15380" name="Rectangle 20"/>
          <p:cNvSpPr>
            <a:spLocks noChangeArrowheads="1"/>
          </p:cNvSpPr>
          <p:nvPr/>
        </p:nvSpPr>
        <p:spPr bwMode="auto">
          <a:xfrm>
            <a:off x="838200" y="1828800"/>
            <a:ext cx="2438400" cy="8382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81" name="Text Box 21"/>
          <p:cNvSpPr txBox="1">
            <a:spLocks noChangeArrowheads="1"/>
          </p:cNvSpPr>
          <p:nvPr/>
        </p:nvSpPr>
        <p:spPr bwMode="auto">
          <a:xfrm>
            <a:off x="914400" y="1905000"/>
            <a:ext cx="28194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ar-SA" sz="2000" b="1" dirty="0" smtClean="0">
                <a:solidFill>
                  <a:schemeClr val="bg1"/>
                </a:solidFill>
              </a:rPr>
              <a:t>PCO2 </a:t>
            </a:r>
            <a:r>
              <a:rPr lang="en-US" altLang="ar-SA" sz="2000" b="1" dirty="0">
                <a:solidFill>
                  <a:schemeClr val="bg1"/>
                </a:solidFill>
              </a:rPr>
              <a:t>is reduced</a:t>
            </a:r>
          </a:p>
          <a:p>
            <a:r>
              <a:rPr lang="en-US" altLang="ar-SA" sz="2000" b="1" dirty="0">
                <a:solidFill>
                  <a:schemeClr val="bg1"/>
                </a:solidFill>
              </a:rPr>
              <a:t>to normal </a:t>
            </a:r>
          </a:p>
        </p:txBody>
      </p:sp>
      <p:sp>
        <p:nvSpPr>
          <p:cNvPr id="15382" name="AutoShape 22"/>
          <p:cNvSpPr>
            <a:spLocks noChangeArrowheads="1"/>
          </p:cNvSpPr>
          <p:nvPr/>
        </p:nvSpPr>
        <p:spPr bwMode="auto">
          <a:xfrm rot="5460138">
            <a:off x="1527175" y="3124200"/>
            <a:ext cx="1219200" cy="457200"/>
          </a:xfrm>
          <a:prstGeom prst="leftArrow">
            <a:avLst>
              <a:gd name="adj1" fmla="val 50000"/>
              <a:gd name="adj2" fmla="val 66667"/>
            </a:avLst>
          </a:prstGeom>
          <a:solidFill>
            <a:srgbClr val="FF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83" name="Rectangle 23"/>
          <p:cNvSpPr>
            <a:spLocks noChangeArrowheads="1"/>
          </p:cNvSpPr>
          <p:nvPr/>
        </p:nvSpPr>
        <p:spPr bwMode="auto">
          <a:xfrm>
            <a:off x="5943600" y="1752600"/>
            <a:ext cx="2438400" cy="8382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85" name="Text Box 25"/>
          <p:cNvSpPr txBox="1">
            <a:spLocks noChangeArrowheads="1"/>
          </p:cNvSpPr>
          <p:nvPr/>
        </p:nvSpPr>
        <p:spPr bwMode="auto">
          <a:xfrm>
            <a:off x="3641725" y="803275"/>
            <a:ext cx="19542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ar-SA">
                <a:solidFill>
                  <a:srgbClr val="FFFFFF"/>
                </a:solidFill>
              </a:rPr>
              <a:t>CO2 diffuses</a:t>
            </a:r>
          </a:p>
        </p:txBody>
      </p:sp>
      <p:sp>
        <p:nvSpPr>
          <p:cNvPr id="15386" name="Text Box 26"/>
          <p:cNvSpPr txBox="1">
            <a:spLocks noChangeArrowheads="1"/>
          </p:cNvSpPr>
          <p:nvPr/>
        </p:nvSpPr>
        <p:spPr bwMode="auto">
          <a:xfrm>
            <a:off x="6400800" y="1905000"/>
            <a:ext cx="119295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ar-SA" sz="2000" b="1" dirty="0">
                <a:solidFill>
                  <a:schemeClr val="bg1"/>
                </a:solidFill>
              </a:rPr>
              <a:t>CSF  {H+}</a:t>
            </a:r>
          </a:p>
        </p:txBody>
      </p:sp>
      <p:sp>
        <p:nvSpPr>
          <p:cNvPr id="15387" name="Rectangle 27"/>
          <p:cNvSpPr>
            <a:spLocks noChangeArrowheads="1"/>
          </p:cNvSpPr>
          <p:nvPr/>
        </p:nvSpPr>
        <p:spPr bwMode="auto">
          <a:xfrm>
            <a:off x="6096000" y="3352800"/>
            <a:ext cx="2438400" cy="8382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88" name="Text Box 28"/>
          <p:cNvSpPr txBox="1">
            <a:spLocks noChangeArrowheads="1"/>
          </p:cNvSpPr>
          <p:nvPr/>
        </p:nvSpPr>
        <p:spPr bwMode="auto">
          <a:xfrm>
            <a:off x="6248400" y="3352800"/>
            <a:ext cx="1981633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ar-SA" sz="2000" b="1" dirty="0">
                <a:solidFill>
                  <a:schemeClr val="bg1"/>
                </a:solidFill>
              </a:rPr>
              <a:t>Central</a:t>
            </a:r>
          </a:p>
          <a:p>
            <a:r>
              <a:rPr lang="en-US" altLang="ar-SA" sz="2000" b="1" dirty="0">
                <a:solidFill>
                  <a:schemeClr val="bg1"/>
                </a:solidFill>
              </a:rPr>
              <a:t>chemoreceptors</a:t>
            </a:r>
          </a:p>
        </p:txBody>
      </p:sp>
      <p:sp>
        <p:nvSpPr>
          <p:cNvPr id="20501" name="AutoShape 30"/>
          <p:cNvSpPr>
            <a:spLocks noChangeArrowheads="1"/>
          </p:cNvSpPr>
          <p:nvPr/>
        </p:nvSpPr>
        <p:spPr bwMode="auto">
          <a:xfrm>
            <a:off x="7010400" y="4114800"/>
            <a:ext cx="685800" cy="685800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FF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91" name="Rectangle 31"/>
          <p:cNvSpPr>
            <a:spLocks noChangeArrowheads="1"/>
          </p:cNvSpPr>
          <p:nvPr/>
        </p:nvSpPr>
        <p:spPr bwMode="auto">
          <a:xfrm>
            <a:off x="5943600" y="228600"/>
            <a:ext cx="2438400" cy="8382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92" name="Text Box 32"/>
          <p:cNvSpPr txBox="1">
            <a:spLocks noChangeArrowheads="1"/>
          </p:cNvSpPr>
          <p:nvPr/>
        </p:nvSpPr>
        <p:spPr bwMode="auto">
          <a:xfrm>
            <a:off x="6172200" y="304800"/>
            <a:ext cx="1325235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ar-SA" sz="2000" b="1" dirty="0">
                <a:solidFill>
                  <a:schemeClr val="bg1"/>
                </a:solidFill>
              </a:rPr>
              <a:t>CSF </a:t>
            </a:r>
          </a:p>
          <a:p>
            <a:r>
              <a:rPr lang="en-US" altLang="ar-SA" sz="2000" b="1" dirty="0">
                <a:solidFill>
                  <a:schemeClr val="bg1"/>
                </a:solidFill>
                <a:sym typeface="Symbol" pitchFamily="26" charset="2"/>
              </a:rPr>
              <a:t> CSF CO2</a:t>
            </a:r>
            <a:endParaRPr lang="en-US" altLang="ar-SA" sz="2000" b="1" dirty="0">
              <a:solidFill>
                <a:schemeClr val="bg1"/>
              </a:solidFill>
            </a:endParaRPr>
          </a:p>
        </p:txBody>
      </p:sp>
      <p:sp>
        <p:nvSpPr>
          <p:cNvPr id="15393" name="AutoShape 33"/>
          <p:cNvSpPr>
            <a:spLocks noChangeArrowheads="1"/>
          </p:cNvSpPr>
          <p:nvPr/>
        </p:nvSpPr>
        <p:spPr bwMode="auto">
          <a:xfrm>
            <a:off x="7315200" y="1066800"/>
            <a:ext cx="304800" cy="6096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94" name="Text Box 34"/>
          <p:cNvSpPr txBox="1">
            <a:spLocks noChangeArrowheads="1"/>
          </p:cNvSpPr>
          <p:nvPr/>
        </p:nvSpPr>
        <p:spPr bwMode="auto">
          <a:xfrm>
            <a:off x="5715000" y="2667000"/>
            <a:ext cx="14509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ar-SA">
                <a:solidFill>
                  <a:srgbClr val="FFFFFF"/>
                </a:solidFill>
              </a:rPr>
              <a:t>stimulate</a:t>
            </a:r>
            <a:endParaRPr lang="en-US" altLang="ar-SA"/>
          </a:p>
        </p:txBody>
      </p:sp>
      <p:sp>
        <p:nvSpPr>
          <p:cNvPr id="20506" name="Text Box 41"/>
          <p:cNvSpPr txBox="1">
            <a:spLocks noChangeArrowheads="1"/>
          </p:cNvSpPr>
          <p:nvPr/>
        </p:nvSpPr>
        <p:spPr bwMode="auto">
          <a:xfrm>
            <a:off x="2727325" y="4689475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 altLang="en-US"/>
          </a:p>
        </p:txBody>
      </p:sp>
      <p:sp>
        <p:nvSpPr>
          <p:cNvPr id="20507" name="Text Box 42"/>
          <p:cNvSpPr txBox="1">
            <a:spLocks noChangeArrowheads="1"/>
          </p:cNvSpPr>
          <p:nvPr/>
        </p:nvSpPr>
        <p:spPr bwMode="auto">
          <a:xfrm>
            <a:off x="8289925" y="3013075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 altLang="en-US"/>
          </a:p>
        </p:txBody>
      </p:sp>
      <p:sp>
        <p:nvSpPr>
          <p:cNvPr id="15403" name="Text Box 43"/>
          <p:cNvSpPr txBox="1">
            <a:spLocks noChangeArrowheads="1"/>
          </p:cNvSpPr>
          <p:nvPr/>
        </p:nvSpPr>
        <p:spPr bwMode="auto">
          <a:xfrm>
            <a:off x="5943600" y="1066800"/>
            <a:ext cx="13335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ar-SA">
                <a:solidFill>
                  <a:srgbClr val="FFFFFF"/>
                </a:solidFill>
              </a:rPr>
              <a:t>increase</a:t>
            </a:r>
            <a:endParaRPr lang="en-US" altLang="ar-SA"/>
          </a:p>
        </p:txBody>
      </p:sp>
      <p:sp>
        <p:nvSpPr>
          <p:cNvPr id="15404" name="Text Box 44"/>
          <p:cNvSpPr txBox="1">
            <a:spLocks noChangeArrowheads="1"/>
          </p:cNvSpPr>
          <p:nvPr/>
        </p:nvSpPr>
        <p:spPr bwMode="auto">
          <a:xfrm>
            <a:off x="5486400" y="4267200"/>
            <a:ext cx="14509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ar-SA">
                <a:solidFill>
                  <a:srgbClr val="FFFFFF"/>
                </a:solidFill>
              </a:rPr>
              <a:t>stimulate</a:t>
            </a:r>
          </a:p>
        </p:txBody>
      </p:sp>
      <p:sp>
        <p:nvSpPr>
          <p:cNvPr id="15405" name="Text Box 45"/>
          <p:cNvSpPr txBox="1">
            <a:spLocks noChangeArrowheads="1"/>
          </p:cNvSpPr>
          <p:nvPr/>
        </p:nvSpPr>
        <p:spPr bwMode="auto">
          <a:xfrm>
            <a:off x="3886200" y="5029200"/>
            <a:ext cx="13335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ar-SA">
                <a:solidFill>
                  <a:srgbClr val="FFFFFF"/>
                </a:solidFill>
              </a:rPr>
              <a:t>increase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3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3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3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3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3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3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3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3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3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3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3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3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3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3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53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53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5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5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53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53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53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53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53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53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53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53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5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5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53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53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153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153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154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154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153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153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154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154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153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153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153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153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153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153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153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153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153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153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153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153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153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153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3" grpId="0" animBg="1"/>
      <p:bldP spid="15364" grpId="0" build="p" autoUpdateAnimBg="0"/>
      <p:bldP spid="15365" grpId="0" animBg="1"/>
      <p:bldP spid="15368" grpId="0" animBg="1"/>
      <p:bldP spid="15369" grpId="0" animBg="1"/>
      <p:bldP spid="15370" grpId="0" build="p" autoUpdateAnimBg="0"/>
      <p:bldP spid="15375" grpId="0" animBg="1"/>
      <p:bldP spid="15376" grpId="0" build="p" autoUpdateAnimBg="0"/>
      <p:bldP spid="15377" grpId="0" animBg="1"/>
      <p:bldP spid="15380" grpId="0" animBg="1"/>
      <p:bldP spid="15381" grpId="0" build="p" autoUpdateAnimBg="0"/>
      <p:bldP spid="15382" grpId="0" animBg="1"/>
      <p:bldP spid="15383" grpId="0" animBg="1"/>
      <p:bldP spid="15385" grpId="0" build="p" autoUpdateAnimBg="0"/>
      <p:bldP spid="15386" grpId="0" build="p" autoUpdateAnimBg="0"/>
      <p:bldP spid="15387" grpId="0" animBg="1"/>
      <p:bldP spid="15388" grpId="0" build="p" autoUpdateAnimBg="0"/>
      <p:bldP spid="15391" grpId="0" animBg="1"/>
      <p:bldP spid="15392" grpId="0" build="p" autoUpdateAnimBg="0"/>
      <p:bldP spid="15393" grpId="0" animBg="1"/>
      <p:bldP spid="15394" grpId="0" build="p" autoUpdateAnimBg="0"/>
      <p:bldP spid="15403" grpId="0" build="p" autoUpdateAnimBg="0"/>
      <p:bldP spid="15404" grpId="0" build="p" autoUpdateAnimBg="0"/>
      <p:bldP spid="15405" grpId="0" build="p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62819" name="Picture 3" descr="23_21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0" y="0"/>
            <a:ext cx="9372600" cy="7162800"/>
          </a:xfrm>
          <a:noFill/>
          <a:ln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6" name="Picture 8" descr="GEDDE~2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1484313"/>
            <a:ext cx="9144000" cy="5373687"/>
          </a:xfrm>
          <a:prstGeom prst="rect">
            <a:avLst/>
          </a:prstGeom>
          <a:noFill/>
        </p:spPr>
      </p:pic>
      <p:sp>
        <p:nvSpPr>
          <p:cNvPr id="27650" name="Text Box 2"/>
          <p:cNvSpPr txBox="1">
            <a:spLocks noChangeArrowheads="1"/>
          </p:cNvSpPr>
          <p:nvPr/>
        </p:nvSpPr>
        <p:spPr bwMode="auto">
          <a:xfrm>
            <a:off x="2133600" y="228600"/>
            <a:ext cx="5562600" cy="11079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6600" dirty="0" smtClean="0">
                <a:latin typeface="Algerian" pitchFamily="82" charset="0"/>
                <a:cs typeface="Times New Roman" pitchFamily="18" charset="0"/>
              </a:rPr>
              <a:t>Thank you</a:t>
            </a:r>
            <a:endParaRPr lang="en-US" sz="6600" dirty="0">
              <a:latin typeface="Algerian" pitchFamily="82" charset="0"/>
            </a:endParaRPr>
          </a:p>
        </p:txBody>
      </p:sp>
      <p:pic>
        <p:nvPicPr>
          <p:cNvPr id="27658" name="Picture 10" descr="man_enjoying_coffee_mug_md_wht"/>
          <p:cNvPicPr>
            <a:picLocks noChangeAspect="1" noChangeArrowheads="1" noCrop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38200" y="228600"/>
            <a:ext cx="1524000" cy="1200150"/>
          </a:xfrm>
          <a:prstGeom prst="rect">
            <a:avLst/>
          </a:prstGeom>
          <a:noFill/>
        </p:spPr>
      </p:pic>
      <p:pic>
        <p:nvPicPr>
          <p:cNvPr id="5" name="Picture 10" descr="man_enjoying_coffee_mug_md_wht"/>
          <p:cNvPicPr>
            <a:picLocks noChangeAspect="1" noChangeArrowheads="1" noCrop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315200" y="228600"/>
            <a:ext cx="1524000" cy="12001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0" fill="hold"/>
                                        <p:tgtEl>
                                          <p:spTgt spid="276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0" fill="hold"/>
                                        <p:tgtEl>
                                          <p:spTgt spid="276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3000"/>
                            </p:stCondLst>
                            <p:childTnLst>
                              <p:par>
                                <p:cTn id="1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76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0" grpId="0" autoUpdateAnimBg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حركة">
  <a:themeElements>
    <a:clrScheme name="حركة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حركة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حركة">
      <a:fillStyleLst>
        <a:solidFill>
          <a:schemeClr val="phClr"/>
        </a:solidFill>
        <a:gradFill rotWithShape="1">
          <a:gsLst>
            <a:gs pos="0">
              <a:schemeClr val="phClr">
                <a:tint val="25000"/>
                <a:satMod val="125000"/>
              </a:schemeClr>
            </a:gs>
            <a:gs pos="40000">
              <a:schemeClr val="phClr">
                <a:tint val="55000"/>
                <a:satMod val="130000"/>
              </a:schemeClr>
            </a:gs>
            <a:gs pos="50000">
              <a:schemeClr val="phClr">
                <a:tint val="59000"/>
                <a:satMod val="130000"/>
              </a:schemeClr>
            </a:gs>
            <a:gs pos="65000">
              <a:schemeClr val="phClr">
                <a:tint val="55000"/>
                <a:satMod val="130000"/>
              </a:schemeClr>
            </a:gs>
            <a:gs pos="100000">
              <a:schemeClr val="phClr">
                <a:tint val="20000"/>
                <a:satMod val="12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8000"/>
                <a:satMod val="138000"/>
              </a:schemeClr>
            </a:gs>
            <a:gs pos="25000">
              <a:schemeClr val="phClr">
                <a:tint val="85000"/>
              </a:schemeClr>
            </a:gs>
            <a:gs pos="40000">
              <a:schemeClr val="phClr">
                <a:tint val="92000"/>
              </a:schemeClr>
            </a:gs>
            <a:gs pos="50000">
              <a:schemeClr val="phClr">
                <a:tint val="93000"/>
              </a:schemeClr>
            </a:gs>
            <a:gs pos="60000">
              <a:schemeClr val="phClr">
                <a:tint val="92000"/>
              </a:schemeClr>
            </a:gs>
            <a:gs pos="75000">
              <a:schemeClr val="phClr">
                <a:tint val="83000"/>
                <a:satMod val="108000"/>
              </a:schemeClr>
            </a:gs>
            <a:gs pos="100000">
              <a:schemeClr val="phClr">
                <a:tint val="48000"/>
                <a:satMod val="150000"/>
              </a:schemeClr>
            </a:gs>
          </a:gsLst>
          <a:lin ang="5400000" scaled="0"/>
        </a:gradFill>
      </a:fillStyleLst>
      <a:lnStyleLst>
        <a:ln w="12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</a:effectStyle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>
            <a:bevelT w="0" h="0"/>
            <a:contourClr>
              <a:schemeClr val="phClr">
                <a:tint val="70000"/>
              </a:schemeClr>
            </a:contourClr>
          </a:sp3d>
        </a:effectStyle>
        <a:effectStyle>
          <a:effectLst>
            <a:glow rad="101500">
              <a:schemeClr val="phClr">
                <a:alpha val="42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glow" dir="t">
              <a:rot lat="0" lon="0" rev="4800000"/>
            </a:lightRig>
          </a:scene3d>
          <a:sp3d prstMaterial="powder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bg1">
                <a:shade val="100000"/>
                <a:satMod val="150000"/>
              </a:schemeClr>
            </a:gs>
            <a:gs pos="65000">
              <a:schemeClr val="bg1">
                <a:shade val="90000"/>
                <a:satMod val="375000"/>
              </a:schemeClr>
            </a:gs>
            <a:gs pos="100000">
              <a:schemeClr val="phClr">
                <a:tint val="88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0000"/>
                <a:satMod val="180000"/>
              </a:schemeClr>
              <a:schemeClr val="phClr">
                <a:tint val="90000"/>
                <a:satMod val="20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انقلاب">
  <a:themeElements>
    <a:clrScheme name="انقلاب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انقلاب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انقلاب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سمة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Metro</Template>
  <TotalTime>88</TotalTime>
  <Words>390</Words>
  <Application>Microsoft Office PowerPoint</Application>
  <PresentationFormat>On-screen Show (4:3)</PresentationFormat>
  <Paragraphs>86</Paragraphs>
  <Slides>15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17" baseType="lpstr">
      <vt:lpstr>حركة</vt:lpstr>
      <vt:lpstr>انقلاب</vt:lpstr>
      <vt:lpstr>Slide 1</vt:lpstr>
      <vt:lpstr>Control of respiration</vt:lpstr>
      <vt:lpstr>Slide 3</vt:lpstr>
      <vt:lpstr>Respiratory center </vt:lpstr>
      <vt:lpstr>Slide 5</vt:lpstr>
      <vt:lpstr>Slide 6</vt:lpstr>
      <vt:lpstr>Chemical control of breathing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Hewlett-Packard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الشريحة 1</dc:title>
  <dc:creator>user</dc:creator>
  <cp:lastModifiedBy>Napta</cp:lastModifiedBy>
  <cp:revision>6</cp:revision>
  <dcterms:created xsi:type="dcterms:W3CDTF">2011-10-26T16:32:08Z</dcterms:created>
  <dcterms:modified xsi:type="dcterms:W3CDTF">2021-03-28T08:01:48Z</dcterms:modified>
</cp:coreProperties>
</file>