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3" r:id="rId3"/>
    <p:sldId id="257" r:id="rId4"/>
    <p:sldId id="258" r:id="rId5"/>
    <p:sldId id="259" r:id="rId6"/>
    <p:sldId id="260" r:id="rId7"/>
    <p:sldId id="266" r:id="rId8"/>
    <p:sldId id="261" r:id="rId9"/>
    <p:sldId id="272" r:id="rId10"/>
    <p:sldId id="267" r:id="rId11"/>
    <p:sldId id="268" r:id="rId12"/>
    <p:sldId id="265" r:id="rId13"/>
    <p:sldId id="262" r:id="rId14"/>
    <p:sldId id="269" r:id="rId15"/>
    <p:sldId id="270" r:id="rId16"/>
    <p:sldId id="271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عنصر نائب للتاريخ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17" name="عنصر نائب للتذييل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عنصر نائب لرقم الشريحة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مستطيل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مستطيل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مستطيل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مستطيل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مستطيل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عنوان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وان فرعي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56" name="مستطيل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مستطيل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مستطيل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مستطيل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شكل حر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شكل حر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شكل حر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شكل حر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شكل حر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شكل حر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شكل حر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شكل حر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شكل حر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شكل حر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شكل حر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شكل حر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شكل حر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شكل حر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شكل حر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مستطيل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مستطيل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مستطيل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مستطيل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مستطيل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مستطيل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مستطيل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مستطيل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مستطيل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مستطيل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مستطيل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مستطيل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مستطيل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رابط مستقيم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مجموعة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رابط مستقيم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رابط مستقيم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رابط مستقيم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عنوان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ar-SA" smtClean="0"/>
              <a:t>انقر فوق الرمز لإضافة صورة</a:t>
            </a:r>
            <a:endParaRPr kumimoji="0"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grpSp>
        <p:nvGrpSpPr>
          <p:cNvPr id="14" name="مجموعة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رابط مستقيم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رابط مستقيم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رابط مستقيم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مجموعة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رابط مستقيم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رابط مستقيم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رابط مستقيم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عنوان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22" name="عنوان فرعي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20" name="عنصر نائب للتذييل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عنصر نائب لرقم الشريحة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شكل بيضاوي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مستطيل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مستطيل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مستطيل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ar-SA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9" name="مخطط انسيابي: معالجة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خطط انسيابي: معالجة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مستطيل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ستطيل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مستطيل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مستطيل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مستطيل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عنصر نائب للعنوان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3" name="عنصر نائب للنص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14" name="عنصر نائب للتاريخ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عنصر نائب لرقم الشريحة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دائري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دائرة مجوفة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مستطيل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عنصر نائب للعنوان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صر نائب للنص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24" name="عنصر نائب للتاريخ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A0D1DC3-6851-410F-BB82-8CBB64F7C440}" type="datetimeFigureOut">
              <a:rPr lang="en-US" smtClean="0"/>
              <a:pPr/>
              <a:t>4/18/2021</a:t>
            </a:fld>
            <a:endParaRPr lang="en-US"/>
          </a:p>
        </p:txBody>
      </p:sp>
      <p:sp>
        <p:nvSpPr>
          <p:cNvPr id="10" name="عنصر نائب للتذييل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عنصر نائب لرقم الشريحة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74879C0-DAF4-41CD-BEAB-954ED8AACE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مستطيل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video" Target="Heart%20edit.wmv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2819400" y="228600"/>
            <a:ext cx="5867400" cy="2108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 b="1" dirty="0" smtClean="0">
                <a:solidFill>
                  <a:srgbClr val="002060"/>
                </a:solidFill>
                <a:latin typeface="Elephant" pitchFamily="18" charset="0"/>
              </a:rPr>
              <a:t>CVS  </a:t>
            </a:r>
            <a:r>
              <a:rPr lang="en-US" sz="3200" b="1" dirty="0">
                <a:solidFill>
                  <a:srgbClr val="002060"/>
                </a:solidFill>
                <a:latin typeface="Elephant" pitchFamily="18" charset="0"/>
              </a:rPr>
              <a:t>Physiology</a:t>
            </a:r>
            <a: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  <a:t/>
            </a:r>
            <a:b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</a:br>
            <a:r>
              <a:rPr lang="en-US" dirty="0" smtClean="0">
                <a:solidFill>
                  <a:srgbClr val="002060"/>
                </a:solidFill>
                <a:latin typeface="Elephant" pitchFamily="18" charset="0"/>
              </a:rPr>
              <a:t>Bader Hassan</a:t>
            </a:r>
            <a:endParaRPr lang="en-US" dirty="0" smtClean="0">
              <a:solidFill>
                <a:srgbClr val="002060"/>
              </a:solidFill>
              <a:latin typeface="Elephant" pitchFamily="18" charset="0"/>
            </a:endParaRPr>
          </a:p>
          <a:p>
            <a:pPr algn="r">
              <a:spcBef>
                <a:spcPct val="50000"/>
              </a:spcBef>
            </a:pPr>
            <a:r>
              <a:rPr lang="en-US" b="1" dirty="0" smtClean="0">
                <a:solidFill>
                  <a:srgbClr val="002060"/>
                </a:solidFill>
                <a:latin typeface="Elephant" pitchFamily="18" charset="0"/>
              </a:rPr>
              <a:t>Lecturer </a:t>
            </a:r>
            <a:r>
              <a:rPr lang="en-US" b="1" dirty="0">
                <a:solidFill>
                  <a:srgbClr val="002060"/>
                </a:solidFill>
                <a:latin typeface="Elephant" pitchFamily="18" charset="0"/>
              </a:rPr>
              <a:t>Of Physiology</a:t>
            </a:r>
          </a:p>
          <a:p>
            <a:pPr algn="r">
              <a:spcBef>
                <a:spcPct val="50000"/>
              </a:spcBef>
            </a:pPr>
            <a:endParaRPr lang="en-US" sz="3600" b="1" dirty="0">
              <a:solidFill>
                <a:srgbClr val="0066FF"/>
              </a:solidFill>
              <a:latin typeface="Elephant" pitchFamily="18" charset="0"/>
            </a:endParaRP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381000" y="6248400"/>
            <a:ext cx="8001000" cy="461963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Faculty Of Medicine Dept.Of Physiology</a:t>
            </a:r>
            <a:r>
              <a:rPr lang="en-US" b="1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228600" y="1752600"/>
            <a:ext cx="3810000" cy="3077766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Control of </a:t>
            </a: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A</a:t>
            </a: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rterial </a:t>
            </a: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B</a:t>
            </a: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lood </a:t>
            </a: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P</a:t>
            </a: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ressure (ABP)</a:t>
            </a:r>
            <a:r>
              <a:rPr lang="en-US" sz="2000" b="1" i="1" dirty="0"/>
              <a:t/>
            </a:r>
            <a:br>
              <a:rPr lang="en-US" sz="2000" b="1" i="1" dirty="0"/>
            </a:br>
            <a:endParaRPr lang="en-US" sz="2000" b="1" i="1" dirty="0"/>
          </a:p>
          <a:p>
            <a:pPr>
              <a:spcBef>
                <a:spcPct val="50000"/>
              </a:spcBef>
            </a:pPr>
            <a:endParaRPr lang="en-US" sz="2800" b="1" dirty="0">
              <a:solidFill>
                <a:srgbClr val="FF3300"/>
              </a:solidFill>
            </a:endParaRPr>
          </a:p>
        </p:txBody>
      </p:sp>
      <p:sp>
        <p:nvSpPr>
          <p:cNvPr id="22533" name="Text Box 9"/>
          <p:cNvSpPr txBox="1">
            <a:spLocks noChangeArrowheads="1"/>
          </p:cNvSpPr>
          <p:nvPr/>
        </p:nvSpPr>
        <p:spPr bwMode="auto">
          <a:xfrm>
            <a:off x="304800" y="228600"/>
            <a:ext cx="4495800" cy="369332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LECTURE NO </a:t>
            </a:r>
            <a:r>
              <a:rPr lang="en-US" b="1" dirty="0" smtClean="0"/>
              <a:t>(5)   </a:t>
            </a:r>
            <a:endParaRPr lang="ar-SA" b="1" dirty="0"/>
          </a:p>
        </p:txBody>
      </p:sp>
      <p:pic>
        <p:nvPicPr>
          <p:cNvPr id="7" name="Heart edit.wmv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419600" y="1524000"/>
            <a:ext cx="4572000" cy="4495800"/>
          </a:xfrm>
          <a:prstGeom prst="rect">
            <a:avLst/>
          </a:prstGeom>
          <a:ln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009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blood pressure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783560"/>
            <a:ext cx="8001000" cy="4572000"/>
          </a:xfrm>
        </p:spPr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Definition :-</a:t>
            </a:r>
          </a:p>
          <a:p>
            <a:r>
              <a:rPr lang="en-US" dirty="0" smtClean="0">
                <a:latin typeface="Centaur" pitchFamily="18" charset="0"/>
              </a:rPr>
              <a:t>The systolic pressure is the maximum pressure in arteries during systole of the heart.</a:t>
            </a:r>
          </a:p>
          <a:p>
            <a:r>
              <a:rPr lang="en-US" dirty="0" smtClean="0">
                <a:latin typeface="Centaur" pitchFamily="18" charset="0"/>
              </a:rPr>
              <a:t>Ranges between 110 – 140 mmHg in normal adults .</a:t>
            </a:r>
          </a:p>
          <a:p>
            <a:r>
              <a:rPr lang="en-US" dirty="0" smtClean="0">
                <a:latin typeface="Centaur" pitchFamily="18" charset="0"/>
              </a:rPr>
              <a:t>The diastolic pressure is the minimum pressure in arteries during diastole of the heart.</a:t>
            </a:r>
          </a:p>
          <a:p>
            <a:r>
              <a:rPr lang="en-US" dirty="0" smtClean="0">
                <a:latin typeface="Centaur" pitchFamily="18" charset="0"/>
              </a:rPr>
              <a:t>Ranges between 70 – 90 mmHg in normal adults.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The pulse pressure: is the difference between the systolic &amp; diastolic pressure.</a:t>
            </a:r>
          </a:p>
          <a:p>
            <a:r>
              <a:rPr lang="en-US" dirty="0" smtClean="0">
                <a:latin typeface="Centaur" pitchFamily="18" charset="0"/>
              </a:rPr>
              <a:t>The mean arterial pressure: is the mean pressure during the cardiac cycle.</a:t>
            </a:r>
          </a:p>
          <a:p>
            <a:r>
              <a:rPr lang="en-US" dirty="0" smtClean="0">
                <a:latin typeface="Centaur" pitchFamily="18" charset="0"/>
              </a:rPr>
              <a:t>It equals the diastolic + 1/3 of the pulse pressure.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Example: </a:t>
            </a:r>
            <a:r>
              <a:rPr lang="en-US" dirty="0" smtClean="0">
                <a:latin typeface="Centaur" pitchFamily="18" charset="0"/>
              </a:rPr>
              <a:t>if the blood pressure of a subject = 120/80.</a:t>
            </a:r>
          </a:p>
          <a:p>
            <a:r>
              <a:rPr lang="en-US" dirty="0" smtClean="0">
                <a:latin typeface="Centaur" pitchFamily="18" charset="0"/>
              </a:rPr>
              <a:t>The systolic pressure = 120mmHg.</a:t>
            </a:r>
          </a:p>
          <a:p>
            <a:r>
              <a:rPr lang="en-US" dirty="0" smtClean="0">
                <a:latin typeface="Centaur" pitchFamily="18" charset="0"/>
              </a:rPr>
              <a:t>The diastolic = 80 mmHg.</a:t>
            </a:r>
          </a:p>
          <a:p>
            <a:r>
              <a:rPr lang="en-US" dirty="0" smtClean="0">
                <a:latin typeface="Centaur" pitchFamily="18" charset="0"/>
              </a:rPr>
              <a:t>The pulse pressure = 120-80 = 40 mmHg.</a:t>
            </a:r>
          </a:p>
          <a:p>
            <a:r>
              <a:rPr lang="en-US" dirty="0" smtClean="0">
                <a:latin typeface="Centaur" pitchFamily="18" charset="0"/>
              </a:rPr>
              <a:t>The mean arterial pressure = 80+(1/3 x 40)   =93 mmHg.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of blood pressure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BP = cardiac output x peripheral resistance.</a:t>
            </a:r>
          </a:p>
          <a:p>
            <a:r>
              <a:rPr lang="en-US" dirty="0" smtClean="0">
                <a:latin typeface="Centaur" pitchFamily="18" charset="0"/>
              </a:rPr>
              <a:t>The blood pressure is controlled by controlling the cardiac output &amp; the peripheral resistance through the following mechanisms: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371600"/>
          </a:xfrm>
          <a:gradFill rotWithShape="0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/>
        </p:spPr>
        <p:txBody>
          <a:bodyPr/>
          <a:lstStyle/>
          <a:p>
            <a:r>
              <a:rPr lang="en-US" b="1"/>
              <a:t>Control of Blood Pressure</a:t>
            </a: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914400" y="1752600"/>
            <a:ext cx="7086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Controlling cardiac output and peripheral resistance regulates blood pressure  </a:t>
            </a:r>
          </a:p>
        </p:txBody>
      </p:sp>
      <p:pic>
        <p:nvPicPr>
          <p:cNvPr id="39945" name="Picture 9" descr="15_38"/>
          <p:cNvPicPr>
            <a:picLocks noChangeAspect="1" noChangeArrowheads="1"/>
          </p:cNvPicPr>
          <p:nvPr/>
        </p:nvPicPr>
        <p:blipFill>
          <a:blip r:embed="rId2" cstate="print"/>
          <a:srcRect t="14999" b="14999"/>
          <a:stretch>
            <a:fillRect/>
          </a:stretch>
        </p:blipFill>
        <p:spPr bwMode="auto">
          <a:xfrm>
            <a:off x="685800" y="2362200"/>
            <a:ext cx="8153400" cy="42021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Very rapid mechanism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entaur" pitchFamily="18" charset="0"/>
              </a:rPr>
              <a:t>Neural mechanism that act in second.</a:t>
            </a:r>
          </a:p>
          <a:p>
            <a:r>
              <a:rPr lang="en-US" dirty="0" smtClean="0">
                <a:latin typeface="Centaur" pitchFamily="18" charset="0"/>
              </a:rPr>
              <a:t>Include :</a:t>
            </a:r>
          </a:p>
          <a:p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The baroreceptors: </a:t>
            </a:r>
            <a:r>
              <a:rPr lang="en-US" dirty="0" smtClean="0">
                <a:latin typeface="Centaur" pitchFamily="18" charset="0"/>
              </a:rPr>
              <a:t>which stimulated by hypotension.</a:t>
            </a:r>
          </a:p>
          <a:p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The chemoreceptors: </a:t>
            </a:r>
            <a:r>
              <a:rPr lang="en-US" dirty="0" smtClean="0">
                <a:latin typeface="Centaur" pitchFamily="18" charset="0"/>
              </a:rPr>
              <a:t>stimulated by chemical changes in the blood due to hypotension.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7772400" cy="1143000"/>
          </a:xfrm>
          <a:gradFill rotWithShape="0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/>
        </p:spPr>
        <p:txBody>
          <a:bodyPr/>
          <a:lstStyle/>
          <a:p>
            <a:r>
              <a:rPr lang="en-US" b="1"/>
              <a:t>Regulation of Cardiac Cycle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1447800" y="1524000"/>
            <a:ext cx="5562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Autonomic nerve impulses alter the activities of the S-A and A-V nodes</a:t>
            </a:r>
          </a:p>
        </p:txBody>
      </p:sp>
      <p:pic>
        <p:nvPicPr>
          <p:cNvPr id="25607" name="Picture 7" descr="15_2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133600"/>
            <a:ext cx="7772400" cy="457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7772400" cy="914400"/>
          </a:xfrm>
          <a:gradFill rotWithShape="0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/>
        </p:spPr>
        <p:txBody>
          <a:bodyPr/>
          <a:lstStyle/>
          <a:p>
            <a:r>
              <a:rPr lang="en-US" b="1" dirty="0"/>
              <a:t>Control of Blood Pressure</a:t>
            </a: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838200" y="1219200"/>
            <a:ext cx="7924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If blood pressure rises, baroreceptors initiate the </a:t>
            </a:r>
            <a:r>
              <a:rPr lang="en-US" dirty="0" err="1"/>
              <a:t>cardioinhibitory</a:t>
            </a:r>
            <a:r>
              <a:rPr lang="en-US" dirty="0"/>
              <a:t> reflex, which lowers the blood pressure</a:t>
            </a:r>
          </a:p>
        </p:txBody>
      </p:sp>
      <p:pic>
        <p:nvPicPr>
          <p:cNvPr id="40967" name="Picture 7" descr="15_3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05000"/>
            <a:ext cx="7391400" cy="47053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7772400" cy="914400"/>
          </a:xfrm>
          <a:gradFill rotWithShape="0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/>
        </p:spPr>
        <p:txBody>
          <a:bodyPr/>
          <a:lstStyle/>
          <a:p>
            <a:r>
              <a:rPr lang="en-US" b="1"/>
              <a:t>Control of Blood Pressure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219200" y="1295400"/>
            <a:ext cx="6516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Dilating arterioles helps regulate blood pressure </a:t>
            </a:r>
          </a:p>
        </p:txBody>
      </p:sp>
      <p:pic>
        <p:nvPicPr>
          <p:cNvPr id="41991" name="Picture 7" descr="15_4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752600"/>
            <a:ext cx="7620000" cy="50577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 rapid mechanisms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Hormonal mechanisms that act in minutes.</a:t>
            </a:r>
          </a:p>
          <a:p>
            <a:r>
              <a:rPr lang="en-US" dirty="0" smtClean="0">
                <a:latin typeface="Centaur" pitchFamily="18" charset="0"/>
              </a:rPr>
              <a:t>Include hormones that cause vasoconstriction like ADH, </a:t>
            </a:r>
            <a:r>
              <a:rPr lang="en-US" dirty="0" err="1" smtClean="0">
                <a:latin typeface="Centaur" pitchFamily="18" charset="0"/>
              </a:rPr>
              <a:t>angiotensin</a:t>
            </a:r>
            <a:r>
              <a:rPr lang="en-US" dirty="0" smtClean="0">
                <a:latin typeface="Centaur" pitchFamily="18" charset="0"/>
              </a:rPr>
              <a:t> II  and </a:t>
            </a:r>
            <a:r>
              <a:rPr lang="en-US" dirty="0" err="1" smtClean="0">
                <a:latin typeface="Centaur" pitchFamily="18" charset="0"/>
              </a:rPr>
              <a:t>catecholamines</a:t>
            </a:r>
            <a:r>
              <a:rPr lang="en-US" dirty="0" smtClean="0">
                <a:latin typeface="Centaur" pitchFamily="18" charset="0"/>
              </a:rPr>
              <a:t>. </a:t>
            </a:r>
          </a:p>
          <a:p>
            <a:r>
              <a:rPr lang="en-US" dirty="0" smtClean="0">
                <a:latin typeface="Centaur" pitchFamily="18" charset="0"/>
              </a:rPr>
              <a:t>Secretion of these hormones is stimulated by hypotension.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 term mechanisms 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762000" y="1783560"/>
            <a:ext cx="8001000" cy="45720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Centaur" pitchFamily="18" charset="0"/>
              </a:rPr>
              <a:t>Take days to act.</a:t>
            </a:r>
          </a:p>
          <a:p>
            <a:r>
              <a:rPr lang="en-US" dirty="0" smtClean="0">
                <a:latin typeface="Centaur" pitchFamily="18" charset="0"/>
              </a:rPr>
              <a:t>Include factors that increase blood volume by:</a:t>
            </a:r>
          </a:p>
          <a:p>
            <a:r>
              <a:rPr lang="en-US" dirty="0" smtClean="0">
                <a:latin typeface="Centaur" pitchFamily="18" charset="0"/>
              </a:rPr>
              <a:t>Reabsorption of water in the kidney by ADH.</a:t>
            </a:r>
          </a:p>
          <a:p>
            <a:r>
              <a:rPr lang="en-US" dirty="0" smtClean="0">
                <a:latin typeface="Centaur" pitchFamily="18" charset="0"/>
              </a:rPr>
              <a:t>Reabsorption of sodium, followed by water, in the kidney by aldosterone hormone.</a:t>
            </a:r>
          </a:p>
          <a:p>
            <a:r>
              <a:rPr lang="en-US" dirty="0" smtClean="0">
                <a:latin typeface="Centaur" pitchFamily="18" charset="0"/>
              </a:rPr>
              <a:t>Excretion of sodium followed by water, by atrial natriuretic peptide hormone.</a:t>
            </a:r>
          </a:p>
          <a:p>
            <a:r>
              <a:rPr lang="en-US" dirty="0" smtClean="0">
                <a:latin typeface="Centaur" pitchFamily="18" charset="0"/>
              </a:rPr>
              <a:t>Drinking of water due to stimulation of the thirst center.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381000" y="1417638"/>
            <a:ext cx="82454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Aft>
                <a:spcPct val="50000"/>
              </a:spcAft>
              <a:buClr>
                <a:srgbClr val="FF6600"/>
              </a:buClr>
              <a:buFont typeface="Symbol" pitchFamily="18" charset="2"/>
              <a:buNone/>
            </a:pPr>
            <a:endParaRPr lang="en-US" sz="300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229600" cy="914400"/>
          </a:xfrm>
        </p:spPr>
        <p:txBody>
          <a:bodyPr/>
          <a:lstStyle/>
          <a:p>
            <a:r>
              <a:rPr lang="en-US" dirty="0"/>
              <a:t>Factors Determining Blood Pressure</a:t>
            </a:r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2" cstate="print"/>
          <a:srcRect l="6972" t="14577" r="2777" b="9233"/>
          <a:stretch>
            <a:fillRect/>
          </a:stretch>
        </p:blipFill>
        <p:spPr bwMode="auto">
          <a:xfrm>
            <a:off x="609600" y="1447800"/>
            <a:ext cx="8077200" cy="5105400"/>
          </a:xfrm>
          <a:prstGeom prst="rect">
            <a:avLst/>
          </a:prstGeom>
          <a:noFill/>
        </p:spPr>
      </p:pic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7772400" y="6324600"/>
            <a:ext cx="12176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626292"/>
                </a:solidFill>
              </a:rPr>
              <a:t>Figure 11.19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381000" y="1417638"/>
            <a:ext cx="82454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Aft>
                <a:spcPct val="50000"/>
              </a:spcAft>
              <a:buClr>
                <a:srgbClr val="FF6600"/>
              </a:buClr>
              <a:buFont typeface="Symbol" pitchFamily="18" charset="2"/>
              <a:buNone/>
            </a:pPr>
            <a:endParaRPr lang="en-US" sz="300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924800" cy="914400"/>
          </a:xfrm>
        </p:spPr>
        <p:txBody>
          <a:bodyPr/>
          <a:lstStyle/>
          <a:p>
            <a:r>
              <a:rPr lang="en-US" dirty="0"/>
              <a:t>Measuring Arterial Blood Pressure</a:t>
            </a: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 cstate="print"/>
          <a:srcRect t="25021" b="13885"/>
          <a:stretch>
            <a:fillRect/>
          </a:stretch>
        </p:blipFill>
        <p:spPr bwMode="auto">
          <a:xfrm>
            <a:off x="533400" y="1524000"/>
            <a:ext cx="8382000" cy="5029200"/>
          </a:xfrm>
          <a:prstGeom prst="rect">
            <a:avLst/>
          </a:prstGeom>
          <a:noFill/>
        </p:spPr>
      </p:pic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7772400" y="6324600"/>
            <a:ext cx="12176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1400" b="1">
                <a:solidFill>
                  <a:srgbClr val="626292"/>
                </a:solidFill>
              </a:rPr>
              <a:t>Figure 11.18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40" name="Picture 4" descr="07_0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" y="28575"/>
            <a:ext cx="9067800" cy="680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 </a:t>
            </a:r>
            <a:endParaRPr lang="ar-SA" dirty="0"/>
          </a:p>
        </p:txBody>
      </p:sp>
      <p:pic>
        <p:nvPicPr>
          <p:cNvPr id="47106" name="Picture 2" descr="C:\Users\compaq\Pictures\Islamic\1913_1265563950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71414"/>
            <a:ext cx="8832283" cy="6643675"/>
          </a:xfrm>
          <a:prstGeom prst="rect">
            <a:avLst/>
          </a:prstGeom>
          <a:noFill/>
        </p:spPr>
      </p:pic>
      <p:sp>
        <p:nvSpPr>
          <p:cNvPr id="5" name="Oval 4"/>
          <p:cNvSpPr/>
          <p:nvPr/>
        </p:nvSpPr>
        <p:spPr>
          <a:xfrm>
            <a:off x="1428728" y="1571612"/>
            <a:ext cx="3071834" cy="3429024"/>
          </a:xfrm>
          <a:prstGeom prst="ellipse">
            <a:avLst/>
          </a:prstGeom>
          <a:ln w="76200">
            <a:solidFill>
              <a:srgbClr val="CA9D4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6" name="Rounded Rectangle 5"/>
          <p:cNvSpPr/>
          <p:nvPr/>
        </p:nvSpPr>
        <p:spPr>
          <a:xfrm>
            <a:off x="5286380" y="1142984"/>
            <a:ext cx="3128978" cy="4500594"/>
          </a:xfrm>
          <a:prstGeom prst="roundRect">
            <a:avLst/>
          </a:prstGeom>
          <a:solidFill>
            <a:srgbClr val="CA9D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8" name="Rectangle 7"/>
          <p:cNvSpPr/>
          <p:nvPr/>
        </p:nvSpPr>
        <p:spPr>
          <a:xfrm>
            <a:off x="1787528" y="1857364"/>
            <a:ext cx="2498720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ar-SA" sz="4400" b="1" cap="none" spc="0" dirty="0" smtClean="0">
                <a:ln/>
                <a:solidFill>
                  <a:srgbClr val="CA9D42"/>
                </a:solidFill>
                <a:effectLst/>
              </a:rPr>
              <a:t>(لا إله إلا أنت سبحانك إني كنت من الظالمين)</a:t>
            </a:r>
            <a:endParaRPr lang="en-US" sz="4400" b="1" cap="none" spc="0" dirty="0">
              <a:ln/>
              <a:solidFill>
                <a:srgbClr val="CA9D42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86380" y="1357298"/>
            <a:ext cx="307183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 rtl="0"/>
            <a:r>
              <a:rPr lang="en-US" sz="2800" b="1" dirty="0" smtClean="0">
                <a:ln w="11430"/>
                <a:solidFill>
                  <a:srgbClr val="C0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n-US" sz="2800" b="1" cap="none" spc="0" dirty="0">
              <a:ln w="11430"/>
              <a:solidFill>
                <a:srgbClr val="C0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47108" name="Picture 4" descr="C:\Users\compaq\Pictures\HEARTS\HeartThanks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8805" y="1371600"/>
            <a:ext cx="2847971" cy="3986226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حركة">
  <a:themeElements>
    <a:clrScheme name="حركة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حركة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حركة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انقلاب">
  <a:themeElements>
    <a:clrScheme name="انقلاب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انقلاب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انقلاب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81</TotalTime>
  <Words>407</Words>
  <Application>Microsoft Office PowerPoint</Application>
  <PresentationFormat>On-screen Show (4:3)</PresentationFormat>
  <Paragraphs>53</Paragraphs>
  <Slides>16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حركة</vt:lpstr>
      <vt:lpstr>انقلاب</vt:lpstr>
      <vt:lpstr>Slide 1</vt:lpstr>
      <vt:lpstr>The blood pressure</vt:lpstr>
      <vt:lpstr>Slide 3</vt:lpstr>
      <vt:lpstr>Slide 4</vt:lpstr>
      <vt:lpstr>Control of blood pressure</vt:lpstr>
      <vt:lpstr>Control of Blood Pressure</vt:lpstr>
      <vt:lpstr>Very rapid mechanism</vt:lpstr>
      <vt:lpstr>Regulation of Cardiac Cycle</vt:lpstr>
      <vt:lpstr>Control of Blood Pressure</vt:lpstr>
      <vt:lpstr>Control of Blood Pressure</vt:lpstr>
      <vt:lpstr>Less rapid mechanisms</vt:lpstr>
      <vt:lpstr>Long term mechanisms </vt:lpstr>
      <vt:lpstr>Factors Determining Blood Pressure</vt:lpstr>
      <vt:lpstr>Measuring Arterial Blood Pressure</vt:lpstr>
      <vt:lpstr>Slide 15</vt:lpstr>
      <vt:lpstr>Slide 16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الشريحة 1</dc:title>
  <dc:creator>user</dc:creator>
  <cp:lastModifiedBy>Napta</cp:lastModifiedBy>
  <cp:revision>6</cp:revision>
  <dcterms:created xsi:type="dcterms:W3CDTF">2011-10-20T18:46:07Z</dcterms:created>
  <dcterms:modified xsi:type="dcterms:W3CDTF">2021-04-18T06:02:48Z</dcterms:modified>
</cp:coreProperties>
</file>