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6" r:id="rId1"/>
  </p:sldMasterIdLst>
  <p:notesMasterIdLst>
    <p:notesMasterId r:id="rId31"/>
  </p:notes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6" r:id="rId9"/>
    <p:sldId id="267" r:id="rId10"/>
    <p:sldId id="268" r:id="rId11"/>
    <p:sldId id="264" r:id="rId12"/>
    <p:sldId id="265" r:id="rId13"/>
    <p:sldId id="269" r:id="rId14"/>
    <p:sldId id="277" r:id="rId15"/>
    <p:sldId id="278" r:id="rId16"/>
    <p:sldId id="279" r:id="rId17"/>
    <p:sldId id="285" r:id="rId18"/>
    <p:sldId id="270" r:id="rId19"/>
    <p:sldId id="280" r:id="rId20"/>
    <p:sldId id="281" r:id="rId21"/>
    <p:sldId id="273" r:id="rId22"/>
    <p:sldId id="274" r:id="rId23"/>
    <p:sldId id="275" r:id="rId24"/>
    <p:sldId id="276" r:id="rId25"/>
    <p:sldId id="283" r:id="rId26"/>
    <p:sldId id="284" r:id="rId27"/>
    <p:sldId id="271" r:id="rId28"/>
    <p:sldId id="282" r:id="rId29"/>
    <p:sldId id="27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8" autoAdjust="0"/>
    <p:restoredTop sz="94563" autoAdjust="0"/>
  </p:normalViewPr>
  <p:slideViewPr>
    <p:cSldViewPr snapToGrid="0">
      <p:cViewPr>
        <p:scale>
          <a:sx n="54" d="100"/>
          <a:sy n="54" d="100"/>
        </p:scale>
        <p:origin x="-590" y="11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2955C2-D4DB-47B1-852A-6E96590ACCEB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EF83C-7901-4499-98F8-05772AE6C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129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Vasoconstriction in injury vessel wall immediately occurs due to contraction of the smooth muscle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4EF83C-7901-4499-98F8-05772AE6C5C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800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sz="1200" dirty="0" smtClean="0"/>
              <a:t>Damage to the endothelium of vessels exposes </a:t>
            </a:r>
            <a:r>
              <a:rPr lang="en-US" sz="1200" dirty="0" err="1" smtClean="0"/>
              <a:t>subendothelial</a:t>
            </a:r>
            <a:r>
              <a:rPr lang="en-US" sz="1200" dirty="0" smtClean="0"/>
              <a:t> tissue to the blood (</a:t>
            </a:r>
            <a:r>
              <a:rPr lang="en-US" sz="1200" dirty="0" smtClean="0">
                <a:solidFill>
                  <a:srgbClr val="FFFF00"/>
                </a:solidFill>
              </a:rPr>
              <a:t>collagen</a:t>
            </a:r>
            <a:r>
              <a:rPr lang="en-US" sz="1200" dirty="0" smtClean="0"/>
              <a:t>). </a:t>
            </a:r>
          </a:p>
          <a:p>
            <a:pPr algn="l" rtl="0"/>
            <a:r>
              <a:rPr lang="en-US" sz="1200" dirty="0" smtClean="0"/>
              <a:t>Platelets are able to stick to exposed collagen proteins that have become coated with a protein (</a:t>
            </a:r>
            <a:r>
              <a:rPr lang="en-US" sz="1200" i="1" dirty="0" smtClean="0">
                <a:solidFill>
                  <a:srgbClr val="FFFF00"/>
                </a:solidFill>
              </a:rPr>
              <a:t>von </a:t>
            </a:r>
            <a:r>
              <a:rPr lang="en-US" sz="1200" i="1" dirty="0" err="1" smtClean="0">
                <a:solidFill>
                  <a:srgbClr val="FFFF00"/>
                </a:solidFill>
              </a:rPr>
              <a:t>Willebrand</a:t>
            </a:r>
            <a:r>
              <a:rPr lang="en-US" sz="1200" i="1" dirty="0" smtClean="0">
                <a:solidFill>
                  <a:srgbClr val="FFFF00"/>
                </a:solidFill>
              </a:rPr>
              <a:t> factor</a:t>
            </a:r>
            <a:r>
              <a:rPr lang="en-US" sz="1200" dirty="0" smtClean="0"/>
              <a:t>) secreted by endothelial cells</a:t>
            </a:r>
          </a:p>
          <a:p>
            <a:pPr algn="l" rtl="0"/>
            <a:r>
              <a:rPr lang="en-US" sz="1200" i="1" dirty="0" smtClean="0">
                <a:solidFill>
                  <a:srgbClr val="FFFF00"/>
                </a:solidFill>
              </a:rPr>
              <a:t>von </a:t>
            </a:r>
            <a:r>
              <a:rPr lang="en-US" sz="1200" i="1" dirty="0" err="1" smtClean="0">
                <a:solidFill>
                  <a:srgbClr val="FFFF00"/>
                </a:solidFill>
              </a:rPr>
              <a:t>Willebrand</a:t>
            </a:r>
            <a:r>
              <a:rPr lang="en-US" sz="1200" i="1" dirty="0" smtClean="0">
                <a:solidFill>
                  <a:srgbClr val="FFFF00"/>
                </a:solidFill>
              </a:rPr>
              <a:t> factor</a:t>
            </a:r>
            <a:r>
              <a:rPr lang="ar-SA" sz="1200" i="1" dirty="0" smtClean="0">
                <a:solidFill>
                  <a:srgbClr val="FFFF00"/>
                </a:solidFill>
              </a:rPr>
              <a:t> </a:t>
            </a:r>
            <a:r>
              <a:rPr lang="en-US" sz="1200" i="1" dirty="0" smtClean="0">
                <a:solidFill>
                  <a:srgbClr val="FFFF00"/>
                </a:solidFill>
              </a:rPr>
              <a:t> </a:t>
            </a:r>
            <a:r>
              <a:rPr lang="en-US" sz="1200" dirty="0" smtClean="0"/>
              <a:t>act as bridge which connect platelets glycoprotein receptors (</a:t>
            </a:r>
            <a:r>
              <a:rPr lang="en-US" sz="1200" dirty="0" err="1" smtClean="0"/>
              <a:t>GPIb</a:t>
            </a:r>
            <a:r>
              <a:rPr lang="en-US" sz="1200" dirty="0" smtClean="0"/>
              <a:t>) and collagen</a:t>
            </a:r>
          </a:p>
          <a:p>
            <a:pPr algn="l" rtl="0"/>
            <a:r>
              <a:rPr lang="en-US" sz="1200" dirty="0" smtClean="0"/>
              <a:t>The adhesion leaded to stimulated the platelets (</a:t>
            </a:r>
            <a:r>
              <a:rPr lang="en-US" sz="1200" dirty="0" smtClean="0">
                <a:solidFill>
                  <a:srgbClr val="FFFF00"/>
                </a:solidFill>
              </a:rPr>
              <a:t>activation platelets</a:t>
            </a:r>
            <a:r>
              <a:rPr lang="en-US" sz="1200" dirty="0" smtClean="0"/>
              <a:t>) which involved secretion and </a:t>
            </a:r>
            <a:r>
              <a:rPr lang="en-US" sz="1200" dirty="0" err="1" smtClean="0"/>
              <a:t>agreggation</a:t>
            </a:r>
            <a:r>
              <a:rPr lang="en-US" sz="1200" dirty="0" smtClean="0"/>
              <a:t> </a:t>
            </a:r>
            <a:r>
              <a:rPr lang="en-US" sz="1200" dirty="0" smtClean="0">
                <a:solidFill>
                  <a:srgbClr val="FFFF00"/>
                </a:solidFill>
              </a:rPr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4EF83C-7901-4499-98F8-05772AE6C5C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4893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sz="1200" dirty="0" smtClean="0"/>
              <a:t>Damage to the endothelium of vessels exposes </a:t>
            </a:r>
            <a:r>
              <a:rPr lang="en-US" sz="1200" dirty="0" err="1" smtClean="0"/>
              <a:t>subendothelial</a:t>
            </a:r>
            <a:r>
              <a:rPr lang="en-US" sz="1200" dirty="0" smtClean="0"/>
              <a:t> tissue to the blood (</a:t>
            </a:r>
            <a:r>
              <a:rPr lang="en-US" sz="1200" dirty="0" smtClean="0">
                <a:solidFill>
                  <a:srgbClr val="FFFF00"/>
                </a:solidFill>
              </a:rPr>
              <a:t>collagen</a:t>
            </a:r>
            <a:r>
              <a:rPr lang="en-US" sz="1200" dirty="0" smtClean="0"/>
              <a:t>). </a:t>
            </a:r>
          </a:p>
          <a:p>
            <a:pPr algn="l" rtl="0"/>
            <a:r>
              <a:rPr lang="en-US" sz="1200" dirty="0" smtClean="0"/>
              <a:t>Platelets are able to stick to exposed collagen proteins that have become coated with a protein (</a:t>
            </a:r>
            <a:r>
              <a:rPr lang="en-US" sz="1200" i="1" dirty="0" smtClean="0">
                <a:solidFill>
                  <a:srgbClr val="FFFF00"/>
                </a:solidFill>
              </a:rPr>
              <a:t>von </a:t>
            </a:r>
            <a:r>
              <a:rPr lang="en-US" sz="1200" i="1" dirty="0" err="1" smtClean="0">
                <a:solidFill>
                  <a:srgbClr val="FFFF00"/>
                </a:solidFill>
              </a:rPr>
              <a:t>Willebrand</a:t>
            </a:r>
            <a:r>
              <a:rPr lang="en-US" sz="1200" i="1" dirty="0" smtClean="0">
                <a:solidFill>
                  <a:srgbClr val="FFFF00"/>
                </a:solidFill>
              </a:rPr>
              <a:t> factor</a:t>
            </a:r>
            <a:r>
              <a:rPr lang="en-US" sz="1200" dirty="0" smtClean="0"/>
              <a:t>) secreted by endothelial cells</a:t>
            </a:r>
          </a:p>
          <a:p>
            <a:pPr algn="l" rtl="0"/>
            <a:r>
              <a:rPr lang="en-US" sz="1200" i="1" dirty="0" smtClean="0">
                <a:solidFill>
                  <a:srgbClr val="FFFF00"/>
                </a:solidFill>
              </a:rPr>
              <a:t>von </a:t>
            </a:r>
            <a:r>
              <a:rPr lang="en-US" sz="1200" i="1" dirty="0" err="1" smtClean="0">
                <a:solidFill>
                  <a:srgbClr val="FFFF00"/>
                </a:solidFill>
              </a:rPr>
              <a:t>Willebrand</a:t>
            </a:r>
            <a:r>
              <a:rPr lang="en-US" sz="1200" i="1" dirty="0" smtClean="0">
                <a:solidFill>
                  <a:srgbClr val="FFFF00"/>
                </a:solidFill>
              </a:rPr>
              <a:t> factor</a:t>
            </a:r>
            <a:r>
              <a:rPr lang="ar-SA" sz="1200" i="1" dirty="0" smtClean="0">
                <a:solidFill>
                  <a:srgbClr val="FFFF00"/>
                </a:solidFill>
              </a:rPr>
              <a:t> </a:t>
            </a:r>
            <a:r>
              <a:rPr lang="en-US" sz="1200" i="1" dirty="0" smtClean="0">
                <a:solidFill>
                  <a:srgbClr val="FFFF00"/>
                </a:solidFill>
              </a:rPr>
              <a:t> </a:t>
            </a:r>
            <a:r>
              <a:rPr lang="en-US" sz="1200" dirty="0" smtClean="0"/>
              <a:t>act as bridge which connect platelets glycoprotein receptors (</a:t>
            </a:r>
            <a:r>
              <a:rPr lang="en-US" sz="1200" dirty="0" err="1" smtClean="0"/>
              <a:t>GPIb</a:t>
            </a:r>
            <a:r>
              <a:rPr lang="en-US" sz="1200" dirty="0" smtClean="0"/>
              <a:t>) and collagen</a:t>
            </a:r>
          </a:p>
          <a:p>
            <a:pPr algn="l" rtl="0"/>
            <a:r>
              <a:rPr lang="en-US" sz="1200" dirty="0" smtClean="0"/>
              <a:t>The adhesion leaded to stimulated the platelets (</a:t>
            </a:r>
            <a:r>
              <a:rPr lang="en-US" sz="1200" dirty="0" smtClean="0">
                <a:solidFill>
                  <a:srgbClr val="FFFF00"/>
                </a:solidFill>
              </a:rPr>
              <a:t>activation platelets</a:t>
            </a:r>
            <a:r>
              <a:rPr lang="en-US" sz="1200" dirty="0" smtClean="0"/>
              <a:t>) which involved secretion and </a:t>
            </a:r>
            <a:r>
              <a:rPr lang="en-US" sz="1200" dirty="0" err="1" smtClean="0"/>
              <a:t>agreggation</a:t>
            </a:r>
            <a:r>
              <a:rPr lang="en-US" sz="1200" dirty="0" smtClean="0"/>
              <a:t> </a:t>
            </a:r>
            <a:r>
              <a:rPr lang="en-US" sz="1200" dirty="0" smtClean="0">
                <a:solidFill>
                  <a:srgbClr val="FFFF00"/>
                </a:solidFill>
              </a:rPr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4EF83C-7901-4499-98F8-05772AE6C5C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34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1200" dirty="0" smtClean="0">
                <a:effectLst/>
              </a:rPr>
              <a:t>Adhesion of platelets to collagen leads to activated platelets</a:t>
            </a:r>
          </a:p>
          <a:p>
            <a:pPr algn="l" rtl="0">
              <a:lnSpc>
                <a:spcPct val="90000"/>
              </a:lnSpc>
            </a:pPr>
            <a:r>
              <a:rPr lang="en-US" sz="1200" dirty="0" smtClean="0">
                <a:effectLst/>
              </a:rPr>
              <a:t>These activated platelets release ADP and thromboxane A2</a:t>
            </a:r>
          </a:p>
          <a:p>
            <a:pPr algn="l" rtl="0">
              <a:lnSpc>
                <a:spcPct val="90000"/>
              </a:lnSpc>
            </a:pPr>
            <a:r>
              <a:rPr lang="en-US" sz="1200" dirty="0" smtClean="0">
                <a:effectLst/>
              </a:rPr>
              <a:t>Release ADP and thromboxane A2  mediate activation of additional platelets</a:t>
            </a:r>
          </a:p>
          <a:p>
            <a:pPr algn="l" rtl="0">
              <a:lnSpc>
                <a:spcPct val="90000"/>
              </a:lnSpc>
            </a:pPr>
            <a:r>
              <a:rPr lang="en-US" sz="1200" dirty="0" smtClean="0">
                <a:effectLst/>
              </a:rPr>
              <a:t>These additional platelets adhere to the original activated platelets</a:t>
            </a:r>
          </a:p>
          <a:p>
            <a:pPr algn="l" rtl="0">
              <a:lnSpc>
                <a:spcPct val="90000"/>
              </a:lnSpc>
            </a:pPr>
            <a:r>
              <a:rPr lang="en-US" sz="1200" dirty="0" smtClean="0">
                <a:effectLst/>
              </a:rPr>
              <a:t>This positive feed back phenomenon termed </a:t>
            </a:r>
            <a:r>
              <a:rPr lang="en-US" sz="1200" dirty="0" smtClean="0">
                <a:solidFill>
                  <a:srgbClr val="FFFF00"/>
                </a:solidFill>
                <a:effectLst/>
              </a:rPr>
              <a:t>(</a:t>
            </a:r>
            <a:r>
              <a:rPr lang="en-US" sz="12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Platelets aggregation)</a:t>
            </a:r>
          </a:p>
          <a:p>
            <a:pPr algn="l" rtl="0">
              <a:lnSpc>
                <a:spcPct val="90000"/>
              </a:lnSpc>
            </a:pPr>
            <a:r>
              <a:rPr lang="en-US" sz="1200" dirty="0" smtClean="0">
                <a:effectLst/>
              </a:rPr>
              <a:t>Resulting in the formation of a platelet plug.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4EF83C-7901-4499-98F8-05772AE6C5C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604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smtClean="0"/>
              <a:t>Platelet plug is strengthened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4EF83C-7901-4499-98F8-05772AE6C5C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00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contraction of platelet mass in process of clot retraction makes blood clot more consolidation 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4EF83C-7901-4499-98F8-05772AE6C5C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391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( a prostaglandin cause vasodilatation and inhibits platelet aggregation) ),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it inhibit platelet activation and promote vasodilatation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4EF83C-7901-4499-98F8-05772AE6C5C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12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(for this called the heparin cofactor)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4EF83C-7901-4499-98F8-05772AE6C5C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68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11163">
              <a:lnSpc>
                <a:spcPct val="90000"/>
              </a:lnSpc>
              <a:buFontTx/>
              <a:buChar char="-"/>
            </a:pPr>
            <a:r>
              <a:rPr lang="en-US" sz="1200" dirty="0" smtClean="0">
                <a:cs typeface="Times New Roman" panose="02020603050405020304" pitchFamily="18" charset="0"/>
              </a:rPr>
              <a:t>Its low level in plasma indicates that it is not very important as a natural anticoagulant at normal condition</a:t>
            </a:r>
          </a:p>
          <a:p>
            <a:pPr marL="411163">
              <a:lnSpc>
                <a:spcPct val="90000"/>
              </a:lnSpc>
              <a:buFontTx/>
              <a:buChar char="-"/>
            </a:pPr>
            <a:r>
              <a:rPr lang="en-US" sz="1200" dirty="0" smtClean="0">
                <a:cs typeface="Times New Roman" panose="02020603050405020304" pitchFamily="18" charset="0"/>
              </a:rPr>
              <a:t>Its very important for prevention of coagulation when given I/V in therapeutic doses (e.g. in cases of deep vein thrombosis (DVT))</a:t>
            </a:r>
          </a:p>
          <a:p>
            <a:pPr marL="411163">
              <a:lnSpc>
                <a:spcPct val="90000"/>
              </a:lnSpc>
              <a:buFontTx/>
              <a:buChar char="-"/>
            </a:pPr>
            <a:r>
              <a:rPr lang="en-US" sz="1200" dirty="0" smtClean="0">
                <a:cs typeface="Times New Roman" panose="02020603050405020304" pitchFamily="18" charset="0"/>
              </a:rPr>
              <a:t>When given accidentally in toxic doses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4EF83C-7901-4499-98F8-05772AE6C5C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2163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8E480E-AED0-4B9E-A4B6-A8A8B205D979}" type="slidenum">
              <a:rPr lang="ar-SA"/>
              <a:pPr/>
              <a:t>26</a:t>
            </a:fld>
            <a:endParaRPr lang="en-US"/>
          </a:p>
        </p:txBody>
      </p:sp>
      <p:sp>
        <p:nvSpPr>
          <p:cNvPr id="208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035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910080" y="359898"/>
            <a:ext cx="987552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910080" y="1850064"/>
            <a:ext cx="987552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61BEF0D-F0BB-DE4B-95CE-6DB70DBA9567}" type="datetimeFigureOut">
              <a:rPr lang="en-US" smtClean="0"/>
              <a:pPr/>
              <a:t>9/15/2022</a:t>
            </a:fld>
            <a:endParaRPr lang="en-US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1228578" y="1413802"/>
            <a:ext cx="280416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542901" y="1345016"/>
            <a:ext cx="85344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61BEF0D-F0BB-DE4B-95CE-6DB70DBA9567}" type="datetimeFigureOut">
              <a:rPr lang="en-US" smtClean="0"/>
              <a:pPr/>
              <a:t>9/15/2022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43852" y="-54"/>
            <a:ext cx="9144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7856" y="2600325"/>
            <a:ext cx="85344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7856" y="1066800"/>
            <a:ext cx="85344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61BEF0D-F0BB-DE4B-95CE-6DB70DBA9567}" type="datetimeFigureOut">
              <a:rPr lang="en-US" smtClean="0"/>
              <a:pPr/>
              <a:t>9/15/2022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 bwMode="invGray">
          <a:xfrm>
            <a:off x="3048000" y="0"/>
            <a:ext cx="1016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896428" y="2814656"/>
            <a:ext cx="280416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3210752" y="2745870"/>
            <a:ext cx="85344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414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478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61BEF0D-F0BB-DE4B-95CE-6DB70DBA9567}" type="datetimeFigureOut">
              <a:rPr lang="en-US" smtClean="0"/>
              <a:pPr/>
              <a:t>9/15/2022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28278"/>
            <a:ext cx="536448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17920" y="328278"/>
            <a:ext cx="536448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969336"/>
            <a:ext cx="536448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969336"/>
            <a:ext cx="536448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61BEF0D-F0BB-DE4B-95CE-6DB70DBA9567}" type="datetimeFigureOut">
              <a:rPr lang="en-US" smtClean="0"/>
              <a:pPr/>
              <a:t>9/15/2022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61BEF0D-F0BB-DE4B-95CE-6DB70DBA9567}" type="datetimeFigureOut">
              <a:rPr lang="en-US" smtClean="0"/>
              <a:pPr/>
              <a:t>9/15/2022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53312" y="0"/>
            <a:ext cx="10838688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61BEF0D-F0BB-DE4B-95CE-6DB70DBA9567}" type="datetimeFigureOut">
              <a:rPr lang="en-US" smtClean="0"/>
              <a:pPr/>
              <a:t>9/15/2022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 bwMode="invGray">
          <a:xfrm>
            <a:off x="1353312" y="-54"/>
            <a:ext cx="97536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16778"/>
            <a:ext cx="508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406964"/>
            <a:ext cx="508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09600" y="2133601"/>
            <a:ext cx="108712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61BEF0D-F0BB-DE4B-95CE-6DB70DBA9567}" type="datetimeFigureOut">
              <a:rPr lang="en-US" smtClean="0"/>
              <a:pPr/>
              <a:t>9/15/2022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9195" y="1066801"/>
            <a:ext cx="36576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61BEF0D-F0BB-DE4B-95CE-6DB70DBA9567}" type="datetimeFigureOut">
              <a:rPr lang="en-US" smtClean="0"/>
              <a:pPr/>
              <a:t>9/15/2022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16000" y="1066800"/>
            <a:ext cx="6096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143005"/>
            <a:ext cx="58928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528967" y="954341"/>
            <a:ext cx="9144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6671556" y="936786"/>
            <a:ext cx="865632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7600" y="4800600"/>
            <a:ext cx="58928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61BEF0D-F0BB-DE4B-95CE-6DB70DBA9567}" type="datetimeFigureOut">
              <a:rPr lang="en-US" smtClean="0"/>
              <a:pPr/>
              <a:t>9/15/2022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274641"/>
            <a:ext cx="24384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274642"/>
            <a:ext cx="7416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61BEF0D-F0BB-DE4B-95CE-6DB70DBA9567}" type="datetimeFigureOut">
              <a:rPr lang="en-US" smtClean="0"/>
              <a:pPr/>
              <a:t>9/15/2022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06953C0-D280-4726-B5C0-99A5953BF076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855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1087899" y="-815921"/>
            <a:ext cx="2185182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25090" y="21104"/>
            <a:ext cx="2269588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243842" y="1055077"/>
            <a:ext cx="1500956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350501" y="-54"/>
            <a:ext cx="1084150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4775200" y="6305551"/>
            <a:ext cx="28448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B61BEF0D-F0BB-DE4B-95CE-6DB70DBA9567}" type="datetimeFigureOut">
              <a:rPr lang="en-US" smtClean="0"/>
              <a:pPr/>
              <a:t>9/15/2022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7620000" y="6305551"/>
            <a:ext cx="38608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484864" y="6305551"/>
            <a:ext cx="6096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/>
          <p:cNvSpPr/>
          <p:nvPr/>
        </p:nvSpPr>
        <p:spPr bwMode="invGray">
          <a:xfrm>
            <a:off x="1353312" y="-54"/>
            <a:ext cx="97536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76601" y="-153488"/>
            <a:ext cx="8915399" cy="2262781"/>
          </a:xfrm>
        </p:spPr>
        <p:txBody>
          <a:bodyPr>
            <a:normAutofit/>
          </a:bodyPr>
          <a:lstStyle/>
          <a:p>
            <a:r>
              <a:rPr lang="en-US" sz="7200" dirty="0" smtClean="0">
                <a:solidFill>
                  <a:schemeClr val="accent1">
                    <a:lumMod val="75000"/>
                  </a:schemeClr>
                </a:solidFill>
              </a:rPr>
              <a:t>HEMOSTASIS</a:t>
            </a:r>
            <a:endParaRPr lang="en-US" sz="7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98492" y="4342842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Wafa Mubarak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810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(</a:t>
            </a:r>
            <a:r>
              <a:rPr lang="en-US" sz="3200" dirty="0" err="1"/>
              <a:t>hemo</a:t>
            </a:r>
            <a:r>
              <a:rPr lang="en-US" sz="3200" dirty="0"/>
              <a:t> = blood ; stasis = standing)</a:t>
            </a:r>
          </a:p>
          <a:p>
            <a:r>
              <a:rPr lang="en-US" sz="3200" dirty="0"/>
              <a:t>means the cessation (stop) of </a:t>
            </a:r>
            <a:r>
              <a:rPr lang="en-US" sz="3200" dirty="0" smtClean="0"/>
              <a:t>bleeding</a:t>
            </a:r>
          </a:p>
          <a:p>
            <a:r>
              <a:rPr lang="en-US" sz="3200" dirty="0" smtClean="0"/>
              <a:t>Hemostasis is </a:t>
            </a:r>
            <a:r>
              <a:rPr lang="en-US" b="1" u="sng" dirty="0">
                <a:solidFill>
                  <a:srgbClr val="FF0000"/>
                </a:solidFill>
              </a:rPr>
              <a:t>Prevention of blood loss </a:t>
            </a:r>
            <a:r>
              <a:rPr lang="en-US" b="1" u="sng" dirty="0"/>
              <a:t>by </a:t>
            </a:r>
            <a:r>
              <a:rPr lang="en-US" b="1" u="sng" dirty="0" smtClean="0"/>
              <a:t>arresting </a:t>
            </a:r>
            <a:r>
              <a:rPr lang="en-US" b="1" u="sng" dirty="0"/>
              <a:t>of bleeding and maintenance of blood in fluid state.</a:t>
            </a:r>
          </a:p>
        </p:txBody>
      </p:sp>
    </p:spTree>
    <p:extLst>
      <p:ext uri="{BB962C8B-B14F-4D97-AF65-F5344CB8AC3E}">
        <p14:creationId xmlns:p14="http://schemas.microsoft.com/office/powerpoint/2010/main" val="347180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Mechanisms of hemostasis: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3600" dirty="0"/>
              <a:t>Vasospasm.</a:t>
            </a:r>
          </a:p>
          <a:p>
            <a:pPr>
              <a:buFont typeface="+mj-lt"/>
              <a:buAutoNum type="arabicPeriod"/>
            </a:pPr>
            <a:r>
              <a:rPr lang="en-US" sz="3600" dirty="0"/>
              <a:t>Formation of platelet plug. </a:t>
            </a:r>
          </a:p>
          <a:p>
            <a:pPr>
              <a:buFont typeface="+mj-lt"/>
              <a:buAutoNum type="arabicPeriod"/>
            </a:pPr>
            <a:r>
              <a:rPr lang="en-US" sz="3600" dirty="0"/>
              <a:t>Formation of blood clot ( coagulation).</a:t>
            </a:r>
          </a:p>
          <a:p>
            <a:pPr>
              <a:buFont typeface="+mj-lt"/>
              <a:buAutoNum type="arabicPeriod"/>
            </a:pPr>
            <a:r>
              <a:rPr lang="en-US" sz="3600" dirty="0"/>
              <a:t>Fibrinolysis or fibrous tissues formation.</a:t>
            </a:r>
          </a:p>
          <a:p>
            <a:pPr marL="82296" indent="0">
              <a:buNone/>
            </a:pPr>
            <a:r>
              <a:rPr lang="en-US" sz="3600" dirty="0" smtClean="0"/>
              <a:t>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1854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Vasospasm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3200" dirty="0" smtClean="0"/>
              <a:t>Rebound contraction</a:t>
            </a:r>
          </a:p>
          <a:p>
            <a:pPr>
              <a:buFont typeface="+mj-lt"/>
              <a:buAutoNum type="arabicPeriod"/>
            </a:pPr>
            <a:r>
              <a:rPr lang="en-US" sz="3200" dirty="0" smtClean="0"/>
              <a:t>Vasoconstrictor substance ( TXA2, 5-HT)</a:t>
            </a:r>
          </a:p>
          <a:p>
            <a:pPr>
              <a:buFont typeface="+mj-lt"/>
              <a:buAutoNum type="arabicPeriod"/>
            </a:pPr>
            <a:r>
              <a:rPr lang="en-US" sz="3200" dirty="0" smtClean="0"/>
              <a:t>Pain</a:t>
            </a:r>
          </a:p>
          <a:p>
            <a:pPr>
              <a:buFont typeface="+mj-lt"/>
              <a:buAutoNum type="arabicPeriod"/>
            </a:pP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Significance: </a:t>
            </a:r>
            <a:r>
              <a:rPr lang="en-US" sz="3200" dirty="0"/>
              <a:t>to minimize the flow of blood from the wound site.</a:t>
            </a:r>
          </a:p>
        </p:txBody>
      </p:sp>
    </p:spTree>
    <p:extLst>
      <p:ext uri="{BB962C8B-B14F-4D97-AF65-F5344CB8AC3E}">
        <p14:creationId xmlns:p14="http://schemas.microsoft.com/office/powerpoint/2010/main" val="3013707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 formation of a platelets plug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4144" y="2057400"/>
            <a:ext cx="9997440" cy="48006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Occurs by </a:t>
            </a:r>
            <a:r>
              <a:rPr lang="en-US" sz="3200" dirty="0"/>
              <a:t>the following steps:-</a:t>
            </a:r>
          </a:p>
          <a:p>
            <a:pPr>
              <a:buFont typeface="+mj-lt"/>
              <a:buAutoNum type="arabicPeriod"/>
            </a:pPr>
            <a:r>
              <a:rPr lang="en-US" sz="3200" dirty="0"/>
              <a:t>Platelets adhesion</a:t>
            </a:r>
          </a:p>
          <a:p>
            <a:pPr>
              <a:buFont typeface="+mj-lt"/>
              <a:buAutoNum type="arabicPeriod"/>
            </a:pPr>
            <a:r>
              <a:rPr lang="en-US" sz="3200" dirty="0"/>
              <a:t>Platelets secretion</a:t>
            </a:r>
          </a:p>
          <a:p>
            <a:pPr>
              <a:buFont typeface="+mj-lt"/>
              <a:buAutoNum type="arabicPeriod"/>
            </a:pPr>
            <a:r>
              <a:rPr lang="en-US" sz="3200" dirty="0"/>
              <a:t>Platelets aggregation</a:t>
            </a:r>
          </a:p>
          <a:p>
            <a:endParaRPr lang="en-US" sz="3200" dirty="0" smtClean="0"/>
          </a:p>
          <a:p>
            <a:pPr marL="82296" indent="0">
              <a:buNone/>
            </a:pPr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9838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Platelets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4497" y="1587690"/>
            <a:ext cx="8915401" cy="3777622"/>
          </a:xfrm>
        </p:spPr>
        <p:txBody>
          <a:bodyPr>
            <a:noAutofit/>
          </a:bodyPr>
          <a:lstStyle/>
          <a:p>
            <a:r>
              <a:rPr lang="en-US" sz="2800" dirty="0"/>
              <a:t>Platelets (also called </a:t>
            </a:r>
            <a:r>
              <a:rPr lang="en-US" sz="2800" b="1" dirty="0"/>
              <a:t>thrombocytes</a:t>
            </a:r>
            <a:r>
              <a:rPr lang="en-US" sz="2800" dirty="0"/>
              <a:t>)</a:t>
            </a:r>
          </a:p>
          <a:p>
            <a:r>
              <a:rPr lang="en-US" sz="2800" dirty="0"/>
              <a:t> They </a:t>
            </a:r>
            <a:r>
              <a:rPr lang="en-US" sz="2800" b="1" dirty="0"/>
              <a:t>do not have nuclei </a:t>
            </a:r>
            <a:r>
              <a:rPr lang="en-US" sz="2800" dirty="0"/>
              <a:t>and cannot reproduce</a:t>
            </a:r>
          </a:p>
          <a:p>
            <a:r>
              <a:rPr lang="en-US" sz="2800" dirty="0" smtClean="0"/>
              <a:t>They </a:t>
            </a:r>
            <a:r>
              <a:rPr lang="en-US" sz="2800" dirty="0"/>
              <a:t>are formed in the bone marrow from </a:t>
            </a:r>
            <a:r>
              <a:rPr lang="en-US" sz="2800" b="1" dirty="0" smtClean="0"/>
              <a:t>megakaryocyte</a:t>
            </a:r>
            <a:endParaRPr lang="en-US" sz="2800" b="1" dirty="0"/>
          </a:p>
          <a:p>
            <a:r>
              <a:rPr lang="en-US" sz="2800" dirty="0"/>
              <a:t> Platelets count between </a:t>
            </a:r>
            <a:r>
              <a:rPr lang="en-US" sz="2800" b="1" u="sng"/>
              <a:t>150,000 </a:t>
            </a:r>
            <a:r>
              <a:rPr lang="en-US" sz="2800" b="1" u="sng" smtClean="0"/>
              <a:t>--- </a:t>
            </a:r>
            <a:r>
              <a:rPr lang="en-US" sz="2800" b="1" u="sng" dirty="0" smtClean="0"/>
              <a:t>400,000 </a:t>
            </a:r>
            <a:r>
              <a:rPr lang="en-US" sz="2800" dirty="0"/>
              <a:t>per microliter.</a:t>
            </a:r>
          </a:p>
          <a:p>
            <a:r>
              <a:rPr lang="en-US" sz="2800" dirty="0"/>
              <a:t>They are destroyed by the </a:t>
            </a:r>
            <a:r>
              <a:rPr lang="en-US" sz="2800" b="1" dirty="0" err="1"/>
              <a:t>reticuloendothelial</a:t>
            </a:r>
            <a:r>
              <a:rPr lang="en-US" sz="2800" b="1" dirty="0"/>
              <a:t> system (RE).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71642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n 3"/>
          <p:cNvSpPr/>
          <p:nvPr/>
        </p:nvSpPr>
        <p:spPr>
          <a:xfrm rot="16200000">
            <a:off x="4995086" y="-941695"/>
            <a:ext cx="2920620" cy="791570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564574" y="1310185"/>
            <a:ext cx="1569493" cy="696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8-Point Star 7"/>
          <p:cNvSpPr/>
          <p:nvPr/>
        </p:nvSpPr>
        <p:spPr>
          <a:xfrm>
            <a:off x="9034821" y="2647666"/>
            <a:ext cx="1378425" cy="1255594"/>
          </a:xfrm>
          <a:prstGeom prst="star8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 smtClean="0"/>
              <a:t>Plt</a:t>
            </a:r>
            <a:r>
              <a:rPr lang="en-US" sz="4000" dirty="0" smtClean="0"/>
              <a:t>.</a:t>
            </a:r>
            <a:endParaRPr lang="en-US" sz="4000" dirty="0"/>
          </a:p>
        </p:txBody>
      </p:sp>
      <p:sp>
        <p:nvSpPr>
          <p:cNvPr id="9" name="TextBox 8"/>
          <p:cNvSpPr txBox="1"/>
          <p:nvPr/>
        </p:nvSpPr>
        <p:spPr>
          <a:xfrm>
            <a:off x="6495758" y="2006222"/>
            <a:ext cx="1483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Collagen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6673471" y="2467886"/>
            <a:ext cx="1207824" cy="58685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VWF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Isosceles Triangle 10"/>
          <p:cNvSpPr/>
          <p:nvPr/>
        </p:nvSpPr>
        <p:spPr>
          <a:xfrm>
            <a:off x="8799397" y="2129052"/>
            <a:ext cx="1651378" cy="504967"/>
          </a:xfrm>
          <a:prstGeom prst="triangl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GP1b</a:t>
            </a:r>
            <a:endParaRPr lang="en-US" dirty="0"/>
          </a:p>
        </p:txBody>
      </p:sp>
      <p:sp>
        <p:nvSpPr>
          <p:cNvPr id="5" name="Lightning Bolt 4"/>
          <p:cNvSpPr/>
          <p:nvPr/>
        </p:nvSpPr>
        <p:spPr>
          <a:xfrm>
            <a:off x="6277974" y="197891"/>
            <a:ext cx="996286" cy="1392072"/>
          </a:xfrm>
          <a:prstGeom prst="lightningBol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324911" y="5227092"/>
            <a:ext cx="43765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Platelets </a:t>
            </a:r>
            <a:r>
              <a:rPr lang="en-US" sz="4000" dirty="0" smtClean="0"/>
              <a:t>adhesion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431194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2.22222E-6 L -0.16146 0.12037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3" y="6019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3.7037E-6 L -0.17071 0.10463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42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 animBg="1"/>
      <p:bldP spid="11" grpId="0" animBg="1"/>
      <p:bldP spid="11" grpId="1" animBg="1"/>
      <p:bldP spid="5" grpId="0" animBg="1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n 3"/>
          <p:cNvSpPr/>
          <p:nvPr/>
        </p:nvSpPr>
        <p:spPr>
          <a:xfrm rot="16200000">
            <a:off x="4995086" y="-941695"/>
            <a:ext cx="2920620" cy="791570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564574" y="1310185"/>
            <a:ext cx="1569493" cy="696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8-Point Star 7"/>
          <p:cNvSpPr/>
          <p:nvPr/>
        </p:nvSpPr>
        <p:spPr>
          <a:xfrm>
            <a:off x="6943157" y="3397114"/>
            <a:ext cx="1378425" cy="1255594"/>
          </a:xfrm>
          <a:prstGeom prst="star8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 smtClean="0"/>
              <a:t>Plt</a:t>
            </a:r>
            <a:r>
              <a:rPr lang="en-US" sz="4000" dirty="0" smtClean="0"/>
              <a:t>.</a:t>
            </a:r>
            <a:endParaRPr lang="en-US" sz="4000" dirty="0"/>
          </a:p>
        </p:txBody>
      </p:sp>
      <p:sp>
        <p:nvSpPr>
          <p:cNvPr id="9" name="TextBox 8"/>
          <p:cNvSpPr txBox="1"/>
          <p:nvPr/>
        </p:nvSpPr>
        <p:spPr>
          <a:xfrm>
            <a:off x="6495758" y="2006222"/>
            <a:ext cx="1483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Collagen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6673471" y="2467886"/>
            <a:ext cx="1207824" cy="58685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VWF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Isosceles Triangle 10"/>
          <p:cNvSpPr/>
          <p:nvPr/>
        </p:nvSpPr>
        <p:spPr>
          <a:xfrm>
            <a:off x="6707733" y="2878500"/>
            <a:ext cx="1651378" cy="504967"/>
          </a:xfrm>
          <a:prstGeom prst="triangl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GP1b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324913" y="5227092"/>
            <a:ext cx="43765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Platelets </a:t>
            </a:r>
            <a:r>
              <a:rPr lang="en-US" sz="4000" dirty="0" smtClean="0"/>
              <a:t>secretion</a:t>
            </a:r>
            <a:endParaRPr lang="en-US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7033928" y="3629124"/>
            <a:ext cx="10839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 5-HT</a:t>
            </a:r>
            <a:endParaRPr lang="en-US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6973811" y="3610872"/>
            <a:ext cx="11752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 TXA2</a:t>
            </a:r>
            <a:endParaRPr lang="en-US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7131309" y="3610872"/>
            <a:ext cx="922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ADP</a:t>
            </a:r>
            <a:endParaRPr lang="en-US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7110549" y="3606433"/>
            <a:ext cx="1184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 Fibrin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7131309" y="3606433"/>
            <a:ext cx="11817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PDGF</a:t>
            </a:r>
            <a:endParaRPr lang="en-US" sz="2800" dirty="0"/>
          </a:p>
        </p:txBody>
      </p:sp>
      <p:sp>
        <p:nvSpPr>
          <p:cNvPr id="17" name="TextBox 16"/>
          <p:cNvSpPr txBox="1"/>
          <p:nvPr/>
        </p:nvSpPr>
        <p:spPr>
          <a:xfrm>
            <a:off x="6662251" y="3682504"/>
            <a:ext cx="16979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 phospholipid</a:t>
            </a:r>
            <a:endParaRPr lang="en-US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7247320" y="3586969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HNF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21291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1.11111E-6 L -0.2099 0.0081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95" y="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3.33333E-6 L -0.2211 -0.08518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55" y="-42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3.33333E-6 L -0.19883 -0.13912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48" y="-6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1.11111E-6 L 0.15039 -0.17801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13" y="-8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1.11111E-6 L 0.16706 -0.08519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46" y="-42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3.7037E-6 L 0.15416 -0.01134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08" y="-5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29 -0.00347 L 0.10807 0.04884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68" y="26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/>
      <p:bldP spid="3" grpId="1"/>
      <p:bldP spid="12" grpId="0"/>
      <p:bldP spid="12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n 3"/>
          <p:cNvSpPr/>
          <p:nvPr/>
        </p:nvSpPr>
        <p:spPr>
          <a:xfrm rot="16200000">
            <a:off x="4995086" y="-941695"/>
            <a:ext cx="2920620" cy="791570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564574" y="1310185"/>
            <a:ext cx="1569493" cy="696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8-Point Star 7"/>
          <p:cNvSpPr/>
          <p:nvPr/>
        </p:nvSpPr>
        <p:spPr>
          <a:xfrm>
            <a:off x="6943157" y="3397114"/>
            <a:ext cx="1378425" cy="1255594"/>
          </a:xfrm>
          <a:prstGeom prst="star8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 smtClean="0"/>
              <a:t>Plt</a:t>
            </a:r>
            <a:r>
              <a:rPr lang="en-US" sz="4000" dirty="0" smtClean="0"/>
              <a:t>.</a:t>
            </a:r>
            <a:endParaRPr lang="en-US" sz="4000" dirty="0"/>
          </a:p>
        </p:txBody>
      </p:sp>
      <p:sp>
        <p:nvSpPr>
          <p:cNvPr id="9" name="TextBox 8"/>
          <p:cNvSpPr txBox="1"/>
          <p:nvPr/>
        </p:nvSpPr>
        <p:spPr>
          <a:xfrm>
            <a:off x="6495758" y="2006222"/>
            <a:ext cx="1483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Collagen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6673471" y="2467886"/>
            <a:ext cx="1207824" cy="58685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VWF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Isosceles Triangle 10"/>
          <p:cNvSpPr/>
          <p:nvPr/>
        </p:nvSpPr>
        <p:spPr>
          <a:xfrm>
            <a:off x="6707733" y="2878500"/>
            <a:ext cx="1651378" cy="504967"/>
          </a:xfrm>
          <a:prstGeom prst="triangl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GP1b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324912" y="5227092"/>
            <a:ext cx="50327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Platelets </a:t>
            </a:r>
            <a:r>
              <a:rPr lang="en-US" sz="4000" dirty="0" smtClean="0"/>
              <a:t>Aggregation</a:t>
            </a:r>
            <a:endParaRPr lang="en-US" sz="4000" dirty="0"/>
          </a:p>
        </p:txBody>
      </p:sp>
      <p:sp>
        <p:nvSpPr>
          <p:cNvPr id="19" name="8-Point Star 18"/>
          <p:cNvSpPr/>
          <p:nvPr/>
        </p:nvSpPr>
        <p:spPr>
          <a:xfrm>
            <a:off x="-1412832" y="1212292"/>
            <a:ext cx="1378425" cy="1255594"/>
          </a:xfrm>
          <a:prstGeom prst="star8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 smtClean="0"/>
              <a:t>Plt</a:t>
            </a:r>
            <a:r>
              <a:rPr lang="en-US" sz="4000" dirty="0" smtClean="0"/>
              <a:t>.</a:t>
            </a:r>
            <a:endParaRPr lang="en-US" sz="4000" dirty="0"/>
          </a:p>
        </p:txBody>
      </p:sp>
      <p:sp>
        <p:nvSpPr>
          <p:cNvPr id="21" name="8-Point Star 20"/>
          <p:cNvSpPr/>
          <p:nvPr/>
        </p:nvSpPr>
        <p:spPr>
          <a:xfrm>
            <a:off x="12309993" y="1658204"/>
            <a:ext cx="1378425" cy="1255594"/>
          </a:xfrm>
          <a:prstGeom prst="star8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 smtClean="0"/>
              <a:t>Plt</a:t>
            </a:r>
            <a:r>
              <a:rPr lang="en-US" sz="4000" dirty="0" smtClean="0"/>
              <a:t>.</a:t>
            </a:r>
            <a:endParaRPr lang="en-US" sz="4000" dirty="0"/>
          </a:p>
        </p:txBody>
      </p:sp>
      <p:sp>
        <p:nvSpPr>
          <p:cNvPr id="22" name="8-Point Star 21"/>
          <p:cNvSpPr/>
          <p:nvPr/>
        </p:nvSpPr>
        <p:spPr>
          <a:xfrm>
            <a:off x="-1658057" y="2878500"/>
            <a:ext cx="1378425" cy="1255594"/>
          </a:xfrm>
          <a:prstGeom prst="star8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 smtClean="0"/>
              <a:t>Plt</a:t>
            </a:r>
            <a:r>
              <a:rPr lang="en-US" sz="4000" dirty="0" smtClean="0"/>
              <a:t>.</a:t>
            </a:r>
            <a:endParaRPr lang="en-US" sz="4000" dirty="0"/>
          </a:p>
        </p:txBody>
      </p:sp>
      <p:sp>
        <p:nvSpPr>
          <p:cNvPr id="23" name="8-Point Star 22"/>
          <p:cNvSpPr/>
          <p:nvPr/>
        </p:nvSpPr>
        <p:spPr>
          <a:xfrm>
            <a:off x="12501209" y="2878500"/>
            <a:ext cx="1378425" cy="1255594"/>
          </a:xfrm>
          <a:prstGeom prst="star8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 smtClean="0"/>
              <a:t>Plt</a:t>
            </a:r>
            <a:r>
              <a:rPr lang="en-US" sz="4000" dirty="0" smtClean="0"/>
              <a:t>.</a:t>
            </a:r>
            <a:endParaRPr lang="en-US" sz="4000" dirty="0"/>
          </a:p>
        </p:txBody>
      </p:sp>
      <p:sp>
        <p:nvSpPr>
          <p:cNvPr id="24" name="8-Point Star 23"/>
          <p:cNvSpPr/>
          <p:nvPr/>
        </p:nvSpPr>
        <p:spPr>
          <a:xfrm>
            <a:off x="-1481237" y="2237053"/>
            <a:ext cx="1378425" cy="1255594"/>
          </a:xfrm>
          <a:prstGeom prst="star8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 smtClean="0"/>
              <a:t>Plt</a:t>
            </a:r>
            <a:r>
              <a:rPr lang="en-US" sz="4000" dirty="0" smtClean="0"/>
              <a:t>.</a:t>
            </a:r>
            <a:endParaRPr lang="en-US" sz="4000" dirty="0"/>
          </a:p>
        </p:txBody>
      </p:sp>
      <p:sp>
        <p:nvSpPr>
          <p:cNvPr id="25" name="8-Point Star 24"/>
          <p:cNvSpPr/>
          <p:nvPr/>
        </p:nvSpPr>
        <p:spPr>
          <a:xfrm>
            <a:off x="12340651" y="2467886"/>
            <a:ext cx="1378425" cy="1255594"/>
          </a:xfrm>
          <a:prstGeom prst="star8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 smtClean="0"/>
              <a:t>Plt</a:t>
            </a:r>
            <a:r>
              <a:rPr lang="en-US" sz="4000" dirty="0" smtClean="0"/>
              <a:t>.</a:t>
            </a:r>
            <a:endParaRPr lang="en-US" sz="4000" dirty="0"/>
          </a:p>
        </p:txBody>
      </p:sp>
      <p:sp>
        <p:nvSpPr>
          <p:cNvPr id="26" name="8-Point Star 25"/>
          <p:cNvSpPr/>
          <p:nvPr/>
        </p:nvSpPr>
        <p:spPr>
          <a:xfrm>
            <a:off x="-1344427" y="570846"/>
            <a:ext cx="1378425" cy="1255594"/>
          </a:xfrm>
          <a:prstGeom prst="star8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 smtClean="0"/>
              <a:t>Plt</a:t>
            </a:r>
            <a:r>
              <a:rPr lang="en-US" sz="4000" dirty="0" smtClean="0"/>
              <a:t>.</a:t>
            </a:r>
            <a:endParaRPr lang="en-US" sz="4000" dirty="0"/>
          </a:p>
        </p:txBody>
      </p:sp>
      <p:sp>
        <p:nvSpPr>
          <p:cNvPr id="2" name="Left Brace 1"/>
          <p:cNvSpPr/>
          <p:nvPr/>
        </p:nvSpPr>
        <p:spPr>
          <a:xfrm>
            <a:off x="4851493" y="1658204"/>
            <a:ext cx="1242297" cy="2818263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825926" y="711481"/>
            <a:ext cx="531748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accent1"/>
                  </a:outerShdw>
                </a:effectLst>
              </a:rPr>
              <a:t>Primary Platelet Plug</a:t>
            </a:r>
            <a:endParaRPr lang="en-US" sz="40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25953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2.96296E-6 L 0.60678 0.2451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339" y="122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33333E-6 L -0.34961 0.2224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487" y="1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1.11111E-6 L 0.62149 -0.09329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068" y="-46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1.11111E-6 L -0.37799 -0.08634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906" y="-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2.59259E-6 L 0.67877 0.0298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932" y="1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0"/>
                            </p:stCondLst>
                            <p:childTnLst>
                              <p:par>
                                <p:cTn id="2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-0.40768 -0.08958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391" y="-4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0"/>
                            </p:stCondLst>
                            <p:childTnLst>
                              <p:par>
                                <p:cTn id="2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1.48148E-6 L 0.62331 0.15139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159" y="75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40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" grpId="0" animBg="1"/>
      <p:bldP spid="5" grpId="0"/>
      <p:bldP spid="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Platelets agreggation</a:t>
            </a:r>
          </a:p>
        </p:txBody>
      </p:sp>
      <p:sp>
        <p:nvSpPr>
          <p:cNvPr id="24580" name="Line 4"/>
          <p:cNvSpPr>
            <a:spLocks noChangeShapeType="1"/>
          </p:cNvSpPr>
          <p:nvPr/>
        </p:nvSpPr>
        <p:spPr bwMode="auto">
          <a:xfrm flipH="1">
            <a:off x="5715001" y="4800600"/>
            <a:ext cx="2743200" cy="1371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1" name="Line 5"/>
          <p:cNvSpPr>
            <a:spLocks noChangeShapeType="1"/>
          </p:cNvSpPr>
          <p:nvPr/>
        </p:nvSpPr>
        <p:spPr bwMode="auto">
          <a:xfrm>
            <a:off x="5791200" y="1905000"/>
            <a:ext cx="1524000" cy="685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582" name="Group 6"/>
          <p:cNvGrpSpPr>
            <a:grpSpLocks/>
          </p:cNvGrpSpPr>
          <p:nvPr/>
        </p:nvGrpSpPr>
        <p:grpSpPr bwMode="auto">
          <a:xfrm>
            <a:off x="4800601" y="1905002"/>
            <a:ext cx="609600" cy="461963"/>
            <a:chOff x="5184" y="960"/>
            <a:chExt cx="384" cy="291"/>
          </a:xfrm>
        </p:grpSpPr>
        <p:sp>
          <p:nvSpPr>
            <p:cNvPr id="24583" name="Oval 7"/>
            <p:cNvSpPr>
              <a:spLocks noChangeArrowheads="1"/>
            </p:cNvSpPr>
            <p:nvPr/>
          </p:nvSpPr>
          <p:spPr bwMode="auto">
            <a:xfrm>
              <a:off x="5280" y="1008"/>
              <a:ext cx="192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4" name="Text Box 8"/>
            <p:cNvSpPr txBox="1">
              <a:spLocks noChangeArrowheads="1"/>
            </p:cNvSpPr>
            <p:nvPr/>
          </p:nvSpPr>
          <p:spPr bwMode="auto">
            <a:xfrm>
              <a:off x="5184" y="960"/>
              <a:ext cx="38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/>
                <a:t>1</a:t>
              </a:r>
            </a:p>
          </p:txBody>
        </p:sp>
      </p:grpSp>
      <p:sp>
        <p:nvSpPr>
          <p:cNvPr id="24585" name="Line 9"/>
          <p:cNvSpPr>
            <a:spLocks noChangeShapeType="1"/>
          </p:cNvSpPr>
          <p:nvPr/>
        </p:nvSpPr>
        <p:spPr bwMode="auto">
          <a:xfrm>
            <a:off x="7772400" y="3200400"/>
            <a:ext cx="838201" cy="1295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7" name="Rectangle 11"/>
          <p:cNvSpPr>
            <a:spLocks noChangeArrowheads="1"/>
          </p:cNvSpPr>
          <p:nvPr/>
        </p:nvSpPr>
        <p:spPr bwMode="auto">
          <a:xfrm>
            <a:off x="4168775" y="1320800"/>
            <a:ext cx="1563248" cy="52322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800">
                <a:effectLst>
                  <a:outerShdw blurRad="38100" dist="38100" dir="2700000" algn="tl">
                    <a:srgbClr val="8C0000"/>
                  </a:outerShdw>
                </a:effectLst>
              </a:rPr>
              <a:t>Platelets</a:t>
            </a:r>
          </a:p>
        </p:txBody>
      </p:sp>
      <p:sp>
        <p:nvSpPr>
          <p:cNvPr id="24588" name="Rectangle 12"/>
          <p:cNvSpPr>
            <a:spLocks noChangeArrowheads="1"/>
          </p:cNvSpPr>
          <p:nvPr/>
        </p:nvSpPr>
        <p:spPr bwMode="auto">
          <a:xfrm rot="1428760">
            <a:off x="6079987" y="1613845"/>
            <a:ext cx="11448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adhere</a:t>
            </a:r>
          </a:p>
        </p:txBody>
      </p:sp>
      <p:sp>
        <p:nvSpPr>
          <p:cNvPr id="24589" name="Rectangle 13"/>
          <p:cNvSpPr>
            <a:spLocks noChangeArrowheads="1"/>
          </p:cNvSpPr>
          <p:nvPr/>
        </p:nvSpPr>
        <p:spPr bwMode="auto">
          <a:xfrm>
            <a:off x="7007225" y="2657477"/>
            <a:ext cx="1334020" cy="461665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8C0000"/>
                  </a:outerShdw>
                </a:effectLst>
              </a:rPr>
              <a:t>collagen</a:t>
            </a:r>
          </a:p>
        </p:txBody>
      </p:sp>
      <p:sp>
        <p:nvSpPr>
          <p:cNvPr id="24590" name="Rectangle 14"/>
          <p:cNvSpPr>
            <a:spLocks noChangeArrowheads="1"/>
          </p:cNvSpPr>
          <p:nvPr/>
        </p:nvSpPr>
        <p:spPr bwMode="auto">
          <a:xfrm>
            <a:off x="7200901" y="4470400"/>
            <a:ext cx="2801216" cy="40011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000"/>
              <a:t>ADP - thromboxane A2</a:t>
            </a:r>
          </a:p>
        </p:txBody>
      </p:sp>
      <p:sp>
        <p:nvSpPr>
          <p:cNvPr id="24591" name="Rectangle 15"/>
          <p:cNvSpPr>
            <a:spLocks noChangeArrowheads="1"/>
          </p:cNvSpPr>
          <p:nvPr/>
        </p:nvSpPr>
        <p:spPr bwMode="auto">
          <a:xfrm>
            <a:off x="8059739" y="3352802"/>
            <a:ext cx="13660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 </a:t>
            </a:r>
            <a:r>
              <a:rPr lang="en-US" sz="2400">
                <a:solidFill>
                  <a:schemeClr val="tx2"/>
                </a:solidFill>
              </a:rPr>
              <a:t>release</a:t>
            </a:r>
            <a:r>
              <a:rPr lang="ar-SA" sz="2400"/>
              <a:t> </a:t>
            </a:r>
            <a:endParaRPr lang="en-US" sz="2400"/>
          </a:p>
        </p:txBody>
      </p:sp>
      <p:sp>
        <p:nvSpPr>
          <p:cNvPr id="24592" name="Rectangle 16"/>
          <p:cNvSpPr>
            <a:spLocks noChangeArrowheads="1"/>
          </p:cNvSpPr>
          <p:nvPr/>
        </p:nvSpPr>
        <p:spPr bwMode="auto">
          <a:xfrm>
            <a:off x="4190999" y="5943600"/>
            <a:ext cx="1563248" cy="52322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800">
                <a:effectLst>
                  <a:outerShdw blurRad="38100" dist="38100" dir="2700000" algn="tl">
                    <a:srgbClr val="8C0000"/>
                  </a:outerShdw>
                </a:effectLst>
              </a:rPr>
              <a:t>Platelets</a:t>
            </a:r>
          </a:p>
        </p:txBody>
      </p:sp>
      <p:sp>
        <p:nvSpPr>
          <p:cNvPr id="24593" name="Rectangle 17"/>
          <p:cNvSpPr>
            <a:spLocks noChangeArrowheads="1"/>
          </p:cNvSpPr>
          <p:nvPr/>
        </p:nvSpPr>
        <p:spPr bwMode="auto">
          <a:xfrm>
            <a:off x="5714999" y="5029202"/>
            <a:ext cx="12458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rtl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en-US" sz="2400">
                <a:solidFill>
                  <a:schemeClr val="tx2"/>
                </a:solidFill>
              </a:rPr>
              <a:t>activate</a:t>
            </a:r>
          </a:p>
        </p:txBody>
      </p:sp>
      <p:sp>
        <p:nvSpPr>
          <p:cNvPr id="24599" name="Line 23"/>
          <p:cNvSpPr>
            <a:spLocks noChangeShapeType="1"/>
          </p:cNvSpPr>
          <p:nvPr/>
        </p:nvSpPr>
        <p:spPr bwMode="auto">
          <a:xfrm flipH="1" flipV="1">
            <a:off x="4267200" y="1905000"/>
            <a:ext cx="0" cy="4038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0" name="Rectangle 24"/>
          <p:cNvSpPr>
            <a:spLocks noChangeArrowheads="1"/>
          </p:cNvSpPr>
          <p:nvPr/>
        </p:nvSpPr>
        <p:spPr bwMode="auto">
          <a:xfrm rot="2572633">
            <a:off x="2918491" y="3306297"/>
            <a:ext cx="13067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adhere</a:t>
            </a:r>
          </a:p>
        </p:txBody>
      </p:sp>
      <p:grpSp>
        <p:nvGrpSpPr>
          <p:cNvPr id="24601" name="Group 25"/>
          <p:cNvGrpSpPr>
            <a:grpSpLocks/>
          </p:cNvGrpSpPr>
          <p:nvPr/>
        </p:nvGrpSpPr>
        <p:grpSpPr bwMode="auto">
          <a:xfrm>
            <a:off x="3581401" y="5943602"/>
            <a:ext cx="609600" cy="461963"/>
            <a:chOff x="5184" y="960"/>
            <a:chExt cx="384" cy="291"/>
          </a:xfrm>
        </p:grpSpPr>
        <p:sp>
          <p:nvSpPr>
            <p:cNvPr id="24602" name="Oval 26"/>
            <p:cNvSpPr>
              <a:spLocks noChangeArrowheads="1"/>
            </p:cNvSpPr>
            <p:nvPr/>
          </p:nvSpPr>
          <p:spPr bwMode="auto">
            <a:xfrm>
              <a:off x="5280" y="1008"/>
              <a:ext cx="192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3" name="Text Box 27"/>
            <p:cNvSpPr txBox="1">
              <a:spLocks noChangeArrowheads="1"/>
            </p:cNvSpPr>
            <p:nvPr/>
          </p:nvSpPr>
          <p:spPr bwMode="auto">
            <a:xfrm>
              <a:off x="5184" y="960"/>
              <a:ext cx="38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/>
                <a:t>2</a:t>
              </a:r>
            </a:p>
          </p:txBody>
        </p:sp>
      </p:grpSp>
      <p:sp>
        <p:nvSpPr>
          <p:cNvPr id="24604" name="Line 28"/>
          <p:cNvSpPr>
            <a:spLocks noChangeShapeType="1"/>
          </p:cNvSpPr>
          <p:nvPr/>
        </p:nvSpPr>
        <p:spPr bwMode="auto">
          <a:xfrm>
            <a:off x="4267200" y="1905000"/>
            <a:ext cx="3048000" cy="2438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5" name="Rectangle 29"/>
          <p:cNvSpPr>
            <a:spLocks noChangeArrowheads="1"/>
          </p:cNvSpPr>
          <p:nvPr/>
        </p:nvSpPr>
        <p:spPr bwMode="auto">
          <a:xfrm>
            <a:off x="4876800" y="3276601"/>
            <a:ext cx="13660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 </a:t>
            </a:r>
            <a:r>
              <a:rPr lang="en-US" sz="2400">
                <a:solidFill>
                  <a:schemeClr val="tx2"/>
                </a:solidFill>
              </a:rPr>
              <a:t>release</a:t>
            </a:r>
            <a:r>
              <a:rPr lang="ar-SA" sz="2400"/>
              <a:t> </a:t>
            </a:r>
            <a:endParaRPr lang="en-US" sz="2400"/>
          </a:p>
        </p:txBody>
      </p:sp>
      <p:sp>
        <p:nvSpPr>
          <p:cNvPr id="24606" name="Line 30"/>
          <p:cNvSpPr>
            <a:spLocks noChangeShapeType="1"/>
          </p:cNvSpPr>
          <p:nvPr/>
        </p:nvSpPr>
        <p:spPr bwMode="auto">
          <a:xfrm flipH="1">
            <a:off x="5715001" y="4800600"/>
            <a:ext cx="2743200" cy="1371600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607" name="Group 31"/>
          <p:cNvGrpSpPr>
            <a:grpSpLocks/>
          </p:cNvGrpSpPr>
          <p:nvPr/>
        </p:nvGrpSpPr>
        <p:grpSpPr bwMode="auto">
          <a:xfrm>
            <a:off x="3581401" y="5943602"/>
            <a:ext cx="609600" cy="461963"/>
            <a:chOff x="5184" y="960"/>
            <a:chExt cx="384" cy="291"/>
          </a:xfrm>
        </p:grpSpPr>
        <p:sp>
          <p:nvSpPr>
            <p:cNvPr id="24608" name="Oval 32"/>
            <p:cNvSpPr>
              <a:spLocks noChangeArrowheads="1"/>
            </p:cNvSpPr>
            <p:nvPr/>
          </p:nvSpPr>
          <p:spPr bwMode="auto">
            <a:xfrm>
              <a:off x="5280" y="1008"/>
              <a:ext cx="192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9" name="Text Box 33"/>
            <p:cNvSpPr txBox="1">
              <a:spLocks noChangeArrowheads="1"/>
            </p:cNvSpPr>
            <p:nvPr/>
          </p:nvSpPr>
          <p:spPr bwMode="auto">
            <a:xfrm>
              <a:off x="5184" y="960"/>
              <a:ext cx="38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/>
                <a:t>3</a:t>
              </a:r>
            </a:p>
          </p:txBody>
        </p:sp>
      </p:grpSp>
      <p:sp>
        <p:nvSpPr>
          <p:cNvPr id="24610" name="Line 34"/>
          <p:cNvSpPr>
            <a:spLocks noChangeShapeType="1"/>
          </p:cNvSpPr>
          <p:nvPr/>
        </p:nvSpPr>
        <p:spPr bwMode="auto">
          <a:xfrm flipH="1" flipV="1">
            <a:off x="4267200" y="1905000"/>
            <a:ext cx="0" cy="4038600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11" name="Line 35"/>
          <p:cNvSpPr>
            <a:spLocks noChangeShapeType="1"/>
          </p:cNvSpPr>
          <p:nvPr/>
        </p:nvSpPr>
        <p:spPr bwMode="auto">
          <a:xfrm>
            <a:off x="4267200" y="1905000"/>
            <a:ext cx="3048000" cy="2438400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612" name="Group 36"/>
          <p:cNvGrpSpPr>
            <a:grpSpLocks/>
          </p:cNvGrpSpPr>
          <p:nvPr/>
        </p:nvGrpSpPr>
        <p:grpSpPr bwMode="auto">
          <a:xfrm>
            <a:off x="4800601" y="1905002"/>
            <a:ext cx="609600" cy="461963"/>
            <a:chOff x="5184" y="960"/>
            <a:chExt cx="384" cy="291"/>
          </a:xfrm>
        </p:grpSpPr>
        <p:sp>
          <p:nvSpPr>
            <p:cNvPr id="24613" name="Oval 37"/>
            <p:cNvSpPr>
              <a:spLocks noChangeArrowheads="1"/>
            </p:cNvSpPr>
            <p:nvPr/>
          </p:nvSpPr>
          <p:spPr bwMode="auto">
            <a:xfrm>
              <a:off x="5280" y="1008"/>
              <a:ext cx="192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4" name="Text Box 38"/>
            <p:cNvSpPr txBox="1">
              <a:spLocks noChangeArrowheads="1"/>
            </p:cNvSpPr>
            <p:nvPr/>
          </p:nvSpPr>
          <p:spPr bwMode="auto">
            <a:xfrm>
              <a:off x="5184" y="960"/>
              <a:ext cx="38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2173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2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2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 animBg="1"/>
      <p:bldP spid="24581" grpId="0" animBg="1"/>
      <p:bldP spid="24585" grpId="0" animBg="1"/>
      <p:bldP spid="24587" grpId="0" animBg="1"/>
      <p:bldP spid="24588" grpId="0"/>
      <p:bldP spid="24589" grpId="0" animBg="1"/>
      <p:bldP spid="24590" grpId="0" animBg="1"/>
      <p:bldP spid="24591" grpId="0"/>
      <p:bldP spid="24592" grpId="0" animBg="1"/>
      <p:bldP spid="24593" grpId="0"/>
      <p:bldP spid="24599" grpId="0" animBg="1"/>
      <p:bldP spid="24600" grpId="0"/>
      <p:bldP spid="24604" grpId="0" animBg="1"/>
      <p:bldP spid="24605" grpId="0"/>
      <p:bldP spid="24606" grpId="0" animBg="1"/>
      <p:bldP spid="24610" grpId="0" animBg="1"/>
      <p:bldP spid="246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Coagulation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involves a series of </a:t>
            </a:r>
            <a:r>
              <a:rPr lang="en-US" sz="3200" b="1" u="sng" dirty="0"/>
              <a:t>cascade </a:t>
            </a:r>
            <a:r>
              <a:rPr lang="en-US" sz="3200" dirty="0"/>
              <a:t>reactions that concludes with the formation of an </a:t>
            </a:r>
            <a:r>
              <a:rPr lang="en-US" sz="3200" b="1" dirty="0"/>
              <a:t>insoluble fibrin </a:t>
            </a:r>
            <a:r>
              <a:rPr lang="en-US" sz="3200" b="1" dirty="0" smtClean="0"/>
              <a:t>clot</a:t>
            </a:r>
          </a:p>
          <a:p>
            <a:r>
              <a:rPr lang="en-US" sz="3200" dirty="0"/>
              <a:t>Coagulation factors are produced in the </a:t>
            </a:r>
            <a:r>
              <a:rPr lang="en-US" sz="3200" b="1" dirty="0"/>
              <a:t>liver</a:t>
            </a:r>
            <a:r>
              <a:rPr lang="en-US" sz="3200" dirty="0"/>
              <a:t>, except for factor VIII, which is believed to be produced in the endothelial cells</a:t>
            </a:r>
          </a:p>
        </p:txBody>
      </p:sp>
    </p:spTree>
    <p:extLst>
      <p:ext uri="{BB962C8B-B14F-4D97-AF65-F5344CB8AC3E}">
        <p14:creationId xmlns:p14="http://schemas.microsoft.com/office/powerpoint/2010/main" val="331268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060813" y="2210938"/>
            <a:ext cx="2702256" cy="1064525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Platelet plug</a:t>
            </a:r>
            <a:endParaRPr lang="en-US" sz="3200" dirty="0"/>
          </a:p>
        </p:txBody>
      </p:sp>
      <p:sp>
        <p:nvSpPr>
          <p:cNvPr id="6" name="Right Arrow 5"/>
          <p:cNvSpPr/>
          <p:nvPr/>
        </p:nvSpPr>
        <p:spPr>
          <a:xfrm>
            <a:off x="5049671" y="1658202"/>
            <a:ext cx="2088107" cy="2169994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Fibrin</a:t>
            </a:r>
            <a:endParaRPr lang="en-US" sz="3200" dirty="0"/>
          </a:p>
        </p:txBody>
      </p:sp>
      <p:sp>
        <p:nvSpPr>
          <p:cNvPr id="7" name="Rounded Rectangle 6"/>
          <p:cNvSpPr/>
          <p:nvPr/>
        </p:nvSpPr>
        <p:spPr>
          <a:xfrm>
            <a:off x="7424381" y="2129051"/>
            <a:ext cx="2702256" cy="1064525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/>
              <a:t>Clot</a:t>
            </a:r>
            <a:endParaRPr lang="en-US" sz="4800" dirty="0"/>
          </a:p>
        </p:txBody>
      </p:sp>
      <p:sp>
        <p:nvSpPr>
          <p:cNvPr id="8" name="TextBox 7"/>
          <p:cNvSpPr txBox="1"/>
          <p:nvPr/>
        </p:nvSpPr>
        <p:spPr>
          <a:xfrm>
            <a:off x="7424383" y="3366531"/>
            <a:ext cx="3802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contain platelets and fibrin , and they usually contain trapped RBCs</a:t>
            </a:r>
          </a:p>
        </p:txBody>
      </p:sp>
    </p:spTree>
    <p:extLst>
      <p:ext uri="{BB962C8B-B14F-4D97-AF65-F5344CB8AC3E}">
        <p14:creationId xmlns:p14="http://schemas.microsoft.com/office/powerpoint/2010/main" val="3049749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conversion of fibrinogen into fibrin may occur by either of two pathways</a:t>
            </a:r>
          </a:p>
          <a:p>
            <a:pPr>
              <a:buFont typeface="+mj-lt"/>
              <a:buAutoNum type="arabicPeriod"/>
            </a:pPr>
            <a:r>
              <a:rPr lang="en-US" sz="3200" dirty="0"/>
              <a:t>Intrinsic pathway</a:t>
            </a:r>
          </a:p>
          <a:p>
            <a:pPr>
              <a:buFont typeface="+mj-lt"/>
              <a:buAutoNum type="arabicPeriod"/>
            </a:pPr>
            <a:r>
              <a:rPr lang="en-US" sz="3200" dirty="0"/>
              <a:t>Extrinsic pathway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4135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98" name="Group 6"/>
          <p:cNvGrpSpPr>
            <a:grpSpLocks/>
          </p:cNvGrpSpPr>
          <p:nvPr/>
        </p:nvGrpSpPr>
        <p:grpSpPr bwMode="auto">
          <a:xfrm>
            <a:off x="6248401" y="304800"/>
            <a:ext cx="1371600" cy="457200"/>
            <a:chOff x="4032" y="528"/>
            <a:chExt cx="864" cy="288"/>
          </a:xfrm>
        </p:grpSpPr>
        <p:sp>
          <p:nvSpPr>
            <p:cNvPr id="59396" name="AutoShape 4"/>
            <p:cNvSpPr>
              <a:spLocks noChangeArrowheads="1"/>
            </p:cNvSpPr>
            <p:nvPr/>
          </p:nvSpPr>
          <p:spPr bwMode="auto">
            <a:xfrm>
              <a:off x="4032" y="528"/>
              <a:ext cx="864" cy="288"/>
            </a:xfrm>
            <a:prstGeom prst="flowChartAlternateProcess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397" name="Oval 5"/>
            <p:cNvSpPr>
              <a:spLocks noChangeArrowheads="1"/>
            </p:cNvSpPr>
            <p:nvPr/>
          </p:nvSpPr>
          <p:spPr bwMode="auto">
            <a:xfrm>
              <a:off x="4320" y="624"/>
              <a:ext cx="240" cy="96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9399" name="Group 7"/>
          <p:cNvGrpSpPr>
            <a:grpSpLocks/>
          </p:cNvGrpSpPr>
          <p:nvPr/>
        </p:nvGrpSpPr>
        <p:grpSpPr bwMode="auto">
          <a:xfrm>
            <a:off x="4800602" y="304800"/>
            <a:ext cx="1371600" cy="457200"/>
            <a:chOff x="4032" y="528"/>
            <a:chExt cx="864" cy="288"/>
          </a:xfrm>
        </p:grpSpPr>
        <p:sp>
          <p:nvSpPr>
            <p:cNvPr id="59400" name="AutoShape 8"/>
            <p:cNvSpPr>
              <a:spLocks noChangeArrowheads="1"/>
            </p:cNvSpPr>
            <p:nvPr/>
          </p:nvSpPr>
          <p:spPr bwMode="auto">
            <a:xfrm>
              <a:off x="4032" y="528"/>
              <a:ext cx="864" cy="288"/>
            </a:xfrm>
            <a:prstGeom prst="flowChartAlternateProcess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1" name="Oval 9"/>
            <p:cNvSpPr>
              <a:spLocks noChangeArrowheads="1"/>
            </p:cNvSpPr>
            <p:nvPr/>
          </p:nvSpPr>
          <p:spPr bwMode="auto">
            <a:xfrm>
              <a:off x="4320" y="624"/>
              <a:ext cx="240" cy="96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9402" name="Group 10"/>
          <p:cNvGrpSpPr>
            <a:grpSpLocks/>
          </p:cNvGrpSpPr>
          <p:nvPr/>
        </p:nvGrpSpPr>
        <p:grpSpPr bwMode="auto">
          <a:xfrm>
            <a:off x="1752602" y="304800"/>
            <a:ext cx="1371600" cy="457200"/>
            <a:chOff x="4032" y="528"/>
            <a:chExt cx="864" cy="288"/>
          </a:xfrm>
        </p:grpSpPr>
        <p:sp>
          <p:nvSpPr>
            <p:cNvPr id="59403" name="AutoShape 11"/>
            <p:cNvSpPr>
              <a:spLocks noChangeArrowheads="1"/>
            </p:cNvSpPr>
            <p:nvPr/>
          </p:nvSpPr>
          <p:spPr bwMode="auto">
            <a:xfrm>
              <a:off x="4032" y="528"/>
              <a:ext cx="864" cy="288"/>
            </a:xfrm>
            <a:prstGeom prst="flowChartAlternateProcess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4" name="Oval 12"/>
            <p:cNvSpPr>
              <a:spLocks noChangeArrowheads="1"/>
            </p:cNvSpPr>
            <p:nvPr/>
          </p:nvSpPr>
          <p:spPr bwMode="auto">
            <a:xfrm>
              <a:off x="4320" y="624"/>
              <a:ext cx="240" cy="96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9405" name="Rectangle 13"/>
          <p:cNvSpPr>
            <a:spLocks noChangeArrowheads="1"/>
          </p:cNvSpPr>
          <p:nvPr/>
        </p:nvSpPr>
        <p:spPr bwMode="auto">
          <a:xfrm>
            <a:off x="3810001" y="76200"/>
            <a:ext cx="3810000" cy="152400"/>
          </a:xfrm>
          <a:prstGeom prst="rect">
            <a:avLst/>
          </a:prstGeom>
          <a:pattFill prst="wdDnDiag">
            <a:fgClr>
              <a:schemeClr val="tx2"/>
            </a:fgClr>
            <a:bgClr>
              <a:srgbClr val="000000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6" name="Rectangle 14"/>
          <p:cNvSpPr>
            <a:spLocks noChangeArrowheads="1"/>
          </p:cNvSpPr>
          <p:nvPr/>
        </p:nvSpPr>
        <p:spPr bwMode="auto">
          <a:xfrm>
            <a:off x="1524000" y="76200"/>
            <a:ext cx="2057401" cy="152400"/>
          </a:xfrm>
          <a:prstGeom prst="rect">
            <a:avLst/>
          </a:prstGeom>
          <a:pattFill prst="wdDnDiag">
            <a:fgClr>
              <a:schemeClr val="tx2"/>
            </a:fgClr>
            <a:bgClr>
              <a:srgbClr val="000000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12" name="AutoShape 20"/>
          <p:cNvSpPr>
            <a:spLocks noChangeArrowheads="1"/>
          </p:cNvSpPr>
          <p:nvPr/>
        </p:nvSpPr>
        <p:spPr bwMode="auto">
          <a:xfrm>
            <a:off x="3352800" y="228600"/>
            <a:ext cx="1143001" cy="990600"/>
          </a:xfrm>
          <a:custGeom>
            <a:avLst/>
            <a:gdLst>
              <a:gd name="G0" fmla="+- 38726 0 0"/>
              <a:gd name="G1" fmla="+- 11340810 0 0"/>
              <a:gd name="G2" fmla="+- 38726 0 11340810"/>
              <a:gd name="G3" fmla="+- 10800 0 0"/>
              <a:gd name="G4" fmla="+- 0 0 38726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10800 0 0"/>
              <a:gd name="G9" fmla="+- 0 0 11340810"/>
              <a:gd name="G10" fmla="+- 10800 0 2700"/>
              <a:gd name="G11" fmla="cos G10 38726"/>
              <a:gd name="G12" fmla="sin G10 38726"/>
              <a:gd name="G13" fmla="cos 13500 38726"/>
              <a:gd name="G14" fmla="sin 13500 38726"/>
              <a:gd name="G15" fmla="+- G11 10800 0"/>
              <a:gd name="G16" fmla="+- G12 10800 0"/>
              <a:gd name="G17" fmla="+- G13 10800 0"/>
              <a:gd name="G18" fmla="+- G14 10800 0"/>
              <a:gd name="G19" fmla="*/ 10800 1 2"/>
              <a:gd name="G20" fmla="+- G19 5400 0"/>
              <a:gd name="G21" fmla="cos G20 38726"/>
              <a:gd name="G22" fmla="sin G20 38726"/>
              <a:gd name="G23" fmla="+- G21 10800 0"/>
              <a:gd name="G24" fmla="+- G12 G23 G22"/>
              <a:gd name="G25" fmla="+- G22 G23 G11"/>
              <a:gd name="G26" fmla="cos 10800 38726"/>
              <a:gd name="G27" fmla="sin 10800 38726"/>
              <a:gd name="G28" fmla="cos 10800 38726"/>
              <a:gd name="G29" fmla="sin 10800 38726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11340810"/>
              <a:gd name="G36" fmla="sin G34 11340810"/>
              <a:gd name="G37" fmla="+/ 11340810 38726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10800 G39"/>
              <a:gd name="G43" fmla="sin 108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200 w 21600"/>
              <a:gd name="T5" fmla="*/ 16 h 21600"/>
              <a:gd name="T6" fmla="*/ 79 w 21600"/>
              <a:gd name="T7" fmla="*/ 12107 h 21600"/>
              <a:gd name="T8" fmla="*/ 10200 w 21600"/>
              <a:gd name="T9" fmla="*/ 16 h 21600"/>
              <a:gd name="T10" fmla="*/ 24299 w 21600"/>
              <a:gd name="T11" fmla="*/ 10939 h 21600"/>
              <a:gd name="T12" fmla="*/ 21571 w 21600"/>
              <a:gd name="T13" fmla="*/ 13611 h 21600"/>
              <a:gd name="T14" fmla="*/ 18899 w 21600"/>
              <a:gd name="T15" fmla="*/ 1088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1599" y="10911"/>
                </a:moveTo>
                <a:cubicBezTo>
                  <a:pt x="21599" y="10874"/>
                  <a:pt x="21600" y="10837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1237"/>
                  <a:pt x="26" y="11673"/>
                  <a:pt x="79" y="12107"/>
                </a:cubicBezTo>
                <a:cubicBezTo>
                  <a:pt x="26" y="11673"/>
                  <a:pt x="0" y="11237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0837"/>
                  <a:pt x="21599" y="10874"/>
                  <a:pt x="21599" y="10911"/>
                </a:cubicBezTo>
                <a:lnTo>
                  <a:pt x="24299" y="10939"/>
                </a:lnTo>
                <a:lnTo>
                  <a:pt x="21571" y="13611"/>
                </a:lnTo>
                <a:lnTo>
                  <a:pt x="18899" y="10883"/>
                </a:lnTo>
                <a:lnTo>
                  <a:pt x="21599" y="109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13" name="Rectangle 21"/>
          <p:cNvSpPr>
            <a:spLocks noChangeArrowheads="1"/>
          </p:cNvSpPr>
          <p:nvPr/>
        </p:nvSpPr>
        <p:spPr bwMode="auto">
          <a:xfrm>
            <a:off x="2971801" y="700088"/>
            <a:ext cx="4667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XII</a:t>
            </a:r>
          </a:p>
        </p:txBody>
      </p:sp>
      <p:sp>
        <p:nvSpPr>
          <p:cNvPr id="59414" name="Rectangle 22"/>
          <p:cNvSpPr>
            <a:spLocks noChangeArrowheads="1"/>
          </p:cNvSpPr>
          <p:nvPr/>
        </p:nvSpPr>
        <p:spPr bwMode="auto">
          <a:xfrm>
            <a:off x="4267201" y="838200"/>
            <a:ext cx="5950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XIIa</a:t>
            </a:r>
          </a:p>
        </p:txBody>
      </p:sp>
      <p:sp>
        <p:nvSpPr>
          <p:cNvPr id="59415" name="AutoShape 23"/>
          <p:cNvSpPr>
            <a:spLocks noChangeArrowheads="1"/>
          </p:cNvSpPr>
          <p:nvPr/>
        </p:nvSpPr>
        <p:spPr bwMode="auto">
          <a:xfrm>
            <a:off x="4038601" y="1219200"/>
            <a:ext cx="1524000" cy="1066800"/>
          </a:xfrm>
          <a:custGeom>
            <a:avLst/>
            <a:gdLst>
              <a:gd name="G0" fmla="+- 38726 0 0"/>
              <a:gd name="G1" fmla="+- 11340810 0 0"/>
              <a:gd name="G2" fmla="+- 38726 0 11340810"/>
              <a:gd name="G3" fmla="+- 10800 0 0"/>
              <a:gd name="G4" fmla="+- 0 0 38726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10800 0 0"/>
              <a:gd name="G9" fmla="+- 0 0 11340810"/>
              <a:gd name="G10" fmla="+- 10800 0 2700"/>
              <a:gd name="G11" fmla="cos G10 38726"/>
              <a:gd name="G12" fmla="sin G10 38726"/>
              <a:gd name="G13" fmla="cos 13500 38726"/>
              <a:gd name="G14" fmla="sin 13500 38726"/>
              <a:gd name="G15" fmla="+- G11 10800 0"/>
              <a:gd name="G16" fmla="+- G12 10800 0"/>
              <a:gd name="G17" fmla="+- G13 10800 0"/>
              <a:gd name="G18" fmla="+- G14 10800 0"/>
              <a:gd name="G19" fmla="*/ 10800 1 2"/>
              <a:gd name="G20" fmla="+- G19 5400 0"/>
              <a:gd name="G21" fmla="cos G20 38726"/>
              <a:gd name="G22" fmla="sin G20 38726"/>
              <a:gd name="G23" fmla="+- G21 10800 0"/>
              <a:gd name="G24" fmla="+- G12 G23 G22"/>
              <a:gd name="G25" fmla="+- G22 G23 G11"/>
              <a:gd name="G26" fmla="cos 10800 38726"/>
              <a:gd name="G27" fmla="sin 10800 38726"/>
              <a:gd name="G28" fmla="cos 10800 38726"/>
              <a:gd name="G29" fmla="sin 10800 38726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11340810"/>
              <a:gd name="G36" fmla="sin G34 11340810"/>
              <a:gd name="G37" fmla="+/ 11340810 38726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10800 G39"/>
              <a:gd name="G43" fmla="sin 108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200 w 21600"/>
              <a:gd name="T5" fmla="*/ 16 h 21600"/>
              <a:gd name="T6" fmla="*/ 79 w 21600"/>
              <a:gd name="T7" fmla="*/ 12107 h 21600"/>
              <a:gd name="T8" fmla="*/ 10200 w 21600"/>
              <a:gd name="T9" fmla="*/ 16 h 21600"/>
              <a:gd name="T10" fmla="*/ 24299 w 21600"/>
              <a:gd name="T11" fmla="*/ 10939 h 21600"/>
              <a:gd name="T12" fmla="*/ 21571 w 21600"/>
              <a:gd name="T13" fmla="*/ 13611 h 21600"/>
              <a:gd name="T14" fmla="*/ 18899 w 21600"/>
              <a:gd name="T15" fmla="*/ 1088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1599" y="10911"/>
                </a:moveTo>
                <a:cubicBezTo>
                  <a:pt x="21599" y="10874"/>
                  <a:pt x="21600" y="10837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1237"/>
                  <a:pt x="26" y="11673"/>
                  <a:pt x="79" y="12107"/>
                </a:cubicBezTo>
                <a:cubicBezTo>
                  <a:pt x="26" y="11673"/>
                  <a:pt x="0" y="11237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0837"/>
                  <a:pt x="21599" y="10874"/>
                  <a:pt x="21599" y="10911"/>
                </a:cubicBezTo>
                <a:lnTo>
                  <a:pt x="24299" y="10939"/>
                </a:lnTo>
                <a:lnTo>
                  <a:pt x="21571" y="13611"/>
                </a:lnTo>
                <a:lnTo>
                  <a:pt x="18899" y="10883"/>
                </a:lnTo>
                <a:lnTo>
                  <a:pt x="21599" y="109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16" name="Rectangle 24"/>
          <p:cNvSpPr>
            <a:spLocks noChangeArrowheads="1"/>
          </p:cNvSpPr>
          <p:nvPr/>
        </p:nvSpPr>
        <p:spPr bwMode="auto">
          <a:xfrm>
            <a:off x="3810000" y="1752600"/>
            <a:ext cx="4667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 XI</a:t>
            </a:r>
          </a:p>
        </p:txBody>
      </p:sp>
      <p:sp>
        <p:nvSpPr>
          <p:cNvPr id="59417" name="Rectangle 25"/>
          <p:cNvSpPr>
            <a:spLocks noChangeArrowheads="1"/>
          </p:cNvSpPr>
          <p:nvPr/>
        </p:nvSpPr>
        <p:spPr bwMode="auto">
          <a:xfrm>
            <a:off x="5257800" y="1828800"/>
            <a:ext cx="5950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 XIa</a:t>
            </a:r>
          </a:p>
        </p:txBody>
      </p:sp>
      <p:sp>
        <p:nvSpPr>
          <p:cNvPr id="59418" name="Rectangle 26"/>
          <p:cNvSpPr>
            <a:spLocks noChangeArrowheads="1"/>
          </p:cNvSpPr>
          <p:nvPr/>
        </p:nvSpPr>
        <p:spPr bwMode="auto">
          <a:xfrm>
            <a:off x="4800599" y="2590800"/>
            <a:ext cx="4026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IX</a:t>
            </a:r>
          </a:p>
        </p:txBody>
      </p:sp>
      <p:sp>
        <p:nvSpPr>
          <p:cNvPr id="59419" name="AutoShape 27"/>
          <p:cNvSpPr>
            <a:spLocks noChangeArrowheads="1"/>
          </p:cNvSpPr>
          <p:nvPr/>
        </p:nvSpPr>
        <p:spPr bwMode="auto">
          <a:xfrm>
            <a:off x="4953001" y="2133600"/>
            <a:ext cx="1524000" cy="914400"/>
          </a:xfrm>
          <a:custGeom>
            <a:avLst/>
            <a:gdLst>
              <a:gd name="G0" fmla="+- 38726 0 0"/>
              <a:gd name="G1" fmla="+- 11340810 0 0"/>
              <a:gd name="G2" fmla="+- 38726 0 11340810"/>
              <a:gd name="G3" fmla="+- 10800 0 0"/>
              <a:gd name="G4" fmla="+- 0 0 38726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10800 0 0"/>
              <a:gd name="G9" fmla="+- 0 0 11340810"/>
              <a:gd name="G10" fmla="+- 10800 0 2700"/>
              <a:gd name="G11" fmla="cos G10 38726"/>
              <a:gd name="G12" fmla="sin G10 38726"/>
              <a:gd name="G13" fmla="cos 13500 38726"/>
              <a:gd name="G14" fmla="sin 13500 38726"/>
              <a:gd name="G15" fmla="+- G11 10800 0"/>
              <a:gd name="G16" fmla="+- G12 10800 0"/>
              <a:gd name="G17" fmla="+- G13 10800 0"/>
              <a:gd name="G18" fmla="+- G14 10800 0"/>
              <a:gd name="G19" fmla="*/ 10800 1 2"/>
              <a:gd name="G20" fmla="+- G19 5400 0"/>
              <a:gd name="G21" fmla="cos G20 38726"/>
              <a:gd name="G22" fmla="sin G20 38726"/>
              <a:gd name="G23" fmla="+- G21 10800 0"/>
              <a:gd name="G24" fmla="+- G12 G23 G22"/>
              <a:gd name="G25" fmla="+- G22 G23 G11"/>
              <a:gd name="G26" fmla="cos 10800 38726"/>
              <a:gd name="G27" fmla="sin 10800 38726"/>
              <a:gd name="G28" fmla="cos 10800 38726"/>
              <a:gd name="G29" fmla="sin 10800 38726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11340810"/>
              <a:gd name="G36" fmla="sin G34 11340810"/>
              <a:gd name="G37" fmla="+/ 11340810 38726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10800 G39"/>
              <a:gd name="G43" fmla="sin 108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200 w 21600"/>
              <a:gd name="T5" fmla="*/ 16 h 21600"/>
              <a:gd name="T6" fmla="*/ 79 w 21600"/>
              <a:gd name="T7" fmla="*/ 12107 h 21600"/>
              <a:gd name="T8" fmla="*/ 10200 w 21600"/>
              <a:gd name="T9" fmla="*/ 16 h 21600"/>
              <a:gd name="T10" fmla="*/ 24299 w 21600"/>
              <a:gd name="T11" fmla="*/ 10939 h 21600"/>
              <a:gd name="T12" fmla="*/ 21571 w 21600"/>
              <a:gd name="T13" fmla="*/ 13611 h 21600"/>
              <a:gd name="T14" fmla="*/ 18899 w 21600"/>
              <a:gd name="T15" fmla="*/ 1088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1599" y="10911"/>
                </a:moveTo>
                <a:cubicBezTo>
                  <a:pt x="21599" y="10874"/>
                  <a:pt x="21600" y="10837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1237"/>
                  <a:pt x="26" y="11673"/>
                  <a:pt x="79" y="12107"/>
                </a:cubicBezTo>
                <a:cubicBezTo>
                  <a:pt x="26" y="11673"/>
                  <a:pt x="0" y="11237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0837"/>
                  <a:pt x="21599" y="10874"/>
                  <a:pt x="21599" y="10911"/>
                </a:cubicBezTo>
                <a:lnTo>
                  <a:pt x="24299" y="10939"/>
                </a:lnTo>
                <a:lnTo>
                  <a:pt x="21571" y="13611"/>
                </a:lnTo>
                <a:lnTo>
                  <a:pt x="18899" y="10883"/>
                </a:lnTo>
                <a:lnTo>
                  <a:pt x="21599" y="109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20" name="Rectangle 28"/>
          <p:cNvSpPr>
            <a:spLocks noChangeArrowheads="1"/>
          </p:cNvSpPr>
          <p:nvPr/>
        </p:nvSpPr>
        <p:spPr bwMode="auto">
          <a:xfrm>
            <a:off x="6324602" y="2681288"/>
            <a:ext cx="5309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IXa</a:t>
            </a:r>
          </a:p>
        </p:txBody>
      </p:sp>
      <p:sp>
        <p:nvSpPr>
          <p:cNvPr id="59421" name="Rectangle 29"/>
          <p:cNvSpPr>
            <a:spLocks noChangeArrowheads="1"/>
          </p:cNvSpPr>
          <p:nvPr/>
        </p:nvSpPr>
        <p:spPr bwMode="auto">
          <a:xfrm>
            <a:off x="5410201" y="3581401"/>
            <a:ext cx="4267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/>
              <a:t> X</a:t>
            </a:r>
          </a:p>
        </p:txBody>
      </p:sp>
      <p:sp>
        <p:nvSpPr>
          <p:cNvPr id="59422" name="AutoShape 30"/>
          <p:cNvSpPr>
            <a:spLocks noChangeArrowheads="1"/>
          </p:cNvSpPr>
          <p:nvPr/>
        </p:nvSpPr>
        <p:spPr bwMode="auto">
          <a:xfrm>
            <a:off x="5486400" y="3048001"/>
            <a:ext cx="2133600" cy="990600"/>
          </a:xfrm>
          <a:custGeom>
            <a:avLst/>
            <a:gdLst>
              <a:gd name="G0" fmla="+- 38726 0 0"/>
              <a:gd name="G1" fmla="+- 11340810 0 0"/>
              <a:gd name="G2" fmla="+- 38726 0 11340810"/>
              <a:gd name="G3" fmla="+- 10800 0 0"/>
              <a:gd name="G4" fmla="+- 0 0 38726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10800 0 0"/>
              <a:gd name="G9" fmla="+- 0 0 11340810"/>
              <a:gd name="G10" fmla="+- 10800 0 2700"/>
              <a:gd name="G11" fmla="cos G10 38726"/>
              <a:gd name="G12" fmla="sin G10 38726"/>
              <a:gd name="G13" fmla="cos 13500 38726"/>
              <a:gd name="G14" fmla="sin 13500 38726"/>
              <a:gd name="G15" fmla="+- G11 10800 0"/>
              <a:gd name="G16" fmla="+- G12 10800 0"/>
              <a:gd name="G17" fmla="+- G13 10800 0"/>
              <a:gd name="G18" fmla="+- G14 10800 0"/>
              <a:gd name="G19" fmla="*/ 10800 1 2"/>
              <a:gd name="G20" fmla="+- G19 5400 0"/>
              <a:gd name="G21" fmla="cos G20 38726"/>
              <a:gd name="G22" fmla="sin G20 38726"/>
              <a:gd name="G23" fmla="+- G21 10800 0"/>
              <a:gd name="G24" fmla="+- G12 G23 G22"/>
              <a:gd name="G25" fmla="+- G22 G23 G11"/>
              <a:gd name="G26" fmla="cos 10800 38726"/>
              <a:gd name="G27" fmla="sin 10800 38726"/>
              <a:gd name="G28" fmla="cos 10800 38726"/>
              <a:gd name="G29" fmla="sin 10800 38726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11340810"/>
              <a:gd name="G36" fmla="sin G34 11340810"/>
              <a:gd name="G37" fmla="+/ 11340810 38726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10800 G39"/>
              <a:gd name="G43" fmla="sin 108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200 w 21600"/>
              <a:gd name="T5" fmla="*/ 16 h 21600"/>
              <a:gd name="T6" fmla="*/ 79 w 21600"/>
              <a:gd name="T7" fmla="*/ 12107 h 21600"/>
              <a:gd name="T8" fmla="*/ 10200 w 21600"/>
              <a:gd name="T9" fmla="*/ 16 h 21600"/>
              <a:gd name="T10" fmla="*/ 24299 w 21600"/>
              <a:gd name="T11" fmla="*/ 10939 h 21600"/>
              <a:gd name="T12" fmla="*/ 21571 w 21600"/>
              <a:gd name="T13" fmla="*/ 13611 h 21600"/>
              <a:gd name="T14" fmla="*/ 18899 w 21600"/>
              <a:gd name="T15" fmla="*/ 1088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1599" y="10911"/>
                </a:moveTo>
                <a:cubicBezTo>
                  <a:pt x="21599" y="10874"/>
                  <a:pt x="21600" y="10837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1237"/>
                  <a:pt x="26" y="11673"/>
                  <a:pt x="79" y="12107"/>
                </a:cubicBezTo>
                <a:cubicBezTo>
                  <a:pt x="26" y="11673"/>
                  <a:pt x="0" y="11237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0837"/>
                  <a:pt x="21599" y="10874"/>
                  <a:pt x="21599" y="10911"/>
                </a:cubicBezTo>
                <a:lnTo>
                  <a:pt x="24299" y="10939"/>
                </a:lnTo>
                <a:lnTo>
                  <a:pt x="21571" y="13611"/>
                </a:lnTo>
                <a:lnTo>
                  <a:pt x="18899" y="10883"/>
                </a:lnTo>
                <a:lnTo>
                  <a:pt x="21599" y="109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23" name="Rectangle 31"/>
          <p:cNvSpPr>
            <a:spLocks noChangeArrowheads="1"/>
          </p:cNvSpPr>
          <p:nvPr/>
        </p:nvSpPr>
        <p:spPr bwMode="auto">
          <a:xfrm>
            <a:off x="7543802" y="3657600"/>
            <a:ext cx="5693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/>
              <a:t> Xa</a:t>
            </a:r>
          </a:p>
        </p:txBody>
      </p:sp>
      <p:sp>
        <p:nvSpPr>
          <p:cNvPr id="59424" name="Rectangle 32"/>
          <p:cNvSpPr>
            <a:spLocks noChangeArrowheads="1"/>
          </p:cNvSpPr>
          <p:nvPr/>
        </p:nvSpPr>
        <p:spPr bwMode="auto">
          <a:xfrm>
            <a:off x="6096001" y="3124202"/>
            <a:ext cx="6858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/>
              <a:t>VIII</a:t>
            </a:r>
          </a:p>
        </p:txBody>
      </p:sp>
      <p:sp>
        <p:nvSpPr>
          <p:cNvPr id="59425" name="Rectangle 33"/>
          <p:cNvSpPr>
            <a:spLocks noChangeArrowheads="1"/>
          </p:cNvSpPr>
          <p:nvPr/>
        </p:nvSpPr>
        <p:spPr bwMode="auto">
          <a:xfrm>
            <a:off x="6251652" y="3429000"/>
            <a:ext cx="60785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b="1"/>
              <a:t>PF3</a:t>
            </a:r>
          </a:p>
        </p:txBody>
      </p:sp>
      <p:sp>
        <p:nvSpPr>
          <p:cNvPr id="59426" name="Rectangle 34"/>
          <p:cNvSpPr>
            <a:spLocks noChangeArrowheads="1"/>
          </p:cNvSpPr>
          <p:nvPr/>
        </p:nvSpPr>
        <p:spPr bwMode="auto">
          <a:xfrm>
            <a:off x="6172202" y="3733801"/>
            <a:ext cx="7425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Ca+2</a:t>
            </a:r>
          </a:p>
        </p:txBody>
      </p:sp>
      <p:sp>
        <p:nvSpPr>
          <p:cNvPr id="59427" name="Rectangle 35"/>
          <p:cNvSpPr>
            <a:spLocks noChangeArrowheads="1"/>
          </p:cNvSpPr>
          <p:nvPr/>
        </p:nvSpPr>
        <p:spPr bwMode="auto">
          <a:xfrm>
            <a:off x="7467600" y="4419600"/>
            <a:ext cx="4026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 V</a:t>
            </a:r>
          </a:p>
        </p:txBody>
      </p:sp>
      <p:sp>
        <p:nvSpPr>
          <p:cNvPr id="59428" name="Rectangle 36"/>
          <p:cNvSpPr>
            <a:spLocks noChangeArrowheads="1"/>
          </p:cNvSpPr>
          <p:nvPr/>
        </p:nvSpPr>
        <p:spPr bwMode="auto">
          <a:xfrm>
            <a:off x="7315201" y="4114800"/>
            <a:ext cx="60785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PF3</a:t>
            </a:r>
          </a:p>
        </p:txBody>
      </p:sp>
      <p:sp>
        <p:nvSpPr>
          <p:cNvPr id="59429" name="Rectangle 37"/>
          <p:cNvSpPr>
            <a:spLocks noChangeArrowheads="1"/>
          </p:cNvSpPr>
          <p:nvPr/>
        </p:nvSpPr>
        <p:spPr bwMode="auto">
          <a:xfrm>
            <a:off x="7162801" y="4648201"/>
            <a:ext cx="7425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Ca+2</a:t>
            </a:r>
          </a:p>
        </p:txBody>
      </p:sp>
      <p:sp>
        <p:nvSpPr>
          <p:cNvPr id="59430" name="AutoShape 38"/>
          <p:cNvSpPr>
            <a:spLocks noChangeArrowheads="1"/>
          </p:cNvSpPr>
          <p:nvPr/>
        </p:nvSpPr>
        <p:spPr bwMode="auto">
          <a:xfrm>
            <a:off x="6705600" y="4038600"/>
            <a:ext cx="2133600" cy="990600"/>
          </a:xfrm>
          <a:custGeom>
            <a:avLst/>
            <a:gdLst>
              <a:gd name="G0" fmla="+- 38726 0 0"/>
              <a:gd name="G1" fmla="+- 11340810 0 0"/>
              <a:gd name="G2" fmla="+- 38726 0 11340810"/>
              <a:gd name="G3" fmla="+- 10800 0 0"/>
              <a:gd name="G4" fmla="+- 0 0 38726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10800 0 0"/>
              <a:gd name="G9" fmla="+- 0 0 11340810"/>
              <a:gd name="G10" fmla="+- 10800 0 2700"/>
              <a:gd name="G11" fmla="cos G10 38726"/>
              <a:gd name="G12" fmla="sin G10 38726"/>
              <a:gd name="G13" fmla="cos 13500 38726"/>
              <a:gd name="G14" fmla="sin 13500 38726"/>
              <a:gd name="G15" fmla="+- G11 10800 0"/>
              <a:gd name="G16" fmla="+- G12 10800 0"/>
              <a:gd name="G17" fmla="+- G13 10800 0"/>
              <a:gd name="G18" fmla="+- G14 10800 0"/>
              <a:gd name="G19" fmla="*/ 10800 1 2"/>
              <a:gd name="G20" fmla="+- G19 5400 0"/>
              <a:gd name="G21" fmla="cos G20 38726"/>
              <a:gd name="G22" fmla="sin G20 38726"/>
              <a:gd name="G23" fmla="+- G21 10800 0"/>
              <a:gd name="G24" fmla="+- G12 G23 G22"/>
              <a:gd name="G25" fmla="+- G22 G23 G11"/>
              <a:gd name="G26" fmla="cos 10800 38726"/>
              <a:gd name="G27" fmla="sin 10800 38726"/>
              <a:gd name="G28" fmla="cos 10800 38726"/>
              <a:gd name="G29" fmla="sin 10800 38726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11340810"/>
              <a:gd name="G36" fmla="sin G34 11340810"/>
              <a:gd name="G37" fmla="+/ 11340810 38726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10800 G39"/>
              <a:gd name="G43" fmla="sin 108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200 w 21600"/>
              <a:gd name="T5" fmla="*/ 16 h 21600"/>
              <a:gd name="T6" fmla="*/ 79 w 21600"/>
              <a:gd name="T7" fmla="*/ 12107 h 21600"/>
              <a:gd name="T8" fmla="*/ 10200 w 21600"/>
              <a:gd name="T9" fmla="*/ 16 h 21600"/>
              <a:gd name="T10" fmla="*/ 24299 w 21600"/>
              <a:gd name="T11" fmla="*/ 10939 h 21600"/>
              <a:gd name="T12" fmla="*/ 21571 w 21600"/>
              <a:gd name="T13" fmla="*/ 13611 h 21600"/>
              <a:gd name="T14" fmla="*/ 18899 w 21600"/>
              <a:gd name="T15" fmla="*/ 1088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1599" y="10911"/>
                </a:moveTo>
                <a:cubicBezTo>
                  <a:pt x="21599" y="10874"/>
                  <a:pt x="21600" y="10837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1237"/>
                  <a:pt x="26" y="11673"/>
                  <a:pt x="79" y="12107"/>
                </a:cubicBezTo>
                <a:cubicBezTo>
                  <a:pt x="26" y="11673"/>
                  <a:pt x="0" y="11237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0837"/>
                  <a:pt x="21599" y="10874"/>
                  <a:pt x="21599" y="10911"/>
                </a:cubicBezTo>
                <a:lnTo>
                  <a:pt x="24299" y="10939"/>
                </a:lnTo>
                <a:lnTo>
                  <a:pt x="21571" y="13611"/>
                </a:lnTo>
                <a:lnTo>
                  <a:pt x="18899" y="10883"/>
                </a:lnTo>
                <a:lnTo>
                  <a:pt x="21599" y="109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31" name="Rectangle 39"/>
          <p:cNvSpPr>
            <a:spLocks noChangeArrowheads="1"/>
          </p:cNvSpPr>
          <p:nvPr/>
        </p:nvSpPr>
        <p:spPr bwMode="auto">
          <a:xfrm>
            <a:off x="5438775" y="4724400"/>
            <a:ext cx="15568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prothrombin</a:t>
            </a:r>
          </a:p>
        </p:txBody>
      </p:sp>
      <p:sp>
        <p:nvSpPr>
          <p:cNvPr id="59432" name="Rectangle 40"/>
          <p:cNvSpPr>
            <a:spLocks noChangeArrowheads="1"/>
          </p:cNvSpPr>
          <p:nvPr/>
        </p:nvSpPr>
        <p:spPr bwMode="auto">
          <a:xfrm>
            <a:off x="8305799" y="4572000"/>
            <a:ext cx="11849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thrombin</a:t>
            </a:r>
          </a:p>
        </p:txBody>
      </p:sp>
      <p:sp>
        <p:nvSpPr>
          <p:cNvPr id="59433" name="Rectangle 41"/>
          <p:cNvSpPr>
            <a:spLocks noChangeArrowheads="1"/>
          </p:cNvSpPr>
          <p:nvPr/>
        </p:nvSpPr>
        <p:spPr bwMode="auto">
          <a:xfrm>
            <a:off x="7070725" y="5486400"/>
            <a:ext cx="13131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fibrinogen</a:t>
            </a:r>
          </a:p>
        </p:txBody>
      </p:sp>
      <p:sp>
        <p:nvSpPr>
          <p:cNvPr id="59434" name="AutoShape 42"/>
          <p:cNvSpPr>
            <a:spLocks noChangeArrowheads="1"/>
          </p:cNvSpPr>
          <p:nvPr/>
        </p:nvSpPr>
        <p:spPr bwMode="auto">
          <a:xfrm>
            <a:off x="7848601" y="4876801"/>
            <a:ext cx="2133600" cy="990600"/>
          </a:xfrm>
          <a:custGeom>
            <a:avLst/>
            <a:gdLst>
              <a:gd name="G0" fmla="+- 38726 0 0"/>
              <a:gd name="G1" fmla="+- 11340810 0 0"/>
              <a:gd name="G2" fmla="+- 38726 0 11340810"/>
              <a:gd name="G3" fmla="+- 10800 0 0"/>
              <a:gd name="G4" fmla="+- 0 0 38726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10800 0 0"/>
              <a:gd name="G9" fmla="+- 0 0 11340810"/>
              <a:gd name="G10" fmla="+- 10800 0 2700"/>
              <a:gd name="G11" fmla="cos G10 38726"/>
              <a:gd name="G12" fmla="sin G10 38726"/>
              <a:gd name="G13" fmla="cos 13500 38726"/>
              <a:gd name="G14" fmla="sin 13500 38726"/>
              <a:gd name="G15" fmla="+- G11 10800 0"/>
              <a:gd name="G16" fmla="+- G12 10800 0"/>
              <a:gd name="G17" fmla="+- G13 10800 0"/>
              <a:gd name="G18" fmla="+- G14 10800 0"/>
              <a:gd name="G19" fmla="*/ 10800 1 2"/>
              <a:gd name="G20" fmla="+- G19 5400 0"/>
              <a:gd name="G21" fmla="cos G20 38726"/>
              <a:gd name="G22" fmla="sin G20 38726"/>
              <a:gd name="G23" fmla="+- G21 10800 0"/>
              <a:gd name="G24" fmla="+- G12 G23 G22"/>
              <a:gd name="G25" fmla="+- G22 G23 G11"/>
              <a:gd name="G26" fmla="cos 10800 38726"/>
              <a:gd name="G27" fmla="sin 10800 38726"/>
              <a:gd name="G28" fmla="cos 10800 38726"/>
              <a:gd name="G29" fmla="sin 10800 38726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11340810"/>
              <a:gd name="G36" fmla="sin G34 11340810"/>
              <a:gd name="G37" fmla="+/ 11340810 38726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10800 G39"/>
              <a:gd name="G43" fmla="sin 108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200 w 21600"/>
              <a:gd name="T5" fmla="*/ 16 h 21600"/>
              <a:gd name="T6" fmla="*/ 79 w 21600"/>
              <a:gd name="T7" fmla="*/ 12107 h 21600"/>
              <a:gd name="T8" fmla="*/ 10200 w 21600"/>
              <a:gd name="T9" fmla="*/ 16 h 21600"/>
              <a:gd name="T10" fmla="*/ 24299 w 21600"/>
              <a:gd name="T11" fmla="*/ 10939 h 21600"/>
              <a:gd name="T12" fmla="*/ 21571 w 21600"/>
              <a:gd name="T13" fmla="*/ 13611 h 21600"/>
              <a:gd name="T14" fmla="*/ 18899 w 21600"/>
              <a:gd name="T15" fmla="*/ 1088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1599" y="10911"/>
                </a:moveTo>
                <a:cubicBezTo>
                  <a:pt x="21599" y="10874"/>
                  <a:pt x="21600" y="10837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1237"/>
                  <a:pt x="26" y="11673"/>
                  <a:pt x="79" y="12107"/>
                </a:cubicBezTo>
                <a:cubicBezTo>
                  <a:pt x="26" y="11673"/>
                  <a:pt x="0" y="11237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0837"/>
                  <a:pt x="21599" y="10874"/>
                  <a:pt x="21599" y="10911"/>
                </a:cubicBezTo>
                <a:lnTo>
                  <a:pt x="24299" y="10939"/>
                </a:lnTo>
                <a:lnTo>
                  <a:pt x="21571" y="13611"/>
                </a:lnTo>
                <a:lnTo>
                  <a:pt x="18899" y="10883"/>
                </a:lnTo>
                <a:lnTo>
                  <a:pt x="21599" y="109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36" name="Rectangle 44"/>
          <p:cNvSpPr>
            <a:spLocks noChangeArrowheads="1"/>
          </p:cNvSpPr>
          <p:nvPr/>
        </p:nvSpPr>
        <p:spPr bwMode="auto">
          <a:xfrm>
            <a:off x="8686801" y="5562601"/>
            <a:ext cx="1981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b="1"/>
              <a:t>Loose fibrin</a:t>
            </a:r>
          </a:p>
        </p:txBody>
      </p:sp>
      <p:sp>
        <p:nvSpPr>
          <p:cNvPr id="59437" name="Rectangle 45"/>
          <p:cNvSpPr>
            <a:spLocks noChangeArrowheads="1"/>
          </p:cNvSpPr>
          <p:nvPr/>
        </p:nvSpPr>
        <p:spPr bwMode="auto">
          <a:xfrm>
            <a:off x="3733799" y="6262688"/>
            <a:ext cx="2362201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b="1"/>
              <a:t>Stabilized fibrin</a:t>
            </a:r>
          </a:p>
        </p:txBody>
      </p:sp>
      <p:sp>
        <p:nvSpPr>
          <p:cNvPr id="59439" name="AutoShape 47"/>
          <p:cNvSpPr>
            <a:spLocks noChangeArrowheads="1"/>
          </p:cNvSpPr>
          <p:nvPr/>
        </p:nvSpPr>
        <p:spPr bwMode="auto">
          <a:xfrm rot="4988169">
            <a:off x="7086600" y="4495800"/>
            <a:ext cx="685800" cy="3429001"/>
          </a:xfrm>
          <a:prstGeom prst="downArrow">
            <a:avLst>
              <a:gd name="adj1" fmla="val 0"/>
              <a:gd name="adj2" fmla="val 40579"/>
            </a:avLst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40" name="Rectangle 48"/>
          <p:cNvSpPr>
            <a:spLocks noChangeArrowheads="1"/>
          </p:cNvSpPr>
          <p:nvPr/>
        </p:nvSpPr>
        <p:spPr bwMode="auto">
          <a:xfrm>
            <a:off x="6705601" y="76200"/>
            <a:ext cx="3810000" cy="152400"/>
          </a:xfrm>
          <a:prstGeom prst="rect">
            <a:avLst/>
          </a:prstGeom>
          <a:pattFill prst="wdDnDiag">
            <a:fgClr>
              <a:schemeClr val="tx2"/>
            </a:fgClr>
            <a:bgClr>
              <a:srgbClr val="000000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9441" name="Group 49"/>
          <p:cNvGrpSpPr>
            <a:grpSpLocks/>
          </p:cNvGrpSpPr>
          <p:nvPr/>
        </p:nvGrpSpPr>
        <p:grpSpPr bwMode="auto">
          <a:xfrm>
            <a:off x="7696202" y="304800"/>
            <a:ext cx="1371600" cy="457200"/>
            <a:chOff x="4032" y="528"/>
            <a:chExt cx="864" cy="288"/>
          </a:xfrm>
        </p:grpSpPr>
        <p:sp>
          <p:nvSpPr>
            <p:cNvPr id="59442" name="AutoShape 50"/>
            <p:cNvSpPr>
              <a:spLocks noChangeArrowheads="1"/>
            </p:cNvSpPr>
            <p:nvPr/>
          </p:nvSpPr>
          <p:spPr bwMode="auto">
            <a:xfrm>
              <a:off x="4032" y="528"/>
              <a:ext cx="864" cy="288"/>
            </a:xfrm>
            <a:prstGeom prst="flowChartAlternateProcess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3" name="Oval 51"/>
            <p:cNvSpPr>
              <a:spLocks noChangeArrowheads="1"/>
            </p:cNvSpPr>
            <p:nvPr/>
          </p:nvSpPr>
          <p:spPr bwMode="auto">
            <a:xfrm>
              <a:off x="4320" y="624"/>
              <a:ext cx="240" cy="96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9444" name="Group 52"/>
          <p:cNvGrpSpPr>
            <a:grpSpLocks/>
          </p:cNvGrpSpPr>
          <p:nvPr/>
        </p:nvGrpSpPr>
        <p:grpSpPr bwMode="auto">
          <a:xfrm>
            <a:off x="9144001" y="304800"/>
            <a:ext cx="1371600" cy="457200"/>
            <a:chOff x="4032" y="528"/>
            <a:chExt cx="864" cy="288"/>
          </a:xfrm>
        </p:grpSpPr>
        <p:sp>
          <p:nvSpPr>
            <p:cNvPr id="59445" name="AutoShape 53"/>
            <p:cNvSpPr>
              <a:spLocks noChangeArrowheads="1"/>
            </p:cNvSpPr>
            <p:nvPr/>
          </p:nvSpPr>
          <p:spPr bwMode="auto">
            <a:xfrm>
              <a:off x="4032" y="528"/>
              <a:ext cx="864" cy="288"/>
            </a:xfrm>
            <a:prstGeom prst="flowChartAlternateProcess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6" name="Oval 54"/>
            <p:cNvSpPr>
              <a:spLocks noChangeArrowheads="1"/>
            </p:cNvSpPr>
            <p:nvPr/>
          </p:nvSpPr>
          <p:spPr bwMode="auto">
            <a:xfrm>
              <a:off x="4320" y="624"/>
              <a:ext cx="240" cy="96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9447" name="Rectangle 55"/>
          <p:cNvSpPr>
            <a:spLocks noChangeArrowheads="1"/>
          </p:cNvSpPr>
          <p:nvPr/>
        </p:nvSpPr>
        <p:spPr bwMode="auto">
          <a:xfrm>
            <a:off x="6553200" y="6248400"/>
            <a:ext cx="14991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XIII and Ca+</a:t>
            </a:r>
          </a:p>
        </p:txBody>
      </p:sp>
      <p:sp>
        <p:nvSpPr>
          <p:cNvPr id="2" name="Rectangle 1"/>
          <p:cNvSpPr/>
          <p:nvPr/>
        </p:nvSpPr>
        <p:spPr>
          <a:xfrm>
            <a:off x="6220282" y="877193"/>
            <a:ext cx="58400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Intrinsic pathway</a:t>
            </a:r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05600" y="1513425"/>
            <a:ext cx="5618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everything necessary for it is </a:t>
            </a:r>
            <a:r>
              <a:rPr lang="en-US" sz="4000" b="1" i="1" dirty="0"/>
              <a:t>in</a:t>
            </a:r>
            <a:r>
              <a:rPr lang="en-US" sz="2000" dirty="0"/>
              <a:t> the blood</a:t>
            </a:r>
          </a:p>
        </p:txBody>
      </p:sp>
    </p:spTree>
    <p:extLst>
      <p:ext uri="{BB962C8B-B14F-4D97-AF65-F5344CB8AC3E}">
        <p14:creationId xmlns:p14="http://schemas.microsoft.com/office/powerpoint/2010/main" val="2645489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9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9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9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9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9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9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9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59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59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59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59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59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59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5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500"/>
                                        <p:tgtEl>
                                          <p:spTgt spid="59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2" dur="500"/>
                                        <p:tgtEl>
                                          <p:spTgt spid="59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7" dur="500"/>
                                        <p:tgtEl>
                                          <p:spTgt spid="59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2" dur="500"/>
                                        <p:tgtEl>
                                          <p:spTgt spid="5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7" dur="500"/>
                                        <p:tgtEl>
                                          <p:spTgt spid="59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2" dur="500"/>
                                        <p:tgtEl>
                                          <p:spTgt spid="5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7" dur="500"/>
                                        <p:tgtEl>
                                          <p:spTgt spid="59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2" dur="500"/>
                                        <p:tgtEl>
                                          <p:spTgt spid="59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7" dur="500"/>
                                        <p:tgtEl>
                                          <p:spTgt spid="59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2" dur="500"/>
                                        <p:tgtEl>
                                          <p:spTgt spid="59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7" dur="500"/>
                                        <p:tgtEl>
                                          <p:spTgt spid="59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12" grpId="0" animBg="1"/>
      <p:bldP spid="59413" grpId="0"/>
      <p:bldP spid="59414" grpId="0"/>
      <p:bldP spid="59415" grpId="0" animBg="1"/>
      <p:bldP spid="59416" grpId="0"/>
      <p:bldP spid="59417" grpId="0"/>
      <p:bldP spid="59418" grpId="0"/>
      <p:bldP spid="59419" grpId="0" animBg="1"/>
      <p:bldP spid="59420" grpId="0"/>
      <p:bldP spid="59421" grpId="0"/>
      <p:bldP spid="59422" grpId="0" animBg="1"/>
      <p:bldP spid="59423" grpId="0"/>
      <p:bldP spid="59424" grpId="0"/>
      <p:bldP spid="59425" grpId="0"/>
      <p:bldP spid="59426" grpId="0"/>
      <p:bldP spid="59427" grpId="0"/>
      <p:bldP spid="59428" grpId="0"/>
      <p:bldP spid="59429" grpId="0"/>
      <p:bldP spid="59430" grpId="0" animBg="1"/>
      <p:bldP spid="59431" grpId="0"/>
      <p:bldP spid="59432" grpId="0"/>
      <p:bldP spid="59433" grpId="0"/>
      <p:bldP spid="59434" grpId="0" animBg="1"/>
      <p:bldP spid="59436" grpId="0"/>
      <p:bldP spid="59437" grpId="0"/>
      <p:bldP spid="59439" grpId="0" animBg="1"/>
      <p:bldP spid="59447" grpId="0"/>
      <p:bldP spid="2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610" name="Group 2"/>
          <p:cNvGrpSpPr>
            <a:grpSpLocks/>
          </p:cNvGrpSpPr>
          <p:nvPr/>
        </p:nvGrpSpPr>
        <p:grpSpPr bwMode="auto">
          <a:xfrm>
            <a:off x="6248401" y="304800"/>
            <a:ext cx="1371600" cy="457200"/>
            <a:chOff x="4032" y="528"/>
            <a:chExt cx="864" cy="288"/>
          </a:xfrm>
        </p:grpSpPr>
        <p:sp>
          <p:nvSpPr>
            <p:cNvPr id="68611" name="AutoShape 3"/>
            <p:cNvSpPr>
              <a:spLocks noChangeArrowheads="1"/>
            </p:cNvSpPr>
            <p:nvPr/>
          </p:nvSpPr>
          <p:spPr bwMode="auto">
            <a:xfrm>
              <a:off x="4032" y="528"/>
              <a:ext cx="864" cy="288"/>
            </a:xfrm>
            <a:prstGeom prst="flowChartAlternateProcess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12" name="Oval 4"/>
            <p:cNvSpPr>
              <a:spLocks noChangeArrowheads="1"/>
            </p:cNvSpPr>
            <p:nvPr/>
          </p:nvSpPr>
          <p:spPr bwMode="auto">
            <a:xfrm>
              <a:off x="4320" y="624"/>
              <a:ext cx="240" cy="96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8613" name="Group 5"/>
          <p:cNvGrpSpPr>
            <a:grpSpLocks/>
          </p:cNvGrpSpPr>
          <p:nvPr/>
        </p:nvGrpSpPr>
        <p:grpSpPr bwMode="auto">
          <a:xfrm>
            <a:off x="4800602" y="304800"/>
            <a:ext cx="1371600" cy="457200"/>
            <a:chOff x="4032" y="528"/>
            <a:chExt cx="864" cy="288"/>
          </a:xfrm>
        </p:grpSpPr>
        <p:sp>
          <p:nvSpPr>
            <p:cNvPr id="68614" name="AutoShape 6"/>
            <p:cNvSpPr>
              <a:spLocks noChangeArrowheads="1"/>
            </p:cNvSpPr>
            <p:nvPr/>
          </p:nvSpPr>
          <p:spPr bwMode="auto">
            <a:xfrm>
              <a:off x="4032" y="528"/>
              <a:ext cx="864" cy="288"/>
            </a:xfrm>
            <a:prstGeom prst="flowChartAlternateProcess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15" name="Oval 7"/>
            <p:cNvSpPr>
              <a:spLocks noChangeArrowheads="1"/>
            </p:cNvSpPr>
            <p:nvPr/>
          </p:nvSpPr>
          <p:spPr bwMode="auto">
            <a:xfrm>
              <a:off x="4320" y="624"/>
              <a:ext cx="240" cy="96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8616" name="Group 8"/>
          <p:cNvGrpSpPr>
            <a:grpSpLocks/>
          </p:cNvGrpSpPr>
          <p:nvPr/>
        </p:nvGrpSpPr>
        <p:grpSpPr bwMode="auto">
          <a:xfrm>
            <a:off x="1752602" y="304800"/>
            <a:ext cx="1371600" cy="457200"/>
            <a:chOff x="4032" y="528"/>
            <a:chExt cx="864" cy="288"/>
          </a:xfrm>
        </p:grpSpPr>
        <p:sp>
          <p:nvSpPr>
            <p:cNvPr id="68617" name="AutoShape 9"/>
            <p:cNvSpPr>
              <a:spLocks noChangeArrowheads="1"/>
            </p:cNvSpPr>
            <p:nvPr/>
          </p:nvSpPr>
          <p:spPr bwMode="auto">
            <a:xfrm>
              <a:off x="4032" y="528"/>
              <a:ext cx="864" cy="288"/>
            </a:xfrm>
            <a:prstGeom prst="flowChartAlternateProcess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18" name="Oval 10"/>
            <p:cNvSpPr>
              <a:spLocks noChangeArrowheads="1"/>
            </p:cNvSpPr>
            <p:nvPr/>
          </p:nvSpPr>
          <p:spPr bwMode="auto">
            <a:xfrm>
              <a:off x="4320" y="624"/>
              <a:ext cx="240" cy="96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8619" name="Rectangle 11"/>
          <p:cNvSpPr>
            <a:spLocks noChangeArrowheads="1"/>
          </p:cNvSpPr>
          <p:nvPr/>
        </p:nvSpPr>
        <p:spPr bwMode="auto">
          <a:xfrm>
            <a:off x="3810001" y="76200"/>
            <a:ext cx="3810000" cy="152400"/>
          </a:xfrm>
          <a:prstGeom prst="rect">
            <a:avLst/>
          </a:prstGeom>
          <a:pattFill prst="wdDnDiag">
            <a:fgClr>
              <a:schemeClr val="tx2"/>
            </a:fgClr>
            <a:bgClr>
              <a:srgbClr val="000000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20" name="Rectangle 12"/>
          <p:cNvSpPr>
            <a:spLocks noChangeArrowheads="1"/>
          </p:cNvSpPr>
          <p:nvPr/>
        </p:nvSpPr>
        <p:spPr bwMode="auto">
          <a:xfrm>
            <a:off x="1524000" y="76200"/>
            <a:ext cx="2057401" cy="152400"/>
          </a:xfrm>
          <a:prstGeom prst="rect">
            <a:avLst/>
          </a:prstGeom>
          <a:pattFill prst="wdDnDiag">
            <a:fgClr>
              <a:schemeClr val="tx2"/>
            </a:fgClr>
            <a:bgClr>
              <a:srgbClr val="000000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21" name="AutoShape 13"/>
          <p:cNvSpPr>
            <a:spLocks noChangeArrowheads="1"/>
          </p:cNvSpPr>
          <p:nvPr/>
        </p:nvSpPr>
        <p:spPr bwMode="auto">
          <a:xfrm>
            <a:off x="3352800" y="228600"/>
            <a:ext cx="1143001" cy="990600"/>
          </a:xfrm>
          <a:custGeom>
            <a:avLst/>
            <a:gdLst>
              <a:gd name="G0" fmla="+- 38726 0 0"/>
              <a:gd name="G1" fmla="+- 11340810 0 0"/>
              <a:gd name="G2" fmla="+- 38726 0 11340810"/>
              <a:gd name="G3" fmla="+- 10800 0 0"/>
              <a:gd name="G4" fmla="+- 0 0 38726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10800 0 0"/>
              <a:gd name="G9" fmla="+- 0 0 11340810"/>
              <a:gd name="G10" fmla="+- 10800 0 2700"/>
              <a:gd name="G11" fmla="cos G10 38726"/>
              <a:gd name="G12" fmla="sin G10 38726"/>
              <a:gd name="G13" fmla="cos 13500 38726"/>
              <a:gd name="G14" fmla="sin 13500 38726"/>
              <a:gd name="G15" fmla="+- G11 10800 0"/>
              <a:gd name="G16" fmla="+- G12 10800 0"/>
              <a:gd name="G17" fmla="+- G13 10800 0"/>
              <a:gd name="G18" fmla="+- G14 10800 0"/>
              <a:gd name="G19" fmla="*/ 10800 1 2"/>
              <a:gd name="G20" fmla="+- G19 5400 0"/>
              <a:gd name="G21" fmla="cos G20 38726"/>
              <a:gd name="G22" fmla="sin G20 38726"/>
              <a:gd name="G23" fmla="+- G21 10800 0"/>
              <a:gd name="G24" fmla="+- G12 G23 G22"/>
              <a:gd name="G25" fmla="+- G22 G23 G11"/>
              <a:gd name="G26" fmla="cos 10800 38726"/>
              <a:gd name="G27" fmla="sin 10800 38726"/>
              <a:gd name="G28" fmla="cos 10800 38726"/>
              <a:gd name="G29" fmla="sin 10800 38726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11340810"/>
              <a:gd name="G36" fmla="sin G34 11340810"/>
              <a:gd name="G37" fmla="+/ 11340810 38726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10800 G39"/>
              <a:gd name="G43" fmla="sin 108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200 w 21600"/>
              <a:gd name="T5" fmla="*/ 16 h 21600"/>
              <a:gd name="T6" fmla="*/ 79 w 21600"/>
              <a:gd name="T7" fmla="*/ 12107 h 21600"/>
              <a:gd name="T8" fmla="*/ 10200 w 21600"/>
              <a:gd name="T9" fmla="*/ 16 h 21600"/>
              <a:gd name="T10" fmla="*/ 24299 w 21600"/>
              <a:gd name="T11" fmla="*/ 10939 h 21600"/>
              <a:gd name="T12" fmla="*/ 21571 w 21600"/>
              <a:gd name="T13" fmla="*/ 13611 h 21600"/>
              <a:gd name="T14" fmla="*/ 18899 w 21600"/>
              <a:gd name="T15" fmla="*/ 1088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1599" y="10911"/>
                </a:moveTo>
                <a:cubicBezTo>
                  <a:pt x="21599" y="10874"/>
                  <a:pt x="21600" y="10837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1237"/>
                  <a:pt x="26" y="11673"/>
                  <a:pt x="79" y="12107"/>
                </a:cubicBezTo>
                <a:cubicBezTo>
                  <a:pt x="26" y="11673"/>
                  <a:pt x="0" y="11237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0837"/>
                  <a:pt x="21599" y="10874"/>
                  <a:pt x="21599" y="10911"/>
                </a:cubicBezTo>
                <a:lnTo>
                  <a:pt x="24299" y="10939"/>
                </a:lnTo>
                <a:lnTo>
                  <a:pt x="21571" y="13611"/>
                </a:lnTo>
                <a:lnTo>
                  <a:pt x="18899" y="10883"/>
                </a:lnTo>
                <a:lnTo>
                  <a:pt x="21599" y="109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22" name="Rectangle 14"/>
          <p:cNvSpPr>
            <a:spLocks noChangeArrowheads="1"/>
          </p:cNvSpPr>
          <p:nvPr/>
        </p:nvSpPr>
        <p:spPr bwMode="auto">
          <a:xfrm>
            <a:off x="2971801" y="700088"/>
            <a:ext cx="4667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XII</a:t>
            </a:r>
          </a:p>
        </p:txBody>
      </p:sp>
      <p:sp>
        <p:nvSpPr>
          <p:cNvPr id="68623" name="Rectangle 15"/>
          <p:cNvSpPr>
            <a:spLocks noChangeArrowheads="1"/>
          </p:cNvSpPr>
          <p:nvPr/>
        </p:nvSpPr>
        <p:spPr bwMode="auto">
          <a:xfrm>
            <a:off x="4267201" y="838200"/>
            <a:ext cx="5950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XIIa</a:t>
            </a:r>
          </a:p>
        </p:txBody>
      </p:sp>
      <p:sp>
        <p:nvSpPr>
          <p:cNvPr id="68624" name="AutoShape 16"/>
          <p:cNvSpPr>
            <a:spLocks noChangeArrowheads="1"/>
          </p:cNvSpPr>
          <p:nvPr/>
        </p:nvSpPr>
        <p:spPr bwMode="auto">
          <a:xfrm>
            <a:off x="4038601" y="1219200"/>
            <a:ext cx="1524000" cy="1066800"/>
          </a:xfrm>
          <a:custGeom>
            <a:avLst/>
            <a:gdLst>
              <a:gd name="G0" fmla="+- 38726 0 0"/>
              <a:gd name="G1" fmla="+- 11340810 0 0"/>
              <a:gd name="G2" fmla="+- 38726 0 11340810"/>
              <a:gd name="G3" fmla="+- 10800 0 0"/>
              <a:gd name="G4" fmla="+- 0 0 38726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10800 0 0"/>
              <a:gd name="G9" fmla="+- 0 0 11340810"/>
              <a:gd name="G10" fmla="+- 10800 0 2700"/>
              <a:gd name="G11" fmla="cos G10 38726"/>
              <a:gd name="G12" fmla="sin G10 38726"/>
              <a:gd name="G13" fmla="cos 13500 38726"/>
              <a:gd name="G14" fmla="sin 13500 38726"/>
              <a:gd name="G15" fmla="+- G11 10800 0"/>
              <a:gd name="G16" fmla="+- G12 10800 0"/>
              <a:gd name="G17" fmla="+- G13 10800 0"/>
              <a:gd name="G18" fmla="+- G14 10800 0"/>
              <a:gd name="G19" fmla="*/ 10800 1 2"/>
              <a:gd name="G20" fmla="+- G19 5400 0"/>
              <a:gd name="G21" fmla="cos G20 38726"/>
              <a:gd name="G22" fmla="sin G20 38726"/>
              <a:gd name="G23" fmla="+- G21 10800 0"/>
              <a:gd name="G24" fmla="+- G12 G23 G22"/>
              <a:gd name="G25" fmla="+- G22 G23 G11"/>
              <a:gd name="G26" fmla="cos 10800 38726"/>
              <a:gd name="G27" fmla="sin 10800 38726"/>
              <a:gd name="G28" fmla="cos 10800 38726"/>
              <a:gd name="G29" fmla="sin 10800 38726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11340810"/>
              <a:gd name="G36" fmla="sin G34 11340810"/>
              <a:gd name="G37" fmla="+/ 11340810 38726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10800 G39"/>
              <a:gd name="G43" fmla="sin 108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200 w 21600"/>
              <a:gd name="T5" fmla="*/ 16 h 21600"/>
              <a:gd name="T6" fmla="*/ 79 w 21600"/>
              <a:gd name="T7" fmla="*/ 12107 h 21600"/>
              <a:gd name="T8" fmla="*/ 10200 w 21600"/>
              <a:gd name="T9" fmla="*/ 16 h 21600"/>
              <a:gd name="T10" fmla="*/ 24299 w 21600"/>
              <a:gd name="T11" fmla="*/ 10939 h 21600"/>
              <a:gd name="T12" fmla="*/ 21571 w 21600"/>
              <a:gd name="T13" fmla="*/ 13611 h 21600"/>
              <a:gd name="T14" fmla="*/ 18899 w 21600"/>
              <a:gd name="T15" fmla="*/ 1088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1599" y="10911"/>
                </a:moveTo>
                <a:cubicBezTo>
                  <a:pt x="21599" y="10874"/>
                  <a:pt x="21600" y="10837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1237"/>
                  <a:pt x="26" y="11673"/>
                  <a:pt x="79" y="12107"/>
                </a:cubicBezTo>
                <a:cubicBezTo>
                  <a:pt x="26" y="11673"/>
                  <a:pt x="0" y="11237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0837"/>
                  <a:pt x="21599" y="10874"/>
                  <a:pt x="21599" y="10911"/>
                </a:cubicBezTo>
                <a:lnTo>
                  <a:pt x="24299" y="10939"/>
                </a:lnTo>
                <a:lnTo>
                  <a:pt x="21571" y="13611"/>
                </a:lnTo>
                <a:lnTo>
                  <a:pt x="18899" y="10883"/>
                </a:lnTo>
                <a:lnTo>
                  <a:pt x="21599" y="109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25" name="Rectangle 17"/>
          <p:cNvSpPr>
            <a:spLocks noChangeArrowheads="1"/>
          </p:cNvSpPr>
          <p:nvPr/>
        </p:nvSpPr>
        <p:spPr bwMode="auto">
          <a:xfrm>
            <a:off x="3810000" y="1752600"/>
            <a:ext cx="4667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 XI</a:t>
            </a:r>
          </a:p>
        </p:txBody>
      </p:sp>
      <p:sp>
        <p:nvSpPr>
          <p:cNvPr id="68626" name="Rectangle 18"/>
          <p:cNvSpPr>
            <a:spLocks noChangeArrowheads="1"/>
          </p:cNvSpPr>
          <p:nvPr/>
        </p:nvSpPr>
        <p:spPr bwMode="auto">
          <a:xfrm>
            <a:off x="5257800" y="1828800"/>
            <a:ext cx="5950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 XIa</a:t>
            </a:r>
          </a:p>
        </p:txBody>
      </p:sp>
      <p:sp>
        <p:nvSpPr>
          <p:cNvPr id="68627" name="Rectangle 19"/>
          <p:cNvSpPr>
            <a:spLocks noChangeArrowheads="1"/>
          </p:cNvSpPr>
          <p:nvPr/>
        </p:nvSpPr>
        <p:spPr bwMode="auto">
          <a:xfrm>
            <a:off x="4800599" y="2590800"/>
            <a:ext cx="4026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IX</a:t>
            </a:r>
          </a:p>
        </p:txBody>
      </p:sp>
      <p:sp>
        <p:nvSpPr>
          <p:cNvPr id="68628" name="AutoShape 20"/>
          <p:cNvSpPr>
            <a:spLocks noChangeArrowheads="1"/>
          </p:cNvSpPr>
          <p:nvPr/>
        </p:nvSpPr>
        <p:spPr bwMode="auto">
          <a:xfrm>
            <a:off x="4953001" y="2133600"/>
            <a:ext cx="1524000" cy="914400"/>
          </a:xfrm>
          <a:custGeom>
            <a:avLst/>
            <a:gdLst>
              <a:gd name="G0" fmla="+- 38726 0 0"/>
              <a:gd name="G1" fmla="+- 11340810 0 0"/>
              <a:gd name="G2" fmla="+- 38726 0 11340810"/>
              <a:gd name="G3" fmla="+- 10800 0 0"/>
              <a:gd name="G4" fmla="+- 0 0 38726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10800 0 0"/>
              <a:gd name="G9" fmla="+- 0 0 11340810"/>
              <a:gd name="G10" fmla="+- 10800 0 2700"/>
              <a:gd name="G11" fmla="cos G10 38726"/>
              <a:gd name="G12" fmla="sin G10 38726"/>
              <a:gd name="G13" fmla="cos 13500 38726"/>
              <a:gd name="G14" fmla="sin 13500 38726"/>
              <a:gd name="G15" fmla="+- G11 10800 0"/>
              <a:gd name="G16" fmla="+- G12 10800 0"/>
              <a:gd name="G17" fmla="+- G13 10800 0"/>
              <a:gd name="G18" fmla="+- G14 10800 0"/>
              <a:gd name="G19" fmla="*/ 10800 1 2"/>
              <a:gd name="G20" fmla="+- G19 5400 0"/>
              <a:gd name="G21" fmla="cos G20 38726"/>
              <a:gd name="G22" fmla="sin G20 38726"/>
              <a:gd name="G23" fmla="+- G21 10800 0"/>
              <a:gd name="G24" fmla="+- G12 G23 G22"/>
              <a:gd name="G25" fmla="+- G22 G23 G11"/>
              <a:gd name="G26" fmla="cos 10800 38726"/>
              <a:gd name="G27" fmla="sin 10800 38726"/>
              <a:gd name="G28" fmla="cos 10800 38726"/>
              <a:gd name="G29" fmla="sin 10800 38726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11340810"/>
              <a:gd name="G36" fmla="sin G34 11340810"/>
              <a:gd name="G37" fmla="+/ 11340810 38726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10800 G39"/>
              <a:gd name="G43" fmla="sin 108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200 w 21600"/>
              <a:gd name="T5" fmla="*/ 16 h 21600"/>
              <a:gd name="T6" fmla="*/ 79 w 21600"/>
              <a:gd name="T7" fmla="*/ 12107 h 21600"/>
              <a:gd name="T8" fmla="*/ 10200 w 21600"/>
              <a:gd name="T9" fmla="*/ 16 h 21600"/>
              <a:gd name="T10" fmla="*/ 24299 w 21600"/>
              <a:gd name="T11" fmla="*/ 10939 h 21600"/>
              <a:gd name="T12" fmla="*/ 21571 w 21600"/>
              <a:gd name="T13" fmla="*/ 13611 h 21600"/>
              <a:gd name="T14" fmla="*/ 18899 w 21600"/>
              <a:gd name="T15" fmla="*/ 1088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1599" y="10911"/>
                </a:moveTo>
                <a:cubicBezTo>
                  <a:pt x="21599" y="10874"/>
                  <a:pt x="21600" y="10837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1237"/>
                  <a:pt x="26" y="11673"/>
                  <a:pt x="79" y="12107"/>
                </a:cubicBezTo>
                <a:cubicBezTo>
                  <a:pt x="26" y="11673"/>
                  <a:pt x="0" y="11237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0837"/>
                  <a:pt x="21599" y="10874"/>
                  <a:pt x="21599" y="10911"/>
                </a:cubicBezTo>
                <a:lnTo>
                  <a:pt x="24299" y="10939"/>
                </a:lnTo>
                <a:lnTo>
                  <a:pt x="21571" y="13611"/>
                </a:lnTo>
                <a:lnTo>
                  <a:pt x="18899" y="10883"/>
                </a:lnTo>
                <a:lnTo>
                  <a:pt x="21599" y="109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29" name="Rectangle 21"/>
          <p:cNvSpPr>
            <a:spLocks noChangeArrowheads="1"/>
          </p:cNvSpPr>
          <p:nvPr/>
        </p:nvSpPr>
        <p:spPr bwMode="auto">
          <a:xfrm>
            <a:off x="6324602" y="2681288"/>
            <a:ext cx="5309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IXa</a:t>
            </a:r>
          </a:p>
        </p:txBody>
      </p:sp>
      <p:sp>
        <p:nvSpPr>
          <p:cNvPr id="68630" name="Rectangle 22"/>
          <p:cNvSpPr>
            <a:spLocks noChangeArrowheads="1"/>
          </p:cNvSpPr>
          <p:nvPr/>
        </p:nvSpPr>
        <p:spPr bwMode="auto">
          <a:xfrm>
            <a:off x="5410201" y="3581401"/>
            <a:ext cx="4267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/>
              <a:t> X</a:t>
            </a:r>
          </a:p>
        </p:txBody>
      </p:sp>
      <p:sp>
        <p:nvSpPr>
          <p:cNvPr id="68631" name="AutoShape 23"/>
          <p:cNvSpPr>
            <a:spLocks noChangeArrowheads="1"/>
          </p:cNvSpPr>
          <p:nvPr/>
        </p:nvSpPr>
        <p:spPr bwMode="auto">
          <a:xfrm>
            <a:off x="5486400" y="3048001"/>
            <a:ext cx="2133600" cy="990600"/>
          </a:xfrm>
          <a:custGeom>
            <a:avLst/>
            <a:gdLst>
              <a:gd name="G0" fmla="+- 38726 0 0"/>
              <a:gd name="G1" fmla="+- 11340810 0 0"/>
              <a:gd name="G2" fmla="+- 38726 0 11340810"/>
              <a:gd name="G3" fmla="+- 10800 0 0"/>
              <a:gd name="G4" fmla="+- 0 0 38726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10800 0 0"/>
              <a:gd name="G9" fmla="+- 0 0 11340810"/>
              <a:gd name="G10" fmla="+- 10800 0 2700"/>
              <a:gd name="G11" fmla="cos G10 38726"/>
              <a:gd name="G12" fmla="sin G10 38726"/>
              <a:gd name="G13" fmla="cos 13500 38726"/>
              <a:gd name="G14" fmla="sin 13500 38726"/>
              <a:gd name="G15" fmla="+- G11 10800 0"/>
              <a:gd name="G16" fmla="+- G12 10800 0"/>
              <a:gd name="G17" fmla="+- G13 10800 0"/>
              <a:gd name="G18" fmla="+- G14 10800 0"/>
              <a:gd name="G19" fmla="*/ 10800 1 2"/>
              <a:gd name="G20" fmla="+- G19 5400 0"/>
              <a:gd name="G21" fmla="cos G20 38726"/>
              <a:gd name="G22" fmla="sin G20 38726"/>
              <a:gd name="G23" fmla="+- G21 10800 0"/>
              <a:gd name="G24" fmla="+- G12 G23 G22"/>
              <a:gd name="G25" fmla="+- G22 G23 G11"/>
              <a:gd name="G26" fmla="cos 10800 38726"/>
              <a:gd name="G27" fmla="sin 10800 38726"/>
              <a:gd name="G28" fmla="cos 10800 38726"/>
              <a:gd name="G29" fmla="sin 10800 38726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11340810"/>
              <a:gd name="G36" fmla="sin G34 11340810"/>
              <a:gd name="G37" fmla="+/ 11340810 38726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10800 G39"/>
              <a:gd name="G43" fmla="sin 108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200 w 21600"/>
              <a:gd name="T5" fmla="*/ 16 h 21600"/>
              <a:gd name="T6" fmla="*/ 79 w 21600"/>
              <a:gd name="T7" fmla="*/ 12107 h 21600"/>
              <a:gd name="T8" fmla="*/ 10200 w 21600"/>
              <a:gd name="T9" fmla="*/ 16 h 21600"/>
              <a:gd name="T10" fmla="*/ 24299 w 21600"/>
              <a:gd name="T11" fmla="*/ 10939 h 21600"/>
              <a:gd name="T12" fmla="*/ 21571 w 21600"/>
              <a:gd name="T13" fmla="*/ 13611 h 21600"/>
              <a:gd name="T14" fmla="*/ 18899 w 21600"/>
              <a:gd name="T15" fmla="*/ 1088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1599" y="10911"/>
                </a:moveTo>
                <a:cubicBezTo>
                  <a:pt x="21599" y="10874"/>
                  <a:pt x="21600" y="10837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1237"/>
                  <a:pt x="26" y="11673"/>
                  <a:pt x="79" y="12107"/>
                </a:cubicBezTo>
                <a:cubicBezTo>
                  <a:pt x="26" y="11673"/>
                  <a:pt x="0" y="11237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0837"/>
                  <a:pt x="21599" y="10874"/>
                  <a:pt x="21599" y="10911"/>
                </a:cubicBezTo>
                <a:lnTo>
                  <a:pt x="24299" y="10939"/>
                </a:lnTo>
                <a:lnTo>
                  <a:pt x="21571" y="13611"/>
                </a:lnTo>
                <a:lnTo>
                  <a:pt x="18899" y="10883"/>
                </a:lnTo>
                <a:lnTo>
                  <a:pt x="21599" y="109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32" name="Rectangle 24"/>
          <p:cNvSpPr>
            <a:spLocks noChangeArrowheads="1"/>
          </p:cNvSpPr>
          <p:nvPr/>
        </p:nvSpPr>
        <p:spPr bwMode="auto">
          <a:xfrm>
            <a:off x="7543802" y="3657600"/>
            <a:ext cx="5693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/>
              <a:t> Xa</a:t>
            </a:r>
          </a:p>
        </p:txBody>
      </p:sp>
      <p:sp>
        <p:nvSpPr>
          <p:cNvPr id="68633" name="Rectangle 25"/>
          <p:cNvSpPr>
            <a:spLocks noChangeArrowheads="1"/>
          </p:cNvSpPr>
          <p:nvPr/>
        </p:nvSpPr>
        <p:spPr bwMode="auto">
          <a:xfrm>
            <a:off x="6096001" y="3124202"/>
            <a:ext cx="6858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/>
              <a:t>VIII</a:t>
            </a:r>
          </a:p>
        </p:txBody>
      </p:sp>
      <p:sp>
        <p:nvSpPr>
          <p:cNvPr id="68634" name="Rectangle 26"/>
          <p:cNvSpPr>
            <a:spLocks noChangeArrowheads="1"/>
          </p:cNvSpPr>
          <p:nvPr/>
        </p:nvSpPr>
        <p:spPr bwMode="auto">
          <a:xfrm>
            <a:off x="6251652" y="3429000"/>
            <a:ext cx="60785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b="1"/>
              <a:t>PF3</a:t>
            </a:r>
          </a:p>
        </p:txBody>
      </p:sp>
      <p:sp>
        <p:nvSpPr>
          <p:cNvPr id="68635" name="Rectangle 27"/>
          <p:cNvSpPr>
            <a:spLocks noChangeArrowheads="1"/>
          </p:cNvSpPr>
          <p:nvPr/>
        </p:nvSpPr>
        <p:spPr bwMode="auto">
          <a:xfrm>
            <a:off x="6172202" y="3733801"/>
            <a:ext cx="7425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Ca+2</a:t>
            </a:r>
          </a:p>
        </p:txBody>
      </p:sp>
      <p:sp>
        <p:nvSpPr>
          <p:cNvPr id="68636" name="Rectangle 28"/>
          <p:cNvSpPr>
            <a:spLocks noChangeArrowheads="1"/>
          </p:cNvSpPr>
          <p:nvPr/>
        </p:nvSpPr>
        <p:spPr bwMode="auto">
          <a:xfrm>
            <a:off x="7467600" y="4419600"/>
            <a:ext cx="4026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 V</a:t>
            </a:r>
          </a:p>
        </p:txBody>
      </p:sp>
      <p:sp>
        <p:nvSpPr>
          <p:cNvPr id="68637" name="Rectangle 29"/>
          <p:cNvSpPr>
            <a:spLocks noChangeArrowheads="1"/>
          </p:cNvSpPr>
          <p:nvPr/>
        </p:nvSpPr>
        <p:spPr bwMode="auto">
          <a:xfrm>
            <a:off x="7315201" y="4114800"/>
            <a:ext cx="60785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PF3</a:t>
            </a:r>
          </a:p>
        </p:txBody>
      </p:sp>
      <p:sp>
        <p:nvSpPr>
          <p:cNvPr id="68638" name="Rectangle 30"/>
          <p:cNvSpPr>
            <a:spLocks noChangeArrowheads="1"/>
          </p:cNvSpPr>
          <p:nvPr/>
        </p:nvSpPr>
        <p:spPr bwMode="auto">
          <a:xfrm>
            <a:off x="7162801" y="4648201"/>
            <a:ext cx="7425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Ca+2</a:t>
            </a:r>
          </a:p>
        </p:txBody>
      </p:sp>
      <p:sp>
        <p:nvSpPr>
          <p:cNvPr id="68639" name="AutoShape 31"/>
          <p:cNvSpPr>
            <a:spLocks noChangeArrowheads="1"/>
          </p:cNvSpPr>
          <p:nvPr/>
        </p:nvSpPr>
        <p:spPr bwMode="auto">
          <a:xfrm>
            <a:off x="6705600" y="4038600"/>
            <a:ext cx="2133600" cy="990600"/>
          </a:xfrm>
          <a:custGeom>
            <a:avLst/>
            <a:gdLst>
              <a:gd name="G0" fmla="+- 38726 0 0"/>
              <a:gd name="G1" fmla="+- 11340810 0 0"/>
              <a:gd name="G2" fmla="+- 38726 0 11340810"/>
              <a:gd name="G3" fmla="+- 10800 0 0"/>
              <a:gd name="G4" fmla="+- 0 0 38726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10800 0 0"/>
              <a:gd name="G9" fmla="+- 0 0 11340810"/>
              <a:gd name="G10" fmla="+- 10800 0 2700"/>
              <a:gd name="G11" fmla="cos G10 38726"/>
              <a:gd name="G12" fmla="sin G10 38726"/>
              <a:gd name="G13" fmla="cos 13500 38726"/>
              <a:gd name="G14" fmla="sin 13500 38726"/>
              <a:gd name="G15" fmla="+- G11 10800 0"/>
              <a:gd name="G16" fmla="+- G12 10800 0"/>
              <a:gd name="G17" fmla="+- G13 10800 0"/>
              <a:gd name="G18" fmla="+- G14 10800 0"/>
              <a:gd name="G19" fmla="*/ 10800 1 2"/>
              <a:gd name="G20" fmla="+- G19 5400 0"/>
              <a:gd name="G21" fmla="cos G20 38726"/>
              <a:gd name="G22" fmla="sin G20 38726"/>
              <a:gd name="G23" fmla="+- G21 10800 0"/>
              <a:gd name="G24" fmla="+- G12 G23 G22"/>
              <a:gd name="G25" fmla="+- G22 G23 G11"/>
              <a:gd name="G26" fmla="cos 10800 38726"/>
              <a:gd name="G27" fmla="sin 10800 38726"/>
              <a:gd name="G28" fmla="cos 10800 38726"/>
              <a:gd name="G29" fmla="sin 10800 38726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11340810"/>
              <a:gd name="G36" fmla="sin G34 11340810"/>
              <a:gd name="G37" fmla="+/ 11340810 38726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10800 G39"/>
              <a:gd name="G43" fmla="sin 108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200 w 21600"/>
              <a:gd name="T5" fmla="*/ 16 h 21600"/>
              <a:gd name="T6" fmla="*/ 79 w 21600"/>
              <a:gd name="T7" fmla="*/ 12107 h 21600"/>
              <a:gd name="T8" fmla="*/ 10200 w 21600"/>
              <a:gd name="T9" fmla="*/ 16 h 21600"/>
              <a:gd name="T10" fmla="*/ 24299 w 21600"/>
              <a:gd name="T11" fmla="*/ 10939 h 21600"/>
              <a:gd name="T12" fmla="*/ 21571 w 21600"/>
              <a:gd name="T13" fmla="*/ 13611 h 21600"/>
              <a:gd name="T14" fmla="*/ 18899 w 21600"/>
              <a:gd name="T15" fmla="*/ 1088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1599" y="10911"/>
                </a:moveTo>
                <a:cubicBezTo>
                  <a:pt x="21599" y="10874"/>
                  <a:pt x="21600" y="10837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1237"/>
                  <a:pt x="26" y="11673"/>
                  <a:pt x="79" y="12107"/>
                </a:cubicBezTo>
                <a:cubicBezTo>
                  <a:pt x="26" y="11673"/>
                  <a:pt x="0" y="11237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0837"/>
                  <a:pt x="21599" y="10874"/>
                  <a:pt x="21599" y="10911"/>
                </a:cubicBezTo>
                <a:lnTo>
                  <a:pt x="24299" y="10939"/>
                </a:lnTo>
                <a:lnTo>
                  <a:pt x="21571" y="13611"/>
                </a:lnTo>
                <a:lnTo>
                  <a:pt x="18899" y="10883"/>
                </a:lnTo>
                <a:lnTo>
                  <a:pt x="21599" y="109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40" name="Rectangle 32"/>
          <p:cNvSpPr>
            <a:spLocks noChangeArrowheads="1"/>
          </p:cNvSpPr>
          <p:nvPr/>
        </p:nvSpPr>
        <p:spPr bwMode="auto">
          <a:xfrm>
            <a:off x="5438775" y="4724400"/>
            <a:ext cx="15568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prothrombin</a:t>
            </a:r>
          </a:p>
        </p:txBody>
      </p:sp>
      <p:sp>
        <p:nvSpPr>
          <p:cNvPr id="68641" name="Rectangle 33"/>
          <p:cNvSpPr>
            <a:spLocks noChangeArrowheads="1"/>
          </p:cNvSpPr>
          <p:nvPr/>
        </p:nvSpPr>
        <p:spPr bwMode="auto">
          <a:xfrm>
            <a:off x="8305799" y="4572000"/>
            <a:ext cx="11849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thrombin</a:t>
            </a:r>
          </a:p>
        </p:txBody>
      </p:sp>
      <p:sp>
        <p:nvSpPr>
          <p:cNvPr id="68642" name="Rectangle 34"/>
          <p:cNvSpPr>
            <a:spLocks noChangeArrowheads="1"/>
          </p:cNvSpPr>
          <p:nvPr/>
        </p:nvSpPr>
        <p:spPr bwMode="auto">
          <a:xfrm>
            <a:off x="7070725" y="5486400"/>
            <a:ext cx="13131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fibrinogen</a:t>
            </a:r>
          </a:p>
        </p:txBody>
      </p:sp>
      <p:sp>
        <p:nvSpPr>
          <p:cNvPr id="68643" name="AutoShape 35"/>
          <p:cNvSpPr>
            <a:spLocks noChangeArrowheads="1"/>
          </p:cNvSpPr>
          <p:nvPr/>
        </p:nvSpPr>
        <p:spPr bwMode="auto">
          <a:xfrm>
            <a:off x="7848601" y="4876801"/>
            <a:ext cx="2133600" cy="990600"/>
          </a:xfrm>
          <a:custGeom>
            <a:avLst/>
            <a:gdLst>
              <a:gd name="G0" fmla="+- 38726 0 0"/>
              <a:gd name="G1" fmla="+- 11340810 0 0"/>
              <a:gd name="G2" fmla="+- 38726 0 11340810"/>
              <a:gd name="G3" fmla="+- 10800 0 0"/>
              <a:gd name="G4" fmla="+- 0 0 38726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10800 0 0"/>
              <a:gd name="G9" fmla="+- 0 0 11340810"/>
              <a:gd name="G10" fmla="+- 10800 0 2700"/>
              <a:gd name="G11" fmla="cos G10 38726"/>
              <a:gd name="G12" fmla="sin G10 38726"/>
              <a:gd name="G13" fmla="cos 13500 38726"/>
              <a:gd name="G14" fmla="sin 13500 38726"/>
              <a:gd name="G15" fmla="+- G11 10800 0"/>
              <a:gd name="G16" fmla="+- G12 10800 0"/>
              <a:gd name="G17" fmla="+- G13 10800 0"/>
              <a:gd name="G18" fmla="+- G14 10800 0"/>
              <a:gd name="G19" fmla="*/ 10800 1 2"/>
              <a:gd name="G20" fmla="+- G19 5400 0"/>
              <a:gd name="G21" fmla="cos G20 38726"/>
              <a:gd name="G22" fmla="sin G20 38726"/>
              <a:gd name="G23" fmla="+- G21 10800 0"/>
              <a:gd name="G24" fmla="+- G12 G23 G22"/>
              <a:gd name="G25" fmla="+- G22 G23 G11"/>
              <a:gd name="G26" fmla="cos 10800 38726"/>
              <a:gd name="G27" fmla="sin 10800 38726"/>
              <a:gd name="G28" fmla="cos 10800 38726"/>
              <a:gd name="G29" fmla="sin 10800 38726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11340810"/>
              <a:gd name="G36" fmla="sin G34 11340810"/>
              <a:gd name="G37" fmla="+/ 11340810 38726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10800 G39"/>
              <a:gd name="G43" fmla="sin 108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200 w 21600"/>
              <a:gd name="T5" fmla="*/ 16 h 21600"/>
              <a:gd name="T6" fmla="*/ 79 w 21600"/>
              <a:gd name="T7" fmla="*/ 12107 h 21600"/>
              <a:gd name="T8" fmla="*/ 10200 w 21600"/>
              <a:gd name="T9" fmla="*/ 16 h 21600"/>
              <a:gd name="T10" fmla="*/ 24299 w 21600"/>
              <a:gd name="T11" fmla="*/ 10939 h 21600"/>
              <a:gd name="T12" fmla="*/ 21571 w 21600"/>
              <a:gd name="T13" fmla="*/ 13611 h 21600"/>
              <a:gd name="T14" fmla="*/ 18899 w 21600"/>
              <a:gd name="T15" fmla="*/ 1088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1599" y="10911"/>
                </a:moveTo>
                <a:cubicBezTo>
                  <a:pt x="21599" y="10874"/>
                  <a:pt x="21600" y="10837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1237"/>
                  <a:pt x="26" y="11673"/>
                  <a:pt x="79" y="12107"/>
                </a:cubicBezTo>
                <a:cubicBezTo>
                  <a:pt x="26" y="11673"/>
                  <a:pt x="0" y="11237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0837"/>
                  <a:pt x="21599" y="10874"/>
                  <a:pt x="21599" y="10911"/>
                </a:cubicBezTo>
                <a:lnTo>
                  <a:pt x="24299" y="10939"/>
                </a:lnTo>
                <a:lnTo>
                  <a:pt x="21571" y="13611"/>
                </a:lnTo>
                <a:lnTo>
                  <a:pt x="18899" y="10883"/>
                </a:lnTo>
                <a:lnTo>
                  <a:pt x="21599" y="109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44" name="Rectangle 36"/>
          <p:cNvSpPr>
            <a:spLocks noChangeArrowheads="1"/>
          </p:cNvSpPr>
          <p:nvPr/>
        </p:nvSpPr>
        <p:spPr bwMode="auto">
          <a:xfrm>
            <a:off x="8686801" y="5562601"/>
            <a:ext cx="1981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b="1"/>
              <a:t>Loose fibrin</a:t>
            </a:r>
          </a:p>
        </p:txBody>
      </p:sp>
      <p:sp>
        <p:nvSpPr>
          <p:cNvPr id="68645" name="Rectangle 37"/>
          <p:cNvSpPr>
            <a:spLocks noChangeArrowheads="1"/>
          </p:cNvSpPr>
          <p:nvPr/>
        </p:nvSpPr>
        <p:spPr bwMode="auto">
          <a:xfrm>
            <a:off x="3733799" y="6262688"/>
            <a:ext cx="2362201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b="1"/>
              <a:t>Stabilized fibrin</a:t>
            </a:r>
          </a:p>
        </p:txBody>
      </p:sp>
      <p:sp>
        <p:nvSpPr>
          <p:cNvPr id="68646" name="AutoShape 38"/>
          <p:cNvSpPr>
            <a:spLocks noChangeArrowheads="1"/>
          </p:cNvSpPr>
          <p:nvPr/>
        </p:nvSpPr>
        <p:spPr bwMode="auto">
          <a:xfrm rot="4988169">
            <a:off x="7086600" y="4495800"/>
            <a:ext cx="685800" cy="3429001"/>
          </a:xfrm>
          <a:prstGeom prst="downArrow">
            <a:avLst>
              <a:gd name="adj1" fmla="val 0"/>
              <a:gd name="adj2" fmla="val 40579"/>
            </a:avLst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47" name="Rectangle 39"/>
          <p:cNvSpPr>
            <a:spLocks noChangeArrowheads="1"/>
          </p:cNvSpPr>
          <p:nvPr/>
        </p:nvSpPr>
        <p:spPr bwMode="auto">
          <a:xfrm>
            <a:off x="6705601" y="76200"/>
            <a:ext cx="3810000" cy="152400"/>
          </a:xfrm>
          <a:prstGeom prst="rect">
            <a:avLst/>
          </a:prstGeom>
          <a:pattFill prst="wdDnDiag">
            <a:fgClr>
              <a:schemeClr val="tx2"/>
            </a:fgClr>
            <a:bgClr>
              <a:srgbClr val="000000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8648" name="Group 40"/>
          <p:cNvGrpSpPr>
            <a:grpSpLocks/>
          </p:cNvGrpSpPr>
          <p:nvPr/>
        </p:nvGrpSpPr>
        <p:grpSpPr bwMode="auto">
          <a:xfrm>
            <a:off x="7696202" y="304800"/>
            <a:ext cx="1371600" cy="457200"/>
            <a:chOff x="4032" y="528"/>
            <a:chExt cx="864" cy="288"/>
          </a:xfrm>
        </p:grpSpPr>
        <p:sp>
          <p:nvSpPr>
            <p:cNvPr id="68649" name="AutoShape 41"/>
            <p:cNvSpPr>
              <a:spLocks noChangeArrowheads="1"/>
            </p:cNvSpPr>
            <p:nvPr/>
          </p:nvSpPr>
          <p:spPr bwMode="auto">
            <a:xfrm>
              <a:off x="4032" y="528"/>
              <a:ext cx="864" cy="288"/>
            </a:xfrm>
            <a:prstGeom prst="flowChartAlternateProcess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50" name="Oval 42"/>
            <p:cNvSpPr>
              <a:spLocks noChangeArrowheads="1"/>
            </p:cNvSpPr>
            <p:nvPr/>
          </p:nvSpPr>
          <p:spPr bwMode="auto">
            <a:xfrm>
              <a:off x="4320" y="624"/>
              <a:ext cx="240" cy="96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8651" name="Group 43"/>
          <p:cNvGrpSpPr>
            <a:grpSpLocks/>
          </p:cNvGrpSpPr>
          <p:nvPr/>
        </p:nvGrpSpPr>
        <p:grpSpPr bwMode="auto">
          <a:xfrm>
            <a:off x="9144001" y="304800"/>
            <a:ext cx="1371600" cy="457200"/>
            <a:chOff x="4032" y="528"/>
            <a:chExt cx="864" cy="288"/>
          </a:xfrm>
        </p:grpSpPr>
        <p:sp>
          <p:nvSpPr>
            <p:cNvPr id="68652" name="AutoShape 44"/>
            <p:cNvSpPr>
              <a:spLocks noChangeArrowheads="1"/>
            </p:cNvSpPr>
            <p:nvPr/>
          </p:nvSpPr>
          <p:spPr bwMode="auto">
            <a:xfrm>
              <a:off x="4032" y="528"/>
              <a:ext cx="864" cy="288"/>
            </a:xfrm>
            <a:prstGeom prst="flowChartAlternateProcess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53" name="Oval 45"/>
            <p:cNvSpPr>
              <a:spLocks noChangeArrowheads="1"/>
            </p:cNvSpPr>
            <p:nvPr/>
          </p:nvSpPr>
          <p:spPr bwMode="auto">
            <a:xfrm>
              <a:off x="4320" y="624"/>
              <a:ext cx="240" cy="96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8654" name="Rectangle 46"/>
          <p:cNvSpPr>
            <a:spLocks noChangeArrowheads="1"/>
          </p:cNvSpPr>
          <p:nvPr/>
        </p:nvSpPr>
        <p:spPr bwMode="auto">
          <a:xfrm>
            <a:off x="6553200" y="6248400"/>
            <a:ext cx="14991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XIII and Ca+</a:t>
            </a:r>
          </a:p>
        </p:txBody>
      </p:sp>
      <p:sp>
        <p:nvSpPr>
          <p:cNvPr id="68656" name="AutoShape 48"/>
          <p:cNvSpPr>
            <a:spLocks noChangeArrowheads="1"/>
          </p:cNvSpPr>
          <p:nvPr/>
        </p:nvSpPr>
        <p:spPr bwMode="auto">
          <a:xfrm rot="10800000">
            <a:off x="7010401" y="2362200"/>
            <a:ext cx="2895600" cy="1371600"/>
          </a:xfrm>
          <a:prstGeom prst="curvedUpArrow">
            <a:avLst>
              <a:gd name="adj1" fmla="val 1251"/>
              <a:gd name="adj2" fmla="val 83193"/>
              <a:gd name="adj3" fmla="val 22338"/>
            </a:avLst>
          </a:prstGeom>
          <a:ln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8657" name="AutoShape 49"/>
          <p:cNvSpPr>
            <a:spLocks noChangeArrowheads="1"/>
          </p:cNvSpPr>
          <p:nvPr/>
        </p:nvSpPr>
        <p:spPr bwMode="auto">
          <a:xfrm>
            <a:off x="8610602" y="1371600"/>
            <a:ext cx="152400" cy="838200"/>
          </a:xfrm>
          <a:prstGeom prst="downArrow">
            <a:avLst>
              <a:gd name="adj1" fmla="val 0"/>
              <a:gd name="adj2" fmla="val 44637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8659" name="Rectangle 51"/>
          <p:cNvSpPr>
            <a:spLocks noChangeArrowheads="1"/>
          </p:cNvSpPr>
          <p:nvPr/>
        </p:nvSpPr>
        <p:spPr bwMode="auto">
          <a:xfrm>
            <a:off x="9601202" y="3733800"/>
            <a:ext cx="4748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 X</a:t>
            </a:r>
          </a:p>
        </p:txBody>
      </p:sp>
      <p:sp>
        <p:nvSpPr>
          <p:cNvPr id="68660" name="Rectangle 52"/>
          <p:cNvSpPr>
            <a:spLocks noChangeArrowheads="1"/>
          </p:cNvSpPr>
          <p:nvPr/>
        </p:nvSpPr>
        <p:spPr bwMode="auto">
          <a:xfrm>
            <a:off x="7151690" y="914400"/>
            <a:ext cx="26555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/>
              <a:t>Tissue </a:t>
            </a:r>
            <a:r>
              <a:rPr lang="en-US" b="1" dirty="0" err="1"/>
              <a:t>thromboplastin</a:t>
            </a:r>
            <a:endParaRPr lang="en-US" b="1" dirty="0"/>
          </a:p>
        </p:txBody>
      </p:sp>
      <p:sp>
        <p:nvSpPr>
          <p:cNvPr id="68661" name="Rectangle 53"/>
          <p:cNvSpPr>
            <a:spLocks noChangeArrowheads="1"/>
          </p:cNvSpPr>
          <p:nvPr/>
        </p:nvSpPr>
        <p:spPr bwMode="auto">
          <a:xfrm>
            <a:off x="8718550" y="1371600"/>
            <a:ext cx="74251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b="1"/>
              <a:t> VII</a:t>
            </a:r>
          </a:p>
          <a:p>
            <a:pPr algn="l"/>
            <a:r>
              <a:rPr lang="en-US" b="1"/>
              <a:t>Ca+2</a:t>
            </a:r>
          </a:p>
        </p:txBody>
      </p:sp>
      <p:sp>
        <p:nvSpPr>
          <p:cNvPr id="68662" name="Rectangle 54"/>
          <p:cNvSpPr>
            <a:spLocks noChangeArrowheads="1"/>
          </p:cNvSpPr>
          <p:nvPr/>
        </p:nvSpPr>
        <p:spPr bwMode="auto">
          <a:xfrm>
            <a:off x="3657601" y="3733800"/>
            <a:ext cx="6858000" cy="2971800"/>
          </a:xfrm>
          <a:prstGeom prst="rect">
            <a:avLst/>
          </a:prstGeom>
          <a:solidFill>
            <a:schemeClr val="accent1">
              <a:alpha val="0"/>
            </a:schemeClr>
          </a:solidFill>
          <a:ln w="762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63" name="Text Box 55"/>
          <p:cNvSpPr txBox="1">
            <a:spLocks noChangeArrowheads="1"/>
          </p:cNvSpPr>
          <p:nvPr/>
        </p:nvSpPr>
        <p:spPr bwMode="auto">
          <a:xfrm>
            <a:off x="3886200" y="4191001"/>
            <a:ext cx="1295401" cy="64633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b="1"/>
              <a:t>Common Pathway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98955" y="99536"/>
            <a:ext cx="60708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Extrinsic pathway</a:t>
            </a:r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37294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686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86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8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8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86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8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8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86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8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8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86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8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8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6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5" dur="2000"/>
                                        <p:tgtEl>
                                          <p:spTgt spid="68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8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8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8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56" grpId="0" animBg="1"/>
      <p:bldP spid="68657" grpId="0" animBg="1"/>
      <p:bldP spid="68659" grpId="0"/>
      <p:bldP spid="68660" grpId="0"/>
      <p:bldP spid="68661" grpId="0"/>
      <p:bldP spid="68662" grpId="0" animBg="1"/>
      <p:bldP spid="68663" grpId="0" animBg="1"/>
      <p:bldP spid="5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2133601" y="76201"/>
            <a:ext cx="807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Comparison between the intrinsic and extrinsic pathway</a:t>
            </a:r>
          </a:p>
        </p:txBody>
      </p:sp>
      <p:graphicFrame>
        <p:nvGraphicFramePr>
          <p:cNvPr id="36925" name="Group 61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747594255"/>
              </p:ext>
            </p:extLst>
          </p:nvPr>
        </p:nvGraphicFramePr>
        <p:xfrm>
          <a:off x="1981200" y="548390"/>
          <a:ext cx="8229600" cy="6017302"/>
        </p:xfrm>
        <a:graphic>
          <a:graphicData uri="http://schemas.openxmlformats.org/drawingml/2006/table">
            <a:tbl>
              <a:tblPr rtl="1"/>
              <a:tblGrid>
                <a:gridCol w="2743200"/>
                <a:gridCol w="2743200"/>
                <a:gridCol w="2743200"/>
              </a:tblGrid>
              <a:tr h="13258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extrinsic pathway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intrinsic pathway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Comparison aspect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35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ar-SA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Trigger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33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ar-SA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ٍ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pathway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110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Derivative 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1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 pathway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36909" name="Group 45"/>
          <p:cNvGrpSpPr>
            <a:grpSpLocks/>
          </p:cNvGrpSpPr>
          <p:nvPr/>
        </p:nvGrpSpPr>
        <p:grpSpPr bwMode="auto">
          <a:xfrm>
            <a:off x="4724400" y="1066800"/>
            <a:ext cx="2743200" cy="1219200"/>
            <a:chOff x="1680" y="864"/>
            <a:chExt cx="1728" cy="768"/>
          </a:xfrm>
        </p:grpSpPr>
        <p:sp>
          <p:nvSpPr>
            <p:cNvPr id="36910" name="Rectangle 46"/>
            <p:cNvSpPr>
              <a:spLocks noChangeArrowheads="1"/>
            </p:cNvSpPr>
            <p:nvPr/>
          </p:nvSpPr>
          <p:spPr bwMode="auto">
            <a:xfrm>
              <a:off x="1680" y="864"/>
              <a:ext cx="1728" cy="768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1" name="Rectangle 47"/>
            <p:cNvSpPr>
              <a:spLocks noChangeArrowheads="1"/>
            </p:cNvSpPr>
            <p:nvPr/>
          </p:nvSpPr>
          <p:spPr bwMode="auto">
            <a:xfrm>
              <a:off x="1680" y="912"/>
              <a:ext cx="168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b="1"/>
                <a:t>collagen or negative  charge surface</a:t>
              </a:r>
            </a:p>
          </p:txBody>
        </p:sp>
      </p:grpSp>
      <p:grpSp>
        <p:nvGrpSpPr>
          <p:cNvPr id="36912" name="Group 48"/>
          <p:cNvGrpSpPr>
            <a:grpSpLocks/>
          </p:cNvGrpSpPr>
          <p:nvPr/>
        </p:nvGrpSpPr>
        <p:grpSpPr bwMode="auto">
          <a:xfrm>
            <a:off x="7467600" y="1066800"/>
            <a:ext cx="2743200" cy="1219200"/>
            <a:chOff x="2736" y="720"/>
            <a:chExt cx="1728" cy="768"/>
          </a:xfrm>
        </p:grpSpPr>
        <p:sp>
          <p:nvSpPr>
            <p:cNvPr id="36913" name="Rectangle 49"/>
            <p:cNvSpPr>
              <a:spLocks noChangeArrowheads="1"/>
            </p:cNvSpPr>
            <p:nvPr/>
          </p:nvSpPr>
          <p:spPr bwMode="auto">
            <a:xfrm>
              <a:off x="2736" y="768"/>
              <a:ext cx="1635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/>
                <a:t>tissue thromboplastin</a:t>
              </a:r>
            </a:p>
            <a:p>
              <a:r>
                <a:rPr lang="ar-SA" b="1"/>
                <a:t>(</a:t>
              </a:r>
              <a:r>
                <a:rPr lang="en-US" b="1"/>
                <a:t>damage tissue </a:t>
              </a:r>
              <a:r>
                <a:rPr lang="ar-SA" b="1"/>
                <a:t>)</a:t>
              </a:r>
              <a:endParaRPr lang="en-US" b="1"/>
            </a:p>
          </p:txBody>
        </p:sp>
        <p:sp>
          <p:nvSpPr>
            <p:cNvPr id="36914" name="Rectangle 50"/>
            <p:cNvSpPr>
              <a:spLocks noChangeArrowheads="1"/>
            </p:cNvSpPr>
            <p:nvPr/>
          </p:nvSpPr>
          <p:spPr bwMode="auto">
            <a:xfrm>
              <a:off x="2736" y="720"/>
              <a:ext cx="1728" cy="768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6915" name="Group 51"/>
          <p:cNvGrpSpPr>
            <a:grpSpLocks/>
          </p:cNvGrpSpPr>
          <p:nvPr/>
        </p:nvGrpSpPr>
        <p:grpSpPr bwMode="auto">
          <a:xfrm>
            <a:off x="4724400" y="2286000"/>
            <a:ext cx="2743200" cy="1219200"/>
            <a:chOff x="2928" y="672"/>
            <a:chExt cx="1728" cy="768"/>
          </a:xfrm>
        </p:grpSpPr>
        <p:sp>
          <p:nvSpPr>
            <p:cNvPr id="36916" name="Rectangle 52"/>
            <p:cNvSpPr>
              <a:spLocks noChangeArrowheads="1"/>
            </p:cNvSpPr>
            <p:nvPr/>
          </p:nvSpPr>
          <p:spPr bwMode="auto">
            <a:xfrm>
              <a:off x="2928" y="672"/>
              <a:ext cx="1728" cy="768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7" name="Rectangle 53"/>
            <p:cNvSpPr>
              <a:spLocks noChangeArrowheads="1"/>
            </p:cNvSpPr>
            <p:nvPr/>
          </p:nvSpPr>
          <p:spPr bwMode="auto">
            <a:xfrm>
              <a:off x="3504" y="960"/>
              <a:ext cx="47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/>
                <a:t>Long</a:t>
              </a:r>
            </a:p>
          </p:txBody>
        </p:sp>
      </p:grpSp>
      <p:grpSp>
        <p:nvGrpSpPr>
          <p:cNvPr id="36918" name="Group 54"/>
          <p:cNvGrpSpPr>
            <a:grpSpLocks/>
          </p:cNvGrpSpPr>
          <p:nvPr/>
        </p:nvGrpSpPr>
        <p:grpSpPr bwMode="auto">
          <a:xfrm>
            <a:off x="7467600" y="2286000"/>
            <a:ext cx="2743200" cy="1219200"/>
            <a:chOff x="2928" y="672"/>
            <a:chExt cx="1728" cy="768"/>
          </a:xfrm>
        </p:grpSpPr>
        <p:sp>
          <p:nvSpPr>
            <p:cNvPr id="36919" name="Rectangle 55"/>
            <p:cNvSpPr>
              <a:spLocks noChangeArrowheads="1"/>
            </p:cNvSpPr>
            <p:nvPr/>
          </p:nvSpPr>
          <p:spPr bwMode="auto">
            <a:xfrm>
              <a:off x="2928" y="672"/>
              <a:ext cx="1728" cy="768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0" name="Rectangle 56"/>
            <p:cNvSpPr>
              <a:spLocks noChangeArrowheads="1"/>
            </p:cNvSpPr>
            <p:nvPr/>
          </p:nvSpPr>
          <p:spPr bwMode="auto">
            <a:xfrm>
              <a:off x="3464" y="960"/>
              <a:ext cx="49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/>
                <a:t>Short</a:t>
              </a:r>
            </a:p>
          </p:txBody>
        </p:sp>
      </p:grpSp>
      <p:grpSp>
        <p:nvGrpSpPr>
          <p:cNvPr id="36921" name="Group 57"/>
          <p:cNvGrpSpPr>
            <a:grpSpLocks/>
          </p:cNvGrpSpPr>
          <p:nvPr/>
        </p:nvGrpSpPr>
        <p:grpSpPr bwMode="auto">
          <a:xfrm>
            <a:off x="7467601" y="3581402"/>
            <a:ext cx="2819401" cy="1752783"/>
            <a:chOff x="480" y="336"/>
            <a:chExt cx="1728" cy="1334"/>
          </a:xfrm>
        </p:grpSpPr>
        <p:sp>
          <p:nvSpPr>
            <p:cNvPr id="36922" name="Rectangle 58"/>
            <p:cNvSpPr>
              <a:spLocks noChangeArrowheads="1"/>
            </p:cNvSpPr>
            <p:nvPr/>
          </p:nvSpPr>
          <p:spPr bwMode="auto">
            <a:xfrm>
              <a:off x="480" y="336"/>
              <a:ext cx="1728" cy="1104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3" name="Rectangle 59"/>
            <p:cNvSpPr>
              <a:spLocks noChangeArrowheads="1"/>
            </p:cNvSpPr>
            <p:nvPr/>
          </p:nvSpPr>
          <p:spPr bwMode="auto">
            <a:xfrm>
              <a:off x="480" y="386"/>
              <a:ext cx="1680" cy="1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rtl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b="1" dirty="0"/>
                <a:t>named because a cellular element </a:t>
              </a:r>
              <a:r>
                <a:rPr lang="en-US" sz="2800" b="1" i="1" dirty="0">
                  <a:solidFill>
                    <a:srgbClr val="FF0000"/>
                  </a:solidFill>
                </a:rPr>
                <a:t>outside</a:t>
              </a:r>
              <a:r>
                <a:rPr lang="en-US" b="1" dirty="0"/>
                <a:t> the blood is needed.</a:t>
              </a:r>
            </a:p>
            <a:p>
              <a:pPr algn="l" rtl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</a:pPr>
              <a:endParaRPr lang="en-US" b="1" dirty="0"/>
            </a:p>
          </p:txBody>
        </p:sp>
      </p:grpSp>
      <p:grpSp>
        <p:nvGrpSpPr>
          <p:cNvPr id="36926" name="Group 62"/>
          <p:cNvGrpSpPr>
            <a:grpSpLocks/>
          </p:cNvGrpSpPr>
          <p:nvPr/>
        </p:nvGrpSpPr>
        <p:grpSpPr bwMode="auto">
          <a:xfrm>
            <a:off x="4800600" y="3578226"/>
            <a:ext cx="2819401" cy="1475945"/>
            <a:chOff x="480" y="336"/>
            <a:chExt cx="1728" cy="1123"/>
          </a:xfrm>
        </p:grpSpPr>
        <p:sp>
          <p:nvSpPr>
            <p:cNvPr id="36927" name="Rectangle 63"/>
            <p:cNvSpPr>
              <a:spLocks noChangeArrowheads="1"/>
            </p:cNvSpPr>
            <p:nvPr/>
          </p:nvSpPr>
          <p:spPr bwMode="auto">
            <a:xfrm>
              <a:off x="480" y="336"/>
              <a:ext cx="1728" cy="1104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8" name="Rectangle 64"/>
            <p:cNvSpPr>
              <a:spLocks noChangeArrowheads="1"/>
            </p:cNvSpPr>
            <p:nvPr/>
          </p:nvSpPr>
          <p:spPr bwMode="auto">
            <a:xfrm>
              <a:off x="480" y="386"/>
              <a:ext cx="1680" cy="10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b="1" dirty="0"/>
                <a:t>named because everything necessary for it is </a:t>
              </a:r>
              <a:r>
                <a:rPr lang="en-US" sz="2800" b="1" i="1" dirty="0">
                  <a:solidFill>
                    <a:srgbClr val="FF0000"/>
                  </a:solidFill>
                </a:rPr>
                <a:t>in</a:t>
              </a:r>
              <a:r>
                <a:rPr lang="en-US" b="1" dirty="0"/>
                <a:t> the blood</a:t>
              </a:r>
            </a:p>
            <a:p>
              <a:pPr algn="l" rtl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</a:pPr>
              <a:endParaRPr lang="en-US" b="1" dirty="0"/>
            </a:p>
          </p:txBody>
        </p:sp>
      </p:grpSp>
      <p:grpSp>
        <p:nvGrpSpPr>
          <p:cNvPr id="36932" name="Group 68"/>
          <p:cNvGrpSpPr>
            <a:grpSpLocks/>
          </p:cNvGrpSpPr>
          <p:nvPr/>
        </p:nvGrpSpPr>
        <p:grpSpPr bwMode="auto">
          <a:xfrm>
            <a:off x="7526521" y="5486400"/>
            <a:ext cx="2743200" cy="1219200"/>
            <a:chOff x="2928" y="672"/>
            <a:chExt cx="1728" cy="768"/>
          </a:xfrm>
        </p:grpSpPr>
        <p:sp>
          <p:nvSpPr>
            <p:cNvPr id="36933" name="Rectangle 69"/>
            <p:cNvSpPr>
              <a:spLocks noChangeArrowheads="1"/>
            </p:cNvSpPr>
            <p:nvPr/>
          </p:nvSpPr>
          <p:spPr bwMode="auto">
            <a:xfrm>
              <a:off x="2928" y="672"/>
              <a:ext cx="1728" cy="768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4" name="Rectangle 70"/>
            <p:cNvSpPr>
              <a:spLocks noChangeArrowheads="1"/>
            </p:cNvSpPr>
            <p:nvPr/>
          </p:nvSpPr>
          <p:spPr bwMode="auto">
            <a:xfrm>
              <a:off x="3050" y="960"/>
              <a:ext cx="90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/>
                <a:t>15 seconds</a:t>
              </a:r>
            </a:p>
          </p:txBody>
        </p:sp>
      </p:grpSp>
      <p:grpSp>
        <p:nvGrpSpPr>
          <p:cNvPr id="36935" name="Group 71"/>
          <p:cNvGrpSpPr>
            <a:grpSpLocks/>
          </p:cNvGrpSpPr>
          <p:nvPr/>
        </p:nvGrpSpPr>
        <p:grpSpPr bwMode="auto">
          <a:xfrm>
            <a:off x="4710114" y="5029200"/>
            <a:ext cx="2743200" cy="1228725"/>
            <a:chOff x="2928" y="672"/>
            <a:chExt cx="1728" cy="774"/>
          </a:xfrm>
        </p:grpSpPr>
        <p:sp>
          <p:nvSpPr>
            <p:cNvPr id="36936" name="Rectangle 72"/>
            <p:cNvSpPr>
              <a:spLocks noChangeArrowheads="1"/>
            </p:cNvSpPr>
            <p:nvPr/>
          </p:nvSpPr>
          <p:spPr bwMode="auto">
            <a:xfrm>
              <a:off x="2928" y="672"/>
              <a:ext cx="1728" cy="768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7" name="Rectangle 73"/>
            <p:cNvSpPr>
              <a:spLocks noChangeArrowheads="1"/>
            </p:cNvSpPr>
            <p:nvPr/>
          </p:nvSpPr>
          <p:spPr bwMode="auto">
            <a:xfrm>
              <a:off x="3006" y="1213"/>
              <a:ext cx="101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/>
                <a:t>1 to 6 minute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7480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6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6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6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6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3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36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36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36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36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977" y="0"/>
            <a:ext cx="9533743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2102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fibrinolytic</a:t>
            </a:r>
            <a:r>
              <a:rPr lang="en-US" dirty="0"/>
              <a:t>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 fibrin clot is </a:t>
            </a:r>
            <a:r>
              <a:rPr lang="en-US" sz="3200" b="1" dirty="0"/>
              <a:t>not designed to last forever</a:t>
            </a:r>
            <a:r>
              <a:rPr lang="en-US" sz="3200" dirty="0"/>
              <a:t>. It is a transitory device until </a:t>
            </a:r>
            <a:r>
              <a:rPr lang="en-US" sz="3200" u="sng" dirty="0"/>
              <a:t>permanent repair of the vessel occurs</a:t>
            </a:r>
            <a:r>
              <a:rPr lang="en-US" sz="3200" dirty="0"/>
              <a:t>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99092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1" y="152400"/>
            <a:ext cx="8229600" cy="1143000"/>
          </a:xfrm>
        </p:spPr>
        <p:txBody>
          <a:bodyPr/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Pathway of fibrinolytic system</a:t>
            </a:r>
          </a:p>
        </p:txBody>
      </p:sp>
      <p:grpSp>
        <p:nvGrpSpPr>
          <p:cNvPr id="39958" name="Group 22"/>
          <p:cNvGrpSpPr>
            <a:grpSpLocks/>
          </p:cNvGrpSpPr>
          <p:nvPr/>
        </p:nvGrpSpPr>
        <p:grpSpPr bwMode="auto">
          <a:xfrm>
            <a:off x="3276601" y="1447800"/>
            <a:ext cx="3276602" cy="838200"/>
            <a:chOff x="1104" y="912"/>
            <a:chExt cx="2064" cy="528"/>
          </a:xfrm>
        </p:grpSpPr>
        <p:sp>
          <p:nvSpPr>
            <p:cNvPr id="39941" name="AutoShape 5"/>
            <p:cNvSpPr>
              <a:spLocks noChangeArrowheads="1"/>
            </p:cNvSpPr>
            <p:nvPr/>
          </p:nvSpPr>
          <p:spPr bwMode="auto">
            <a:xfrm>
              <a:off x="1104" y="912"/>
              <a:ext cx="2064" cy="528"/>
            </a:xfrm>
            <a:prstGeom prst="bevel">
              <a:avLst>
                <a:gd name="adj" fmla="val 12500"/>
              </a:avLst>
            </a:prstGeom>
            <a:solidFill>
              <a:srgbClr val="33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3" name="Rectangle 17"/>
            <p:cNvSpPr>
              <a:spLocks noChangeArrowheads="1"/>
            </p:cNvSpPr>
            <p:nvPr/>
          </p:nvSpPr>
          <p:spPr bwMode="auto">
            <a:xfrm>
              <a:off x="1159" y="1040"/>
              <a:ext cx="192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Plasminogen activators</a:t>
              </a:r>
            </a:p>
          </p:txBody>
        </p:sp>
      </p:grpSp>
      <p:grpSp>
        <p:nvGrpSpPr>
          <p:cNvPr id="39961" name="Group 25"/>
          <p:cNvGrpSpPr>
            <a:grpSpLocks/>
          </p:cNvGrpSpPr>
          <p:nvPr/>
        </p:nvGrpSpPr>
        <p:grpSpPr bwMode="auto">
          <a:xfrm>
            <a:off x="1600202" y="3657600"/>
            <a:ext cx="2286001" cy="838200"/>
            <a:chOff x="48" y="2304"/>
            <a:chExt cx="1440" cy="528"/>
          </a:xfrm>
        </p:grpSpPr>
        <p:sp>
          <p:nvSpPr>
            <p:cNvPr id="39947" name="AutoShape 11"/>
            <p:cNvSpPr>
              <a:spLocks noChangeArrowheads="1"/>
            </p:cNvSpPr>
            <p:nvPr/>
          </p:nvSpPr>
          <p:spPr bwMode="auto">
            <a:xfrm>
              <a:off x="48" y="2304"/>
              <a:ext cx="1440" cy="528"/>
            </a:xfrm>
            <a:prstGeom prst="bevel">
              <a:avLst>
                <a:gd name="adj" fmla="val 12500"/>
              </a:avLst>
            </a:prstGeom>
            <a:solidFill>
              <a:srgbClr val="33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4" name="Rectangle 18"/>
            <p:cNvSpPr>
              <a:spLocks noChangeArrowheads="1"/>
            </p:cNvSpPr>
            <p:nvPr/>
          </p:nvSpPr>
          <p:spPr bwMode="auto">
            <a:xfrm>
              <a:off x="149" y="2432"/>
              <a:ext cx="112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Plasminogen</a:t>
              </a:r>
            </a:p>
          </p:txBody>
        </p:sp>
      </p:grpSp>
      <p:grpSp>
        <p:nvGrpSpPr>
          <p:cNvPr id="39959" name="Group 23"/>
          <p:cNvGrpSpPr>
            <a:grpSpLocks/>
          </p:cNvGrpSpPr>
          <p:nvPr/>
        </p:nvGrpSpPr>
        <p:grpSpPr bwMode="auto">
          <a:xfrm>
            <a:off x="5791201" y="3581401"/>
            <a:ext cx="2286000" cy="838200"/>
            <a:chOff x="2688" y="2256"/>
            <a:chExt cx="1440" cy="528"/>
          </a:xfrm>
        </p:grpSpPr>
        <p:sp>
          <p:nvSpPr>
            <p:cNvPr id="39949" name="AutoShape 13"/>
            <p:cNvSpPr>
              <a:spLocks noChangeArrowheads="1"/>
            </p:cNvSpPr>
            <p:nvPr/>
          </p:nvSpPr>
          <p:spPr bwMode="auto">
            <a:xfrm>
              <a:off x="2688" y="2256"/>
              <a:ext cx="1440" cy="528"/>
            </a:xfrm>
            <a:prstGeom prst="bevel">
              <a:avLst>
                <a:gd name="adj" fmla="val 12500"/>
              </a:avLst>
            </a:prstGeom>
            <a:solidFill>
              <a:srgbClr val="33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5" name="Rectangle 19"/>
            <p:cNvSpPr>
              <a:spLocks noChangeArrowheads="1"/>
            </p:cNvSpPr>
            <p:nvPr/>
          </p:nvSpPr>
          <p:spPr bwMode="auto">
            <a:xfrm>
              <a:off x="2946" y="2384"/>
              <a:ext cx="735" cy="252"/>
            </a:xfrm>
            <a:prstGeom prst="rect">
              <a:avLst/>
            </a:prstGeom>
            <a:solidFill>
              <a:srgbClr val="33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Plasmin</a:t>
              </a:r>
            </a:p>
          </p:txBody>
        </p:sp>
      </p:grpSp>
      <p:grpSp>
        <p:nvGrpSpPr>
          <p:cNvPr id="39962" name="Group 26"/>
          <p:cNvGrpSpPr>
            <a:grpSpLocks/>
          </p:cNvGrpSpPr>
          <p:nvPr/>
        </p:nvGrpSpPr>
        <p:grpSpPr bwMode="auto">
          <a:xfrm>
            <a:off x="4038602" y="5257800"/>
            <a:ext cx="2286000" cy="838200"/>
            <a:chOff x="1584" y="3312"/>
            <a:chExt cx="1440" cy="528"/>
          </a:xfrm>
        </p:grpSpPr>
        <p:sp>
          <p:nvSpPr>
            <p:cNvPr id="39951" name="AutoShape 15"/>
            <p:cNvSpPr>
              <a:spLocks noChangeArrowheads="1"/>
            </p:cNvSpPr>
            <p:nvPr/>
          </p:nvSpPr>
          <p:spPr bwMode="auto">
            <a:xfrm>
              <a:off x="1584" y="3312"/>
              <a:ext cx="1440" cy="528"/>
            </a:xfrm>
            <a:prstGeom prst="bevel">
              <a:avLst>
                <a:gd name="adj" fmla="val 12500"/>
              </a:avLst>
            </a:prstGeom>
            <a:solidFill>
              <a:srgbClr val="33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6" name="Rectangle 20"/>
            <p:cNvSpPr>
              <a:spLocks noChangeArrowheads="1"/>
            </p:cNvSpPr>
            <p:nvPr/>
          </p:nvSpPr>
          <p:spPr bwMode="auto">
            <a:xfrm>
              <a:off x="1908" y="3440"/>
              <a:ext cx="56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Fibrin</a:t>
              </a:r>
            </a:p>
          </p:txBody>
        </p:sp>
      </p:grpSp>
      <p:grpSp>
        <p:nvGrpSpPr>
          <p:cNvPr id="39960" name="Group 24"/>
          <p:cNvGrpSpPr>
            <a:grpSpLocks/>
          </p:cNvGrpSpPr>
          <p:nvPr/>
        </p:nvGrpSpPr>
        <p:grpSpPr bwMode="auto">
          <a:xfrm>
            <a:off x="8153402" y="5105401"/>
            <a:ext cx="2286000" cy="990600"/>
            <a:chOff x="4176" y="3216"/>
            <a:chExt cx="1440" cy="624"/>
          </a:xfrm>
        </p:grpSpPr>
        <p:sp>
          <p:nvSpPr>
            <p:cNvPr id="39952" name="AutoShape 16"/>
            <p:cNvSpPr>
              <a:spLocks noChangeArrowheads="1"/>
            </p:cNvSpPr>
            <p:nvPr/>
          </p:nvSpPr>
          <p:spPr bwMode="auto">
            <a:xfrm>
              <a:off x="4176" y="3216"/>
              <a:ext cx="1440" cy="624"/>
            </a:xfrm>
            <a:prstGeom prst="bevel">
              <a:avLst>
                <a:gd name="adj" fmla="val 12500"/>
              </a:avLst>
            </a:prstGeom>
            <a:solidFill>
              <a:srgbClr val="33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7" name="Rectangle 21"/>
            <p:cNvSpPr>
              <a:spLocks noChangeArrowheads="1"/>
            </p:cNvSpPr>
            <p:nvPr/>
          </p:nvSpPr>
          <p:spPr bwMode="auto">
            <a:xfrm>
              <a:off x="4320" y="3312"/>
              <a:ext cx="1104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Soluble fibrin</a:t>
              </a:r>
            </a:p>
            <a:p>
              <a:pPr algn="ctr"/>
              <a:r>
                <a:rPr lang="en-U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fragments</a:t>
              </a:r>
            </a:p>
          </p:txBody>
        </p:sp>
      </p:grpSp>
      <p:sp>
        <p:nvSpPr>
          <p:cNvPr id="39963" name="AutoShape 27"/>
          <p:cNvSpPr>
            <a:spLocks noChangeArrowheads="1"/>
          </p:cNvSpPr>
          <p:nvPr/>
        </p:nvSpPr>
        <p:spPr bwMode="auto">
          <a:xfrm>
            <a:off x="4572001" y="2362200"/>
            <a:ext cx="381001" cy="1600200"/>
          </a:xfrm>
          <a:prstGeom prst="downArrow">
            <a:avLst>
              <a:gd name="adj1" fmla="val 50000"/>
              <a:gd name="adj2" fmla="val 105000"/>
            </a:avLst>
          </a:prstGeom>
          <a:solidFill>
            <a:schemeClr val="tx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64" name="AutoShape 28"/>
          <p:cNvSpPr>
            <a:spLocks noChangeArrowheads="1"/>
          </p:cNvSpPr>
          <p:nvPr/>
        </p:nvSpPr>
        <p:spPr bwMode="auto">
          <a:xfrm rot="16200000">
            <a:off x="4648200" y="3200400"/>
            <a:ext cx="381000" cy="1752601"/>
          </a:xfrm>
          <a:prstGeom prst="downArrow">
            <a:avLst>
              <a:gd name="adj1" fmla="val 50000"/>
              <a:gd name="adj2" fmla="val 115000"/>
            </a:avLst>
          </a:prstGeom>
          <a:solidFill>
            <a:schemeClr val="tx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65" name="AutoShape 29"/>
          <p:cNvSpPr>
            <a:spLocks noChangeArrowheads="1"/>
          </p:cNvSpPr>
          <p:nvPr/>
        </p:nvSpPr>
        <p:spPr bwMode="auto">
          <a:xfrm>
            <a:off x="6781800" y="4495800"/>
            <a:ext cx="381001" cy="990600"/>
          </a:xfrm>
          <a:prstGeom prst="downArrow">
            <a:avLst>
              <a:gd name="adj1" fmla="val 50000"/>
              <a:gd name="adj2" fmla="val 65000"/>
            </a:avLst>
          </a:prstGeom>
          <a:solidFill>
            <a:schemeClr val="tx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66" name="AutoShape 30"/>
          <p:cNvSpPr>
            <a:spLocks noChangeArrowheads="1"/>
          </p:cNvSpPr>
          <p:nvPr/>
        </p:nvSpPr>
        <p:spPr bwMode="auto">
          <a:xfrm rot="16200000">
            <a:off x="7086600" y="4724400"/>
            <a:ext cx="381000" cy="1752601"/>
          </a:xfrm>
          <a:prstGeom prst="downArrow">
            <a:avLst>
              <a:gd name="adj1" fmla="val 50000"/>
              <a:gd name="adj2" fmla="val 115000"/>
            </a:avLst>
          </a:prstGeom>
          <a:solidFill>
            <a:schemeClr val="tx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869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9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99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9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9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39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99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99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9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39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99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39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99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99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9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39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/>
      <p:bldP spid="39963" grpId="0" animBg="1"/>
      <p:bldP spid="39964" grpId="0" animBg="1"/>
      <p:bldP spid="39965" grpId="0" animBg="1"/>
      <p:bldP spid="3996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The fibrinolytic system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00200"/>
            <a:ext cx="8229600" cy="5105400"/>
          </a:xfrm>
        </p:spPr>
        <p:txBody>
          <a:bodyPr/>
          <a:lstStyle/>
          <a:p>
            <a:pPr marL="0" indent="0"/>
            <a:r>
              <a:rPr lang="en-US" sz="3600" dirty="0">
                <a:solidFill>
                  <a:schemeClr val="tx2"/>
                </a:solidFill>
              </a:rPr>
              <a:t>Purpose</a:t>
            </a:r>
          </a:p>
          <a:p>
            <a:pPr marL="0" indent="0">
              <a:buFont typeface="Wingdings" panose="05000000000000000000" pitchFamily="2" charset="2"/>
              <a:buAutoNum type="arabicPeriod"/>
            </a:pPr>
            <a:r>
              <a:rPr lang="en-US" sz="2400" dirty="0"/>
              <a:t>Prevent propagation of the thrombus</a:t>
            </a:r>
          </a:p>
          <a:p>
            <a:pPr marL="0" indent="0">
              <a:buFont typeface="Wingdings" panose="05000000000000000000" pitchFamily="2" charset="2"/>
              <a:buAutoNum type="arabicPeriod"/>
            </a:pPr>
            <a:r>
              <a:rPr lang="en-US" sz="2400" dirty="0"/>
              <a:t>Removing fibrins deposited after they have served their hemostatic function </a:t>
            </a:r>
          </a:p>
          <a:p>
            <a:pPr marL="0" indent="0"/>
            <a:r>
              <a:rPr lang="en-US" sz="2800" b="1" dirty="0">
                <a:solidFill>
                  <a:schemeClr val="tx2"/>
                </a:solidFill>
              </a:rPr>
              <a:t>Regulation of </a:t>
            </a:r>
            <a:r>
              <a:rPr lang="en-US" sz="2800" b="1" dirty="0" err="1">
                <a:solidFill>
                  <a:schemeClr val="tx2"/>
                </a:solidFill>
              </a:rPr>
              <a:t>fibrinolytic</a:t>
            </a:r>
            <a:r>
              <a:rPr lang="en-US" sz="2800" b="1" dirty="0">
                <a:solidFill>
                  <a:schemeClr val="tx2"/>
                </a:solidFill>
              </a:rPr>
              <a:t> system</a:t>
            </a:r>
            <a:endParaRPr lang="ar-SA" sz="2800" b="1" dirty="0">
              <a:solidFill>
                <a:schemeClr val="tx2"/>
              </a:solidFill>
            </a:endParaRPr>
          </a:p>
          <a:p>
            <a:pPr marL="0" indent="0">
              <a:buFont typeface="Wingdings" panose="05000000000000000000" pitchFamily="2" charset="2"/>
              <a:buAutoNum type="arabicPeriod"/>
            </a:pPr>
            <a:r>
              <a:rPr lang="en-US" sz="2400" dirty="0"/>
              <a:t>Plasminogen activator inhibitor</a:t>
            </a:r>
          </a:p>
          <a:p>
            <a:pPr marL="0" indent="0">
              <a:buFont typeface="Wingdings" panose="05000000000000000000" pitchFamily="2" charset="2"/>
              <a:buAutoNum type="arabicPeriod"/>
            </a:pPr>
            <a:r>
              <a:rPr lang="en-US" sz="2400" dirty="0"/>
              <a:t>Alpha 2 plasmin inhibitor</a:t>
            </a:r>
          </a:p>
          <a:p>
            <a:pPr marL="0" indent="0"/>
            <a:r>
              <a:rPr lang="en-US" sz="2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Fibrinolytic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system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in dynamic equilibrium  with 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coagulation system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two acting together to maintain to intact vessel </a:t>
            </a:r>
            <a:endParaRPr lang="ar-S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178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 smtClean="0">
                <a:solidFill>
                  <a:srgbClr val="0070C0"/>
                </a:solidFill>
              </a:rPr>
              <a:t>Maintain  </a:t>
            </a:r>
            <a:r>
              <a:rPr lang="en-US" sz="4000" b="1" u="sng" dirty="0">
                <a:solidFill>
                  <a:srgbClr val="0070C0"/>
                </a:solidFill>
              </a:rPr>
              <a:t>blood in the fluid state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Natural anticoagulant </a:t>
            </a:r>
            <a:r>
              <a:rPr lang="en-US" sz="3200" dirty="0" smtClean="0"/>
              <a:t>mechanisms</a:t>
            </a:r>
          </a:p>
          <a:p>
            <a:r>
              <a:rPr lang="en-US" sz="3200" b="1" u="sng" dirty="0"/>
              <a:t>The normal endothelium</a:t>
            </a:r>
            <a:r>
              <a:rPr lang="en-US" sz="3200" dirty="0"/>
              <a:t>:- prevent clotting by:-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/>
              <a:t> </a:t>
            </a:r>
            <a:r>
              <a:rPr lang="en-US" sz="3200" dirty="0" smtClean="0"/>
              <a:t> </a:t>
            </a:r>
            <a:r>
              <a:rPr lang="en-US" sz="3200" dirty="0"/>
              <a:t>smooth surface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/>
              <a:t> </a:t>
            </a:r>
            <a:r>
              <a:rPr lang="en-US" sz="3200" dirty="0" smtClean="0"/>
              <a:t> </a:t>
            </a:r>
            <a:r>
              <a:rPr lang="en-US" sz="3200" dirty="0"/>
              <a:t>release of </a:t>
            </a:r>
            <a:r>
              <a:rPr lang="en-US" sz="3200" dirty="0" err="1"/>
              <a:t>prostacycline</a:t>
            </a:r>
            <a:r>
              <a:rPr lang="en-US" sz="3200" dirty="0"/>
              <a:t> </a:t>
            </a:r>
            <a:r>
              <a:rPr lang="en-US" sz="3200" dirty="0" smtClean="0"/>
              <a:t>  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/>
              <a:t>release </a:t>
            </a:r>
            <a:r>
              <a:rPr lang="en-US" sz="3200" dirty="0"/>
              <a:t>(</a:t>
            </a:r>
            <a:r>
              <a:rPr lang="en-US" sz="3200" dirty="0" smtClean="0"/>
              <a:t>NO) </a:t>
            </a:r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56719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b="1" u="sng" dirty="0"/>
              <a:t>The blood flow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Rapid blood flow inhibits coagulation whereas stasis of blood favors coagulation</a:t>
            </a:r>
          </a:p>
          <a:p>
            <a:endParaRPr lang="en-US" sz="2800" dirty="0"/>
          </a:p>
          <a:p>
            <a:r>
              <a:rPr lang="en-US" sz="2800" b="1" u="sng" dirty="0" err="1"/>
              <a:t>Antithrombin</a:t>
            </a:r>
            <a:r>
              <a:rPr lang="en-US" sz="2800" b="1" u="sng" dirty="0"/>
              <a:t> III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</a:t>
            </a:r>
            <a:r>
              <a:rPr lang="en-US" sz="2800" dirty="0" smtClean="0"/>
              <a:t>an </a:t>
            </a:r>
            <a:r>
              <a:rPr lang="en-US" sz="2800" dirty="0"/>
              <a:t>alpha globulin synthesized by liver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</a:t>
            </a:r>
            <a:r>
              <a:rPr lang="en-US" sz="2800" dirty="0" smtClean="0"/>
              <a:t>inactivates </a:t>
            </a:r>
            <a:r>
              <a:rPr lang="en-US" sz="2800" dirty="0"/>
              <a:t>IX, X, XI and XII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</a:t>
            </a:r>
            <a:r>
              <a:rPr lang="en-US" sz="2800" dirty="0" smtClean="0"/>
              <a:t>its </a:t>
            </a:r>
            <a:r>
              <a:rPr lang="en-US" sz="2800" dirty="0"/>
              <a:t>activity is increased about 1000times by heparin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3082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3" y="1905000"/>
            <a:ext cx="8915401" cy="3777622"/>
          </a:xfrm>
        </p:spPr>
        <p:txBody>
          <a:bodyPr>
            <a:noAutofit/>
          </a:bodyPr>
          <a:lstStyle/>
          <a:p>
            <a:r>
              <a:rPr lang="en-US" sz="2800" b="1" u="sng" dirty="0"/>
              <a:t>Fibrin: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absorbs some clotting factors and this prevents propagation of the clot within blood vessel</a:t>
            </a:r>
          </a:p>
          <a:p>
            <a:endParaRPr lang="en-US" sz="2800" dirty="0"/>
          </a:p>
          <a:p>
            <a:r>
              <a:rPr lang="en-US" sz="2800" b="1" u="sng" dirty="0"/>
              <a:t>Plasmin: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breaks down fibrin resulting in dissolution of clots</a:t>
            </a:r>
          </a:p>
          <a:p>
            <a:endParaRPr lang="en-US" sz="2800" dirty="0"/>
          </a:p>
          <a:p>
            <a:r>
              <a:rPr lang="en-US" sz="2800" b="1" u="sng" dirty="0"/>
              <a:t>Fibrin degradation products (FDPs):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inhibit coagulation by inhibit  thrombin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4825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11163">
              <a:lnSpc>
                <a:spcPct val="90000"/>
              </a:lnSpc>
            </a:pPr>
            <a:r>
              <a:rPr lang="en-US" sz="3200" b="1" u="sng" dirty="0">
                <a:cs typeface="Times New Roman" panose="02020603050405020304" pitchFamily="18" charset="0"/>
              </a:rPr>
              <a:t>Heparin</a:t>
            </a:r>
          </a:p>
          <a:p>
            <a:pPr marL="411163">
              <a:lnSpc>
                <a:spcPct val="90000"/>
              </a:lnSpc>
              <a:buFontTx/>
              <a:buChar char="-"/>
            </a:pPr>
            <a:r>
              <a:rPr lang="en-US" sz="2800" dirty="0" smtClean="0">
                <a:cs typeface="Times New Roman" panose="02020603050405020304" pitchFamily="18" charset="0"/>
              </a:rPr>
              <a:t>Found </a:t>
            </a:r>
            <a:r>
              <a:rPr lang="en-US" sz="2800" dirty="0">
                <a:cs typeface="Times New Roman" panose="02020603050405020304" pitchFamily="18" charset="0"/>
              </a:rPr>
              <a:t>in the granules of mast cells and basophils</a:t>
            </a:r>
          </a:p>
          <a:p>
            <a:pPr marL="411163">
              <a:lnSpc>
                <a:spcPct val="90000"/>
              </a:lnSpc>
              <a:buFontTx/>
              <a:buChar char="-"/>
            </a:pPr>
            <a:r>
              <a:rPr lang="en-US" sz="2800" dirty="0">
                <a:cs typeface="Times New Roman" panose="02020603050405020304" pitchFamily="18" charset="0"/>
              </a:rPr>
              <a:t>Acts through activation of </a:t>
            </a:r>
            <a:r>
              <a:rPr lang="en-US" sz="2800" dirty="0" err="1">
                <a:cs typeface="Times New Roman" panose="02020603050405020304" pitchFamily="18" charset="0"/>
              </a:rPr>
              <a:t>antithrombin</a:t>
            </a:r>
            <a:r>
              <a:rPr lang="en-US" sz="2800" dirty="0">
                <a:cs typeface="Times New Roman" panose="02020603050405020304" pitchFamily="18" charset="0"/>
              </a:rPr>
              <a:t> III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20888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11163"/>
            <a:r>
              <a:rPr lang="en-US" sz="2800" u="sng" dirty="0" err="1">
                <a:solidFill>
                  <a:schemeClr val="tx2"/>
                </a:solidFill>
                <a:cs typeface="Times New Roman" panose="02020603050405020304" pitchFamily="18" charset="0"/>
              </a:rPr>
              <a:t>Thrombomodulin</a:t>
            </a:r>
            <a:endParaRPr lang="en-US" sz="2800" u="sng" dirty="0">
              <a:solidFill>
                <a:schemeClr val="tx2"/>
              </a:solidFill>
              <a:cs typeface="Times New Roman" panose="02020603050405020304" pitchFamily="18" charset="0"/>
            </a:endParaRPr>
          </a:p>
          <a:p>
            <a:pPr marL="411163">
              <a:buFontTx/>
              <a:buChar char="-"/>
            </a:pPr>
            <a:r>
              <a:rPr lang="en-US" sz="2400" dirty="0">
                <a:cs typeface="Times New Roman" panose="02020603050405020304" pitchFamily="18" charset="0"/>
              </a:rPr>
              <a:t>A protein expressed on surface of most endothelial cells (except those in cerebral capillaries)</a:t>
            </a:r>
          </a:p>
          <a:p>
            <a:pPr marL="411163">
              <a:buFontTx/>
              <a:buChar char="-"/>
            </a:pPr>
            <a:r>
              <a:rPr lang="en-US" sz="2400" dirty="0">
                <a:cs typeface="Times New Roman" panose="02020603050405020304" pitchFamily="18" charset="0"/>
              </a:rPr>
              <a:t>Bind thrombin to form a complex that activates protein C</a:t>
            </a:r>
          </a:p>
          <a:p>
            <a:pPr marL="411163"/>
            <a:r>
              <a:rPr lang="en-US" sz="2800" u="sng" dirty="0">
                <a:solidFill>
                  <a:schemeClr val="tx2"/>
                </a:solidFill>
                <a:cs typeface="Times New Roman" panose="02020603050405020304" pitchFamily="18" charset="0"/>
              </a:rPr>
              <a:t>Protein C and protein</a:t>
            </a:r>
            <a:r>
              <a:rPr lang="en-US" sz="2800" u="sng" dirty="0">
                <a:cs typeface="Times New Roman" panose="02020603050405020304" pitchFamily="18" charset="0"/>
              </a:rPr>
              <a:t> S</a:t>
            </a:r>
            <a:endParaRPr lang="en-US" sz="2800" u="sng" dirty="0">
              <a:solidFill>
                <a:schemeClr val="tx2"/>
              </a:solidFill>
              <a:cs typeface="Times New Roman" panose="02020603050405020304" pitchFamily="18" charset="0"/>
            </a:endParaRPr>
          </a:p>
          <a:p>
            <a:pPr marL="411163">
              <a:buFont typeface="Wingdings" panose="05000000000000000000" pitchFamily="2" charset="2"/>
              <a:buNone/>
            </a:pPr>
            <a:r>
              <a:rPr lang="en-US" sz="2400" dirty="0">
                <a:cs typeface="Times New Roman" panose="02020603050405020304" pitchFamily="18" charset="0"/>
              </a:rPr>
              <a:t>- produced by liver</a:t>
            </a:r>
          </a:p>
          <a:p>
            <a:pPr marL="411163">
              <a:buFont typeface="Wingdings" panose="05000000000000000000" pitchFamily="2" charset="2"/>
              <a:buNone/>
            </a:pPr>
            <a:r>
              <a:rPr lang="en-US" sz="2400" dirty="0">
                <a:cs typeface="Times New Roman" panose="02020603050405020304" pitchFamily="18" charset="0"/>
              </a:rPr>
              <a:t>- Require </a:t>
            </a:r>
            <a:r>
              <a:rPr lang="en-US" sz="2400" dirty="0" err="1">
                <a:cs typeface="Times New Roman" panose="02020603050405020304" pitchFamily="18" charset="0"/>
              </a:rPr>
              <a:t>vit</a:t>
            </a:r>
            <a:r>
              <a:rPr lang="en-US" sz="2400" dirty="0">
                <a:cs typeface="Times New Roman" panose="02020603050405020304" pitchFamily="18" charset="0"/>
              </a:rPr>
              <a:t> K for their synthesis</a:t>
            </a:r>
          </a:p>
          <a:p>
            <a:pPr marL="411163">
              <a:buFont typeface="Wingdings" panose="05000000000000000000" pitchFamily="2" charset="2"/>
              <a:buNone/>
            </a:pPr>
            <a:r>
              <a:rPr lang="en-US" sz="2400" dirty="0">
                <a:cs typeface="Times New Roman" panose="02020603050405020304" pitchFamily="18" charset="0"/>
              </a:rPr>
              <a:t>- Inactivate factor V &amp;VIII And inhibitor of plasminogen activator ( increase plasmin)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97905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279777" y="623888"/>
            <a:ext cx="8912226" cy="1281112"/>
          </a:xfrm>
        </p:spPr>
        <p:txBody>
          <a:bodyPr anchor="t">
            <a:no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Synthetic anticoagulants</a:t>
            </a:r>
          </a:p>
        </p:txBody>
      </p:sp>
      <p:sp>
        <p:nvSpPr>
          <p:cNvPr id="207875" name="Content Placeholder 2"/>
          <p:cNvSpPr>
            <a:spLocks noGrp="1"/>
          </p:cNvSpPr>
          <p:nvPr>
            <p:ph idx="4294967295"/>
          </p:nvPr>
        </p:nvSpPr>
        <p:spPr>
          <a:xfrm>
            <a:off x="1888762" y="1631248"/>
            <a:ext cx="7772400" cy="4114800"/>
          </a:xfrm>
        </p:spPr>
        <p:txBody>
          <a:bodyPr>
            <a:normAutofit/>
          </a:bodyPr>
          <a:lstStyle/>
          <a:p>
            <a:pPr marL="411163"/>
            <a:r>
              <a:rPr lang="en-US" sz="3000" u="sng" dirty="0">
                <a:solidFill>
                  <a:schemeClr val="tx2"/>
                </a:solidFill>
                <a:cs typeface="Times New Roman" panose="02020603050405020304" pitchFamily="18" charset="0"/>
              </a:rPr>
              <a:t>Vitamin K </a:t>
            </a:r>
            <a:r>
              <a:rPr lang="en-US" sz="3000" u="sng" dirty="0" smtClean="0">
                <a:solidFill>
                  <a:schemeClr val="tx2"/>
                </a:solidFill>
                <a:cs typeface="Times New Roman" panose="02020603050405020304" pitchFamily="18" charset="0"/>
              </a:rPr>
              <a:t>antagonist</a:t>
            </a:r>
          </a:p>
          <a:p>
            <a:pPr marL="411163">
              <a:buFontTx/>
              <a:buChar char="-"/>
            </a:pPr>
            <a:r>
              <a:rPr lang="en-US" sz="3000" dirty="0" smtClean="0">
                <a:cs typeface="Times New Roman" panose="02020603050405020304" pitchFamily="18" charset="0"/>
              </a:rPr>
              <a:t>For </a:t>
            </a:r>
            <a:r>
              <a:rPr lang="en-US" sz="3000" dirty="0">
                <a:cs typeface="Times New Roman" panose="02020603050405020304" pitchFamily="18" charset="0"/>
              </a:rPr>
              <a:t>example </a:t>
            </a:r>
            <a:r>
              <a:rPr lang="en-US" sz="3000" dirty="0" smtClean="0">
                <a:cs typeface="Times New Roman" panose="02020603050405020304" pitchFamily="18" charset="0"/>
              </a:rPr>
              <a:t>warfarin</a:t>
            </a:r>
            <a:endParaRPr lang="en-US" sz="3000" dirty="0">
              <a:cs typeface="Times New Roman" panose="02020603050405020304" pitchFamily="18" charset="0"/>
            </a:endParaRPr>
          </a:p>
          <a:p>
            <a:pPr marL="411163">
              <a:buFontTx/>
              <a:buChar char="-"/>
            </a:pPr>
            <a:r>
              <a:rPr lang="en-US" sz="3000" dirty="0" smtClean="0">
                <a:cs typeface="Times New Roman" panose="02020603050405020304" pitchFamily="18" charset="0"/>
              </a:rPr>
              <a:t>Warfarin </a:t>
            </a:r>
            <a:r>
              <a:rPr lang="en-US" sz="3000" dirty="0">
                <a:cs typeface="Times New Roman" panose="02020603050405020304" pitchFamily="18" charset="0"/>
              </a:rPr>
              <a:t>is the only anticoagulants that can be taken </a:t>
            </a:r>
            <a:r>
              <a:rPr lang="en-US" sz="3000" dirty="0" smtClean="0">
                <a:cs typeface="Times New Roman" panose="02020603050405020304" pitchFamily="18" charset="0"/>
              </a:rPr>
              <a:t>orally</a:t>
            </a:r>
          </a:p>
          <a:p>
            <a:pPr marL="68263" indent="0">
              <a:buNone/>
            </a:pPr>
            <a:endParaRPr lang="en-US" sz="3000" u="sng" dirty="0" smtClean="0">
              <a:solidFill>
                <a:schemeClr val="tx2"/>
              </a:solidFill>
              <a:cs typeface="Times New Roman" panose="02020603050405020304" pitchFamily="18" charset="0"/>
            </a:endParaRPr>
          </a:p>
          <a:p>
            <a:pPr marL="525463" indent="-457200">
              <a:buFont typeface="Courier New" panose="02070309020205020404" pitchFamily="49" charset="0"/>
              <a:buChar char="o"/>
            </a:pPr>
            <a:r>
              <a:rPr lang="en-US" sz="3000" u="sng" dirty="0" err="1" smtClean="0">
                <a:solidFill>
                  <a:schemeClr val="tx2"/>
                </a:solidFill>
                <a:cs typeface="Times New Roman" panose="02020603050405020304" pitchFamily="18" charset="0"/>
              </a:rPr>
              <a:t>Ca</a:t>
            </a:r>
            <a:r>
              <a:rPr lang="en-US" sz="3000" u="sng" dirty="0" smtClean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en-US" sz="3000" u="sng" dirty="0" err="1">
                <a:solidFill>
                  <a:schemeClr val="tx2"/>
                </a:solidFill>
                <a:cs typeface="Times New Roman" panose="02020603050405020304" pitchFamily="18" charset="0"/>
              </a:rPr>
              <a:t>chealating</a:t>
            </a:r>
            <a:r>
              <a:rPr lang="en-US" sz="3000" u="sng" dirty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en-US" sz="3000" u="sng" dirty="0" smtClean="0">
                <a:solidFill>
                  <a:schemeClr val="tx2"/>
                </a:solidFill>
                <a:cs typeface="Times New Roman" panose="02020603050405020304" pitchFamily="18" charset="0"/>
              </a:rPr>
              <a:t>agents</a:t>
            </a:r>
          </a:p>
          <a:p>
            <a:pPr marL="68263" indent="0">
              <a:buNone/>
            </a:pPr>
            <a:endParaRPr lang="en-US" sz="3000" u="sng" dirty="0">
              <a:solidFill>
                <a:schemeClr val="tx2"/>
              </a:solidFill>
              <a:cs typeface="Times New Roman" panose="02020603050405020304" pitchFamily="18" charset="0"/>
            </a:endParaRPr>
          </a:p>
          <a:p>
            <a:pPr marL="68263" indent="0">
              <a:buNone/>
            </a:pPr>
            <a:endParaRPr lang="en-US" sz="3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4018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7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7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5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/>
          <p:cNvSpPr/>
          <p:nvPr/>
        </p:nvSpPr>
        <p:spPr>
          <a:xfrm>
            <a:off x="4159302" y="5772357"/>
            <a:ext cx="2724240" cy="96273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985147" y="327546"/>
            <a:ext cx="37032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Abnormal Hemostasis</a:t>
            </a:r>
            <a:endParaRPr lang="en-US" sz="2800" dirty="0"/>
          </a:p>
        </p:txBody>
      </p:sp>
      <p:cxnSp>
        <p:nvCxnSpPr>
          <p:cNvPr id="6" name="Straight Arrow Connector 5"/>
          <p:cNvCxnSpPr>
            <a:stCxn id="4" idx="2"/>
          </p:cNvCxnSpPr>
          <p:nvPr/>
        </p:nvCxnSpPr>
        <p:spPr>
          <a:xfrm>
            <a:off x="5836776" y="850766"/>
            <a:ext cx="109004" cy="718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58102" y="2092714"/>
            <a:ext cx="407515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 smtClean="0"/>
              <a:t>BLEEDING</a:t>
            </a:r>
            <a:endParaRPr lang="en-US" sz="6000" dirty="0"/>
          </a:p>
        </p:txBody>
      </p:sp>
      <p:sp>
        <p:nvSpPr>
          <p:cNvPr id="8" name="Teardrop 7"/>
          <p:cNvSpPr/>
          <p:nvPr/>
        </p:nvSpPr>
        <p:spPr>
          <a:xfrm rot="18246530">
            <a:off x="6016632" y="4105339"/>
            <a:ext cx="440212" cy="489966"/>
          </a:xfrm>
          <a:prstGeom prst="teardrop">
            <a:avLst/>
          </a:prstGeom>
          <a:solidFill>
            <a:srgbClr val="C000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ardrop 8"/>
          <p:cNvSpPr/>
          <p:nvPr/>
        </p:nvSpPr>
        <p:spPr>
          <a:xfrm rot="19026461">
            <a:off x="5493659" y="4645319"/>
            <a:ext cx="440212" cy="489966"/>
          </a:xfrm>
          <a:prstGeom prst="teardrop">
            <a:avLst/>
          </a:prstGeom>
          <a:solidFill>
            <a:srgbClr val="C000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ardrop 9"/>
          <p:cNvSpPr/>
          <p:nvPr/>
        </p:nvSpPr>
        <p:spPr>
          <a:xfrm rot="19904232">
            <a:off x="5773274" y="3320399"/>
            <a:ext cx="440212" cy="489966"/>
          </a:xfrm>
          <a:prstGeom prst="teardrop">
            <a:avLst/>
          </a:prstGeom>
          <a:solidFill>
            <a:srgbClr val="C000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ardrop 10"/>
          <p:cNvSpPr/>
          <p:nvPr/>
        </p:nvSpPr>
        <p:spPr>
          <a:xfrm rot="20630022">
            <a:off x="5442354" y="5362609"/>
            <a:ext cx="440212" cy="489966"/>
          </a:xfrm>
          <a:prstGeom prst="teardrop">
            <a:avLst/>
          </a:prstGeom>
          <a:solidFill>
            <a:srgbClr val="C000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ardrop 11"/>
          <p:cNvSpPr/>
          <p:nvPr/>
        </p:nvSpPr>
        <p:spPr>
          <a:xfrm rot="20009296">
            <a:off x="5140546" y="3912807"/>
            <a:ext cx="440212" cy="489966"/>
          </a:xfrm>
          <a:prstGeom prst="teardrop">
            <a:avLst/>
          </a:prstGeom>
          <a:solidFill>
            <a:srgbClr val="C000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552273" y="5895221"/>
            <a:ext cx="1938299" cy="64666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46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500"/>
                            </p:stCondLst>
                            <p:childTnLst>
                              <p:par>
                                <p:cTn id="4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000"/>
                            </p:stCondLst>
                            <p:childTnLst>
                              <p:par>
                                <p:cTn id="4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Conditions That Cause Excessive Bleeding in Human Beings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smtClean="0"/>
              <a:t>1.Vitamin </a:t>
            </a:r>
            <a:r>
              <a:rPr lang="en-US" sz="3200" dirty="0"/>
              <a:t>K </a:t>
            </a:r>
            <a:r>
              <a:rPr lang="en-US" sz="3200" dirty="0" smtClean="0"/>
              <a:t>deficiency</a:t>
            </a:r>
          </a:p>
          <a:p>
            <a:pPr marL="0" indent="0" algn="ctr">
              <a:buNone/>
            </a:pPr>
            <a:r>
              <a:rPr lang="en-US" dirty="0" smtClean="0"/>
              <a:t>(important for formation of some coagulation factors :        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II , VII,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IX, X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3200" dirty="0" smtClean="0"/>
              <a:t>2. Inherited </a:t>
            </a:r>
            <a:r>
              <a:rPr lang="en-US" sz="3200" dirty="0"/>
              <a:t>clotting disorder </a:t>
            </a:r>
          </a:p>
          <a:p>
            <a:pPr marL="0" indent="0">
              <a:buNone/>
            </a:pPr>
            <a:r>
              <a:rPr lang="en-US" sz="3200" dirty="0" smtClean="0"/>
              <a:t>3. Platelet </a:t>
            </a:r>
            <a:r>
              <a:rPr lang="en-US" sz="3200" dirty="0"/>
              <a:t>disorder.</a:t>
            </a:r>
          </a:p>
        </p:txBody>
      </p:sp>
    </p:spTree>
    <p:extLst>
      <p:ext uri="{BB962C8B-B14F-4D97-AF65-F5344CB8AC3E}">
        <p14:creationId xmlns:p14="http://schemas.microsoft.com/office/powerpoint/2010/main" val="3593621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817661" y="232013"/>
            <a:ext cx="17796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Bleeding</a:t>
            </a:r>
            <a:endParaRPr lang="en-US" sz="3200" dirty="0"/>
          </a:p>
        </p:txBody>
      </p:sp>
      <p:sp>
        <p:nvSpPr>
          <p:cNvPr id="5" name="Rounded Rectangle 4"/>
          <p:cNvSpPr/>
          <p:nvPr/>
        </p:nvSpPr>
        <p:spPr>
          <a:xfrm>
            <a:off x="2019869" y="395786"/>
            <a:ext cx="2279177" cy="982639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Platelet</a:t>
            </a:r>
            <a:endParaRPr lang="en-US" sz="3200" dirty="0"/>
          </a:p>
        </p:txBody>
      </p:sp>
      <p:sp>
        <p:nvSpPr>
          <p:cNvPr id="6" name="Rounded Rectangle 5"/>
          <p:cNvSpPr/>
          <p:nvPr/>
        </p:nvSpPr>
        <p:spPr>
          <a:xfrm>
            <a:off x="7258596" y="395786"/>
            <a:ext cx="2279177" cy="982639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Factors</a:t>
            </a:r>
            <a:endParaRPr lang="en-US" sz="3200" dirty="0"/>
          </a:p>
        </p:txBody>
      </p:sp>
      <p:cxnSp>
        <p:nvCxnSpPr>
          <p:cNvPr id="8" name="Straight Arrow Connector 7"/>
          <p:cNvCxnSpPr>
            <a:stCxn id="4" idx="2"/>
          </p:cNvCxnSpPr>
          <p:nvPr/>
        </p:nvCxnSpPr>
        <p:spPr>
          <a:xfrm>
            <a:off x="5707488" y="816788"/>
            <a:ext cx="71333" cy="957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915442" y="1774210"/>
            <a:ext cx="16193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Where?</a:t>
            </a:r>
            <a:endParaRPr lang="en-US" sz="3200" dirty="0"/>
          </a:p>
        </p:txBody>
      </p:sp>
      <p:cxnSp>
        <p:nvCxnSpPr>
          <p:cNvPr id="11" name="Straight Arrow Connector 10"/>
          <p:cNvCxnSpPr>
            <a:stCxn id="9" idx="2"/>
          </p:cNvCxnSpPr>
          <p:nvPr/>
        </p:nvCxnSpPr>
        <p:spPr>
          <a:xfrm flipH="1">
            <a:off x="5036027" y="2358985"/>
            <a:ext cx="689092" cy="344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89653" y="2647498"/>
            <a:ext cx="2845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/>
              <a:t>Muco</a:t>
            </a:r>
            <a:r>
              <a:rPr lang="en-US" sz="2800" dirty="0" smtClean="0"/>
              <a:t>-cutaneous</a:t>
            </a:r>
            <a:endParaRPr lang="en-US" sz="2800" dirty="0"/>
          </a:p>
        </p:txBody>
      </p:sp>
      <p:cxnSp>
        <p:nvCxnSpPr>
          <p:cNvPr id="14" name="Straight Arrow Connector 13"/>
          <p:cNvCxnSpPr>
            <a:stCxn id="9" idx="2"/>
          </p:cNvCxnSpPr>
          <p:nvPr/>
        </p:nvCxnSpPr>
        <p:spPr>
          <a:xfrm>
            <a:off x="5725119" y="2358985"/>
            <a:ext cx="687198" cy="369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642198" y="2615765"/>
            <a:ext cx="23823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Muscle \ joint </a:t>
            </a:r>
            <a:endParaRPr lang="en-US" sz="2800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5778820" y="2615766"/>
            <a:ext cx="0" cy="764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145323" y="3441596"/>
            <a:ext cx="1266994" cy="605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Labs</a:t>
            </a:r>
            <a:endParaRPr lang="en-US" sz="3200" dirty="0"/>
          </a:p>
        </p:txBody>
      </p:sp>
      <p:cxnSp>
        <p:nvCxnSpPr>
          <p:cNvPr id="21" name="Straight Arrow Connector 20"/>
          <p:cNvCxnSpPr>
            <a:stCxn id="18" idx="2"/>
          </p:cNvCxnSpPr>
          <p:nvPr/>
        </p:nvCxnSpPr>
        <p:spPr>
          <a:xfrm flipH="1">
            <a:off x="5145323" y="4047531"/>
            <a:ext cx="633497" cy="328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8" idx="2"/>
          </p:cNvCxnSpPr>
          <p:nvPr/>
        </p:nvCxnSpPr>
        <p:spPr>
          <a:xfrm>
            <a:off x="5778820" y="4047531"/>
            <a:ext cx="458208" cy="328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182357" y="4114716"/>
            <a:ext cx="28536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Century Gothic" panose="020B0502020202020204" pitchFamily="34" charset="0"/>
              </a:rPr>
              <a:t>↑ Bleeding time</a:t>
            </a:r>
            <a:endParaRPr lang="en-US" sz="2800" dirty="0"/>
          </a:p>
        </p:txBody>
      </p:sp>
      <p:sp>
        <p:nvSpPr>
          <p:cNvPr id="25" name="TextBox 24"/>
          <p:cNvSpPr txBox="1"/>
          <p:nvPr/>
        </p:nvSpPr>
        <p:spPr>
          <a:xfrm>
            <a:off x="6412317" y="4114716"/>
            <a:ext cx="2704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Century Gothic" panose="020B0502020202020204" pitchFamily="34" charset="0"/>
              </a:rPr>
              <a:t>↑ Clotting time</a:t>
            </a:r>
            <a:endParaRPr lang="en-US" sz="2800" dirty="0"/>
          </a:p>
        </p:txBody>
      </p:sp>
      <p:cxnSp>
        <p:nvCxnSpPr>
          <p:cNvPr id="27" name="Straight Arrow Connector 26"/>
          <p:cNvCxnSpPr>
            <a:stCxn id="24" idx="2"/>
          </p:cNvCxnSpPr>
          <p:nvPr/>
        </p:nvCxnSpPr>
        <p:spPr>
          <a:xfrm flipH="1">
            <a:off x="2782860" y="4637936"/>
            <a:ext cx="826330" cy="286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4" idx="2"/>
          </p:cNvCxnSpPr>
          <p:nvPr/>
        </p:nvCxnSpPr>
        <p:spPr>
          <a:xfrm>
            <a:off x="3609190" y="4637936"/>
            <a:ext cx="729515" cy="313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460259" y="4951834"/>
            <a:ext cx="1821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entury Gothic" panose="020B0502020202020204" pitchFamily="34" charset="0"/>
              </a:rPr>
              <a:t>↓ </a:t>
            </a:r>
            <a:r>
              <a:rPr lang="en-US" sz="2400" dirty="0" err="1" smtClean="0">
                <a:latin typeface="Century Gothic" panose="020B0502020202020204" pitchFamily="34" charset="0"/>
              </a:rPr>
              <a:t>Plt</a:t>
            </a:r>
            <a:r>
              <a:rPr lang="en-US" sz="2400" dirty="0" smtClean="0">
                <a:latin typeface="Century Gothic" panose="020B0502020202020204" pitchFamily="34" charset="0"/>
              </a:rPr>
              <a:t>. count</a:t>
            </a:r>
            <a:endParaRPr lang="en-US" sz="2400" dirty="0"/>
          </a:p>
        </p:txBody>
      </p:sp>
      <p:sp>
        <p:nvSpPr>
          <p:cNvPr id="38" name="TextBox 37"/>
          <p:cNvSpPr txBox="1"/>
          <p:nvPr/>
        </p:nvSpPr>
        <p:spPr>
          <a:xfrm>
            <a:off x="3796507" y="4951835"/>
            <a:ext cx="18694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entury Gothic" panose="020B0502020202020204" pitchFamily="34" charset="0"/>
              </a:rPr>
              <a:t>Normal </a:t>
            </a:r>
            <a:r>
              <a:rPr lang="en-US" sz="2400" dirty="0" err="1" smtClean="0">
                <a:latin typeface="Century Gothic" panose="020B0502020202020204" pitchFamily="34" charset="0"/>
              </a:rPr>
              <a:t>Plt</a:t>
            </a:r>
            <a:r>
              <a:rPr lang="en-US" sz="2400" dirty="0" smtClean="0">
                <a:latin typeface="Century Gothic" panose="020B0502020202020204" pitchFamily="34" charset="0"/>
              </a:rPr>
              <a:t>. </a:t>
            </a:r>
          </a:p>
          <a:p>
            <a:r>
              <a:rPr lang="en-US" sz="2400" dirty="0" smtClean="0">
                <a:latin typeface="Century Gothic" panose="020B0502020202020204" pitchFamily="34" charset="0"/>
              </a:rPr>
              <a:t>count</a:t>
            </a:r>
            <a:endParaRPr lang="en-US" sz="2400" dirty="0"/>
          </a:p>
        </p:txBody>
      </p:sp>
      <p:cxnSp>
        <p:nvCxnSpPr>
          <p:cNvPr id="39" name="Straight Arrow Connector 38"/>
          <p:cNvCxnSpPr/>
          <p:nvPr/>
        </p:nvCxnSpPr>
        <p:spPr>
          <a:xfrm flipH="1">
            <a:off x="7069975" y="4580819"/>
            <a:ext cx="826332" cy="286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7896310" y="4580819"/>
            <a:ext cx="729513" cy="313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12317" y="4951834"/>
            <a:ext cx="7216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VIII</a:t>
            </a:r>
            <a:endParaRPr lang="en-US" sz="2800" dirty="0"/>
          </a:p>
        </p:txBody>
      </p:sp>
      <p:sp>
        <p:nvSpPr>
          <p:cNvPr id="42" name="TextBox 41"/>
          <p:cNvSpPr txBox="1"/>
          <p:nvPr/>
        </p:nvSpPr>
        <p:spPr>
          <a:xfrm>
            <a:off x="8435307" y="4992554"/>
            <a:ext cx="522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IX</a:t>
            </a:r>
            <a:endParaRPr lang="en-US" sz="2800" dirty="0"/>
          </a:p>
        </p:txBody>
      </p:sp>
      <p:sp>
        <p:nvSpPr>
          <p:cNvPr id="43" name="TextBox 42"/>
          <p:cNvSpPr txBox="1"/>
          <p:nvPr/>
        </p:nvSpPr>
        <p:spPr>
          <a:xfrm>
            <a:off x="343554" y="6162836"/>
            <a:ext cx="31582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(Thrombocytopenia)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910396" y="616283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(VWD)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457821" y="6246631"/>
            <a:ext cx="2343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(Hemophilia A)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079449" y="6246631"/>
            <a:ext cx="2355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(Hemophilia B)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8" name="Straight Arrow Connector 47"/>
          <p:cNvCxnSpPr>
            <a:stCxn id="30" idx="2"/>
          </p:cNvCxnSpPr>
          <p:nvPr/>
        </p:nvCxnSpPr>
        <p:spPr>
          <a:xfrm>
            <a:off x="2370925" y="5413499"/>
            <a:ext cx="2" cy="749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38" idx="2"/>
          </p:cNvCxnSpPr>
          <p:nvPr/>
        </p:nvCxnSpPr>
        <p:spPr>
          <a:xfrm>
            <a:off x="4731219" y="5782832"/>
            <a:ext cx="1" cy="380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41" idx="2"/>
          </p:cNvCxnSpPr>
          <p:nvPr/>
        </p:nvCxnSpPr>
        <p:spPr>
          <a:xfrm flipH="1">
            <a:off x="6753117" y="5475054"/>
            <a:ext cx="20036" cy="687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42" idx="2"/>
          </p:cNvCxnSpPr>
          <p:nvPr/>
        </p:nvCxnSpPr>
        <p:spPr>
          <a:xfrm flipH="1">
            <a:off x="8677522" y="5515774"/>
            <a:ext cx="19235" cy="730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53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/>
      <p:bldP spid="12" grpId="0"/>
      <p:bldP spid="15" grpId="0"/>
      <p:bldP spid="18" grpId="0"/>
      <p:bldP spid="24" grpId="0"/>
      <p:bldP spid="25" grpId="0"/>
      <p:bldP spid="30" grpId="0"/>
      <p:bldP spid="38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382</TotalTime>
  <Words>1123</Words>
  <Application>Microsoft Office PowerPoint</Application>
  <PresentationFormat>Custom</PresentationFormat>
  <Paragraphs>263</Paragraphs>
  <Slides>29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Solstice</vt:lpstr>
      <vt:lpstr>HEMOSTASIS</vt:lpstr>
      <vt:lpstr>Definition</vt:lpstr>
      <vt:lpstr>Mechanisms of hemostasis:</vt:lpstr>
      <vt:lpstr>Vasospasm</vt:lpstr>
      <vt:lpstr>The formation of a platelets plug</vt:lpstr>
      <vt:lpstr>Platelets</vt:lpstr>
      <vt:lpstr>PowerPoint Presentation</vt:lpstr>
      <vt:lpstr>PowerPoint Presentation</vt:lpstr>
      <vt:lpstr>PowerPoint Presentation</vt:lpstr>
      <vt:lpstr>Platelets agreggation</vt:lpstr>
      <vt:lpstr>Coagulation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fibrinolytic system</vt:lpstr>
      <vt:lpstr>Pathway of fibrinolytic system</vt:lpstr>
      <vt:lpstr>The fibrinolytic system</vt:lpstr>
      <vt:lpstr>Maintain  blood in the fluid state</vt:lpstr>
      <vt:lpstr>PowerPoint Presentation</vt:lpstr>
      <vt:lpstr>PowerPoint Presentation</vt:lpstr>
      <vt:lpstr>PowerPoint Presentation</vt:lpstr>
      <vt:lpstr>PowerPoint Presentation</vt:lpstr>
      <vt:lpstr>Synthetic anticoagulants</vt:lpstr>
      <vt:lpstr>PowerPoint Presentation</vt:lpstr>
      <vt:lpstr>Conditions That Cause Excessive Bleeding in Human Beings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HEMOSTASIS</dc:title>
  <dc:creator>HSCOO</dc:creator>
  <cp:lastModifiedBy>Wafa</cp:lastModifiedBy>
  <cp:revision>43</cp:revision>
  <dcterms:created xsi:type="dcterms:W3CDTF">2015-10-31T10:53:25Z</dcterms:created>
  <dcterms:modified xsi:type="dcterms:W3CDTF">2022-09-15T06:17:16Z</dcterms:modified>
</cp:coreProperties>
</file>