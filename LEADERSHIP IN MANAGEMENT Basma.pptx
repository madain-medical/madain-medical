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73" r:id="rId7"/>
    <p:sldId id="261" r:id="rId8"/>
    <p:sldId id="272" r:id="rId9"/>
    <p:sldId id="263" r:id="rId10"/>
    <p:sldId id="267" r:id="rId11"/>
    <p:sldId id="268" r:id="rId12"/>
    <p:sldId id="269" r:id="rId13"/>
    <p:sldId id="270" r:id="rId14"/>
    <p:sldId id="271" r:id="rId15"/>
    <p:sldId id="274" r:id="rId16"/>
    <p:sldId id="264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aximized">
    <p:restoredLeft sz="16912" autoAdjust="0"/>
    <p:restoredTop sz="94660"/>
  </p:normalViewPr>
  <p:slideViewPr>
    <p:cSldViewPr>
      <p:cViewPr varScale="1">
        <p:scale>
          <a:sx n="68" d="100"/>
          <a:sy n="68" d="100"/>
        </p:scale>
        <p:origin x="-121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A773D6-633C-4157-AB25-A97E9D7505DB}" type="datetimeFigureOut">
              <a:rPr lang="en-US" smtClean="0"/>
              <a:pPr/>
              <a:t>7/31/2021</a:t>
            </a:fld>
            <a:endParaRPr lang="en-US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C81627-D861-4E60-91BD-7F5F3AA41EB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9234FD-F417-443E-B936-0AD6E2F7E5E6}" type="slidenum">
              <a:rPr lang="en-US"/>
              <a:pPr/>
              <a:t>17</a:t>
            </a:fld>
            <a:endParaRPr lang="en-US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مستطيل ذو زوايا قطرية مستديرة 6"/>
          <p:cNvSpPr/>
          <p:nvPr/>
        </p:nvSpPr>
        <p:spPr>
          <a:xfrm>
            <a:off x="164592" y="146304"/>
            <a:ext cx="8814816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عنوان 7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2209800"/>
          </a:xfrm>
        </p:spPr>
        <p:txBody>
          <a:bodyPr lIns="45720" rIns="228600" anchor="b">
            <a:normAutofit/>
          </a:bodyPr>
          <a:lstStyle>
            <a:lvl1pPr marL="0" algn="r">
              <a:defRPr sz="4800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9" name="عنوان فرعي 8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ar-SA" smtClean="0"/>
              <a:t>انقر لتحرير نمط العنوان الثانوي الرئيسي</a:t>
            </a:r>
            <a:endParaRPr kumimoji="0" lang="en-US"/>
          </a:p>
        </p:txBody>
      </p:sp>
      <p:sp>
        <p:nvSpPr>
          <p:cNvPr id="10" name="عنصر نائب للتاريخ 9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>
            <a:extLst/>
          </a:lstStyle>
          <a:p>
            <a:fld id="{A45CBD84-8E5C-4732-846F-5174772311A4}" type="datetimeFigureOut">
              <a:rPr lang="en-US" smtClean="0"/>
              <a:pPr/>
              <a:t>7/31/2021</a:t>
            </a:fld>
            <a:endParaRPr lang="en-US"/>
          </a:p>
        </p:txBody>
      </p:sp>
      <p:sp>
        <p:nvSpPr>
          <p:cNvPr id="11" name="عنصر نائب لرقم الشريحة 10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C4429930-B824-46C0-AC19-AA4F3CBE667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عنصر نائب للتذييل 11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مستطيل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45CBD84-8E5C-4732-846F-5174772311A4}" type="datetimeFigureOut">
              <a:rPr lang="en-US" smtClean="0"/>
              <a:pPr/>
              <a:t>7/31/2021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4429930-B824-46C0-AC19-AA4F3CBE66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عنوان المقطع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مستطيل 6"/>
          <p:cNvSpPr/>
          <p:nvPr/>
        </p:nvSpPr>
        <p:spPr>
          <a:xfrm>
            <a:off x="1000128" y="3267456"/>
            <a:ext cx="74066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722376" y="498230"/>
            <a:ext cx="77724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722313" y="3287713"/>
            <a:ext cx="7772400" cy="1509712"/>
          </a:xfrm>
        </p:spPr>
        <p:txBody>
          <a:bodyPr rIns="128016" anchor="t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8" name="عنصر نائب للتاريخ 7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>
            <a:extLst/>
          </a:lstStyle>
          <a:p>
            <a:fld id="{A45CBD84-8E5C-4732-846F-5174772311A4}" type="datetimeFigureOut">
              <a:rPr lang="en-US" smtClean="0"/>
              <a:pPr/>
              <a:t>7/31/2021</a:t>
            </a:fld>
            <a:endParaRPr lang="en-US"/>
          </a:p>
        </p:txBody>
      </p:sp>
      <p:sp>
        <p:nvSpPr>
          <p:cNvPr id="9" name="عنصر نائب لرقم الشريحة 8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C4429930-B824-46C0-AC19-AA4F3CBE667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عنصر نائب للتذييل 9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ي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sz="half" idx="1"/>
          </p:nvPr>
        </p:nvSpPr>
        <p:spPr>
          <a:xfrm>
            <a:off x="457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4648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45CBD84-8E5C-4732-846F-5174772311A4}" type="datetimeFigureOut">
              <a:rPr lang="en-US" smtClean="0"/>
              <a:pPr/>
              <a:t>7/31/2021</a:t>
            </a:fld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>
            <a:extLst/>
          </a:lstStyle>
          <a:p>
            <a:fld id="{C4429930-B824-46C0-AC19-AA4F3CBE667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مستطيل 9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مستطيل 9"/>
          <p:cNvSpPr/>
          <p:nvPr/>
        </p:nvSpPr>
        <p:spPr>
          <a:xfrm>
            <a:off x="616744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مستطيل 10"/>
          <p:cNvSpPr/>
          <p:nvPr/>
        </p:nvSpPr>
        <p:spPr>
          <a:xfrm>
            <a:off x="4800600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57200" y="251948"/>
            <a:ext cx="8229600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5" name="عنصر نائب للمحتوى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941763"/>
          </a:xfrm>
        </p:spPr>
        <p:txBody>
          <a:bodyPr lIns="9144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6" name="عنصر نائب للمحتوى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7" name="عنصر نائب للتاريخ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45CBD84-8E5C-4732-846F-5174772311A4}" type="datetimeFigureOut">
              <a:rPr lang="en-US" smtClean="0"/>
              <a:pPr/>
              <a:t>7/31/2021</a:t>
            </a:fld>
            <a:endParaRPr lang="en-US"/>
          </a:p>
        </p:txBody>
      </p:sp>
      <p:sp>
        <p:nvSpPr>
          <p:cNvPr id="8" name="عنصر نائب للتذييل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عنصر نائب لرقم الشريحة 8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>
            <a:extLst/>
          </a:lstStyle>
          <a:p>
            <a:fld id="{C4429930-B824-46C0-AC19-AA4F3CBE66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57200" y="253218"/>
            <a:ext cx="8229600" cy="1143000"/>
          </a:xfrm>
        </p:spPr>
        <p:txBody>
          <a:bodyPr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45CBD84-8E5C-4732-846F-5174772311A4}" type="datetimeFigureOut">
              <a:rPr lang="en-US" smtClean="0"/>
              <a:pPr/>
              <a:t>7/31/2021</a:t>
            </a:fld>
            <a:endParaRPr lang="en-US"/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4429930-B824-46C0-AC19-AA4F3CBE667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مستطيل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45CBD84-8E5C-4732-846F-5174772311A4}" type="datetimeFigureOut">
              <a:rPr lang="en-US" smtClean="0"/>
              <a:pPr/>
              <a:t>7/31/2021</a:t>
            </a:fld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4429930-B824-46C0-AC19-AA4F3CBE66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محتوى ذو تسمية توضيحية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مستطيل 7"/>
          <p:cNvSpPr/>
          <p:nvPr/>
        </p:nvSpPr>
        <p:spPr>
          <a:xfrm>
            <a:off x="5057552" y="105765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963136" y="304800"/>
            <a:ext cx="3931920" cy="762000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2"/>
          </p:nvPr>
        </p:nvSpPr>
        <p:spPr>
          <a:xfrm>
            <a:off x="4963136" y="1107560"/>
            <a:ext cx="393192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1"/>
          </p:nvPr>
        </p:nvSpPr>
        <p:spPr>
          <a:xfrm>
            <a:off x="228600" y="2209800"/>
            <a:ext cx="8666456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9" name="عنصر نائب للتاريخ 8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>
            <a:extLst/>
          </a:lstStyle>
          <a:p>
            <a:fld id="{A45CBD84-8E5C-4732-846F-5174772311A4}" type="datetimeFigureOut">
              <a:rPr lang="en-US" smtClean="0"/>
              <a:pPr/>
              <a:t>7/31/2021</a:t>
            </a:fld>
            <a:endParaRPr lang="en-US"/>
          </a:p>
        </p:txBody>
      </p:sp>
      <p:sp>
        <p:nvSpPr>
          <p:cNvPr id="10" name="عنصر نائب لرقم الشريحة 9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C4429930-B824-46C0-AC19-AA4F3CBE667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عنصر نائب للتذييل 10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صورة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3040443" y="4724400"/>
            <a:ext cx="5486400" cy="664536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3040443" y="5388936"/>
            <a:ext cx="54864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13" name="عنصر نائب للصورة 12"/>
          <p:cNvSpPr>
            <a:spLocks noGrp="1"/>
          </p:cNvSpPr>
          <p:nvPr>
            <p:ph type="pic" idx="1"/>
          </p:nvPr>
        </p:nvSpPr>
        <p:spPr>
          <a:xfrm>
            <a:off x="304800" y="249864"/>
            <a:ext cx="85344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  <a:extLst/>
          </a:lstStyle>
          <a:p>
            <a:pPr marL="0" algn="l" rtl="0" eaLnBrk="1" latinLnBrk="0" hangingPunct="1"/>
            <a:r>
              <a:rPr kumimoji="0" lang="ar-SA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انقر فوق الرمز لإضافة صورة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عنصر نائب للتاريخ 7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>
            <a:extLst/>
          </a:lstStyle>
          <a:p>
            <a:fld id="{A45CBD84-8E5C-4732-846F-5174772311A4}" type="datetimeFigureOut">
              <a:rPr lang="en-US" smtClean="0"/>
              <a:pPr/>
              <a:t>7/31/2021</a:t>
            </a:fld>
            <a:endParaRPr lang="en-US"/>
          </a:p>
        </p:txBody>
      </p:sp>
      <p:sp>
        <p:nvSpPr>
          <p:cNvPr id="9" name="عنصر نائب لرقم الشريحة 8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C4429930-B824-46C0-AC19-AA4F3CBE667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عنصر نائب للتذييل 9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45CBD84-8E5C-4732-846F-5174772311A4}" type="datetimeFigureOut">
              <a:rPr lang="en-US" smtClean="0"/>
              <a:pPr/>
              <a:t>7/31/2021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4429930-B824-46C0-AC19-AA4F3CBE66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45CBD84-8E5C-4732-846F-5174772311A4}" type="datetimeFigureOut">
              <a:rPr lang="en-US" smtClean="0"/>
              <a:pPr/>
              <a:t>7/31/2021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4429930-B824-46C0-AC19-AA4F3CBE66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مستطيل ذو زوايا قطرية مستديرة 6"/>
          <p:cNvSpPr/>
          <p:nvPr/>
        </p:nvSpPr>
        <p:spPr>
          <a:xfrm>
            <a:off x="164592" y="147085"/>
            <a:ext cx="8810846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3"/>
          </p:nvPr>
        </p:nvSpPr>
        <p:spPr>
          <a:xfrm>
            <a:off x="1295400" y="6400800"/>
            <a:ext cx="4212264" cy="274320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4" name="عنصر نائب للتاريخ 13"/>
          <p:cNvSpPr>
            <a:spLocks noGrp="1"/>
          </p:cNvSpPr>
          <p:nvPr>
            <p:ph type="dt" sz="half" idx="2"/>
          </p:nvPr>
        </p:nvSpPr>
        <p:spPr>
          <a:xfrm>
            <a:off x="5562600" y="6400800"/>
            <a:ext cx="3002280" cy="274320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fld id="{A45CBD84-8E5C-4732-846F-5174772311A4}" type="datetimeFigureOut">
              <a:rPr lang="en-US" smtClean="0"/>
              <a:pPr/>
              <a:t>7/31/2021</a:t>
            </a:fld>
            <a:endParaRPr lang="en-US"/>
          </a:p>
        </p:txBody>
      </p:sp>
      <p:sp>
        <p:nvSpPr>
          <p:cNvPr id="23" name="عنصر نائب لرقم الشريحة 22"/>
          <p:cNvSpPr>
            <a:spLocks noGrp="1"/>
          </p:cNvSpPr>
          <p:nvPr>
            <p:ph type="sldNum" sz="quarter" idx="4"/>
          </p:nvPr>
        </p:nvSpPr>
        <p:spPr>
          <a:xfrm>
            <a:off x="8638952" y="6514568"/>
            <a:ext cx="464288" cy="274320"/>
          </a:xfrm>
          <a:prstGeom prst="rect">
            <a:avLst/>
          </a:prstGeom>
        </p:spPr>
        <p:txBody>
          <a:bodyPr anchor="ctr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  <a:effectLst/>
              </a:defRPr>
            </a:lvl1pPr>
            <a:extLst/>
          </a:lstStyle>
          <a:p>
            <a:fld id="{C4429930-B824-46C0-AC19-AA4F3CBE667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عنصر نائب للعنوان 2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13" name="عنصر نائب للنص 12"/>
          <p:cNvSpPr>
            <a:spLocks noGrp="1"/>
          </p:cNvSpPr>
          <p:nvPr>
            <p:ph type="body" idx="1"/>
          </p:nvPr>
        </p:nvSpPr>
        <p:spPr>
          <a:xfrm>
            <a:off x="457200" y="1646237"/>
            <a:ext cx="8229600" cy="452628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  <a:p>
            <a:pPr lvl="1" eaLnBrk="1" latinLnBrk="0" hangingPunct="1"/>
            <a:r>
              <a:rPr kumimoji="0" lang="ar-SA" smtClean="0"/>
              <a:t>المستوى الثاني</a:t>
            </a:r>
          </a:p>
          <a:p>
            <a:pPr lvl="2" eaLnBrk="1" latinLnBrk="0" hangingPunct="1"/>
            <a:r>
              <a:rPr kumimoji="0" lang="ar-SA" smtClean="0"/>
              <a:t>المستوى الثالث</a:t>
            </a:r>
          </a:p>
          <a:p>
            <a:pPr lvl="3" eaLnBrk="1" latinLnBrk="0" hangingPunct="1"/>
            <a:r>
              <a:rPr kumimoji="0" lang="ar-SA" smtClean="0"/>
              <a:t>المستوى الرابع</a:t>
            </a:r>
          </a:p>
          <a:p>
            <a:pPr lvl="4" eaLnBrk="1" latinLnBrk="0" hangingPunct="1"/>
            <a:r>
              <a:rPr kumimoji="0" lang="ar-SA" smtClean="0"/>
              <a:t>المستوى الخامس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54864" algn="r" rtl="0" eaLnBrk="1" latinLnBrk="0" hangingPunct="1">
        <a:spcBef>
          <a:spcPct val="0"/>
        </a:spcBef>
        <a:buNone/>
        <a:defRPr kumimoji="0" sz="4600" kern="1200">
          <a:solidFill>
            <a:schemeClr val="tx2">
              <a:tint val="100000"/>
              <a:shade val="90000"/>
              <a:satMod val="250000"/>
              <a:alpha val="100000"/>
            </a:schemeClr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92100" indent="-292100" algn="l" rtl="0" eaLnBrk="1" latinLnBrk="0" hangingPunct="1">
        <a:spcBef>
          <a:spcPts val="0"/>
        </a:spcBef>
        <a:buClr>
          <a:schemeClr val="accent1"/>
        </a:buClr>
        <a:buSzPct val="70000"/>
        <a:buFont typeface="Wingdings 2"/>
        <a:buChar char="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rtl="0" eaLnBrk="1" latinLnBrk="0" hangingPunct="1">
        <a:spcBef>
          <a:spcPts val="400"/>
        </a:spcBef>
        <a:buClr>
          <a:schemeClr val="accent2"/>
        </a:buClr>
        <a:buSzPct val="90000"/>
        <a:buFontTx/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92024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679766" cy="2209800"/>
          </a:xfrm>
        </p:spPr>
        <p:txBody>
          <a:bodyPr>
            <a:normAutofit/>
          </a:bodyPr>
          <a:lstStyle/>
          <a:p>
            <a:pPr algn="ctr"/>
            <a:r>
              <a:rPr lang="en-US" sz="6000" b="1" i="1" dirty="0" smtClean="0">
                <a:solidFill>
                  <a:srgbClr val="FFFF00"/>
                </a:solidFill>
                <a:effectLst/>
                <a:latin typeface="+mn-lt"/>
              </a:rPr>
              <a:t>LEADERSHIP MANAGEMENT</a:t>
            </a:r>
            <a:endParaRPr lang="en-US" sz="6000" b="1" i="1" dirty="0">
              <a:solidFill>
                <a:srgbClr val="FFFF00"/>
              </a:solidFill>
              <a:effectLst/>
              <a:latin typeface="+mn-lt"/>
            </a:endParaRPr>
          </a:p>
        </p:txBody>
      </p:sp>
      <p:sp>
        <p:nvSpPr>
          <p:cNvPr id="3" name="عنوان فرعي 2"/>
          <p:cNvSpPr>
            <a:spLocks noGrp="1"/>
          </p:cNvSpPr>
          <p:nvPr>
            <p:ph type="subTitle" idx="1"/>
          </p:nvPr>
        </p:nvSpPr>
        <p:spPr>
          <a:xfrm>
            <a:off x="214282" y="5105400"/>
            <a:ext cx="5429288" cy="1752600"/>
          </a:xfrm>
        </p:spPr>
        <p:txBody>
          <a:bodyPr>
            <a:normAutofit/>
          </a:bodyPr>
          <a:lstStyle/>
          <a:p>
            <a:pPr algn="l"/>
            <a:r>
              <a:rPr lang="en-US" sz="2800" dirty="0">
                <a:solidFill>
                  <a:schemeClr val="tx1"/>
                </a:solidFill>
              </a:rPr>
              <a:t>By : dr. </a:t>
            </a:r>
            <a:r>
              <a:rPr lang="en-US" sz="2800" dirty="0" err="1" smtClean="0">
                <a:solidFill>
                  <a:schemeClr val="tx1"/>
                </a:solidFill>
              </a:rPr>
              <a:t>Ibtisam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Merghani</a:t>
            </a:r>
            <a:r>
              <a:rPr lang="en-US" sz="2800" dirty="0" smtClean="0">
                <a:solidFill>
                  <a:schemeClr val="tx1"/>
                </a:solidFill>
              </a:rPr>
              <a:t> Oman </a:t>
            </a:r>
            <a:endParaRPr lang="en-US" sz="2800" dirty="0">
              <a:solidFill>
                <a:schemeClr val="tx1"/>
              </a:solidFill>
            </a:endParaRPr>
          </a:p>
          <a:p>
            <a:pPr algn="l"/>
            <a:r>
              <a:rPr lang="en-US" sz="2800" dirty="0">
                <a:solidFill>
                  <a:schemeClr val="tx1"/>
                </a:solidFill>
              </a:rPr>
              <a:t>MBBS, DPH , </a:t>
            </a:r>
            <a:r>
              <a:rPr lang="en-US" sz="2800" dirty="0" smtClean="0">
                <a:solidFill>
                  <a:schemeClr val="tx1"/>
                </a:solidFill>
              </a:rPr>
              <a:t>MPH,MD </a:t>
            </a: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4" name="صورة 3" descr="leader 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3570" y="4381500"/>
            <a:ext cx="3500430" cy="2476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>
                <a:solidFill>
                  <a:srgbClr val="FFFF00"/>
                </a:solidFill>
              </a:rPr>
              <a:t>Objectives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By the end of this session the student will be able to:</a:t>
            </a:r>
          </a:p>
          <a:p>
            <a:r>
              <a:rPr lang="en-US" dirty="0" smtClean="0"/>
              <a:t>Define leader&amp; leadership</a:t>
            </a:r>
          </a:p>
          <a:p>
            <a:r>
              <a:rPr lang="en-US" dirty="0" smtClean="0"/>
              <a:t>Differentiate  between leadership and management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5400" dirty="0" smtClean="0">
                <a:solidFill>
                  <a:srgbClr val="FFFF00"/>
                </a:solidFill>
              </a:rPr>
              <a:t>Definition of  a leader</a:t>
            </a:r>
            <a:endParaRPr lang="en-US" sz="5400" dirty="0">
              <a:solidFill>
                <a:srgbClr val="FFFF00"/>
              </a:solidFill>
            </a:endParaRPr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n-US" sz="4000" dirty="0" smtClean="0"/>
              <a:t>An individual who is able to influence and inspire a group or organizational members to help the group or organization achieve its goals.</a:t>
            </a:r>
            <a:endParaRPr lang="en-US" sz="4000" dirty="0"/>
          </a:p>
        </p:txBody>
      </p:sp>
      <p:pic>
        <p:nvPicPr>
          <p:cNvPr id="4" name="صورة 3" descr="leader 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4700" y="4714885"/>
            <a:ext cx="2860704" cy="18638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4800" dirty="0" smtClean="0">
                <a:solidFill>
                  <a:srgbClr val="FFFF00"/>
                </a:solidFill>
              </a:rPr>
              <a:t>Definition of  a leadership</a:t>
            </a:r>
            <a:endParaRPr lang="en-US" sz="4400" dirty="0">
              <a:solidFill>
                <a:srgbClr val="FFFF00"/>
              </a:solidFill>
            </a:endParaRPr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dirty="0" smtClean="0"/>
              <a:t>Leadership is a process whereby an individual influences  a group  of individuals  to achieve a common goal.</a:t>
            </a:r>
          </a:p>
          <a:p>
            <a:pPr>
              <a:buFont typeface="Wingdings" pitchFamily="2" charset="2"/>
              <a:buChar char="q"/>
            </a:pPr>
            <a:endParaRPr lang="en-US" dirty="0" smtClean="0"/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Leadership is a function of  a leader, the followers, and the situation in striving to achieve a common purpose or goal.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4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9454" y="5143512"/>
            <a:ext cx="1857388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>
                <a:solidFill>
                  <a:srgbClr val="FFFF00"/>
                </a:solidFill>
              </a:rPr>
              <a:t>Leadership vs. Management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4" name="سهم إلى اليسار 3"/>
          <p:cNvSpPr/>
          <p:nvPr/>
        </p:nvSpPr>
        <p:spPr>
          <a:xfrm>
            <a:off x="4500562" y="1285860"/>
            <a:ext cx="4429156" cy="5572140"/>
          </a:xfrm>
          <a:prstGeom prst="leftArrow">
            <a:avLst>
              <a:gd name="adj1" fmla="val 58079"/>
              <a:gd name="adj2" fmla="val 451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buFont typeface="Arial" pitchFamily="34" charset="0"/>
              <a:buChar char="•"/>
            </a:pPr>
            <a:r>
              <a:rPr lang="en-US" sz="2000" dirty="0" smtClean="0"/>
              <a:t>Leader cope with change.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/>
              <a:t>Leaders set directions and share values.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/>
              <a:t>Leaders align people with the organization  and therefore empower them.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/>
              <a:t>Leaders motivate people, including through networks of informal relationships. </a:t>
            </a:r>
            <a:endParaRPr lang="en-US" sz="2000" dirty="0"/>
          </a:p>
        </p:txBody>
      </p:sp>
      <p:sp>
        <p:nvSpPr>
          <p:cNvPr id="5" name="سهم إلى اليمين 4"/>
          <p:cNvSpPr/>
          <p:nvPr/>
        </p:nvSpPr>
        <p:spPr>
          <a:xfrm>
            <a:off x="214282" y="1357298"/>
            <a:ext cx="4429156" cy="5286412"/>
          </a:xfrm>
          <a:prstGeom prst="rightArrow">
            <a:avLst>
              <a:gd name="adj1" fmla="val 56387"/>
              <a:gd name="adj2" fmla="val 4666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buFont typeface="Arial" pitchFamily="34" charset="0"/>
              <a:buChar char="•"/>
            </a:pPr>
            <a:r>
              <a:rPr lang="en-US" sz="2000" dirty="0" smtClean="0"/>
              <a:t>Managers cope with complexity.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/>
              <a:t>Managers plan and budget.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/>
              <a:t>Managers organize the staff.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/>
              <a:t>Managers control and problem –solve.</a:t>
            </a:r>
          </a:p>
          <a:p>
            <a:pPr algn="ctr"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6" name="مربع نص 5"/>
          <p:cNvSpPr txBox="1"/>
          <p:nvPr/>
        </p:nvSpPr>
        <p:spPr>
          <a:xfrm>
            <a:off x="6858016" y="1857364"/>
            <a:ext cx="1428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Leaders</a:t>
            </a:r>
            <a:endParaRPr lang="en-US" sz="2400" b="1" dirty="0"/>
          </a:p>
        </p:txBody>
      </p:sp>
      <p:sp>
        <p:nvSpPr>
          <p:cNvPr id="7" name="مربع نص 6"/>
          <p:cNvSpPr txBox="1"/>
          <p:nvPr/>
        </p:nvSpPr>
        <p:spPr>
          <a:xfrm>
            <a:off x="714348" y="2000240"/>
            <a:ext cx="1785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Managers</a:t>
            </a:r>
            <a:endParaRPr lang="en-US" sz="24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تمرير أفقي 3"/>
          <p:cNvSpPr/>
          <p:nvPr/>
        </p:nvSpPr>
        <p:spPr>
          <a:xfrm>
            <a:off x="1000100" y="1071546"/>
            <a:ext cx="7500990" cy="4357718"/>
          </a:xfrm>
          <a:prstGeom prst="horizontalScroll">
            <a:avLst/>
          </a:prstGeom>
          <a:scene3d>
            <a:camera prst="perspectiveRelaxedModerately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مربع نص 4"/>
          <p:cNvSpPr txBox="1"/>
          <p:nvPr/>
        </p:nvSpPr>
        <p:spPr>
          <a:xfrm>
            <a:off x="1428728" y="2928934"/>
            <a:ext cx="68580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i="1" dirty="0" smtClean="0">
                <a:solidFill>
                  <a:srgbClr val="FF0000"/>
                </a:solidFill>
              </a:rPr>
              <a:t>“Not all leaders are managers, nor are all managers leaders”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rgbClr val="FFFF00"/>
                </a:solidFill>
              </a:rPr>
              <a:t>Managing vs. Leading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4" name="مستطيل مستدير الزوايا 3"/>
          <p:cNvSpPr/>
          <p:nvPr/>
        </p:nvSpPr>
        <p:spPr>
          <a:xfrm>
            <a:off x="4714876" y="1714488"/>
            <a:ext cx="3857652" cy="48577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 smtClean="0"/>
          </a:p>
          <a:p>
            <a:pPr algn="ctr"/>
            <a:endParaRPr lang="en-US" sz="2800" b="1" dirty="0" smtClean="0"/>
          </a:p>
          <a:p>
            <a:pPr algn="ctr"/>
            <a:endParaRPr lang="en-US" sz="2800" b="1" dirty="0"/>
          </a:p>
          <a:p>
            <a:pPr algn="ctr"/>
            <a:r>
              <a:rPr lang="en-US" sz="2800" b="1" dirty="0" smtClean="0"/>
              <a:t>Leaders</a:t>
            </a:r>
          </a:p>
          <a:p>
            <a:pPr>
              <a:buFont typeface="Arial" pitchFamily="34" charset="0"/>
              <a:buChar char="•"/>
            </a:pPr>
            <a:endParaRPr lang="en-US" sz="2800" dirty="0" smtClean="0"/>
          </a:p>
          <a:p>
            <a:pPr>
              <a:buFont typeface="Arial" pitchFamily="34" charset="0"/>
              <a:buChar char="•"/>
            </a:pPr>
            <a:r>
              <a:rPr lang="en-US" sz="2800" dirty="0" smtClean="0"/>
              <a:t>Innovate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 smtClean="0"/>
              <a:t>Develop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 smtClean="0"/>
              <a:t>Inspire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 smtClean="0"/>
              <a:t>Long-term view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 smtClean="0"/>
              <a:t>Ask what and why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 smtClean="0"/>
              <a:t>Originate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 smtClean="0"/>
              <a:t>Do the right things</a:t>
            </a:r>
          </a:p>
          <a:p>
            <a:pPr>
              <a:buFont typeface="Arial" pitchFamily="34" charset="0"/>
              <a:buChar char="•"/>
            </a:pPr>
            <a:endParaRPr lang="en-US" sz="2800" dirty="0" smtClean="0"/>
          </a:p>
          <a:p>
            <a:pPr>
              <a:buFont typeface="Arial" pitchFamily="34" charset="0"/>
              <a:buChar char="•"/>
            </a:pPr>
            <a:endParaRPr lang="en-US" sz="2800" dirty="0"/>
          </a:p>
          <a:p>
            <a:pPr>
              <a:buFont typeface="Arial" pitchFamily="34" charset="0"/>
              <a:buChar char="•"/>
            </a:pPr>
            <a:endParaRPr lang="en-US" sz="2800" dirty="0" smtClean="0"/>
          </a:p>
          <a:p>
            <a:pPr>
              <a:buFont typeface="Arial" pitchFamily="34" charset="0"/>
              <a:buChar char="•"/>
            </a:pPr>
            <a:endParaRPr lang="en-US" sz="2800" dirty="0" smtClean="0"/>
          </a:p>
          <a:p>
            <a:pPr>
              <a:buFont typeface="Arial" pitchFamily="34" charset="0"/>
              <a:buChar char="•"/>
            </a:pPr>
            <a:endParaRPr lang="en-US" sz="2800" dirty="0"/>
          </a:p>
        </p:txBody>
      </p:sp>
      <p:sp>
        <p:nvSpPr>
          <p:cNvPr id="5" name="مستطيل مستدير الزوايا 4"/>
          <p:cNvSpPr/>
          <p:nvPr/>
        </p:nvSpPr>
        <p:spPr>
          <a:xfrm>
            <a:off x="500034" y="1714488"/>
            <a:ext cx="3700482" cy="4857784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Managers</a:t>
            </a:r>
          </a:p>
          <a:p>
            <a:pPr algn="ctr"/>
            <a:r>
              <a:rPr lang="en-US" sz="2800" dirty="0" smtClean="0"/>
              <a:t> 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 smtClean="0"/>
              <a:t>Administer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 smtClean="0"/>
              <a:t>Maintain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 smtClean="0"/>
              <a:t>Control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 smtClean="0"/>
              <a:t>Short-term view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 smtClean="0"/>
              <a:t>Ask how and when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 smtClean="0"/>
              <a:t>Initiate 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 smtClean="0"/>
              <a:t>Do things right</a:t>
            </a:r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4000" dirty="0" smtClean="0">
                <a:solidFill>
                  <a:srgbClr val="FFFF00"/>
                </a:solidFill>
              </a:rPr>
              <a:t>LEADERS VERSUS MANAGERS – cont</a:t>
            </a:r>
            <a:r>
              <a:rPr lang="en-US" sz="4000" dirty="0" smtClean="0"/>
              <a:t>.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pPr eaLnBrk="1" hangingPunct="1">
              <a:buFontTx/>
              <a:buNone/>
            </a:pPr>
            <a:endParaRPr lang="en-US" smtClean="0"/>
          </a:p>
          <a:p>
            <a:pPr eaLnBrk="1" hangingPunct="1"/>
            <a:endParaRPr lang="en-US" smtClean="0"/>
          </a:p>
        </p:txBody>
      </p:sp>
      <p:pic>
        <p:nvPicPr>
          <p:cNvPr id="13316" name="Content Placeholder 3" descr="leadership-versus-management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00200"/>
            <a:ext cx="8964613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sz="3600" b="1" dirty="0" smtClean="0">
                <a:solidFill>
                  <a:schemeClr val="tx1"/>
                </a:solidFill>
                <a:effectLst/>
              </a:rPr>
              <a:t>FOUR FACTORS OF LEADERSHIP</a:t>
            </a:r>
          </a:p>
        </p:txBody>
      </p:sp>
      <p:pic>
        <p:nvPicPr>
          <p:cNvPr id="5123" name="Content Placeholder 3" descr="Leadership Factors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143000" y="1600200"/>
            <a:ext cx="6781800" cy="4724400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500042"/>
            <a:ext cx="8229600" cy="1143008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en-GB" sz="4000" dirty="0" smtClean="0"/>
              <a:t/>
            </a:r>
            <a:br>
              <a:rPr lang="en-GB" sz="4000" dirty="0" smtClean="0"/>
            </a:br>
            <a:r>
              <a:rPr lang="en-GB" sz="4000" dirty="0" smtClean="0"/>
              <a:t/>
            </a:r>
            <a:br>
              <a:rPr lang="en-GB" sz="4000" dirty="0" smtClean="0"/>
            </a:br>
            <a:r>
              <a:rPr lang="en-GB" sz="4000" dirty="0" smtClean="0"/>
              <a:t/>
            </a:r>
            <a:br>
              <a:rPr lang="en-GB" sz="4000" dirty="0" smtClean="0"/>
            </a:br>
            <a:r>
              <a:rPr lang="en-GB" sz="4000" dirty="0" smtClean="0"/>
              <a:t/>
            </a:r>
            <a:br>
              <a:rPr lang="en-GB" sz="4000" dirty="0" smtClean="0"/>
            </a:br>
            <a:r>
              <a:rPr lang="en-GB" sz="4000" dirty="0" smtClean="0">
                <a:solidFill>
                  <a:srgbClr val="FFFF00"/>
                </a:solidFill>
                <a:effectLst/>
              </a:rPr>
              <a:t>LEADERSHIP THEORY</a:t>
            </a:r>
            <a:r>
              <a:rPr lang="en-GB" sz="4000" dirty="0" smtClean="0"/>
              <a:t/>
            </a:r>
            <a:br>
              <a:rPr lang="en-GB" sz="4000" dirty="0" smtClean="0"/>
            </a:br>
            <a:endParaRPr lang="en-US" sz="4000" dirty="0" smtClean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</a:pPr>
            <a:r>
              <a:rPr lang="en-GB" dirty="0" smtClean="0">
                <a:solidFill>
                  <a:srgbClr val="FFFF00"/>
                </a:solidFill>
              </a:rPr>
              <a:t>GREAT MAN THEORIES </a:t>
            </a:r>
            <a:r>
              <a:rPr lang="en-GB" sz="2800" dirty="0" smtClean="0"/>
              <a:t>	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GB" dirty="0" smtClean="0"/>
              <a:t>Leaders are exceptional people, born with innate qualities, destined to lead. 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GB" dirty="0" smtClean="0"/>
              <a:t>Term 'man' was intentional - concept was primarily male, military and Western.</a:t>
            </a:r>
          </a:p>
          <a:p>
            <a:pPr lvl="1" algn="just" eaLnBrk="1" hangingPunct="1">
              <a:lnSpc>
                <a:spcPct val="80000"/>
              </a:lnSpc>
              <a:buFont typeface="Arial" charset="0"/>
              <a:buNone/>
            </a:pPr>
            <a:endParaRPr lang="en-US" dirty="0" smtClean="0">
              <a:solidFill>
                <a:srgbClr val="FFFF00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GB" dirty="0" smtClean="0">
                <a:solidFill>
                  <a:srgbClr val="FFFF00"/>
                </a:solidFill>
              </a:rPr>
              <a:t>TRAIT THEORIES </a:t>
            </a:r>
            <a:r>
              <a:rPr lang="en-GB" sz="2800" dirty="0" smtClean="0"/>
              <a:t>	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GB" dirty="0" smtClean="0"/>
              <a:t>Research on traits or qualities associated with leadership are numerous 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GB" dirty="0" smtClean="0"/>
              <a:t>Traits are hard to measure. For example, how do we measure honesty or integrity?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Content Placeholder 9"/>
          <p:cNvSpPr>
            <a:spLocks noGrp="1"/>
          </p:cNvSpPr>
          <p:nvPr>
            <p:ph sz="half" idx="1"/>
          </p:nvPr>
        </p:nvSpPr>
        <p:spPr>
          <a:xfrm>
            <a:off x="457200" y="857232"/>
            <a:ext cx="4038600" cy="5715040"/>
          </a:xfrm>
        </p:spPr>
        <p:txBody>
          <a:bodyPr>
            <a:normAutofit fontScale="25000" lnSpcReduction="20000"/>
          </a:bodyPr>
          <a:lstStyle/>
          <a:p>
            <a:pPr algn="ctr" eaLnBrk="1" hangingPunct="1">
              <a:lnSpc>
                <a:spcPct val="60000"/>
              </a:lnSpc>
              <a:buFont typeface="Arial" charset="0"/>
              <a:buNone/>
            </a:pPr>
            <a:endParaRPr lang="en-GB" sz="3000" b="1" dirty="0" smtClean="0"/>
          </a:p>
          <a:p>
            <a:pPr algn="ctr" eaLnBrk="1" hangingPunct="1">
              <a:lnSpc>
                <a:spcPct val="60000"/>
              </a:lnSpc>
              <a:buFont typeface="Arial" charset="0"/>
              <a:buNone/>
            </a:pPr>
            <a:endParaRPr lang="en-GB" sz="3000" b="1" dirty="0" smtClean="0"/>
          </a:p>
          <a:p>
            <a:pPr algn="ctr" eaLnBrk="1" hangingPunct="1">
              <a:lnSpc>
                <a:spcPct val="120000"/>
              </a:lnSpc>
              <a:buFont typeface="Arial" charset="0"/>
              <a:buNone/>
            </a:pPr>
            <a:r>
              <a:rPr lang="en-GB" sz="9600" b="1" dirty="0" smtClean="0"/>
              <a:t>TRAITS </a:t>
            </a:r>
            <a:endParaRPr lang="en-GB" sz="9600" dirty="0" smtClean="0"/>
          </a:p>
          <a:p>
            <a:pPr algn="just" eaLnBrk="1" hangingPunct="1">
              <a:lnSpc>
                <a:spcPct val="120000"/>
              </a:lnSpc>
            </a:pPr>
            <a:r>
              <a:rPr lang="en-GB" sz="9600" dirty="0" smtClean="0"/>
              <a:t>Adaptable to situations </a:t>
            </a:r>
          </a:p>
          <a:p>
            <a:pPr algn="just" eaLnBrk="1" hangingPunct="1">
              <a:lnSpc>
                <a:spcPct val="120000"/>
              </a:lnSpc>
            </a:pPr>
            <a:r>
              <a:rPr lang="en-GB" sz="9600" dirty="0" smtClean="0"/>
              <a:t>Alert to social environment </a:t>
            </a:r>
          </a:p>
          <a:p>
            <a:pPr algn="just" eaLnBrk="1" hangingPunct="1">
              <a:lnSpc>
                <a:spcPct val="120000"/>
              </a:lnSpc>
            </a:pPr>
            <a:r>
              <a:rPr lang="en-GB" sz="9600" dirty="0" smtClean="0"/>
              <a:t>Cooperative </a:t>
            </a:r>
          </a:p>
          <a:p>
            <a:pPr algn="just" eaLnBrk="1" hangingPunct="1">
              <a:lnSpc>
                <a:spcPct val="120000"/>
              </a:lnSpc>
            </a:pPr>
            <a:r>
              <a:rPr lang="en-GB" sz="9600" dirty="0" smtClean="0"/>
              <a:t>Decisive </a:t>
            </a:r>
          </a:p>
          <a:p>
            <a:pPr algn="just" eaLnBrk="1" hangingPunct="1">
              <a:lnSpc>
                <a:spcPct val="120000"/>
              </a:lnSpc>
            </a:pPr>
            <a:r>
              <a:rPr lang="en-GB" sz="9600" dirty="0" smtClean="0"/>
              <a:t>Dependable </a:t>
            </a:r>
          </a:p>
          <a:p>
            <a:pPr algn="just" eaLnBrk="1" hangingPunct="1">
              <a:lnSpc>
                <a:spcPct val="120000"/>
              </a:lnSpc>
            </a:pPr>
            <a:r>
              <a:rPr lang="en-GB" sz="9600" dirty="0" smtClean="0"/>
              <a:t>Dominant (desire to influence others) </a:t>
            </a:r>
          </a:p>
          <a:p>
            <a:pPr algn="just" eaLnBrk="1" hangingPunct="1">
              <a:lnSpc>
                <a:spcPct val="120000"/>
              </a:lnSpc>
            </a:pPr>
            <a:r>
              <a:rPr lang="en-GB" sz="9600" dirty="0" smtClean="0"/>
              <a:t>Energetic (high activity level) </a:t>
            </a:r>
          </a:p>
          <a:p>
            <a:pPr algn="just" eaLnBrk="1" hangingPunct="1">
              <a:lnSpc>
                <a:spcPct val="120000"/>
              </a:lnSpc>
            </a:pPr>
            <a:r>
              <a:rPr lang="en-GB" sz="9600" dirty="0" smtClean="0"/>
              <a:t>Persistent </a:t>
            </a:r>
          </a:p>
          <a:p>
            <a:pPr algn="just" eaLnBrk="1" hangingPunct="1">
              <a:lnSpc>
                <a:spcPct val="120000"/>
              </a:lnSpc>
            </a:pPr>
            <a:r>
              <a:rPr lang="en-GB" sz="9600" dirty="0" smtClean="0"/>
              <a:t>Self-confident </a:t>
            </a:r>
          </a:p>
          <a:p>
            <a:pPr algn="just" eaLnBrk="1" hangingPunct="1">
              <a:lnSpc>
                <a:spcPct val="120000"/>
              </a:lnSpc>
            </a:pPr>
            <a:r>
              <a:rPr lang="en-GB" sz="9600" dirty="0" smtClean="0"/>
              <a:t>Tolerant of stress </a:t>
            </a:r>
          </a:p>
          <a:p>
            <a:pPr algn="just" eaLnBrk="1" hangingPunct="1">
              <a:lnSpc>
                <a:spcPct val="120000"/>
              </a:lnSpc>
            </a:pPr>
            <a:r>
              <a:rPr lang="en-GB" sz="9600" dirty="0" smtClean="0"/>
              <a:t>Willing to assume responsibility 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4648200" y="1000108"/>
            <a:ext cx="4038600" cy="5126055"/>
          </a:xfrm>
        </p:spPr>
        <p:txBody>
          <a:bodyPr rtlCol="0">
            <a:noAutofit/>
          </a:bodyPr>
          <a:lstStyle/>
          <a:p>
            <a:pPr algn="ctr" defTabSz="45720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b="1" dirty="0" smtClean="0"/>
              <a:t>SKILLS </a:t>
            </a:r>
          </a:p>
          <a:p>
            <a:pPr algn="just" defTabSz="457200" eaLnBrk="1" fontAlgn="auto" hangingPunct="1">
              <a:spcAft>
                <a:spcPts val="0"/>
              </a:spcAft>
              <a:defRPr/>
            </a:pPr>
            <a:endParaRPr lang="en-GB" sz="2400" dirty="0" smtClean="0"/>
          </a:p>
          <a:p>
            <a:pPr algn="just" defTabSz="457200" eaLnBrk="1" fontAlgn="auto" hangingPunct="1">
              <a:spcAft>
                <a:spcPts val="0"/>
              </a:spcAft>
              <a:defRPr/>
            </a:pPr>
            <a:r>
              <a:rPr lang="en-GB" sz="2400" dirty="0" smtClean="0"/>
              <a:t>Clever (intelligent) </a:t>
            </a:r>
          </a:p>
          <a:p>
            <a:pPr algn="just" defTabSz="457200" eaLnBrk="1" fontAlgn="auto" hangingPunct="1">
              <a:spcAft>
                <a:spcPts val="0"/>
              </a:spcAft>
              <a:defRPr/>
            </a:pPr>
            <a:r>
              <a:rPr lang="en-GB" sz="2400" dirty="0" smtClean="0"/>
              <a:t>Conceptually skilled </a:t>
            </a:r>
          </a:p>
          <a:p>
            <a:pPr algn="just" defTabSz="457200" eaLnBrk="1" fontAlgn="auto" hangingPunct="1">
              <a:spcAft>
                <a:spcPts val="0"/>
              </a:spcAft>
              <a:defRPr/>
            </a:pPr>
            <a:r>
              <a:rPr lang="en-GB" sz="2400" dirty="0" smtClean="0"/>
              <a:t>Creative </a:t>
            </a:r>
          </a:p>
          <a:p>
            <a:pPr algn="just" defTabSz="457200" eaLnBrk="1" fontAlgn="auto" hangingPunct="1">
              <a:spcAft>
                <a:spcPts val="0"/>
              </a:spcAft>
              <a:defRPr/>
            </a:pPr>
            <a:r>
              <a:rPr lang="en-GB" sz="2400" dirty="0" smtClean="0"/>
              <a:t>Diplomatic and tactful </a:t>
            </a:r>
          </a:p>
          <a:p>
            <a:pPr algn="just" defTabSz="457200" eaLnBrk="1" fontAlgn="auto" hangingPunct="1">
              <a:spcAft>
                <a:spcPts val="0"/>
              </a:spcAft>
              <a:defRPr/>
            </a:pPr>
            <a:r>
              <a:rPr lang="en-GB" sz="2400" dirty="0" smtClean="0"/>
              <a:t>Fluent in speaking </a:t>
            </a:r>
          </a:p>
          <a:p>
            <a:pPr algn="just" defTabSz="457200" eaLnBrk="1" fontAlgn="auto" hangingPunct="1">
              <a:spcAft>
                <a:spcPts val="0"/>
              </a:spcAft>
              <a:defRPr/>
            </a:pPr>
            <a:r>
              <a:rPr lang="en-GB" sz="2400" dirty="0" smtClean="0"/>
              <a:t>Knowledgeable about group task </a:t>
            </a:r>
          </a:p>
          <a:p>
            <a:pPr algn="just" defTabSz="457200" eaLnBrk="1" fontAlgn="auto" hangingPunct="1">
              <a:spcAft>
                <a:spcPts val="0"/>
              </a:spcAft>
              <a:defRPr/>
            </a:pPr>
            <a:r>
              <a:rPr lang="en-GB" sz="2400" dirty="0" smtClean="0"/>
              <a:t>Organised (administrative ability) </a:t>
            </a:r>
          </a:p>
          <a:p>
            <a:pPr algn="just" defTabSz="457200" eaLnBrk="1" fontAlgn="auto" hangingPunct="1">
              <a:spcAft>
                <a:spcPts val="0"/>
              </a:spcAft>
              <a:defRPr/>
            </a:pPr>
            <a:r>
              <a:rPr lang="en-GB" sz="2400" dirty="0" smtClean="0"/>
              <a:t>Persuasive </a:t>
            </a:r>
          </a:p>
          <a:p>
            <a:pPr algn="just" defTabSz="457200" eaLnBrk="1" fontAlgn="auto" hangingPunct="1">
              <a:spcAft>
                <a:spcPts val="0"/>
              </a:spcAft>
              <a:defRPr/>
            </a:pPr>
            <a:r>
              <a:rPr lang="en-GB" sz="2400" dirty="0" smtClean="0"/>
              <a:t>Socially skilled.</a:t>
            </a:r>
          </a:p>
        </p:txBody>
      </p:sp>
      <p:sp>
        <p:nvSpPr>
          <p:cNvPr id="7172" name="Text Box 7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35531"/>
          </a:xfrm>
        </p:spPr>
        <p:txBody>
          <a:bodyPr>
            <a:spAutoFit/>
          </a:bodyPr>
          <a:lstStyle/>
          <a:p>
            <a:pPr algn="l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GB" sz="3600" dirty="0" smtClean="0">
                <a:solidFill>
                  <a:srgbClr val="FFFF00"/>
                </a:solidFill>
              </a:rPr>
              <a:t>LEADERSHIP TRAITS AND SKILLS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 smtClean="0">
                <a:solidFill>
                  <a:srgbClr val="FFFF00"/>
                </a:solidFill>
              </a:rPr>
              <a:t>LEADERSHIP THEORY – cont</a:t>
            </a:r>
            <a:r>
              <a:rPr lang="en-GB" dirty="0" smtClean="0"/>
              <a:t>.</a:t>
            </a:r>
            <a:endParaRPr lang="en-US" dirty="0" smtClean="0"/>
          </a:p>
        </p:txBody>
      </p:sp>
      <p:sp>
        <p:nvSpPr>
          <p:cNvPr id="8195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en-GB" dirty="0" smtClean="0">
                <a:solidFill>
                  <a:srgbClr val="FFFF00"/>
                </a:solidFill>
              </a:rPr>
              <a:t>FUNCTIONAL THEORIES</a:t>
            </a:r>
          </a:p>
          <a:p>
            <a:pPr lvl="1" algn="just" eaLnBrk="1" hangingPunct="1"/>
            <a:r>
              <a:rPr lang="en-GB" dirty="0" smtClean="0"/>
              <a:t>Leader is concerned with the interaction of 3 areas:</a:t>
            </a:r>
          </a:p>
          <a:p>
            <a:pPr lvl="1" algn="just" eaLnBrk="1" hangingPunct="1">
              <a:buFont typeface="Calibri" pitchFamily="34" charset="0"/>
              <a:buAutoNum type="arabicPeriod"/>
            </a:pPr>
            <a:r>
              <a:rPr lang="en-GB" b="1" dirty="0" smtClean="0"/>
              <a:t>Task </a:t>
            </a:r>
            <a:r>
              <a:rPr lang="en-GB" dirty="0" smtClean="0"/>
              <a:t>– goal setting, methods and process.</a:t>
            </a:r>
          </a:p>
          <a:p>
            <a:pPr lvl="1" algn="just" eaLnBrk="1" hangingPunct="1">
              <a:buFont typeface="Calibri" pitchFamily="34" charset="0"/>
              <a:buAutoNum type="arabicPeriod"/>
            </a:pPr>
            <a:r>
              <a:rPr lang="en-GB" b="1" dirty="0" smtClean="0"/>
              <a:t>Team </a:t>
            </a:r>
            <a:r>
              <a:rPr lang="en-GB" dirty="0" smtClean="0"/>
              <a:t>– effective interaction/communication, </a:t>
            </a:r>
            <a:br>
              <a:rPr lang="en-GB" dirty="0" smtClean="0"/>
            </a:br>
            <a:r>
              <a:rPr lang="en-GB" dirty="0" smtClean="0"/>
              <a:t>clarify roles, team morale.</a:t>
            </a:r>
          </a:p>
          <a:p>
            <a:pPr lvl="1" algn="just" eaLnBrk="1" hangingPunct="1">
              <a:buFont typeface="Calibri" pitchFamily="34" charset="0"/>
              <a:buAutoNum type="arabicPeriod"/>
            </a:pPr>
            <a:r>
              <a:rPr lang="en-GB" b="1" dirty="0" smtClean="0"/>
              <a:t>Individual </a:t>
            </a:r>
            <a:r>
              <a:rPr lang="en-GB" dirty="0" smtClean="0"/>
              <a:t>– attention to behaviour,  feelings, </a:t>
            </a:r>
            <a:br>
              <a:rPr lang="en-GB" dirty="0" smtClean="0"/>
            </a:br>
            <a:r>
              <a:rPr lang="en-GB" dirty="0" smtClean="0"/>
              <a:t>coaching.</a:t>
            </a:r>
            <a:endParaRPr lang="en-GB" b="1" dirty="0" smtClean="0"/>
          </a:p>
          <a:p>
            <a:pPr algn="just" eaLnBrk="1" hangingPunct="1"/>
            <a:endParaRPr lang="en-US" dirty="0" smtClean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 smtClean="0">
                <a:solidFill>
                  <a:srgbClr val="FFFF00"/>
                </a:solidFill>
              </a:rPr>
              <a:t>LEADERSHIP THEORY – cont</a:t>
            </a:r>
            <a:r>
              <a:rPr lang="en-GB" dirty="0" smtClean="0"/>
              <a:t>.</a:t>
            </a:r>
            <a:endParaRPr lang="en-US" dirty="0" smtClean="0"/>
          </a:p>
        </p:txBody>
      </p:sp>
      <p:sp>
        <p:nvSpPr>
          <p:cNvPr id="9219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en-GB" dirty="0" smtClean="0">
                <a:solidFill>
                  <a:srgbClr val="FFFF00"/>
                </a:solidFill>
              </a:rPr>
              <a:t>BEHAVIOURIST THEORIES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GB" sz="3200" dirty="0" smtClean="0"/>
              <a:t>Leaders behaviour and actions, rather than their traits and skills e.g. production orientated or people orientated. 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GB" sz="3200" dirty="0" smtClean="0"/>
              <a:t>Different leadership behaviours categorised as ‘leadership styles’ e.g. persuasive, consultative, democratic</a:t>
            </a:r>
            <a:r>
              <a:rPr lang="en-GB" dirty="0" smtClean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 smtClean="0">
                <a:solidFill>
                  <a:srgbClr val="FFFF00"/>
                </a:solidFill>
              </a:rPr>
              <a:t>LEADERSHIP THEORY – cont</a:t>
            </a:r>
            <a:r>
              <a:rPr lang="en-GB" dirty="0" smtClean="0"/>
              <a:t>.</a:t>
            </a:r>
            <a:endParaRPr lang="en-US" dirty="0" smtClean="0"/>
          </a:p>
        </p:txBody>
      </p:sp>
      <p:sp>
        <p:nvSpPr>
          <p:cNvPr id="10243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en-GB" dirty="0" smtClean="0">
                <a:solidFill>
                  <a:srgbClr val="FFFF00"/>
                </a:solidFill>
              </a:rPr>
              <a:t>TRANSFORMATIONAL THEORIES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GB" sz="3200" dirty="0" smtClean="0"/>
              <a:t>Leaders inspire individuals, develop trust, and encourage creativity and personal growth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GB" sz="3200" dirty="0" smtClean="0"/>
              <a:t>Individuals develop a sense of purpose to benefit the group, organisation or society. This goes beyond their own self-interests and an exchange of rewards or recognition for effort or loyalty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>
                <a:solidFill>
                  <a:srgbClr val="FFFF00"/>
                </a:solidFill>
                <a:effectLst/>
              </a:rPr>
              <a:t>Quality of good leaders</a:t>
            </a:r>
            <a:endParaRPr lang="en-US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1646236"/>
            <a:ext cx="8229600" cy="4783159"/>
          </a:xfrm>
        </p:spPr>
        <p:txBody>
          <a:bodyPr>
            <a:normAutofit fontScale="92500"/>
          </a:bodyPr>
          <a:lstStyle/>
          <a:p>
            <a:r>
              <a:rPr lang="en-US" sz="3500" dirty="0" smtClean="0"/>
              <a:t>Visionary and forward-looking</a:t>
            </a:r>
          </a:p>
          <a:p>
            <a:r>
              <a:rPr lang="en-US" sz="3500" dirty="0" smtClean="0"/>
              <a:t>Must be adaptable and change with changing </a:t>
            </a:r>
            <a:r>
              <a:rPr lang="en-US" sz="3500" dirty="0" smtClean="0"/>
              <a:t>circumstances</a:t>
            </a:r>
          </a:p>
          <a:p>
            <a:r>
              <a:rPr lang="en-US" sz="3500" dirty="0" smtClean="0"/>
              <a:t>Must be honest and sincere of purpose</a:t>
            </a:r>
          </a:p>
          <a:p>
            <a:r>
              <a:rPr lang="en-US" sz="3500" dirty="0" smtClean="0"/>
              <a:t>Able to see things in perspective</a:t>
            </a:r>
          </a:p>
          <a:p>
            <a:r>
              <a:rPr lang="en-US" sz="3500" dirty="0" smtClean="0"/>
              <a:t>Diplomatic and humble</a:t>
            </a:r>
          </a:p>
          <a:p>
            <a:r>
              <a:rPr lang="en-US" sz="3500" dirty="0" smtClean="0"/>
              <a:t>Must be self-confident</a:t>
            </a:r>
          </a:p>
          <a:p>
            <a:r>
              <a:rPr lang="en-US" sz="3500" dirty="0" smtClean="0"/>
              <a:t>Must have sense of </a:t>
            </a:r>
            <a:r>
              <a:rPr lang="en-US" sz="3500" dirty="0" err="1" smtClean="0"/>
              <a:t>humour</a:t>
            </a:r>
            <a:endParaRPr lang="en-US" sz="3500" dirty="0" smtClean="0"/>
          </a:p>
          <a:p>
            <a:r>
              <a:rPr lang="en-US" sz="3500" dirty="0" smtClean="0"/>
              <a:t>Must listen to his subordinates</a:t>
            </a:r>
            <a:endParaRPr lang="en-US" sz="3500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0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0100" y="1142984"/>
            <a:ext cx="7286676" cy="535785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928794" y="3929066"/>
            <a:ext cx="6934200" cy="2528886"/>
          </a:xfrm>
        </p:spPr>
        <p:txBody>
          <a:bodyPr>
            <a:normAutofit fontScale="92500" lnSpcReduction="10000"/>
          </a:bodyPr>
          <a:lstStyle/>
          <a:p>
            <a:pPr algn="ctr">
              <a:lnSpc>
                <a:spcPct val="80000"/>
              </a:lnSpc>
              <a:buNone/>
            </a:pPr>
            <a:r>
              <a:rPr lang="en-US" sz="8000" b="1" dirty="0" smtClean="0">
                <a:solidFill>
                  <a:srgbClr val="00B050"/>
                </a:solidFill>
                <a:latin typeface="Blackadder ITC" pitchFamily="82" charset="0"/>
                <a:cs typeface="Arabic Typesetting" pitchFamily="66" charset="-78"/>
              </a:rPr>
              <a:t>A</a:t>
            </a:r>
            <a:endParaRPr lang="ar-SA" sz="8000" b="1" dirty="0" smtClean="0">
              <a:solidFill>
                <a:srgbClr val="00B050"/>
              </a:solidFill>
              <a:latin typeface="Blackadder ITC" pitchFamily="82" charset="0"/>
              <a:cs typeface="Arabic Typesetting" pitchFamily="66" charset="-78"/>
            </a:endParaRPr>
          </a:p>
          <a:p>
            <a:pPr algn="ctr">
              <a:lnSpc>
                <a:spcPct val="80000"/>
              </a:lnSpc>
              <a:buNone/>
            </a:pPr>
            <a:r>
              <a:rPr lang="en-US" sz="8000" b="1" dirty="0" smtClean="0">
                <a:solidFill>
                  <a:srgbClr val="00B050"/>
                </a:solidFill>
                <a:latin typeface="Algerian" pitchFamily="82" charset="0"/>
                <a:cs typeface="Arabic Typesetting" pitchFamily="66" charset="-78"/>
              </a:rPr>
              <a:t>A</a:t>
            </a:r>
            <a:r>
              <a:rPr lang="en-US" sz="8000" b="1" dirty="0" smtClean="0">
                <a:solidFill>
                  <a:srgbClr val="FF0000"/>
                </a:solidFill>
                <a:latin typeface="Algerian" pitchFamily="82" charset="0"/>
                <a:cs typeface="Arabic Typesetting" pitchFamily="66" charset="-78"/>
              </a:rPr>
              <a:t>R</a:t>
            </a:r>
            <a:r>
              <a:rPr lang="en-US" sz="8000" b="1" dirty="0" smtClean="0">
                <a:solidFill>
                  <a:srgbClr val="000000"/>
                </a:solidFill>
                <a:latin typeface="Algerian" pitchFamily="82" charset="0"/>
                <a:cs typeface="Arabic Typesetting" pitchFamily="66" charset="-78"/>
              </a:rPr>
              <a:t>I</a:t>
            </a:r>
            <a:r>
              <a:rPr lang="en-US" sz="8000" b="1" dirty="0" smtClean="0">
                <a:solidFill>
                  <a:srgbClr val="7030A0"/>
                </a:solidFill>
                <a:latin typeface="Algerian" pitchFamily="82" charset="0"/>
                <a:cs typeface="Arabic Typesetting" pitchFamily="66" charset="-78"/>
              </a:rPr>
              <a:t>G</a:t>
            </a:r>
            <a:r>
              <a:rPr lang="en-US" sz="8000" b="1" dirty="0" smtClean="0">
                <a:latin typeface="Algerian" pitchFamily="82" charset="0"/>
                <a:cs typeface="Arabic Typesetting" pitchFamily="66" charset="-78"/>
              </a:rPr>
              <a:t>A</a:t>
            </a:r>
            <a:r>
              <a:rPr lang="en-US" sz="8000" b="1" dirty="0" smtClean="0">
                <a:solidFill>
                  <a:srgbClr val="0070C0"/>
                </a:solidFill>
                <a:latin typeface="Algerian" pitchFamily="82" charset="0"/>
                <a:cs typeface="Arabic Typesetting" pitchFamily="66" charset="-78"/>
              </a:rPr>
              <a:t>T</a:t>
            </a:r>
            <a:r>
              <a:rPr lang="en-US" sz="8000" b="1" dirty="0" smtClean="0">
                <a:solidFill>
                  <a:srgbClr val="C00000"/>
                </a:solidFill>
                <a:latin typeface="Algerian" pitchFamily="82" charset="0"/>
                <a:cs typeface="Arabic Typesetting" pitchFamily="66" charset="-78"/>
              </a:rPr>
              <a:t>O</a:t>
            </a:r>
          </a:p>
          <a:p>
            <a:pPr algn="ctr">
              <a:lnSpc>
                <a:spcPct val="80000"/>
              </a:lnSpc>
              <a:buNone/>
            </a:pPr>
            <a:r>
              <a:rPr lang="en-US" sz="8000" b="1" dirty="0" smtClean="0">
                <a:solidFill>
                  <a:srgbClr val="C00000"/>
                </a:solidFill>
                <a:latin typeface="Algerian" pitchFamily="82" charset="0"/>
                <a:cs typeface="Arabic Typesetting" pitchFamily="66" charset="-78"/>
              </a:rPr>
              <a:t>T</a:t>
            </a:r>
            <a:r>
              <a:rPr lang="en-US" sz="8000" b="1" dirty="0" smtClean="0">
                <a:solidFill>
                  <a:schemeClr val="bg1"/>
                </a:solidFill>
                <a:latin typeface="Algerian" pitchFamily="82" charset="0"/>
                <a:cs typeface="Arabic Typesetting" pitchFamily="66" charset="-78"/>
              </a:rPr>
              <a:t>h</a:t>
            </a:r>
            <a:r>
              <a:rPr lang="en-US" sz="8000" b="1" dirty="0" smtClean="0">
                <a:solidFill>
                  <a:srgbClr val="00B050"/>
                </a:solidFill>
                <a:latin typeface="Algerian" pitchFamily="82" charset="0"/>
                <a:cs typeface="Arabic Typesetting" pitchFamily="66" charset="-78"/>
              </a:rPr>
              <a:t>a</a:t>
            </a:r>
            <a:r>
              <a:rPr lang="en-US" sz="8000" b="1" dirty="0" smtClean="0">
                <a:latin typeface="Algerian" pitchFamily="82" charset="0"/>
                <a:cs typeface="Arabic Typesetting" pitchFamily="66" charset="-78"/>
              </a:rPr>
              <a:t>n</a:t>
            </a:r>
            <a:r>
              <a:rPr lang="en-US" sz="8000" b="1" dirty="0" smtClean="0">
                <a:solidFill>
                  <a:srgbClr val="C00000"/>
                </a:solidFill>
                <a:latin typeface="Algerian" pitchFamily="82" charset="0"/>
                <a:cs typeface="Arabic Typesetting" pitchFamily="66" charset="-78"/>
              </a:rPr>
              <a:t>k </a:t>
            </a:r>
            <a:r>
              <a:rPr lang="en-US" sz="8000" b="1" dirty="0" smtClean="0">
                <a:solidFill>
                  <a:schemeClr val="bg1"/>
                </a:solidFill>
                <a:latin typeface="Algerian" pitchFamily="82" charset="0"/>
                <a:cs typeface="Arabic Typesetting" pitchFamily="66" charset="-78"/>
              </a:rPr>
              <a:t>y</a:t>
            </a:r>
            <a:r>
              <a:rPr lang="en-US" sz="8000" b="1" dirty="0" smtClean="0">
                <a:solidFill>
                  <a:srgbClr val="00B050"/>
                </a:solidFill>
                <a:latin typeface="Algerian" pitchFamily="82" charset="0"/>
                <a:cs typeface="Arabic Typesetting" pitchFamily="66" charset="-78"/>
              </a:rPr>
              <a:t>o</a:t>
            </a:r>
            <a:r>
              <a:rPr lang="en-US" sz="8000" b="1" dirty="0" smtClean="0">
                <a:solidFill>
                  <a:srgbClr val="C00000"/>
                </a:solidFill>
                <a:latin typeface="Algerian" pitchFamily="82" charset="0"/>
                <a:cs typeface="Arabic Typesetting" pitchFamily="66" charset="-78"/>
              </a:rPr>
              <a:t>u</a:t>
            </a:r>
          </a:p>
          <a:p>
            <a:pPr algn="ctr">
              <a:lnSpc>
                <a:spcPct val="80000"/>
              </a:lnSpc>
              <a:buNone/>
            </a:pPr>
            <a:endParaRPr lang="en-US" sz="8000" b="1" dirty="0" smtClean="0">
              <a:solidFill>
                <a:srgbClr val="C00000"/>
              </a:solidFill>
              <a:latin typeface="Algerian" pitchFamily="82" charset="0"/>
              <a:cs typeface="Arabic Typesetting" pitchFamily="66" charset="-78"/>
            </a:endParaRPr>
          </a:p>
          <a:p>
            <a:pPr algn="ctr">
              <a:lnSpc>
                <a:spcPct val="80000"/>
              </a:lnSpc>
              <a:buNone/>
            </a:pPr>
            <a:endParaRPr lang="en-US" sz="8000" b="1" dirty="0">
              <a:solidFill>
                <a:srgbClr val="C00000"/>
              </a:solidFill>
              <a:latin typeface="Blackadder ITC" pitchFamily="82" charset="0"/>
              <a:cs typeface="Arabic Typesetting" pitchFamily="66" charset="-78"/>
            </a:endParaRPr>
          </a:p>
        </p:txBody>
      </p:sp>
      <p:pic>
        <p:nvPicPr>
          <p:cNvPr id="3" name="Picture Placeholder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18428" b="18428"/>
          <a:stretch>
            <a:fillRect/>
          </a:stretch>
        </p:blipFill>
        <p:spPr bwMode="auto">
          <a:xfrm>
            <a:off x="1357290" y="714356"/>
            <a:ext cx="7315199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advTm="4520"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مسبوك">
  <a:themeElements>
    <a:clrScheme name="مسبوك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مسبوك">
      <a:maj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مسبوك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سمة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168</TotalTime>
  <Words>472</Words>
  <Application>Microsoft Office PowerPoint</Application>
  <PresentationFormat>عرض على الشاشة (3:4)‏</PresentationFormat>
  <Paragraphs>113</Paragraphs>
  <Slides>17</Slides>
  <Notes>1</Notes>
  <HiddenSlides>0</HiddenSlides>
  <MMClips>0</MMClips>
  <ScaleCrop>false</ScaleCrop>
  <HeadingPairs>
    <vt:vector size="4" baseType="variant">
      <vt:variant>
        <vt:lpstr>سمة</vt:lpstr>
      </vt:variant>
      <vt:variant>
        <vt:i4>1</vt:i4>
      </vt:variant>
      <vt:variant>
        <vt:lpstr>عناوين الشرائح</vt:lpstr>
      </vt:variant>
      <vt:variant>
        <vt:i4>17</vt:i4>
      </vt:variant>
    </vt:vector>
  </HeadingPairs>
  <TitlesOfParts>
    <vt:vector size="18" baseType="lpstr">
      <vt:lpstr>مسبوك</vt:lpstr>
      <vt:lpstr>LEADERSHIP MANAGEMENT</vt:lpstr>
      <vt:lpstr>Objectives</vt:lpstr>
      <vt:lpstr>Definition of  a leader</vt:lpstr>
      <vt:lpstr>Definition of  a leadership</vt:lpstr>
      <vt:lpstr>Leadership vs. Management</vt:lpstr>
      <vt:lpstr>الشريحة 6</vt:lpstr>
      <vt:lpstr>Managing vs. Leading</vt:lpstr>
      <vt:lpstr>LEADERS VERSUS MANAGERS – cont.</vt:lpstr>
      <vt:lpstr>FOUR FACTORS OF LEADERSHIP</vt:lpstr>
      <vt:lpstr>    LEADERSHIP THEORY </vt:lpstr>
      <vt:lpstr>LEADERSHIP TRAITS AND SKILLS </vt:lpstr>
      <vt:lpstr>LEADERSHIP THEORY – cont.</vt:lpstr>
      <vt:lpstr>LEADERSHIP THEORY – cont.</vt:lpstr>
      <vt:lpstr>LEADERSHIP THEORY – cont.</vt:lpstr>
      <vt:lpstr>Quality of good leaders</vt:lpstr>
      <vt:lpstr>الشريحة 16</vt:lpstr>
      <vt:lpstr>الشريحة 17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LEADERSHIP IN MANAGEMENT</dc:title>
  <dc:creator>hp</dc:creator>
  <cp:lastModifiedBy>hp</cp:lastModifiedBy>
  <cp:revision>21</cp:revision>
  <dcterms:created xsi:type="dcterms:W3CDTF">2021-07-31T05:24:33Z</dcterms:created>
  <dcterms:modified xsi:type="dcterms:W3CDTF">2021-07-31T05:45:28Z</dcterms:modified>
</cp:coreProperties>
</file>