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6.jpg" ContentType="image/jpg"/>
  <Override PartName="/ppt/media/image16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1" r:id="rId20"/>
    <p:sldId id="275" r:id="rId21"/>
    <p:sldId id="276" r:id="rId22"/>
    <p:sldId id="277" r:id="rId23"/>
    <p:sldId id="278" r:id="rId24"/>
    <p:sldId id="279" r:id="rId25"/>
    <p:sldId id="280" r:id="rId26"/>
    <p:sldId id="29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56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52659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03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55087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82951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19520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06058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05205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01110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08555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06670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C230653-ECAC-40F2-9CA6-CB61EAFA6132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0AFBED-D23B-4103-99F0-9E5B8761BEFC}" type="slidenum">
              <a:rPr lang="en-SD" smtClean="0"/>
              <a:t>‹#›</a:t>
            </a:fld>
            <a:endParaRPr lang="en-S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71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8107-ECDC-4780-8B38-B9FE6F5A6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210491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Anatomy of Uterus, Uterine Tube</a:t>
            </a:r>
            <a:endParaRPr lang="en-SD" sz="4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38837-0756-462A-9D49-FA2D82AB4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BY: M. G. HAMMAD</a:t>
            </a:r>
            <a:endParaRPr lang="en-SD" sz="3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510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882" y="1845733"/>
            <a:ext cx="6992471" cy="44385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Thick-walled muscular organ.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Whose function is to provide a nidus for the developing embryo.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Measures: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8 cm (3 in) long.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5 cm (2 in) from side to side.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3 cm (1 in) thick.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u="sng" dirty="0">
                <a:latin typeface="Aharoni" panose="02010803020104030203" pitchFamily="2" charset="-79"/>
                <a:cs typeface="Aharoni" panose="02010803020104030203" pitchFamily="2" charset="-79"/>
              </a:rPr>
              <a:t>Formed of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:-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Fundus.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Body.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Cervix.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sz="2100" dirty="0">
                <a:latin typeface="Aharoni" panose="02010803020104030203" pitchFamily="2" charset="-79"/>
                <a:cs typeface="Aharoni" panose="02010803020104030203" pitchFamily="2" charset="-79"/>
              </a:rPr>
              <a:t>It receives the uterine tubes.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07E8859-9883-4D3C-8B7C-F6EAD57856C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323" y="2488388"/>
            <a:ext cx="4686954" cy="3153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77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FUNDUS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2425" y="1845734"/>
            <a:ext cx="5252614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Above the entrance of the tubes.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It is convex and measures: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Side to side: 2 in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Thickness: 1 in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It covered by serous coat of pelvic peritoneum which continues downwards over the front and back of the body.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C7C256C-82DF-4709-8052-647F8105A15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63" y="2034270"/>
            <a:ext cx="5577518" cy="4023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808DC6AF-B802-4DD8-B763-D7EEABD5A2C9}"/>
              </a:ext>
            </a:extLst>
          </p:cNvPr>
          <p:cNvSpPr/>
          <p:nvPr/>
        </p:nvSpPr>
        <p:spPr>
          <a:xfrm>
            <a:off x="8917755" y="2488676"/>
            <a:ext cx="239535" cy="862930"/>
          </a:xfrm>
          <a:prstGeom prst="downArrow">
            <a:avLst>
              <a:gd name="adj1" fmla="val 42219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86843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BODY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108" y="1845734"/>
            <a:ext cx="666475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Is flattened Antero posteriorly.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Each upper angle receives the uterine tube.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It is enclosed by peritoneum which laterally becomes the broad ligament.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It has 2 surfaces: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u="sng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Intestinal surface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: faces upwards with coils of intestine lying upon it.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u="sng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Vesical surface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:  rests on the bladder with the peritoneum of the </a:t>
            </a:r>
            <a:r>
              <a:rPr lang="en-US" altLang="en-SD" u="sng" dirty="0">
                <a:latin typeface="Aharoni" panose="02010803020104030203" pitchFamily="2" charset="-79"/>
                <a:cs typeface="Aharoni" panose="02010803020104030203" pitchFamily="2" charset="-79"/>
              </a:rPr>
              <a:t>vesico- uterine pouch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 intervening.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47ED1E25-DCF8-47B5-A6C9-C86A29C24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859" y="1972951"/>
            <a:ext cx="4946716" cy="3768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FCCD6607-6193-41CD-8DF8-84E2BC2D23C5}"/>
              </a:ext>
            </a:extLst>
          </p:cNvPr>
          <p:cNvSpPr/>
          <p:nvPr/>
        </p:nvSpPr>
        <p:spPr>
          <a:xfrm flipV="1">
            <a:off x="7107811" y="4363195"/>
            <a:ext cx="809290" cy="12721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A67AD3E-4C4A-484A-B9BB-8E51638DCB09}"/>
              </a:ext>
            </a:extLst>
          </p:cNvPr>
          <p:cNvSpPr/>
          <p:nvPr/>
        </p:nvSpPr>
        <p:spPr>
          <a:xfrm rot="10575158" flipV="1">
            <a:off x="10503031" y="4209668"/>
            <a:ext cx="809290" cy="12721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6BB06DD3-653E-4331-863A-369C9DC3E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360" y="4959762"/>
            <a:ext cx="2602902" cy="194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AB674D8D-1F53-4997-B5EF-9D3819FBBB15}"/>
              </a:ext>
            </a:extLst>
          </p:cNvPr>
          <p:cNvSpPr/>
          <p:nvPr/>
        </p:nvSpPr>
        <p:spPr>
          <a:xfrm rot="10575158" flipV="1">
            <a:off x="9643792" y="3788279"/>
            <a:ext cx="809290" cy="12721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46455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BODY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109" y="1845734"/>
            <a:ext cx="6127424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Uterine cavity &amp; Isthmus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A narrow slit in the virgin.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Triangular in anterior view.</a:t>
            </a:r>
            <a:endParaRPr lang="en-US" altLang="en-SD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Enlarges during pregnancy.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The lowest </a:t>
            </a:r>
            <a:r>
              <a:rPr lang="en-US" altLang="en-SD" u="sng" dirty="0">
                <a:latin typeface="Aharoni" panose="02010803020104030203" pitchFamily="2" charset="-79"/>
                <a:cs typeface="Aharoni" panose="02010803020104030203" pitchFamily="2" charset="-79"/>
              </a:rPr>
              <a:t>half cm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 of the body is the </a:t>
            </a:r>
            <a:r>
              <a:rPr lang="en-US" altLang="en-SD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ISTHMUS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Isthmus becomes continuous with the cervix.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It called lower uterine segment {by OBS} at full term pregnancy.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AB1F54D-9ECD-49AC-B392-A6D24A07E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576" y="1723183"/>
            <a:ext cx="6127424" cy="459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8DA18F9-002C-478F-AFDB-C2D251828C45}"/>
              </a:ext>
            </a:extLst>
          </p:cNvPr>
          <p:cNvSpPr/>
          <p:nvPr/>
        </p:nvSpPr>
        <p:spPr>
          <a:xfrm>
            <a:off x="7381187" y="4468304"/>
            <a:ext cx="1487456" cy="12641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46404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CERVIX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109" y="1845734"/>
            <a:ext cx="6127424" cy="43730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The lower part of uterus.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Its lower end is clasped by the vault of the vagina.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u="sng" dirty="0">
                <a:latin typeface="Aharoni" panose="02010803020104030203" pitchFamily="2" charset="-79"/>
                <a:cs typeface="Aharoni" panose="02010803020104030203" pitchFamily="2" charset="-79"/>
              </a:rPr>
              <a:t>Has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 parts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: supravaginal &amp; vaginal parts.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Canal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: cervical canal.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The deep sulcus which surrounds the protruding cervix is the fornix of the vagina,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It is deepest posteriorly.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en-SD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object 18">
            <a:extLst>
              <a:ext uri="{FF2B5EF4-FFF2-40B4-BE49-F238E27FC236}">
                <a16:creationId xmlns:a16="http://schemas.microsoft.com/office/drawing/2014/main" id="{700D15D9-852E-4A7F-AD93-C7D507A49D16}"/>
              </a:ext>
            </a:extLst>
          </p:cNvPr>
          <p:cNvSpPr/>
          <p:nvPr/>
        </p:nvSpPr>
        <p:spPr>
          <a:xfrm>
            <a:off x="7277492" y="1495999"/>
            <a:ext cx="4374038" cy="4722829"/>
          </a:xfrm>
          <a:prstGeom prst="rect">
            <a:avLst/>
          </a:prstGeom>
          <a:blipFill>
            <a:blip r:embed="rId2" cstate="print"/>
            <a:stretch>
              <a:fillRect l="-101078" t="-28344" r="-8264" b="-17134"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Right Arrow 3">
            <a:extLst>
              <a:ext uri="{FF2B5EF4-FFF2-40B4-BE49-F238E27FC236}">
                <a16:creationId xmlns:a16="http://schemas.microsoft.com/office/drawing/2014/main" id="{03B89F68-E8E5-4A78-9B6F-04D89C0C41A5}"/>
              </a:ext>
            </a:extLst>
          </p:cNvPr>
          <p:cNvSpPr/>
          <p:nvPr/>
        </p:nvSpPr>
        <p:spPr>
          <a:xfrm>
            <a:off x="7041822" y="4788816"/>
            <a:ext cx="1487456" cy="12641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0395D-9981-4197-A966-4B2388DB69C4}"/>
              </a:ext>
            </a:extLst>
          </p:cNvPr>
          <p:cNvSpPr txBox="1"/>
          <p:nvPr/>
        </p:nvSpPr>
        <p:spPr>
          <a:xfrm>
            <a:off x="6305872" y="4641858"/>
            <a:ext cx="7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cervix</a:t>
            </a:r>
            <a:endParaRPr lang="en-SD" dirty="0"/>
          </a:p>
        </p:txBody>
      </p:sp>
      <p:sp>
        <p:nvSpPr>
          <p:cNvPr id="10" name="Right Arrow 3">
            <a:extLst>
              <a:ext uri="{FF2B5EF4-FFF2-40B4-BE49-F238E27FC236}">
                <a16:creationId xmlns:a16="http://schemas.microsoft.com/office/drawing/2014/main" id="{B116778A-5521-42B4-8ABC-9BE02D08294B}"/>
              </a:ext>
            </a:extLst>
          </p:cNvPr>
          <p:cNvSpPr/>
          <p:nvPr/>
        </p:nvSpPr>
        <p:spPr>
          <a:xfrm rot="10800000">
            <a:off x="9059158" y="4915228"/>
            <a:ext cx="1300900" cy="9596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78D4E-11CD-4F51-95B0-A07E00B7933B}"/>
              </a:ext>
            </a:extLst>
          </p:cNvPr>
          <p:cNvSpPr txBox="1"/>
          <p:nvPr/>
        </p:nvSpPr>
        <p:spPr>
          <a:xfrm>
            <a:off x="10399081" y="4779389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Cervical canal</a:t>
            </a:r>
            <a:endParaRPr lang="en-S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81C0A6-3A0A-48E7-BA9B-11079B4528E9}"/>
              </a:ext>
            </a:extLst>
          </p:cNvPr>
          <p:cNvSpPr txBox="1"/>
          <p:nvPr/>
        </p:nvSpPr>
        <p:spPr>
          <a:xfrm>
            <a:off x="6569025" y="3667828"/>
            <a:ext cx="1181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os</a:t>
            </a:r>
            <a:endParaRPr lang="en-S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FF0DA1-20FA-4AD1-BD1C-6AFECF5A6532}"/>
              </a:ext>
            </a:extLst>
          </p:cNvPr>
          <p:cNvSpPr txBox="1"/>
          <p:nvPr/>
        </p:nvSpPr>
        <p:spPr>
          <a:xfrm>
            <a:off x="9806802" y="6015308"/>
            <a:ext cx="1216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 os</a:t>
            </a:r>
            <a:endParaRPr lang="en-SD" dirty="0"/>
          </a:p>
        </p:txBody>
      </p:sp>
    </p:spTree>
    <p:extLst>
      <p:ext uri="{BB962C8B-B14F-4D97-AF65-F5344CB8AC3E}">
        <p14:creationId xmlns:p14="http://schemas.microsoft.com/office/powerpoint/2010/main" val="368712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E4B5-EAA4-4A76-ADC2-101E46E9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CERVIX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ABAA-DF36-408C-8E4E-89A61E812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109" y="1845734"/>
            <a:ext cx="6127424" cy="43730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en-SD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Cervical canal</a:t>
            </a:r>
            <a:r>
              <a:rPr lang="en-US" altLang="en-SD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Continuous with the cavity of the body at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internal os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The lower opening into the vagina is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external os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E O:  is circular in the </a:t>
            </a:r>
            <a:r>
              <a:rPr lang="en-US" altLang="en-SD" u="sng" dirty="0">
                <a:latin typeface="Aharoni" panose="02010803020104030203" pitchFamily="2" charset="-79"/>
                <a:cs typeface="Aharoni" panose="02010803020104030203" pitchFamily="2" charset="-79"/>
              </a:rPr>
              <a:t>nulliparous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 but become transverse slit after </a:t>
            </a:r>
            <a:r>
              <a:rPr lang="en-US" altLang="en-SD" u="sng" dirty="0">
                <a:latin typeface="Aharoni" panose="02010803020104030203" pitchFamily="2" charset="-79"/>
                <a:cs typeface="Aharoni" panose="02010803020104030203" pitchFamily="2" charset="-79"/>
              </a:rPr>
              <a:t>childbirth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E O: is normally on a level with the </a:t>
            </a:r>
            <a:r>
              <a:rPr lang="en-US" altLang="en-SD" u="sng" dirty="0">
                <a:latin typeface="Aharoni" panose="02010803020104030203" pitchFamily="2" charset="-79"/>
                <a:cs typeface="Aharoni" panose="02010803020104030203" pitchFamily="2" charset="-79"/>
              </a:rPr>
              <a:t>ischial spines</a:t>
            </a:r>
            <a:r>
              <a:rPr lang="en-US" altLang="en-SD" dirty="0"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6" name="object 18">
            <a:extLst>
              <a:ext uri="{FF2B5EF4-FFF2-40B4-BE49-F238E27FC236}">
                <a16:creationId xmlns:a16="http://schemas.microsoft.com/office/drawing/2014/main" id="{700D15D9-852E-4A7F-AD93-C7D507A49D16}"/>
              </a:ext>
            </a:extLst>
          </p:cNvPr>
          <p:cNvSpPr/>
          <p:nvPr/>
        </p:nvSpPr>
        <p:spPr>
          <a:xfrm>
            <a:off x="7277492" y="1495999"/>
            <a:ext cx="4374038" cy="4722829"/>
          </a:xfrm>
          <a:prstGeom prst="rect">
            <a:avLst/>
          </a:prstGeom>
          <a:blipFill>
            <a:blip r:embed="rId2" cstate="print"/>
            <a:stretch>
              <a:fillRect l="-101078" t="-28344" r="-8264" b="-17134"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Right Arrow 3">
            <a:extLst>
              <a:ext uri="{FF2B5EF4-FFF2-40B4-BE49-F238E27FC236}">
                <a16:creationId xmlns:a16="http://schemas.microsoft.com/office/drawing/2014/main" id="{03B89F68-E8E5-4A78-9B6F-04D89C0C41A5}"/>
              </a:ext>
            </a:extLst>
          </p:cNvPr>
          <p:cNvSpPr/>
          <p:nvPr/>
        </p:nvSpPr>
        <p:spPr>
          <a:xfrm>
            <a:off x="7041822" y="4788816"/>
            <a:ext cx="1487456" cy="12641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0395D-9981-4197-A966-4B2388DB69C4}"/>
              </a:ext>
            </a:extLst>
          </p:cNvPr>
          <p:cNvSpPr txBox="1"/>
          <p:nvPr/>
        </p:nvSpPr>
        <p:spPr>
          <a:xfrm>
            <a:off x="6305872" y="4641858"/>
            <a:ext cx="7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cervix</a:t>
            </a:r>
            <a:endParaRPr lang="en-SD" dirty="0"/>
          </a:p>
        </p:txBody>
      </p:sp>
      <p:sp>
        <p:nvSpPr>
          <p:cNvPr id="10" name="Right Arrow 3">
            <a:extLst>
              <a:ext uri="{FF2B5EF4-FFF2-40B4-BE49-F238E27FC236}">
                <a16:creationId xmlns:a16="http://schemas.microsoft.com/office/drawing/2014/main" id="{B116778A-5521-42B4-8ABC-9BE02D08294B}"/>
              </a:ext>
            </a:extLst>
          </p:cNvPr>
          <p:cNvSpPr/>
          <p:nvPr/>
        </p:nvSpPr>
        <p:spPr>
          <a:xfrm rot="10800000">
            <a:off x="9059158" y="4915228"/>
            <a:ext cx="1300900" cy="9596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78D4E-11CD-4F51-95B0-A07E00B7933B}"/>
              </a:ext>
            </a:extLst>
          </p:cNvPr>
          <p:cNvSpPr txBox="1"/>
          <p:nvPr/>
        </p:nvSpPr>
        <p:spPr>
          <a:xfrm>
            <a:off x="10399081" y="4779389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Cervical canal</a:t>
            </a:r>
            <a:endParaRPr lang="en-S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81C0A6-3A0A-48E7-BA9B-11079B4528E9}"/>
              </a:ext>
            </a:extLst>
          </p:cNvPr>
          <p:cNvSpPr txBox="1"/>
          <p:nvPr/>
        </p:nvSpPr>
        <p:spPr>
          <a:xfrm>
            <a:off x="6569025" y="3667828"/>
            <a:ext cx="1181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os</a:t>
            </a:r>
            <a:endParaRPr lang="en-S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FF0DA1-20FA-4AD1-BD1C-6AFECF5A6532}"/>
              </a:ext>
            </a:extLst>
          </p:cNvPr>
          <p:cNvSpPr txBox="1"/>
          <p:nvPr/>
        </p:nvSpPr>
        <p:spPr>
          <a:xfrm>
            <a:off x="9806802" y="6015308"/>
            <a:ext cx="1216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External os</a:t>
            </a:r>
            <a:endParaRPr lang="en-SD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6B032E2-1967-45C6-A82C-51F44EB6D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221" y="2045093"/>
            <a:ext cx="5154670" cy="3866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373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E079D-C4B5-4A80-9E3E-A661EBE5D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7" y="1737361"/>
            <a:ext cx="5582552" cy="435235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Reflected from the superior surface of the bladder.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Then covers junction of the supravaginal portion of the cervix and the body of the uterus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Here it forms </a:t>
            </a:r>
            <a:r>
              <a:rPr lang="en-GB" altLang="en-SD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Uterovesical pouch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Then covers </a:t>
            </a:r>
            <a:r>
              <a:rPr lang="en-GB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body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, </a:t>
            </a:r>
            <a:r>
              <a:rPr lang="en-GB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fundus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, </a:t>
            </a:r>
            <a:r>
              <a:rPr lang="en-GB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posterior surface of body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and the </a:t>
            </a:r>
            <a:r>
              <a:rPr lang="en-GB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supravaginal part of cervix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E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Then covers </a:t>
            </a:r>
            <a:r>
              <a:rPr lang="en-IE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upper third</a:t>
            </a:r>
            <a:r>
              <a:rPr lang="en-IE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of </a:t>
            </a:r>
            <a:r>
              <a:rPr lang="en-IE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posterior surface of vagina</a:t>
            </a: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Then reflected on </a:t>
            </a:r>
            <a:r>
              <a:rPr lang="en-US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anterior surface</a:t>
            </a: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of </a:t>
            </a:r>
            <a:r>
              <a:rPr lang="en-US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middle rectum</a:t>
            </a: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, to form </a:t>
            </a:r>
            <a:r>
              <a:rPr lang="en-US" altLang="en-SD" sz="24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rectouterine pouch</a:t>
            </a: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{of 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Douglas</a:t>
            </a: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}.</a:t>
            </a:r>
            <a:endParaRPr lang="en-GB" altLang="en-SD" sz="2400" dirty="0">
              <a:latin typeface="Aharoni" panose="02010803020104030203" pitchFamily="2" charset="-79"/>
              <a:ea typeface="ＭＳ Ｐゴシック" panose="020B0600070205080204" pitchFamily="34" charset="-128"/>
              <a:cs typeface="Aharoni" panose="02010803020104030203" pitchFamily="2" charset="-79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B43199-3FA3-4EEA-98E8-DBEF32C6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PERITONEAL COVERING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7" name="Picture 10" descr="pouch of douglas2">
            <a:extLst>
              <a:ext uri="{FF2B5EF4-FFF2-40B4-BE49-F238E27FC236}">
                <a16:creationId xmlns:a16="http://schemas.microsoft.com/office/drawing/2014/main" id="{0D1B7E98-1547-4E4B-9EA9-B031783B4E4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19509" y="1845734"/>
            <a:ext cx="3301704" cy="4391630"/>
          </a:xfrm>
          <a:noFill/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5032324-8B8B-464A-99F4-EFE9490C519E}"/>
              </a:ext>
            </a:extLst>
          </p:cNvPr>
          <p:cNvSpPr/>
          <p:nvPr/>
        </p:nvSpPr>
        <p:spPr>
          <a:xfrm>
            <a:off x="7956223" y="4034672"/>
            <a:ext cx="1619431" cy="29609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9732729-8461-4AAE-B7CD-DC2AF61E9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662" b="48756"/>
          <a:stretch>
            <a:fillRect/>
          </a:stretch>
        </p:blipFill>
        <p:spPr bwMode="auto">
          <a:xfrm>
            <a:off x="6866738" y="2038570"/>
            <a:ext cx="5417832" cy="374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A1789D3-A440-4ED3-8065-B67FE81E4702}"/>
              </a:ext>
            </a:extLst>
          </p:cNvPr>
          <p:cNvSpPr/>
          <p:nvPr/>
        </p:nvSpPr>
        <p:spPr>
          <a:xfrm flipV="1">
            <a:off x="6890993" y="3190973"/>
            <a:ext cx="2188548" cy="24745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4522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B21CE5-37C7-4910-91C9-27B69A704F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63" y="1787559"/>
            <a:ext cx="5669280" cy="4251958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POSITION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7" y="1737361"/>
            <a:ext cx="5582552" cy="43523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SD" sz="24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normal position is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Anteverted, Anteflexed.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24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Other positions for normal uterus</a:t>
            </a: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Anteverted.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Retroverted.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Retroflexed.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32F3C0-70E3-4544-9097-B23351E80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48925"/>
            <a:ext cx="6076572" cy="369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8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8FCAD3-D6E9-41E6-B618-B1AECE9E9B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72" b="12223"/>
          <a:stretch/>
        </p:blipFill>
        <p:spPr>
          <a:xfrm>
            <a:off x="1449687" y="2479248"/>
            <a:ext cx="9292626" cy="268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8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RELATION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1737361"/>
            <a:ext cx="6722549" cy="45126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SD" sz="24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Anteriorly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body: related to the uterovesical pouch and the superior surface of the bladder.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supravaginal cervix: related to the superior surface of the bladder.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vaginal cervix: related to the anterior fornix of the vagina.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24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Posteriorly</a:t>
            </a: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Related to </a:t>
            </a: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rectouterine pouch (pouch of Douglas) with coils of ileum or sigmoid colon within it.</a:t>
            </a:r>
            <a:endParaRPr lang="en-US" altLang="en-SD" dirty="0">
              <a:latin typeface="Aharoni" panose="02010803020104030203" pitchFamily="2" charset="-79"/>
              <a:ea typeface="ＭＳ Ｐゴシック" panose="020B0600070205080204" pitchFamily="34" charset="-128"/>
              <a:cs typeface="Aharoni" panose="02010803020104030203" pitchFamily="2" charset="-79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109AB11-0DF4-46A9-8756-C7EF199D44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035" y="1737361"/>
            <a:ext cx="5022018" cy="4598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642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RELATION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1737361"/>
            <a:ext cx="6722549" cy="45126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SD" sz="24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Laterally</a:t>
            </a:r>
            <a:r>
              <a:rPr lang="en-GB" altLang="en-SD" sz="24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body: related laterally to the broad ligament and the uterine artery and vein.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supravaginal cervix: related to the ureter as it passes forward to enter the bladder.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vaginal cervix: related to the lateral fornix of the vagina.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uterine tubes enter the superolateral angles of the uterus.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Round ligaments of the ovary and of the uterus are attached to the uterine wall just below this level.</a:t>
            </a:r>
            <a:endParaRPr lang="en-US" altLang="en-SD" dirty="0">
              <a:latin typeface="Aharoni" panose="02010803020104030203" pitchFamily="2" charset="-79"/>
              <a:ea typeface="ＭＳ Ｐゴシック" panose="020B0600070205080204" pitchFamily="34" charset="-128"/>
              <a:cs typeface="Aharoni" panose="02010803020104030203" pitchFamily="2" charset="-79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86969D-B5E1-4FE5-9C0D-F4D8BE64DB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041" y="1011981"/>
            <a:ext cx="4641130" cy="321663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A1CFCE-69FF-406D-B006-9675A6A2A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212" y="3751868"/>
            <a:ext cx="4942788" cy="310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7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2051571"/>
            <a:ext cx="6664751" cy="4198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most ﬁxed part of the uterus is the cervix.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Some of structures share directly or indirectly in support of uterus.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Structures include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i="1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Upper structures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 {Round &amp; Broad Ligaments}.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i="1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Middle structures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 {</a:t>
            </a:r>
            <a:r>
              <a:rPr lang="en-GB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Transverse, Uterosacral ligaments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}.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SD" i="1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Lower structures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 {</a:t>
            </a:r>
            <a:r>
              <a:rPr lang="en-GB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Levator ani, coccygeus, Perineal body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}.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787B28-522B-4F6A-AB5C-2F24A97991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78" t="38899"/>
          <a:stretch/>
        </p:blipFill>
        <p:spPr>
          <a:xfrm>
            <a:off x="7324627" y="1894789"/>
            <a:ext cx="4887408" cy="4198400"/>
          </a:xfrm>
        </p:spPr>
      </p:pic>
    </p:spTree>
    <p:extLst>
      <p:ext uri="{BB962C8B-B14F-4D97-AF65-F5344CB8AC3E}">
        <p14:creationId xmlns:p14="http://schemas.microsoft.com/office/powerpoint/2010/main" val="346518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1866905"/>
            <a:ext cx="6664751" cy="44961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Broad Ligament</a:t>
            </a: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 double fold of peritoneum lying lateral to the Uterus.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plays little part in uterine support.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Its medial edge is attached to the side wall of the uterus.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lateral edge is attached to the side wall of the pelvis.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The line of lateral attachment crosses the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obturator nerve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,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superior vesical vessels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, and the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obturator vessels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Upper border of the broad ligament is free, forming the mesosalpinx {containing the uterine tube}.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Lateral part of mesosalpinx forms the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suspensory ligament of the ovary</a:t>
            </a: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(</a:t>
            </a:r>
            <a:r>
              <a:rPr lang="en-US" altLang="en-SD" sz="1800" dirty="0" err="1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</a:t>
            </a:r>
            <a:r>
              <a:rPr lang="en-GB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nfundibulo-pelvic</a:t>
            </a: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)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Suspensory ligament contains the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ovarian vessels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and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lymphatics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8" name="object 19">
            <a:extLst>
              <a:ext uri="{FF2B5EF4-FFF2-40B4-BE49-F238E27FC236}">
                <a16:creationId xmlns:a16="http://schemas.microsoft.com/office/drawing/2014/main" id="{BEA83866-674B-40C9-9894-60EAC71BEE3E}"/>
              </a:ext>
            </a:extLst>
          </p:cNvPr>
          <p:cNvSpPr/>
          <p:nvPr/>
        </p:nvSpPr>
        <p:spPr>
          <a:xfrm>
            <a:off x="7490788" y="1738006"/>
            <a:ext cx="4701212" cy="4765786"/>
          </a:xfrm>
          <a:prstGeom prst="rect">
            <a:avLst/>
          </a:prstGeom>
          <a:blipFill>
            <a:blip r:embed="rId2" cstate="print"/>
            <a:stretch>
              <a:fillRect l="-10138" t="-20128" r="-1"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F6C38-8452-4BCD-8857-0CE321A886A1}"/>
              </a:ext>
            </a:extLst>
          </p:cNvPr>
          <p:cNvSpPr txBox="1"/>
          <p:nvPr/>
        </p:nvSpPr>
        <p:spPr>
          <a:xfrm flipH="1">
            <a:off x="7368238" y="1866905"/>
            <a:ext cx="927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SUS LIG</a:t>
            </a:r>
            <a:endParaRPr lang="en-S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5E75D1-98E9-4A42-8662-D95065F3D1B7}"/>
              </a:ext>
            </a:extLst>
          </p:cNvPr>
          <p:cNvSpPr txBox="1"/>
          <p:nvPr/>
        </p:nvSpPr>
        <p:spPr>
          <a:xfrm flipH="1">
            <a:off x="7831912" y="2236237"/>
            <a:ext cx="1180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Mesosalpinx</a:t>
            </a:r>
            <a:endParaRPr lang="en-SD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F9421F-ADB0-406A-AFEE-F095A08AC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345" y="1619525"/>
            <a:ext cx="4544098" cy="518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9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1866905"/>
            <a:ext cx="6664751" cy="44961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Broad Ligament</a:t>
            </a:r>
            <a:r>
              <a:rPr lang="en-US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Anterior layer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 bulged forwards by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round ligament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of the uterus just below uterine tube.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Posterior layer: bulges backwards as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mesovarium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, suspending the ovary.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Between the two layers is a mass of areolar tissue, in which lies: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Uterine and ovarian vessels and lymphatics.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Round ligament of the uterus.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ligament of the ovary.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Vestigial remnants of mesonephric tubules (epoophoron and paroophoron).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SD" sz="1800" dirty="0">
              <a:latin typeface="Aharoni" panose="02010803020104030203" pitchFamily="2" charset="-79"/>
              <a:ea typeface="ＭＳ Ｐゴシック" panose="020B0600070205080204" pitchFamily="34" charset="-128"/>
              <a:cs typeface="Aharoni" panose="02010803020104030203" pitchFamily="2" charset="-79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AE50BB8-34DF-4491-BF14-4400A240DD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492" y="2174274"/>
            <a:ext cx="4914507" cy="3881450"/>
          </a:xfr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302367C-87ED-4512-A646-EBAF90B6D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37" y="1738006"/>
            <a:ext cx="5074762" cy="4434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830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256" y="1738006"/>
            <a:ext cx="6956981" cy="451196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Round Ligament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Extends from junction of the uterus and tube to the deep inguinal ring.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lies in the anterior layer of the broad ligament below the uterine tube.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is continuous with ligament of the ovary {the two ligaments in continuity representing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gubernaculum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}.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passes through the inguinal canal and is attached at its distal extremity to labium majus of the vulva.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is supplied by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 branch of the ovarian artery in the broad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 branch from the inferior epigastric artery in the inguinal canal.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consists largely of visceral muscle.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Acts to hold the uterus forwards in anteﬂexion and anteversion.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787B28-522B-4F6A-AB5C-2F24A97991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78" t="38899"/>
          <a:stretch/>
        </p:blipFill>
        <p:spPr>
          <a:xfrm>
            <a:off x="7324627" y="1894789"/>
            <a:ext cx="4887408" cy="4198400"/>
          </a:xfrm>
        </p:spPr>
      </p:pic>
    </p:spTree>
    <p:extLst>
      <p:ext uri="{BB962C8B-B14F-4D97-AF65-F5344CB8AC3E}">
        <p14:creationId xmlns:p14="http://schemas.microsoft.com/office/powerpoint/2010/main" val="371485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2051571"/>
            <a:ext cx="6909848" cy="4198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Transverse or Lateral Ligament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Known as the lateral cervical, cardinal or Mackenrodt's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Consists of thickenings of connective tissue in the base of each broad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Extending from the cervix and vaginal fornix laterally to the side wall of the pelvis.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Its upper surface related to ureter, uterine artery and inferior hypogastric plexus.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pierced by cervical branch of uterine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Its function: lateral stability to the cervix.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6FD720-1209-4BEF-AF15-66ACFBD4CC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04"/>
          <a:stretch/>
        </p:blipFill>
        <p:spPr>
          <a:xfrm>
            <a:off x="7723384" y="1885665"/>
            <a:ext cx="4468616" cy="415130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F7BF71-C3F8-4A1E-8B8A-24EC0620F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163" y="1618169"/>
            <a:ext cx="4118924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1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45075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Anatomy of Uterus:</a:t>
            </a:r>
            <a:b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</a:t>
            </a:r>
            <a:endParaRPr lang="en-SD" sz="4400" u="sng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2051571"/>
            <a:ext cx="6909848" cy="4198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SD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Uterosacral Ligament</a:t>
            </a:r>
            <a:r>
              <a:rPr lang="en-US" altLang="en-SD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Consists of condensation of connective.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Extending backwards from the cervix below the peritoneum.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Embracing the rectouterine pouch and rectum.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Becoming attached to the fascia over piriformis.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is best palpated on rectal (not vaginal) examination.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keeps the cervix braced backwards against the forward pull of the round ligaments on the fundus.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Maintains the body of the uterus in anteversion.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6FD720-1209-4BEF-AF15-66ACFBD4CC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04"/>
          <a:stretch/>
        </p:blipFill>
        <p:spPr>
          <a:xfrm>
            <a:off x="7723384" y="1885665"/>
            <a:ext cx="4468616" cy="4151308"/>
          </a:xfr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F073A1DB-777B-4237-8611-95D99578E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345" y="1619525"/>
            <a:ext cx="4544098" cy="518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2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5D74-63D6-492E-9B26-9362C662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95442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UTERINE TUBES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995BC9-0347-4046-BC61-756296F5CE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58" y="2177592"/>
            <a:ext cx="6212264" cy="3946358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0DA044-C643-4431-99CB-9DFD8B2DB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2051571"/>
            <a:ext cx="5643514" cy="41984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Muscular tube runs in the upper border of the broad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Each tube: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Is 10 cm (4 in) long.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Has two ends.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Formed of </a:t>
            </a: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four parts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:-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Infundibulum.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Ampulla.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Isthmus.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Intramural.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C2D1441-CA80-4A29-B9E1-889144C38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51571"/>
            <a:ext cx="5229066" cy="392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084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5D74-63D6-492E-9B26-9362C662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95442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UTERINE TUBES</a:t>
            </a:r>
            <a:endParaRPr lang="en-SD" sz="4400" dirty="0">
              <a:solidFill>
                <a:schemeClr val="tx1">
                  <a:lumMod val="85000"/>
                  <a:lumOff val="1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0DA044-C643-4431-99CB-9DFD8B2DB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86" y="2051571"/>
            <a:ext cx="6042580" cy="4198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embraced by double fold of peritoneum (mesosalpinx).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Isthmus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  <a:r>
              <a:rPr lang="en-US" altLang="en-SD" sz="1800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straight &amp; narrowest part.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Ampulla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 the widest part, site of fertilization.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u="sng" dirty="0">
                <a:solidFill>
                  <a:srgbClr val="FF0000"/>
                </a:solidFill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Infundibulum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Trumpet-shaped expansion.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Ended by several ﬁnger-like processes (fimbria).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is the open end.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Lies behind the broad ligament adjacent to the lateral pelvic wall and ovary.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8BFA74-95CC-49CC-A501-8CC506FD90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066" y="1977269"/>
            <a:ext cx="5696934" cy="427270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3304EB-A850-467E-8B58-FE6948EE0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048" y="1829220"/>
            <a:ext cx="5498970" cy="39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7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Blood supply of uterus and uterine tubes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Arteries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257" y="1738006"/>
            <a:ext cx="5722070" cy="45119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2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Uterus</a:t>
            </a:r>
            <a:r>
              <a:rPr lang="en-US" altLang="en-SD" sz="22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is supplied by the uterine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Branch from internal iliac.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passes medially across the pelvic ﬂoor in the base of the broad ligament,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Reaches the side of the supravaginal part of the cervix.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Giving a branch to the cervix and vagina.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At entrance of the tube; it anastomoses with tubal branch of the ovarian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 its course; it freely gives off branches which penetrate the uterine walls.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FC2645-8E59-4805-A927-30DE6C68CF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87" y="1989173"/>
            <a:ext cx="5483256" cy="400963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B2B966-39A8-4B4B-8856-4338E0301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991" y="2209965"/>
            <a:ext cx="5468752" cy="356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8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Blood supply of uterus and uterine tubes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Arteries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257" y="1738006"/>
            <a:ext cx="5722070" cy="45119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altLang="en-SD" sz="2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Uterine tube</a:t>
            </a:r>
            <a:r>
              <a:rPr lang="en-US" altLang="en-SD" sz="22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is supplied by tubal branch of ovarian artery.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tubal artery runs below the tube.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Between the layers of the broad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Anastomose with the uterine artery.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FC2645-8E59-4805-A927-30DE6C68CF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87" y="1989173"/>
            <a:ext cx="5483256" cy="400963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B2B966-39A8-4B4B-8856-4338E0301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991" y="2209965"/>
            <a:ext cx="5468752" cy="356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8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Blood supply of uterus and uterine tubes</a:t>
            </a:r>
            <a:b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Veins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315" y="1738006"/>
            <a:ext cx="5618376" cy="40400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veins of the uterus course below the artery at the lower edge of the broad ligament.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They form a plexus across the pelvic ﬂoor.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This communicates with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vesical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and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rectal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plexuses.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It drains to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internal iliac veins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tubal veins join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ovarian veins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8F61D5-7C74-4D57-B4A3-7D08608C7F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235" y="1738007"/>
            <a:ext cx="5400764" cy="4446628"/>
          </a:xfrm>
        </p:spPr>
      </p:pic>
    </p:spTree>
    <p:extLst>
      <p:ext uri="{BB962C8B-B14F-4D97-AF65-F5344CB8AC3E}">
        <p14:creationId xmlns:p14="http://schemas.microsoft.com/office/powerpoint/2010/main" val="2974365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Lymph drainage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462" y="1954823"/>
            <a:ext cx="5633458" cy="40400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body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and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fundus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of the uterus normally drain to: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Mainly to external iliac nodes.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Also possible to reach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inguinal nodes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via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round ligament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and the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inguinal canal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cervix drains to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external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and </a:t>
            </a:r>
            <a:r>
              <a:rPr lang="en-US" altLang="en-SD" sz="1800" u="sng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internal iliac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 nodes.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en-SD" sz="1800" dirty="0">
              <a:latin typeface="Aharoni" panose="02010803020104030203" pitchFamily="2" charset="-79"/>
              <a:ea typeface="ＭＳ Ｐゴシック" panose="020B0600070205080204" pitchFamily="34" charset="-128"/>
              <a:cs typeface="Aharoni" panose="02010803020104030203" pitchFamily="2" charset="-79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2A031A-93B1-40F4-A997-A7B86864D6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700" y="2194740"/>
            <a:ext cx="4937125" cy="3702843"/>
          </a:xfrm>
        </p:spPr>
      </p:pic>
    </p:spTree>
    <p:extLst>
      <p:ext uri="{BB962C8B-B14F-4D97-AF65-F5344CB8AC3E}">
        <p14:creationId xmlns:p14="http://schemas.microsoft.com/office/powerpoint/2010/main" val="2743188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B0B321-26AC-420A-AE3A-74FDB9A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7249"/>
            <a:ext cx="10058400" cy="105135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Nerve Supply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8983A9-B5B2-48EE-874A-AF7617659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462" y="1954823"/>
            <a:ext cx="5633458" cy="404000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nerves of the uterus are branches from the </a:t>
            </a:r>
            <a:r>
              <a:rPr lang="en-US" altLang="en-SD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pelvic plexus</a:t>
            </a: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The nerve supply for sense largely.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Pain from lower 2\3 of cervix pass through pelvic splanchnic nerves (parasympathetic) (vagus &amp; S2, 3, 4).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SD" sz="1800" dirty="0">
                <a:latin typeface="Aharoni" panose="02010803020104030203" pitchFamily="2" charset="-79"/>
                <a:ea typeface="ＭＳ Ｐゴシック" panose="020B0600070205080204" pitchFamily="34" charset="-128"/>
                <a:cs typeface="Aharoni" panose="02010803020104030203" pitchFamily="2" charset="-79"/>
              </a:rPr>
              <a:t>Pain from upper 1\3 of cervix &amp; body pass through sympathetic (T10 to L1 or L2).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782C7A-A908-46AB-9FAE-4035DF6AC9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142" y="1780898"/>
            <a:ext cx="3575900" cy="5001870"/>
          </a:xfrm>
        </p:spPr>
      </p:pic>
    </p:spTree>
    <p:extLst>
      <p:ext uri="{BB962C8B-B14F-4D97-AF65-F5344CB8AC3E}">
        <p14:creationId xmlns:p14="http://schemas.microsoft.com/office/powerpoint/2010/main" val="992153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28CC-9447-4364-A876-486122D7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57" y="2703621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FF0000"/>
                </a:solidFill>
                <a:latin typeface="Algerian" panose="04020705040A02060702" pitchFamily="82" charset="0"/>
              </a:rPr>
              <a:t>10X</a:t>
            </a:r>
            <a:endParaRPr lang="en-SD" sz="72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4885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1844</TotalTime>
  <Words>1599</Words>
  <Application>Microsoft Office PowerPoint</Application>
  <PresentationFormat>Widescreen</PresentationFormat>
  <Paragraphs>192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Aharoni</vt:lpstr>
      <vt:lpstr>Algerian</vt:lpstr>
      <vt:lpstr>Arial</vt:lpstr>
      <vt:lpstr>Calibri</vt:lpstr>
      <vt:lpstr>Calibri Light</vt:lpstr>
      <vt:lpstr>Wingdings</vt:lpstr>
      <vt:lpstr>Retrospect</vt:lpstr>
      <vt:lpstr>Anatomy of Uterus, Uterine Tube</vt:lpstr>
      <vt:lpstr>Anatomy of Uterus:</vt:lpstr>
      <vt:lpstr>Anatomy of Uterus: FUNDUS</vt:lpstr>
      <vt:lpstr>Anatomy of Uterus: BODY</vt:lpstr>
      <vt:lpstr>Anatomy of Uterus: BODY</vt:lpstr>
      <vt:lpstr>Anatomy of Uterus: CERVIX</vt:lpstr>
      <vt:lpstr>Anatomy of Uterus: CERVIX</vt:lpstr>
      <vt:lpstr>Anatomy of Uterus: PERITONEAL COVERING</vt:lpstr>
      <vt:lpstr>Anatomy of Uterus: POSITION</vt:lpstr>
      <vt:lpstr>PowerPoint Presentation</vt:lpstr>
      <vt:lpstr>Anatomy of Uterus: RELATION</vt:lpstr>
      <vt:lpstr>Anatomy of Uterus: RELATION</vt:lpstr>
      <vt:lpstr>Anatomy of Uterus: SUPPORT</vt:lpstr>
      <vt:lpstr>Anatomy of Uterus: SUPPORT</vt:lpstr>
      <vt:lpstr>Anatomy of Uterus: SUPPORT</vt:lpstr>
      <vt:lpstr>Anatomy of Uterus: SUPPORT</vt:lpstr>
      <vt:lpstr>Anatomy of Uterus: SUPPORT</vt:lpstr>
      <vt:lpstr>Anatomy of Uterus: SUPPORT</vt:lpstr>
      <vt:lpstr>UTERINE TUBES</vt:lpstr>
      <vt:lpstr>UTERINE TUBES</vt:lpstr>
      <vt:lpstr>Blood supply of uterus and uterine tubes Arteries</vt:lpstr>
      <vt:lpstr>Blood supply of uterus and uterine tubes Arteries</vt:lpstr>
      <vt:lpstr>Blood supply of uterus and uterine tubes Veins</vt:lpstr>
      <vt:lpstr>Lymph drainage</vt:lpstr>
      <vt:lpstr>Nerve Supply</vt:lpstr>
      <vt:lpstr>10X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Uterus, Ovaries, Vagina</dc:title>
  <dc:creator>MEDICO126</dc:creator>
  <cp:lastModifiedBy>Mohamed Hammad</cp:lastModifiedBy>
  <cp:revision>30</cp:revision>
  <dcterms:created xsi:type="dcterms:W3CDTF">2021-10-20T09:16:14Z</dcterms:created>
  <dcterms:modified xsi:type="dcterms:W3CDTF">2025-10-24T15:24:26Z</dcterms:modified>
</cp:coreProperties>
</file>