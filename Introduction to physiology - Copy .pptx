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79" r:id="rId4"/>
    <p:sldId id="258" r:id="rId5"/>
    <p:sldId id="259" r:id="rId6"/>
    <p:sldId id="260" r:id="rId7"/>
    <p:sldId id="297" r:id="rId8"/>
    <p:sldId id="272" r:id="rId9"/>
    <p:sldId id="298" r:id="rId10"/>
    <p:sldId id="262" r:id="rId11"/>
    <p:sldId id="264" r:id="rId12"/>
    <p:sldId id="277" r:id="rId13"/>
    <p:sldId id="267" r:id="rId14"/>
    <p:sldId id="269" r:id="rId15"/>
    <p:sldId id="270" r:id="rId16"/>
    <p:sldId id="278" r:id="rId17"/>
    <p:sldId id="271" r:id="rId18"/>
    <p:sldId id="261" r:id="rId19"/>
    <p:sldId id="273" r:id="rId20"/>
    <p:sldId id="286" r:id="rId21"/>
    <p:sldId id="290" r:id="rId22"/>
    <p:sldId id="291" r:id="rId23"/>
    <p:sldId id="296" r:id="rId24"/>
    <p:sldId id="300" r:id="rId25"/>
    <p:sldId id="301" r:id="rId26"/>
    <p:sldId id="302" r:id="rId27"/>
    <p:sldId id="304" r:id="rId28"/>
    <p:sldId id="303" r:id="rId29"/>
    <p:sldId id="30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11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99" autoAdjust="0"/>
    <p:restoredTop sz="86408" autoAdjust="0"/>
  </p:normalViewPr>
  <p:slideViewPr>
    <p:cSldViewPr>
      <p:cViewPr>
        <p:scale>
          <a:sx n="53" d="100"/>
          <a:sy n="53" d="100"/>
        </p:scale>
        <p:origin x="-1085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EFBBC-DA4A-4BA7-893C-05BB6BCB07E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BB0E7-A13C-4954-B8DD-C8FF92BFB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0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BB0E7-A13C-4954-B8DD-C8FF92BFB5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6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8610600" cy="1472184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>
                <a:solidFill>
                  <a:schemeClr val="accent1">
                    <a:lumMod val="75000"/>
                  </a:schemeClr>
                </a:solidFill>
                <a:latin typeface="Century" pitchFamily="18" charset="0"/>
              </a:rPr>
              <a:t>physiology</a:t>
            </a:r>
            <a:endParaRPr lang="en-US" sz="6000" b="1" dirty="0">
              <a:solidFill>
                <a:schemeClr val="accent1">
                  <a:lumMod val="75000"/>
                </a:schemeClr>
              </a:solidFill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495800"/>
            <a:ext cx="7406640" cy="1752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Dr. </a:t>
            </a:r>
            <a:r>
              <a:rPr lang="en-US" sz="2400" dirty="0" err="1" smtClean="0"/>
              <a:t>Wafa</a:t>
            </a:r>
            <a:r>
              <a:rPr lang="en-US" sz="2400" dirty="0" smtClean="0"/>
              <a:t> Mubarak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239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r>
              <a:rPr lang="en-US" sz="2800" dirty="0"/>
              <a:t>Define physiology.</a:t>
            </a:r>
          </a:p>
          <a:p>
            <a:r>
              <a:rPr lang="en-US" sz="2800" dirty="0"/>
              <a:t>Provide an orientation to the subject of human physiology.</a:t>
            </a:r>
          </a:p>
          <a:p>
            <a:r>
              <a:rPr lang="en-US" sz="2800" dirty="0"/>
              <a:t>Describe the levels of </a:t>
            </a:r>
            <a:r>
              <a:rPr lang="en-US" sz="2800" dirty="0" smtClean="0"/>
              <a:t>organization </a:t>
            </a:r>
            <a:r>
              <a:rPr lang="en-US" sz="2800" dirty="0"/>
              <a:t>of an organism.</a:t>
            </a:r>
          </a:p>
          <a:p>
            <a:r>
              <a:rPr lang="en-US" sz="2800" dirty="0"/>
              <a:t>The cell is the </a:t>
            </a:r>
            <a:r>
              <a:rPr lang="en-US" sz="2800"/>
              <a:t>basic </a:t>
            </a:r>
            <a:r>
              <a:rPr lang="en-US" sz="2800" smtClean="0"/>
              <a:t>functional unit </a:t>
            </a:r>
            <a:r>
              <a:rPr lang="en-US" sz="2800" dirty="0"/>
              <a:t>of life.</a:t>
            </a:r>
          </a:p>
          <a:p>
            <a:r>
              <a:rPr lang="en-US" sz="2800" dirty="0"/>
              <a:t>Describe briefly the basic structure of the cell and state the function of the different cellular organelles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279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8077199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1828799"/>
            <a:ext cx="520527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What is </a:t>
            </a:r>
            <a:r>
              <a:rPr lang="en-US" sz="4400" dirty="0" smtClean="0"/>
              <a:t>physiology?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778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686800" cy="4800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Physio-</a:t>
            </a:r>
            <a:r>
              <a:rPr lang="en-US" dirty="0"/>
              <a:t>: nature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-logy</a:t>
            </a:r>
            <a:r>
              <a:rPr lang="en-US" dirty="0"/>
              <a:t>: science or study </a:t>
            </a:r>
            <a:r>
              <a:rPr lang="en-US" dirty="0" smtClean="0"/>
              <a:t>of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Physiology</a:t>
            </a:r>
            <a:r>
              <a:rPr lang="en-US" dirty="0"/>
              <a:t> is the science of studying the </a:t>
            </a:r>
            <a:r>
              <a:rPr lang="en-US" dirty="0" smtClean="0"/>
              <a:t>functional activities </a:t>
            </a:r>
            <a:r>
              <a:rPr lang="en-US" dirty="0"/>
              <a:t>and its mechanisms in biological body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endParaRPr lang="en-US" dirty="0" smtClean="0"/>
          </a:p>
          <a:p>
            <a:r>
              <a:rPr lang="en-US" sz="2400" dirty="0" smtClean="0"/>
              <a:t>Function            explains </a:t>
            </a:r>
            <a:r>
              <a:rPr lang="en-US" u="sng" dirty="0"/>
              <a:t>why</a:t>
            </a:r>
            <a:r>
              <a:rPr lang="en-US" sz="2400" dirty="0"/>
              <a:t> it needs to be done</a:t>
            </a:r>
          </a:p>
          <a:p>
            <a:r>
              <a:rPr lang="en-US" sz="2400" dirty="0" smtClean="0"/>
              <a:t>Mechanism           explains </a:t>
            </a:r>
            <a:r>
              <a:rPr lang="en-US" sz="2800" u="sng" dirty="0"/>
              <a:t>how</a:t>
            </a:r>
            <a:r>
              <a:rPr lang="en-US" sz="2400" dirty="0"/>
              <a:t> it does that job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2795242" y="4522031"/>
            <a:ext cx="673608" cy="1609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013" y="5019675"/>
            <a:ext cx="7016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479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637" y="1905000"/>
            <a:ext cx="6400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533400"/>
            <a:ext cx="7696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What is the difference between </a:t>
            </a:r>
            <a:r>
              <a:rPr lang="en-US" sz="3200" dirty="0">
                <a:solidFill>
                  <a:schemeClr val="accent5"/>
                </a:solidFill>
              </a:rPr>
              <a:t>anatomy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physiology</a:t>
            </a:r>
            <a:r>
              <a:rPr lang="en-US" sz="3200" dirty="0"/>
              <a:t> of the heart?</a:t>
            </a:r>
          </a:p>
        </p:txBody>
      </p:sp>
    </p:spTree>
    <p:extLst>
      <p:ext uri="{BB962C8B-B14F-4D97-AF65-F5344CB8AC3E}">
        <p14:creationId xmlns:p14="http://schemas.microsoft.com/office/powerpoint/2010/main" val="242947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228600"/>
            <a:ext cx="7866888" cy="1143000"/>
          </a:xfrm>
        </p:spPr>
        <p:txBody>
          <a:bodyPr>
            <a:normAutofit/>
          </a:bodyPr>
          <a:lstStyle/>
          <a:p>
            <a:r>
              <a:rPr lang="en-US" sz="3200" dirty="0"/>
              <a:t>Levels of Structural Organization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"/>
            <a:ext cx="8935995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27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7943088" cy="5867400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Tissue</a:t>
            </a:r>
            <a:r>
              <a:rPr lang="en-US" dirty="0"/>
              <a:t> is defined as the group of cells having </a:t>
            </a:r>
            <a:r>
              <a:rPr lang="en-US" dirty="0" smtClean="0"/>
              <a:t>similar function.</a:t>
            </a:r>
          </a:p>
          <a:p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tissues are classified into four major types which </a:t>
            </a:r>
            <a:r>
              <a:rPr lang="en-US" dirty="0" smtClean="0"/>
              <a:t>are called </a:t>
            </a:r>
            <a:r>
              <a:rPr lang="en-US" dirty="0"/>
              <a:t>the primary </a:t>
            </a:r>
            <a:r>
              <a:rPr lang="en-US" dirty="0" smtClean="0"/>
              <a:t>tissues:</a:t>
            </a:r>
            <a:endParaRPr lang="en-US" dirty="0"/>
          </a:p>
          <a:p>
            <a:pPr marL="82296" indent="0">
              <a:buNone/>
            </a:pPr>
            <a:r>
              <a:rPr lang="en-US" dirty="0"/>
              <a:t>1.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Muscle tissue </a:t>
            </a:r>
            <a:r>
              <a:rPr lang="en-US" dirty="0"/>
              <a:t>(skeletal muscle, smooth muscle </a:t>
            </a:r>
            <a:r>
              <a:rPr lang="en-US" dirty="0" smtClean="0"/>
              <a:t>and cardiac </a:t>
            </a:r>
            <a:r>
              <a:rPr lang="en-US" dirty="0"/>
              <a:t>muscle)</a:t>
            </a:r>
          </a:p>
          <a:p>
            <a:pPr marL="82296" indent="0">
              <a:buNone/>
            </a:pPr>
            <a:r>
              <a:rPr lang="en-US" dirty="0"/>
              <a:t>2.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Nervous tissue </a:t>
            </a:r>
            <a:r>
              <a:rPr lang="en-US" dirty="0"/>
              <a:t>(neurons and supporting cells)</a:t>
            </a:r>
          </a:p>
          <a:p>
            <a:pPr marL="82296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Epithelial tissue </a:t>
            </a:r>
            <a:r>
              <a:rPr lang="en-US" dirty="0"/>
              <a:t>(squamous, columnar and </a:t>
            </a:r>
            <a:r>
              <a:rPr lang="en-US" dirty="0" smtClean="0"/>
              <a:t>cuboidal epithelial </a:t>
            </a:r>
            <a:r>
              <a:rPr lang="en-US" dirty="0"/>
              <a:t>cells)</a:t>
            </a:r>
          </a:p>
          <a:p>
            <a:pPr marL="82296" indent="0">
              <a:buNone/>
            </a:pPr>
            <a:r>
              <a:rPr lang="en-US" dirty="0"/>
              <a:t>4.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Connective tissue </a:t>
            </a:r>
            <a:r>
              <a:rPr lang="en-US" dirty="0"/>
              <a:t>(connective tissue proper, </a:t>
            </a:r>
            <a:r>
              <a:rPr lang="en-US" dirty="0" smtClean="0"/>
              <a:t>cartilage, bone </a:t>
            </a:r>
            <a:r>
              <a:rPr lang="en-US" dirty="0"/>
              <a:t>and blood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"/>
            <a:ext cx="80010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343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498080" cy="4800600"/>
          </a:xfrm>
        </p:spPr>
        <p:txBody>
          <a:bodyPr/>
          <a:lstStyle/>
          <a:p>
            <a:r>
              <a:rPr lang="en-US" dirty="0"/>
              <a:t>An organ is defined as the structure that is formed </a:t>
            </a:r>
            <a:r>
              <a:rPr lang="en-US" dirty="0" smtClean="0"/>
              <a:t>by two </a:t>
            </a:r>
            <a:r>
              <a:rPr lang="en-US" dirty="0"/>
              <a:t>or more primary types of tissues, which execute </a:t>
            </a:r>
            <a:r>
              <a:rPr lang="en-US" dirty="0" smtClean="0"/>
              <a:t>the functions </a:t>
            </a:r>
            <a:r>
              <a:rPr lang="en-US" dirty="0"/>
              <a:t>of the organ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r>
              <a:rPr lang="en-US" sz="4300" dirty="0" smtClean="0">
                <a:solidFill>
                  <a:srgbClr val="666666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ea typeface="+mj-ea"/>
                <a:cs typeface="+mj-cs"/>
              </a:rPr>
              <a:t>System</a:t>
            </a:r>
          </a:p>
          <a:p>
            <a:pPr lvl="0">
              <a:buClr>
                <a:srgbClr val="FF388C"/>
              </a:buClr>
            </a:pPr>
            <a:r>
              <a:rPr lang="en-US" dirty="0">
                <a:solidFill>
                  <a:prstClr val="black"/>
                </a:solidFill>
              </a:rPr>
              <a:t>The organ system is defined as group of organs that work together to carry out specific functions of the body.</a:t>
            </a:r>
          </a:p>
          <a:p>
            <a:pPr marL="82296" indent="0">
              <a:buNone/>
            </a:pPr>
            <a:endParaRPr lang="en-US" sz="4300" dirty="0" smtClean="0">
              <a:solidFill>
                <a:srgbClr val="666666">
                  <a:satMod val="130000"/>
                </a:srgb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ea typeface="+mj-ea"/>
              <a:cs typeface="+mj-cs"/>
            </a:endParaRP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7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498080" cy="1143000"/>
          </a:xfrm>
        </p:spPr>
        <p:txBody>
          <a:bodyPr/>
          <a:lstStyle/>
          <a:p>
            <a:r>
              <a:rPr lang="en-US" dirty="0" smtClean="0"/>
              <a:t>Body systems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9200"/>
            <a:ext cx="3657599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371600"/>
            <a:ext cx="3465513" cy="511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90800" y="3929963"/>
            <a:ext cx="1066800" cy="718238"/>
          </a:xfrm>
          <a:prstGeom prst="rect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14400"/>
            <a:ext cx="3962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025611"/>
            <a:ext cx="3203403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089400"/>
            <a:ext cx="1295400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125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914400"/>
            <a:ext cx="38100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2514600" y="4800600"/>
            <a:ext cx="533400" cy="389238"/>
          </a:xfrm>
          <a:prstGeom prst="ellipse">
            <a:avLst/>
          </a:prstGeom>
          <a:solidFill>
            <a:srgbClr val="C0C0C0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114" y="1066800"/>
            <a:ext cx="3805881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17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33400"/>
            <a:ext cx="36576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556" y="533399"/>
            <a:ext cx="4002088" cy="571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394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33400"/>
            <a:ext cx="57150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239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924800" cy="541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68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7984"/>
            <a:ext cx="70866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682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90600"/>
            <a:ext cx="6553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38400" y="685800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685800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O2         </a:t>
            </a:r>
            <a:r>
              <a:rPr lang="en-US" dirty="0"/>
              <a:t>CO2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752600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Blood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95713" y="342900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Heart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0885" y="5257800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Interstitial fluid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447" y="3458521"/>
            <a:ext cx="121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Nutrients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3879" y="6400800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Feces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640080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Urine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7400" y="2352593"/>
            <a:ext cx="7460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2968" y="2692460"/>
            <a:ext cx="4587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/>
              <a:t>O2</a:t>
            </a:r>
          </a:p>
        </p:txBody>
      </p:sp>
      <p:sp>
        <p:nvSpPr>
          <p:cNvPr id="2" name="Rectangle 1"/>
          <p:cNvSpPr/>
          <p:nvPr/>
        </p:nvSpPr>
        <p:spPr>
          <a:xfrm>
            <a:off x="1881268" y="61098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Digestive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08122" y="61098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Respiratory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3185" y="1393569"/>
            <a:ext cx="2518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Cardiovascular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699" y="3613666"/>
            <a:ext cx="16571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/>
              <a:t>Urinary</a:t>
            </a:r>
          </a:p>
          <a:p>
            <a:r>
              <a:rPr lang="en-US" u="sng" dirty="0"/>
              <a:t>system</a:t>
            </a:r>
          </a:p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757053" y="6216134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Integumentary system</a:t>
            </a:r>
          </a:p>
        </p:txBody>
      </p:sp>
    </p:spTree>
    <p:extLst>
      <p:ext uri="{BB962C8B-B14F-4D97-AF65-F5344CB8AC3E}">
        <p14:creationId xmlns:p14="http://schemas.microsoft.com/office/powerpoint/2010/main" val="237303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20346" y="1600200"/>
            <a:ext cx="8001000" cy="48006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Cells</a:t>
            </a:r>
            <a:r>
              <a:rPr lang="en-US" dirty="0"/>
              <a:t>, tissues, organs, organ systems </a:t>
            </a:r>
            <a:r>
              <a:rPr lang="en-US" dirty="0" smtClean="0"/>
              <a:t>&amp; organisms</a:t>
            </a:r>
          </a:p>
          <a:p>
            <a:pPr marL="82296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u="sng" dirty="0" smtClean="0">
                <a:solidFill>
                  <a:schemeClr val="accent1">
                    <a:lumMod val="75000"/>
                  </a:schemeClr>
                </a:solidFill>
              </a:rPr>
              <a:t>The cell is the </a:t>
            </a:r>
            <a:r>
              <a:rPr lang="en-US" u="sng">
                <a:solidFill>
                  <a:schemeClr val="accent1">
                    <a:lumMod val="75000"/>
                  </a:schemeClr>
                </a:solidFill>
              </a:rPr>
              <a:t>Basic </a:t>
            </a:r>
            <a:r>
              <a:rPr lang="en-US" u="sng" smtClean="0">
                <a:solidFill>
                  <a:schemeClr val="accent1">
                    <a:lumMod val="75000"/>
                  </a:schemeClr>
                </a:solidFill>
              </a:rPr>
              <a:t>functional 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Unit of the </a:t>
            </a:r>
            <a:r>
              <a:rPr lang="en-US" u="sng" dirty="0" smtClean="0">
                <a:solidFill>
                  <a:schemeClr val="accent1">
                    <a:lumMod val="75000"/>
                  </a:schemeClr>
                </a:solidFill>
              </a:rPr>
              <a:t>Body)</a:t>
            </a:r>
            <a:endParaRPr lang="en-US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9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4416"/>
            <a:ext cx="7498080" cy="1143000"/>
          </a:xfrm>
        </p:spPr>
        <p:txBody>
          <a:bodyPr/>
          <a:lstStyle/>
          <a:p>
            <a:r>
              <a:rPr lang="en-US" dirty="0" smtClean="0"/>
              <a:t>Cell structure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90600"/>
            <a:ext cx="76200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90600" y="4572000"/>
            <a:ext cx="14478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flipH="1">
            <a:off x="1143000" y="4571999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Golgi apparatus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333500" y="2973859"/>
            <a:ext cx="12573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447800" y="297523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Nucleus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1143000" y="2133600"/>
            <a:ext cx="1981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Rough endoplasmic reticulum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8400" y="7620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264876" y="8440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Mitochondria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7141176" y="1371600"/>
            <a:ext cx="1698024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128819" y="142943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Plasma </a:t>
            </a:r>
          </a:p>
          <a:p>
            <a:r>
              <a:rPr lang="en-US" b="1" dirty="0" smtClean="0"/>
              <a:t>membrane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1905000" y="6248400"/>
            <a:ext cx="1371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Cytoplasm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29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243" y="2362200"/>
            <a:ext cx="8153400" cy="4800600"/>
          </a:xfrm>
        </p:spPr>
        <p:txBody>
          <a:bodyPr/>
          <a:lstStyle/>
          <a:p>
            <a:pPr marL="82296" indent="0" algn="ctr">
              <a:buNone/>
            </a:pPr>
            <a:r>
              <a:rPr lang="en-US" sz="4800" u="sng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What is the function of each?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7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/>
          <a:lstStyle/>
          <a:p>
            <a:pPr marL="82296" indent="0">
              <a:buNone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Nucleus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stores the cell's hereditary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material (DNA)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it coordinates the cell's activities, which include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growth, protein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synthesis, and reproduction (cell division).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Cytoplasm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1-giving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cell its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shape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2-contains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molecules such as enzymes which are responsible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metabolic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activity.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80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sz="39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Mitochondria </a:t>
            </a:r>
            <a:r>
              <a:rPr lang="en-US" sz="3000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(Power </a:t>
            </a:r>
            <a:r>
              <a:rPr lang="en-US" sz="3000" u="sng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house of </a:t>
            </a:r>
            <a:r>
              <a:rPr lang="en-US" sz="3000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cell)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1-produce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energy currency of the cell, ATP (i.e., phosphorylation of ADP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          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2-regulate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cellular metabolism.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39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Endoplasmic reticulum</a:t>
            </a:r>
          </a:p>
          <a:p>
            <a:pPr marL="82296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1-transportation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proteins and other carbohydrates to another organelle, which includes lysosomes, Golgi apparatus, plasma membrane, etc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2-play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vital role in the synthesis of proteins, lipids,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other steroids like cholesterol, progesterone, testosterone, etc.</a:t>
            </a:r>
          </a:p>
        </p:txBody>
      </p:sp>
    </p:spTree>
    <p:extLst>
      <p:ext uri="{BB962C8B-B14F-4D97-AF65-F5344CB8AC3E}">
        <p14:creationId xmlns:p14="http://schemas.microsoft.com/office/powerpoint/2010/main" val="188532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04800"/>
            <a:ext cx="7866888" cy="5943600"/>
          </a:xfrm>
        </p:spPr>
        <p:txBody>
          <a:bodyPr/>
          <a:lstStyle/>
          <a:p>
            <a:pPr marL="82296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Golgi apparatus</a:t>
            </a:r>
          </a:p>
          <a:p>
            <a:pPr marL="82296" indent="0">
              <a:buNone/>
            </a:pPr>
            <a:r>
              <a:rPr lang="en-US" dirty="0" smtClean="0"/>
              <a:t>1-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modifying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sorting and packaging of proteins for secretion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involved in the transport of lipids around the cell, and the creation of lysosomes.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98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9676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429000"/>
            <a:ext cx="60935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0" y="152400"/>
            <a:ext cx="8001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Cell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membrane is : thin, elastic membrane that surrounding a cell 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7.5 nanometer thick.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Also, referred to as the plasma membrane 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consisting of a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phospholipid bilayer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associated proteins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and some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carbohydrates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539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Cell membrane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selectively permeable membrane between the in side the cell and the extracellular environment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Its permeability properties ensure that:</a:t>
            </a:r>
          </a:p>
          <a:p>
            <a:pPr marL="82296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1- essential molecules such as glucose, amino acids, and lipids readily enter the cell</a:t>
            </a:r>
          </a:p>
          <a:p>
            <a:pPr marL="82296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2-metabolic intermediates remain in the cell</a:t>
            </a:r>
          </a:p>
          <a:p>
            <a:pPr marL="82296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3- waste products leave the cell.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41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Cell Membrane Proteins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Integral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proteins </a:t>
            </a:r>
          </a:p>
          <a:p>
            <a:pPr marL="82296" indent="0">
              <a:buNone/>
            </a:pPr>
            <a:r>
              <a:rPr lang="en-US" dirty="0"/>
              <a:t>           - provide structural integrity </a:t>
            </a:r>
          </a:p>
          <a:p>
            <a:pPr marL="82296" indent="0">
              <a:buNone/>
            </a:pPr>
            <a:r>
              <a:rPr lang="en-US" dirty="0"/>
              <a:t>           -channels or pores.</a:t>
            </a:r>
          </a:p>
          <a:p>
            <a:pPr marL="82296" indent="0">
              <a:buNone/>
            </a:pPr>
            <a:r>
              <a:rPr lang="en-US" dirty="0"/>
              <a:t>           -Carrier proteins.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Peripheral proteins</a:t>
            </a:r>
          </a:p>
          <a:p>
            <a:pPr marL="82296" indent="0">
              <a:buNone/>
            </a:pPr>
            <a:r>
              <a:rPr lang="en-US" dirty="0" smtClean="0"/>
              <a:t>          </a:t>
            </a:r>
            <a:r>
              <a:rPr lang="en-US" dirty="0"/>
              <a:t>-Present in one side.</a:t>
            </a:r>
          </a:p>
          <a:p>
            <a:pPr marL="82296" indent="0">
              <a:buNone/>
            </a:pPr>
            <a:r>
              <a:rPr lang="en-US" dirty="0" smtClean="0"/>
              <a:t>          </a:t>
            </a:r>
            <a:r>
              <a:rPr lang="en-US" dirty="0"/>
              <a:t>- Hormone </a:t>
            </a:r>
            <a:r>
              <a:rPr lang="en-US" dirty="0" smtClean="0"/>
              <a:t>receptors.                                                                        </a:t>
            </a:r>
            <a:r>
              <a:rPr lang="en-US" dirty="0"/>
              <a:t>	  </a:t>
            </a:r>
            <a:r>
              <a:rPr lang="en-US" dirty="0" smtClean="0"/>
              <a:t> </a:t>
            </a:r>
            <a:r>
              <a:rPr lang="en-US" dirty="0"/>
              <a:t>- Cell surface antigens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2000"/>
            <a:ext cx="81534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783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80772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b="1" u="sng" dirty="0">
                <a:effectLst/>
              </a:rPr>
              <a:t>Function of the cell membrane proteins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7790688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1.Offers structural support to the membrane.</a:t>
            </a:r>
          </a:p>
          <a:p>
            <a:r>
              <a:rPr lang="en-US" dirty="0"/>
              <a:t>2.Act as antigens.</a:t>
            </a:r>
          </a:p>
          <a:p>
            <a:r>
              <a:rPr lang="en-US" dirty="0"/>
              <a:t>3.Act as ion channels for movement of water &amp; ions.</a:t>
            </a:r>
          </a:p>
          <a:p>
            <a:r>
              <a:rPr lang="en-US" dirty="0"/>
              <a:t>4.Act as carriers for  transport  across the cell membrane.</a:t>
            </a:r>
          </a:p>
          <a:p>
            <a:r>
              <a:rPr lang="en-US" dirty="0"/>
              <a:t>5.Act as enzymes.</a:t>
            </a:r>
          </a:p>
          <a:p>
            <a:r>
              <a:rPr lang="en-US" dirty="0"/>
              <a:t>6.Act as receptors for hormones &amp; neurotransmitters.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8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112" y="0"/>
            <a:ext cx="7866888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Transport Through The Cell Membrane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371600"/>
            <a:ext cx="7866888" cy="4800600"/>
          </a:xfrm>
        </p:spPr>
        <p:txBody>
          <a:bodyPr/>
          <a:lstStyle/>
          <a:p>
            <a:pPr marL="82296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         (selectively permeable)</a:t>
            </a:r>
          </a:p>
          <a:p>
            <a:pPr marL="82296" indent="0">
              <a:buNone/>
            </a:pPr>
            <a:r>
              <a:rPr lang="en-US" sz="2800" dirty="0" smtClean="0"/>
              <a:t>Depend on solubility of substances:</a:t>
            </a:r>
          </a:p>
          <a:p>
            <a:pPr>
              <a:buFontTx/>
              <a:buChar char="-"/>
            </a:pPr>
            <a:r>
              <a:rPr lang="en-US" sz="2800" dirty="0" smtClean="0"/>
              <a:t>Water </a:t>
            </a:r>
            <a:r>
              <a:rPr lang="en-US" sz="2800" dirty="0"/>
              <a:t>soluble             </a:t>
            </a:r>
            <a:r>
              <a:rPr lang="en-US" sz="2800" dirty="0" smtClean="0"/>
              <a:t>Through </a:t>
            </a:r>
            <a:r>
              <a:rPr lang="en-US" sz="2800" dirty="0"/>
              <a:t>the </a:t>
            </a:r>
            <a:r>
              <a:rPr lang="en-US" sz="2800" dirty="0" smtClean="0"/>
              <a:t>proteins</a:t>
            </a:r>
          </a:p>
          <a:p>
            <a:pPr marL="82296" indent="0">
              <a:buNone/>
            </a:pPr>
            <a:r>
              <a:rPr lang="en-US" sz="2800" dirty="0" err="1" smtClean="0"/>
              <a:t>e.g</a:t>
            </a:r>
            <a:r>
              <a:rPr lang="en-US" sz="2800" dirty="0" smtClean="0"/>
              <a:t>: Water, Ions, glucose</a:t>
            </a:r>
          </a:p>
          <a:p>
            <a:pPr>
              <a:buFontTx/>
              <a:buChar char="-"/>
            </a:pPr>
            <a:r>
              <a:rPr lang="en-US" sz="2800" dirty="0" smtClean="0"/>
              <a:t>Lipid </a:t>
            </a:r>
            <a:r>
              <a:rPr lang="en-US" sz="2800" dirty="0"/>
              <a:t>soluble               Directly through the </a:t>
            </a:r>
            <a:r>
              <a:rPr lang="en-US" sz="2800" dirty="0" smtClean="0"/>
              <a:t>membrane.  </a:t>
            </a:r>
          </a:p>
          <a:p>
            <a:pPr marL="82296" indent="0">
              <a:buNone/>
            </a:pPr>
            <a:r>
              <a:rPr lang="en-US" sz="2800" dirty="0" err="1" smtClean="0"/>
              <a:t>e.g</a:t>
            </a:r>
            <a:r>
              <a:rPr lang="en-US" sz="2800" dirty="0"/>
              <a:t>:</a:t>
            </a:r>
            <a:r>
              <a:rPr lang="en-US" sz="2800" dirty="0" smtClean="0"/>
              <a:t> O2, Co2 , alcohol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3816178" y="2667000"/>
            <a:ext cx="1066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076" y="3657600"/>
            <a:ext cx="10969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120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-152400"/>
            <a:ext cx="7498080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Types Of Membrane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7879080" cy="480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1-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Diffusion (</a:t>
            </a:r>
            <a:r>
              <a:rPr lang="en-US" sz="2800" smtClean="0">
                <a:solidFill>
                  <a:schemeClr val="accent1">
                    <a:lumMod val="75000"/>
                  </a:schemeClr>
                </a:solidFill>
              </a:rPr>
              <a:t>passive transport)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82296" indent="0">
              <a:buNone/>
            </a:pPr>
            <a:r>
              <a:rPr lang="en-US" sz="2800" dirty="0" smtClean="0"/>
              <a:t>             a</a:t>
            </a:r>
            <a:r>
              <a:rPr lang="en-US" sz="2800" dirty="0"/>
              <a:t>) simple diffusion.</a:t>
            </a:r>
          </a:p>
          <a:p>
            <a:pPr marL="82296" indent="0">
              <a:buNone/>
            </a:pPr>
            <a:r>
              <a:rPr lang="en-US" sz="2800" dirty="0" smtClean="0"/>
              <a:t>             b</a:t>
            </a:r>
            <a:r>
              <a:rPr lang="en-US" sz="2800" dirty="0"/>
              <a:t>) facilitated diffusion.</a:t>
            </a:r>
          </a:p>
          <a:p>
            <a:pPr marL="82296" indent="0">
              <a:buNone/>
            </a:pPr>
            <a:endParaRPr lang="en-US" sz="2800" dirty="0"/>
          </a:p>
          <a:p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2-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Active transport.</a:t>
            </a:r>
          </a:p>
          <a:p>
            <a:pPr marL="82296" indent="0">
              <a:buNone/>
            </a:pPr>
            <a:r>
              <a:rPr lang="en-US" sz="2800" dirty="0" smtClean="0"/>
              <a:t>            a</a:t>
            </a:r>
            <a:r>
              <a:rPr lang="en-US" sz="2800" dirty="0"/>
              <a:t>) primary active transport</a:t>
            </a:r>
            <a:r>
              <a:rPr lang="en-US" sz="2800" dirty="0" smtClean="0"/>
              <a:t>. </a:t>
            </a:r>
          </a:p>
          <a:p>
            <a:pPr marL="82296" indent="0">
              <a:buNone/>
            </a:pPr>
            <a:r>
              <a:rPr lang="en-US" sz="2800" dirty="0" smtClean="0"/>
              <a:t>            b</a:t>
            </a:r>
            <a:r>
              <a:rPr lang="en-US" sz="2800" dirty="0"/>
              <a:t>) secondary active transport.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066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-152400"/>
            <a:ext cx="749808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1- Diffusion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62000"/>
            <a:ext cx="83820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Movement of substance either through the membrane directly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simple</a:t>
            </a:r>
            <a:r>
              <a:rPr lang="en-US" dirty="0"/>
              <a:t>) </a:t>
            </a:r>
            <a:r>
              <a:rPr lang="en-US" dirty="0" err="1"/>
              <a:t>e.g</a:t>
            </a:r>
            <a:r>
              <a:rPr lang="en-US" dirty="0"/>
              <a:t> fatty acids, steroid hormones, O2 &amp; CO2. </a:t>
            </a:r>
            <a:endParaRPr lang="en-US" dirty="0" smtClean="0"/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or in combination with carrier protein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facilitated</a:t>
            </a:r>
            <a:r>
              <a:rPr lang="en-US" dirty="0"/>
              <a:t>) down an electrochemical gradient</a:t>
            </a:r>
            <a:r>
              <a:rPr lang="en-US" dirty="0" smtClean="0"/>
              <a:t>. 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/>
              <a:t>transport of glucose from the ECF to the inside the cell by glucose transporters.</a:t>
            </a:r>
          </a:p>
          <a:p>
            <a:endParaRPr lang="en-US" dirty="0"/>
          </a:p>
          <a:p>
            <a:r>
              <a:rPr lang="en-US" dirty="0"/>
              <a:t>Simple and facilitated diffusion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Do NOT </a:t>
            </a:r>
            <a:r>
              <a:rPr lang="en-US" dirty="0"/>
              <a:t>require energy </a:t>
            </a:r>
          </a:p>
          <a:p>
            <a:endParaRPr lang="en-US" dirty="0"/>
          </a:p>
          <a:p>
            <a:r>
              <a:rPr lang="en-US" dirty="0"/>
              <a:t>Osmosis: is the passive diffusion of water across cell membrane (through water channels called </a:t>
            </a:r>
            <a:r>
              <a:rPr lang="en-US" dirty="0" smtClean="0"/>
              <a:t>aquaporin.)</a:t>
            </a: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0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49808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1- Diffusion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943600" y="1475345"/>
            <a:ext cx="2252019" cy="419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0" y="5637770"/>
            <a:ext cx="8001000" cy="763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3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09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-Active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012" y="1150937"/>
            <a:ext cx="8305800" cy="48006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Transport against electrochemical gradient.</a:t>
            </a:r>
            <a:endParaRPr lang="en-US" sz="2800" dirty="0"/>
          </a:p>
          <a:p>
            <a:r>
              <a:rPr lang="en-US" sz="2800" dirty="0" smtClean="0"/>
              <a:t> Required energy (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ATP</a:t>
            </a:r>
            <a:r>
              <a:rPr lang="en-US" sz="2800" dirty="0" smtClean="0"/>
              <a:t>) </a:t>
            </a:r>
          </a:p>
          <a:p>
            <a:r>
              <a:rPr lang="en-US" sz="2800" dirty="0" smtClean="0"/>
              <a:t>either directly            primary active transport</a:t>
            </a:r>
          </a:p>
          <a:p>
            <a:pPr marL="82296" indent="0">
              <a:buNone/>
            </a:pPr>
            <a:r>
              <a:rPr lang="en-US" sz="2800" dirty="0" err="1" smtClean="0"/>
              <a:t>e.g</a:t>
            </a:r>
            <a:r>
              <a:rPr lang="en-US" sz="2800" dirty="0"/>
              <a:t>  Sodium-Potassium pump (Na+-K+ pump).</a:t>
            </a:r>
          </a:p>
          <a:p>
            <a:pPr marL="82296" indent="0">
              <a:buNone/>
            </a:pPr>
            <a:endParaRPr lang="en-US" sz="2800" dirty="0" smtClean="0"/>
          </a:p>
          <a:p>
            <a:r>
              <a:rPr lang="en-US" sz="2800" dirty="0" smtClean="0"/>
              <a:t>or indirectly            secondary active transport</a:t>
            </a:r>
          </a:p>
          <a:p>
            <a:pPr marL="82296" indent="0">
              <a:buNone/>
            </a:pPr>
            <a:r>
              <a:rPr lang="en-US" sz="2800" dirty="0" smtClean="0"/>
              <a:t>(transport </a:t>
            </a:r>
            <a:r>
              <a:rPr lang="en-US" sz="2800" dirty="0"/>
              <a:t>of one or more solutes against an electrochemical gradient ,coupled to the transport of another solute down an electrochemical </a:t>
            </a:r>
            <a:r>
              <a:rPr lang="en-US" sz="2800" dirty="0" smtClean="0"/>
              <a:t>gradient) 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3644105" y="2247900"/>
            <a:ext cx="8382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268" y="3657600"/>
            <a:ext cx="865187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03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80010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Secondary active transport divided in to :</a:t>
            </a:r>
          </a:p>
          <a:p>
            <a:pPr marL="82296" indent="0">
              <a:buNone/>
            </a:pPr>
            <a:endParaRPr lang="en-US" dirty="0" smtClean="0"/>
          </a:p>
          <a:p>
            <a:pPr marL="82296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-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Co-transport ( symport):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82296" indent="0">
              <a:buNone/>
            </a:pPr>
            <a:r>
              <a:rPr lang="en-US" dirty="0"/>
              <a:t>   - All solutes move in the same direction </a:t>
            </a:r>
          </a:p>
          <a:p>
            <a:pPr marL="82296" indent="0">
              <a:buNone/>
            </a:pPr>
            <a:r>
              <a:rPr lang="en-US" dirty="0"/>
              <a:t>    </a:t>
            </a:r>
          </a:p>
          <a:p>
            <a:pPr marL="82296" indent="0">
              <a:buNone/>
            </a:pPr>
            <a:r>
              <a:rPr lang="en-US" sz="2400" dirty="0" smtClean="0"/>
              <a:t>e.g</a:t>
            </a:r>
            <a:r>
              <a:rPr lang="en-US" sz="2400" dirty="0"/>
              <a:t>. – </a:t>
            </a:r>
            <a:r>
              <a:rPr lang="en-US" sz="2400" dirty="0" smtClean="0"/>
              <a:t>Na+ / glucose</a:t>
            </a:r>
          </a:p>
          <a:p>
            <a:pPr marL="82296" indent="0">
              <a:buNone/>
            </a:pPr>
            <a:r>
              <a:rPr lang="en-US" sz="2400" dirty="0" smtClean="0"/>
              <a:t>  </a:t>
            </a:r>
            <a:r>
              <a:rPr lang="en-US" sz="2400" dirty="0"/>
              <a:t>Co-transport</a:t>
            </a:r>
            <a:r>
              <a:rPr lang="en-US" sz="2400" dirty="0" smtClean="0"/>
              <a:t>.</a:t>
            </a:r>
          </a:p>
          <a:p>
            <a:pPr marL="82296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- Na </a:t>
            </a:r>
            <a:r>
              <a:rPr lang="en-US" sz="2400" dirty="0" smtClean="0"/>
              <a:t>+ / amino </a:t>
            </a:r>
            <a:r>
              <a:rPr lang="en-US" sz="2400" dirty="0"/>
              <a:t>acid </a:t>
            </a:r>
            <a:endParaRPr lang="en-US" sz="2400" dirty="0" smtClean="0"/>
          </a:p>
          <a:p>
            <a:pPr marL="82296" indent="0">
              <a:buNone/>
            </a:pPr>
            <a:r>
              <a:rPr lang="en-US" sz="2400" dirty="0" smtClean="0"/>
              <a:t>Co-transport</a:t>
            </a:r>
            <a:r>
              <a:rPr lang="en-US" dirty="0"/>
              <a:t>.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438400"/>
            <a:ext cx="5181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33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59" y="0"/>
            <a:ext cx="7726680" cy="480060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Counter-transport (antiport) 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82296" indent="0">
              <a:buNone/>
            </a:pPr>
            <a:r>
              <a:rPr lang="en-US" dirty="0" smtClean="0"/>
              <a:t>Solute is </a:t>
            </a:r>
            <a:r>
              <a:rPr lang="en-US" dirty="0"/>
              <a:t>moving to the </a:t>
            </a:r>
            <a:r>
              <a:rPr lang="en-US" dirty="0" smtClean="0"/>
              <a:t>interior of the cell </a:t>
            </a:r>
            <a:r>
              <a:rPr lang="en-US" dirty="0"/>
              <a:t>causing  other substance to move out.</a:t>
            </a:r>
          </a:p>
          <a:p>
            <a:pPr marL="82296" indent="0">
              <a:buNone/>
            </a:pPr>
            <a:r>
              <a:rPr lang="en-US" dirty="0" err="1" smtClean="0"/>
              <a:t>e.g</a:t>
            </a:r>
            <a:endParaRPr lang="en-US" dirty="0"/>
          </a:p>
          <a:p>
            <a:r>
              <a:rPr lang="en-US" dirty="0" smtClean="0"/>
              <a:t>Ca²+ / Na </a:t>
            </a:r>
            <a:r>
              <a:rPr lang="en-US" dirty="0"/>
              <a:t>+  exchange.</a:t>
            </a:r>
          </a:p>
          <a:p>
            <a:pPr marL="82296" indent="0">
              <a:buNone/>
            </a:pPr>
            <a:r>
              <a:rPr lang="en-US" dirty="0" smtClean="0"/>
              <a:t>    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99" y="2743200"/>
            <a:ext cx="7619999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24060" y="2852737"/>
            <a:ext cx="6172200" cy="55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68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395" y="-19050"/>
            <a:ext cx="749808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Other transport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924800" cy="57912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sz="4100" u="sng" dirty="0" smtClean="0">
                <a:solidFill>
                  <a:schemeClr val="accent1">
                    <a:lumMod val="75000"/>
                  </a:schemeClr>
                </a:solidFill>
              </a:rPr>
              <a:t>1- Endocytosis</a:t>
            </a:r>
            <a:r>
              <a:rPr lang="en-US" sz="4100" u="sng" dirty="0" smtClean="0"/>
              <a:t> </a:t>
            </a:r>
            <a:r>
              <a:rPr lang="en-US" sz="4100" u="sng" dirty="0"/>
              <a:t>(active transport) </a:t>
            </a:r>
            <a:r>
              <a:rPr lang="en-US" sz="4100" u="sng" dirty="0" smtClean="0"/>
              <a:t>:-</a:t>
            </a:r>
          </a:p>
          <a:p>
            <a:pPr marL="82296" indent="0">
              <a:buNone/>
            </a:pPr>
            <a:endParaRPr lang="en-US" u="sng" dirty="0"/>
          </a:p>
          <a:p>
            <a:r>
              <a:rPr lang="en-US" sz="4100" dirty="0"/>
              <a:t>Is the uptake of molecules into the cell</a:t>
            </a:r>
            <a:r>
              <a:rPr lang="en-US" sz="4100" dirty="0" smtClean="0"/>
              <a:t>.</a:t>
            </a:r>
          </a:p>
          <a:p>
            <a:pPr marL="82296" indent="0">
              <a:buNone/>
            </a:pPr>
            <a:endParaRPr lang="en-US" sz="4100" dirty="0"/>
          </a:p>
          <a:p>
            <a:r>
              <a:rPr lang="en-US" sz="4100" dirty="0"/>
              <a:t>The molecule fuses with the cell membrane, </a:t>
            </a:r>
            <a:r>
              <a:rPr lang="en-US" sz="4100" dirty="0" err="1"/>
              <a:t>invagainates</a:t>
            </a:r>
            <a:r>
              <a:rPr lang="en-US" sz="4100" dirty="0"/>
              <a:t> it &amp; then the invagination is separated from the cell membrane in the form of vesicle</a:t>
            </a:r>
            <a:r>
              <a:rPr lang="en-US" sz="4100" dirty="0" smtClean="0"/>
              <a:t>.</a:t>
            </a:r>
          </a:p>
          <a:p>
            <a:pPr marL="82296" indent="0">
              <a:buNone/>
            </a:pPr>
            <a:endParaRPr lang="en-US" sz="4100" dirty="0"/>
          </a:p>
          <a:p>
            <a:r>
              <a:rPr lang="en-US" sz="4100" dirty="0"/>
              <a:t>When the engulfed substance is dissolved in fluid the process is called </a:t>
            </a:r>
            <a:r>
              <a:rPr lang="en-US" sz="4100" dirty="0">
                <a:solidFill>
                  <a:schemeClr val="accent1">
                    <a:lumMod val="75000"/>
                  </a:schemeClr>
                </a:solidFill>
              </a:rPr>
              <a:t>pinocytosis</a:t>
            </a:r>
            <a:r>
              <a:rPr lang="en-US" sz="4100" dirty="0" smtClean="0"/>
              <a:t>.</a:t>
            </a:r>
          </a:p>
          <a:p>
            <a:pPr marL="82296" indent="0">
              <a:buNone/>
            </a:pPr>
            <a:endParaRPr lang="en-US" sz="4100" dirty="0"/>
          </a:p>
          <a:p>
            <a:r>
              <a:rPr lang="en-US" sz="4100" dirty="0"/>
              <a:t>When it was solid like bacteria the process is called </a:t>
            </a:r>
            <a:r>
              <a:rPr lang="en-US" sz="4100" dirty="0">
                <a:solidFill>
                  <a:schemeClr val="accent1">
                    <a:lumMod val="75000"/>
                  </a:schemeClr>
                </a:solidFill>
              </a:rPr>
              <a:t>phagocytosis</a:t>
            </a:r>
            <a:r>
              <a:rPr lang="en-US" sz="4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410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533400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US" u="sng" dirty="0" smtClean="0"/>
              <a:t>2- </a:t>
            </a:r>
            <a:r>
              <a:rPr lang="en-US" u="sng" dirty="0" smtClean="0">
                <a:solidFill>
                  <a:schemeClr val="accent1">
                    <a:lumMod val="75000"/>
                  </a:schemeClr>
                </a:solidFill>
              </a:rPr>
              <a:t>Exocytosis</a:t>
            </a:r>
            <a:r>
              <a:rPr lang="en-US" u="sng" dirty="0" smtClean="0"/>
              <a:t> </a:t>
            </a:r>
            <a:r>
              <a:rPr lang="en-US" u="sng" dirty="0"/>
              <a:t>(active transport):-</a:t>
            </a:r>
          </a:p>
          <a:p>
            <a:r>
              <a:rPr lang="en-US" dirty="0"/>
              <a:t>Is the release of substances from the </a:t>
            </a:r>
            <a:r>
              <a:rPr lang="en-US" dirty="0" smtClean="0"/>
              <a:t>cell.</a:t>
            </a:r>
          </a:p>
          <a:p>
            <a:pPr marL="82296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Opposite to endocytosis.</a:t>
            </a:r>
          </a:p>
          <a:p>
            <a:pPr marL="82296" indent="0">
              <a:buNone/>
            </a:pPr>
            <a:r>
              <a:rPr lang="en-US" dirty="0" err="1"/>
              <a:t>E.g</a:t>
            </a:r>
            <a:r>
              <a:rPr lang="en-US" dirty="0"/>
              <a:t>: protein synthesized within the cell are packed into Secretory vesicles and secreted by </a:t>
            </a:r>
            <a:r>
              <a:rPr lang="en-US" dirty="0" smtClean="0"/>
              <a:t>exocytosis.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27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296400" cy="519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637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43000"/>
            <a:ext cx="7543800" cy="416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1709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1899</TotalTime>
  <Words>1048</Words>
  <Application>Microsoft Office PowerPoint</Application>
  <PresentationFormat>On-screen Show (4:3)</PresentationFormat>
  <Paragraphs>159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Solstice</vt:lpstr>
      <vt:lpstr>physiology</vt:lpstr>
      <vt:lpstr>Objectives </vt:lpstr>
      <vt:lpstr>PowerPoint Presentation</vt:lpstr>
      <vt:lpstr>PowerPoint Presentation</vt:lpstr>
      <vt:lpstr>PowerPoint Presentation</vt:lpstr>
      <vt:lpstr>Levels of Structural Organization</vt:lpstr>
      <vt:lpstr>PowerPoint Presentation</vt:lpstr>
      <vt:lpstr>PowerPoint Presentation</vt:lpstr>
      <vt:lpstr>Organ</vt:lpstr>
      <vt:lpstr>Body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Cell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Cell Membrane Proteins</vt:lpstr>
      <vt:lpstr>PowerPoint Presentation</vt:lpstr>
      <vt:lpstr>Function of the cell membrane proteins </vt:lpstr>
      <vt:lpstr>Transport Through The Cell Membrane</vt:lpstr>
      <vt:lpstr>Types Of Membrane Transport</vt:lpstr>
      <vt:lpstr>1- Diffusion</vt:lpstr>
      <vt:lpstr>1- Diffusion</vt:lpstr>
      <vt:lpstr>PowerPoint Presentation</vt:lpstr>
      <vt:lpstr>2-Active Transport</vt:lpstr>
      <vt:lpstr>PowerPoint Presentation</vt:lpstr>
      <vt:lpstr>PowerPoint Presentation</vt:lpstr>
      <vt:lpstr>Other transport mechanisms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physiology</dc:title>
  <dc:creator>Wafa</dc:creator>
  <cp:lastModifiedBy>Wafa</cp:lastModifiedBy>
  <cp:revision>182</cp:revision>
  <dcterms:created xsi:type="dcterms:W3CDTF">2006-08-16T00:00:00Z</dcterms:created>
  <dcterms:modified xsi:type="dcterms:W3CDTF">2024-10-18T05:00:22Z</dcterms:modified>
</cp:coreProperties>
</file>