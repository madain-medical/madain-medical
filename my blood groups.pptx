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33"/>
  </p:notesMasterIdLst>
  <p:sldIdLst>
    <p:sldId id="258" r:id="rId2"/>
    <p:sldId id="257" r:id="rId3"/>
    <p:sldId id="260" r:id="rId4"/>
    <p:sldId id="279" r:id="rId5"/>
    <p:sldId id="261" r:id="rId6"/>
    <p:sldId id="276" r:id="rId7"/>
    <p:sldId id="294" r:id="rId8"/>
    <p:sldId id="295" r:id="rId9"/>
    <p:sldId id="296" r:id="rId10"/>
    <p:sldId id="297" r:id="rId11"/>
    <p:sldId id="298" r:id="rId12"/>
    <p:sldId id="267" r:id="rId13"/>
    <p:sldId id="272" r:id="rId14"/>
    <p:sldId id="259" r:id="rId15"/>
    <p:sldId id="262" r:id="rId16"/>
    <p:sldId id="263" r:id="rId17"/>
    <p:sldId id="274" r:id="rId18"/>
    <p:sldId id="268" r:id="rId19"/>
    <p:sldId id="299" r:id="rId20"/>
    <p:sldId id="301" r:id="rId21"/>
    <p:sldId id="264" r:id="rId22"/>
    <p:sldId id="278" r:id="rId23"/>
    <p:sldId id="265" r:id="rId24"/>
    <p:sldId id="283" r:id="rId25"/>
    <p:sldId id="284" r:id="rId26"/>
    <p:sldId id="285" r:id="rId27"/>
    <p:sldId id="286" r:id="rId28"/>
    <p:sldId id="287" r:id="rId29"/>
    <p:sldId id="289" r:id="rId30"/>
    <p:sldId id="292" r:id="rId31"/>
    <p:sldId id="29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CC00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15" autoAdjust="0"/>
  </p:normalViewPr>
  <p:slideViewPr>
    <p:cSldViewPr>
      <p:cViewPr varScale="1">
        <p:scale>
          <a:sx n="51" d="100"/>
          <a:sy n="51" d="100"/>
        </p:scale>
        <p:origin x="-122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D5A86-80AD-4D1E-8693-495150B70CCE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1939D-F99E-465C-8C7B-14C1E49B4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3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21939D-F99E-465C-8C7B-14C1E49B49E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057400"/>
            <a:ext cx="6553200" cy="4800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Blood groups</a:t>
            </a:r>
          </a:p>
          <a:p>
            <a:pPr algn="ctr">
              <a:buNone/>
            </a:pPr>
            <a:endParaRPr lang="en-US" sz="2400" b="1" i="1" dirty="0" smtClean="0"/>
          </a:p>
          <a:p>
            <a:pPr algn="ctr">
              <a:buNone/>
            </a:pPr>
            <a:endParaRPr lang="en-US" sz="2400" b="1" i="1" dirty="0" smtClean="0"/>
          </a:p>
          <a:p>
            <a:pPr algn="r">
              <a:buNone/>
            </a:pPr>
            <a:endParaRPr lang="en-US" sz="2400" b="1" i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752600" y="55626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Dr. Wafa Mubarak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By the end of this topic the student should be able to :</a:t>
            </a:r>
          </a:p>
          <a:p>
            <a:r>
              <a:rPr lang="en-US" dirty="0" smtClean="0"/>
              <a:t>To define blood group</a:t>
            </a:r>
          </a:p>
          <a:p>
            <a:r>
              <a:rPr lang="en-US" dirty="0" smtClean="0"/>
              <a:t>To identify importance of blood grouping</a:t>
            </a:r>
          </a:p>
          <a:p>
            <a:r>
              <a:rPr lang="en-US" dirty="0" smtClean="0"/>
              <a:t>To  discuss types of </a:t>
            </a:r>
            <a:r>
              <a:rPr lang="en-US" smtClean="0"/>
              <a:t>blood groups</a:t>
            </a:r>
            <a:endParaRPr lang="en-US" dirty="0" smtClean="0"/>
          </a:p>
          <a:p>
            <a:r>
              <a:rPr lang="en-US" dirty="0" smtClean="0"/>
              <a:t>To discuss the problem of </a:t>
            </a:r>
            <a:r>
              <a:rPr lang="en-US" dirty="0" err="1" smtClean="0"/>
              <a:t>Rh</a:t>
            </a:r>
            <a:r>
              <a:rPr lang="en-US" dirty="0" smtClean="0"/>
              <a:t> –</a:t>
            </a:r>
            <a:r>
              <a:rPr lang="en-US" dirty="0" err="1" smtClean="0"/>
              <a:t>ve</a:t>
            </a:r>
            <a:r>
              <a:rPr lang="en-US" dirty="0" smtClean="0"/>
              <a:t> in pregnancy.</a:t>
            </a:r>
          </a:p>
          <a:p>
            <a:pPr marL="82296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C0066"/>
                </a:solidFill>
              </a:rPr>
              <a:t>A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C0066"/>
                </a:solidFill>
              </a:rPr>
              <a:t>blood group:</a:t>
            </a:r>
          </a:p>
          <a:p>
            <a:pPr marL="82296" indent="0">
              <a:buNone/>
            </a:pPr>
            <a:r>
              <a:rPr lang="en-US" b="1" dirty="0" smtClean="0">
                <a:solidFill>
                  <a:srgbClr val="CC0066"/>
                </a:solidFill>
              </a:rPr>
              <a:t> </a:t>
            </a:r>
            <a:r>
              <a:rPr lang="en-US" dirty="0" smtClean="0"/>
              <a:t>is classification of blood based on the presence or absence of inherited  antigens on the surface of red blood cells (RBCs).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Importance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Blood transfusion</a:t>
            </a:r>
          </a:p>
          <a:p>
            <a:endParaRPr lang="en-US" dirty="0" smtClean="0"/>
          </a:p>
          <a:p>
            <a:r>
              <a:rPr lang="en-US" dirty="0" smtClean="0"/>
              <a:t>Exclusion of paternity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types of antigens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least 30 commonly occurring antigens and hundreds of other rare antigens are presents .</a:t>
            </a:r>
          </a:p>
          <a:p>
            <a:r>
              <a:rPr lang="en-US" dirty="0" smtClean="0"/>
              <a:t> ABO system</a:t>
            </a:r>
          </a:p>
          <a:p>
            <a:r>
              <a:rPr lang="en-US" i="1" dirty="0" err="1" smtClean="0"/>
              <a:t>Rh</a:t>
            </a:r>
            <a:r>
              <a:rPr lang="en-US" i="1" dirty="0" smtClean="0"/>
              <a:t> system.</a:t>
            </a:r>
          </a:p>
          <a:p>
            <a:r>
              <a:rPr lang="en-US" i="1" dirty="0" smtClean="0"/>
              <a:t>Others : MNS , </a:t>
            </a:r>
            <a:r>
              <a:rPr lang="en-US" i="1" dirty="0" err="1" smtClean="0"/>
              <a:t>Ltheran</a:t>
            </a:r>
            <a:r>
              <a:rPr lang="en-US" i="1" dirty="0" smtClean="0"/>
              <a:t> ,</a:t>
            </a:r>
            <a:r>
              <a:rPr lang="en-US" i="1" dirty="0" err="1" smtClean="0"/>
              <a:t>kell</a:t>
            </a:r>
            <a:r>
              <a:rPr lang="en-US" i="1" dirty="0" smtClean="0"/>
              <a:t> , </a:t>
            </a:r>
            <a:r>
              <a:rPr lang="en-US" i="1" dirty="0" err="1" smtClean="0"/>
              <a:t>kidd</a:t>
            </a:r>
            <a:r>
              <a:rPr lang="en-US" i="1" dirty="0" smtClean="0"/>
              <a:t> . Duffy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51448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C0066"/>
                </a:solidFill>
              </a:rPr>
              <a:t>ABO SYSTEM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1600200"/>
            <a:ext cx="7498080" cy="4800600"/>
          </a:xfrm>
        </p:spPr>
        <p:txBody>
          <a:bodyPr/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Discovered in 1900 by Dr. Karl Landsteiner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4 Main Phenotypes (A, B, AB, O)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ABO gene is autosomal</a:t>
            </a:r>
          </a:p>
          <a:p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 and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blood groups </a:t>
            </a:r>
            <a:r>
              <a:rPr lang="cy-GB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dominant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over the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blood group</a:t>
            </a:r>
          </a:p>
          <a:p>
            <a:endParaRPr lang="en-GB" dirty="0" smtClean="0"/>
          </a:p>
          <a:p>
            <a:endParaRPr lang="en-US" dirty="0"/>
          </a:p>
        </p:txBody>
      </p:sp>
      <p:pic>
        <p:nvPicPr>
          <p:cNvPr id="6" name="Picture 5" descr="landstein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6816" y="41848"/>
            <a:ext cx="23622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Formation of ABO antigens (</a:t>
            </a:r>
            <a:r>
              <a:rPr lang="en-US" dirty="0" err="1"/>
              <a:t>agglutinogens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92377"/>
            <a:ext cx="7498080" cy="4800600"/>
          </a:xfrm>
        </p:spPr>
        <p:txBody>
          <a:bodyPr/>
          <a:lstStyle/>
          <a:p>
            <a:r>
              <a:rPr lang="en-US" dirty="0"/>
              <a:t>From 3 allelic genes: A, B &amp; O.</a:t>
            </a:r>
          </a:p>
          <a:p>
            <a:r>
              <a:rPr lang="en-US" dirty="0"/>
              <a:t>The H antigen is an essential precursor to the ABO blood group antigens. </a:t>
            </a:r>
          </a:p>
        </p:txBody>
      </p:sp>
    </p:spTree>
    <p:extLst>
      <p:ext uri="{BB962C8B-B14F-4D97-AF65-F5344CB8AC3E}">
        <p14:creationId xmlns:p14="http://schemas.microsoft.com/office/powerpoint/2010/main" val="169528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2" y="457200"/>
            <a:ext cx="9144000" cy="5875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697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Antibodies (agglutinins)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occur naturally after birth (2nd – 8th month of life).</a:t>
            </a:r>
          </a:p>
          <a:p>
            <a:r>
              <a:rPr lang="en-US" dirty="0"/>
              <a:t>The body forms antibodies against antigens not present on the surface of the RBC.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07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type A antigen is </a:t>
            </a:r>
            <a:r>
              <a:rPr lang="en-US" dirty="0">
                <a:solidFill>
                  <a:srgbClr val="FF0000"/>
                </a:solidFill>
              </a:rPr>
              <a:t>not present </a:t>
            </a:r>
            <a:r>
              <a:rPr lang="en-US" dirty="0"/>
              <a:t>in a person’s red blood cells, antibodies known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anti-A antibody </a:t>
            </a:r>
            <a:r>
              <a:rPr lang="en-US" dirty="0"/>
              <a:t>develop in the plasma. </a:t>
            </a:r>
          </a:p>
          <a:p>
            <a:r>
              <a:rPr lang="en-US" dirty="0"/>
              <a:t>Also, when type B antigen is </a:t>
            </a:r>
            <a:r>
              <a:rPr lang="en-US" dirty="0">
                <a:solidFill>
                  <a:srgbClr val="FF0000"/>
                </a:solidFill>
              </a:rPr>
              <a:t>not present </a:t>
            </a:r>
            <a:r>
              <a:rPr lang="en-US" dirty="0"/>
              <a:t>in the red blood cells, antibodies known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anti-B antigens </a:t>
            </a:r>
            <a:r>
              <a:rPr lang="en-US" dirty="0"/>
              <a:t>develop in the plasma.</a:t>
            </a:r>
          </a:p>
        </p:txBody>
      </p:sp>
    </p:spTree>
    <p:extLst>
      <p:ext uri="{BB962C8B-B14F-4D97-AF65-F5344CB8AC3E}">
        <p14:creationId xmlns:p14="http://schemas.microsoft.com/office/powerpoint/2010/main" val="417046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8077200" cy="4414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66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 Blood Types &amp; their relative Frequencies :</a:t>
            </a:r>
          </a:p>
          <a:p>
            <a:r>
              <a:rPr lang="en-US" dirty="0" smtClean="0"/>
              <a:t>O       47%</a:t>
            </a:r>
          </a:p>
          <a:p>
            <a:r>
              <a:rPr lang="en-US" dirty="0" smtClean="0"/>
              <a:t>A       41%</a:t>
            </a:r>
          </a:p>
          <a:p>
            <a:r>
              <a:rPr lang="en-US" dirty="0" smtClean="0"/>
              <a:t>B        9%</a:t>
            </a:r>
          </a:p>
          <a:p>
            <a:r>
              <a:rPr lang="en-US" dirty="0" smtClean="0"/>
              <a:t>AB      3%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76400" y="533400"/>
            <a:ext cx="6400799" cy="6324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Verdana" pitchFamily="34" charset="0"/>
              </a:rPr>
              <a:t>People with blood group O</a:t>
            </a:r>
            <a:r>
              <a:rPr lang="en-GB" dirty="0" smtClean="0">
                <a:latin typeface="Calibri"/>
              </a:rPr>
              <a:t>⁻</a:t>
            </a:r>
            <a:r>
              <a:rPr lang="en-GB" dirty="0" smtClean="0">
                <a:latin typeface="Verdana" pitchFamily="34" charset="0"/>
              </a:rPr>
              <a:t> are called </a:t>
            </a:r>
          </a:p>
          <a:p>
            <a:pPr marL="82296" indent="0">
              <a:buNone/>
            </a:pPr>
            <a:r>
              <a:rPr lang="en-GB" b="1" u="sng" dirty="0" smtClean="0">
                <a:solidFill>
                  <a:srgbClr val="D60093"/>
                </a:solidFill>
                <a:latin typeface="Verdana" pitchFamily="34" charset="0"/>
              </a:rPr>
              <a:t>"universal donors"</a:t>
            </a:r>
            <a:r>
              <a:rPr lang="en-GB" dirty="0" smtClean="0">
                <a:solidFill>
                  <a:srgbClr val="D60093"/>
                </a:solidFill>
                <a:latin typeface="Verdana" pitchFamily="34" charset="0"/>
              </a:rPr>
              <a:t> </a:t>
            </a:r>
          </a:p>
          <a:p>
            <a:r>
              <a:rPr lang="en-GB" dirty="0" smtClean="0">
                <a:latin typeface="Verdana" pitchFamily="34" charset="0"/>
              </a:rPr>
              <a:t>and people with blood group AB</a:t>
            </a:r>
            <a:r>
              <a:rPr lang="en-GB" dirty="0" smtClean="0">
                <a:latin typeface="Calibri"/>
              </a:rPr>
              <a:t>⁺</a:t>
            </a:r>
            <a:r>
              <a:rPr lang="en-GB" dirty="0" smtClean="0">
                <a:latin typeface="Verdana" pitchFamily="34" charset="0"/>
              </a:rPr>
              <a:t> are called </a:t>
            </a:r>
          </a:p>
          <a:p>
            <a:pPr marL="82296" indent="0">
              <a:buNone/>
            </a:pPr>
            <a:r>
              <a:rPr lang="en-GB" dirty="0" smtClean="0">
                <a:latin typeface="Verdana" pitchFamily="34" charset="0"/>
              </a:rPr>
              <a:t>"</a:t>
            </a:r>
            <a:r>
              <a:rPr lang="en-GB" b="1" u="sng" dirty="0" smtClean="0">
                <a:solidFill>
                  <a:srgbClr val="D60093"/>
                </a:solidFill>
                <a:latin typeface="Verdana" pitchFamily="34" charset="0"/>
              </a:rPr>
              <a:t>universal receivers</a:t>
            </a:r>
            <a:r>
              <a:rPr lang="en-GB" dirty="0" smtClean="0">
                <a:solidFill>
                  <a:srgbClr val="D60093"/>
                </a:solidFill>
                <a:latin typeface="Verdana" pitchFamily="34" charset="0"/>
              </a:rPr>
              <a:t>."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152400"/>
            <a:ext cx="749808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D60093"/>
                </a:solidFill>
              </a:rPr>
              <a:t>Genotypes</a:t>
            </a:r>
            <a:endParaRPr lang="en-US" dirty="0">
              <a:solidFill>
                <a:srgbClr val="D60093"/>
              </a:solidFill>
            </a:endParaRPr>
          </a:p>
        </p:txBody>
      </p:sp>
      <p:sp>
        <p:nvSpPr>
          <p:cNvPr id="4" name="Text Box 8"/>
          <p:cNvSpPr txBox="1">
            <a:spLocks noGrp="1" noChangeArrowheads="1"/>
          </p:cNvSpPr>
          <p:nvPr>
            <p:ph idx="1"/>
          </p:nvPr>
        </p:nvSpPr>
        <p:spPr bwMode="auto">
          <a:xfrm>
            <a:off x="1295400" y="838200"/>
            <a:ext cx="7498080" cy="501674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91428" tIns="45715" rIns="91428" bIns="45715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Blood Types</a:t>
            </a:r>
          </a:p>
          <a:p>
            <a:pPr algn="ctr"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AA or AO = Type </a:t>
            </a:r>
            <a:r>
              <a:rPr lang="en-US" b="1" dirty="0" smtClean="0">
                <a:latin typeface="Times New Roman" pitchFamily="18" charset="0"/>
              </a:rPr>
              <a:t>A</a:t>
            </a:r>
            <a:endParaRPr lang="ar-JO" b="1" dirty="0" smtClean="0">
              <a:latin typeface="Times New Roman" pitchFamily="18" charset="0"/>
            </a:endParaRPr>
          </a:p>
          <a:p>
            <a:pPr marL="82296" indent="0" algn="ctr">
              <a:spcBef>
                <a:spcPct val="50000"/>
              </a:spcBef>
              <a:buNone/>
            </a:pPr>
            <a:r>
              <a:rPr lang="en-US" b="1" dirty="0">
                <a:latin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</a:rPr>
            </a:br>
            <a:r>
              <a:rPr lang="en-US" b="1" dirty="0">
                <a:latin typeface="Times New Roman" pitchFamily="18" charset="0"/>
              </a:rPr>
              <a:t>BB or BO = Type </a:t>
            </a:r>
            <a:r>
              <a:rPr lang="en-US" b="1" dirty="0" smtClean="0">
                <a:latin typeface="Times New Roman" pitchFamily="18" charset="0"/>
              </a:rPr>
              <a:t>B</a:t>
            </a:r>
            <a:endParaRPr lang="ar-JO" b="1" dirty="0" smtClean="0">
              <a:latin typeface="Times New Roman" pitchFamily="18" charset="0"/>
            </a:endParaRPr>
          </a:p>
          <a:p>
            <a:pPr marL="82296" indent="0" algn="ctr">
              <a:spcBef>
                <a:spcPct val="50000"/>
              </a:spcBef>
              <a:buNone/>
            </a:pPr>
            <a:r>
              <a:rPr lang="en-US" b="1" dirty="0">
                <a:latin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</a:rPr>
            </a:br>
            <a:r>
              <a:rPr lang="en-US" b="1" dirty="0">
                <a:latin typeface="Times New Roman" pitchFamily="18" charset="0"/>
              </a:rPr>
              <a:t>OO = Type </a:t>
            </a:r>
            <a:r>
              <a:rPr lang="en-US" b="1" dirty="0" smtClean="0">
                <a:latin typeface="Times New Roman" pitchFamily="18" charset="0"/>
              </a:rPr>
              <a:t>O</a:t>
            </a:r>
            <a:endParaRPr lang="ar-JO" b="1" dirty="0" smtClean="0">
              <a:latin typeface="Times New Roman" pitchFamily="18" charset="0"/>
            </a:endParaRPr>
          </a:p>
          <a:p>
            <a:pPr marL="82296" indent="0" algn="ctr">
              <a:spcBef>
                <a:spcPct val="50000"/>
              </a:spcBef>
              <a:buNone/>
            </a:pPr>
            <a:r>
              <a:rPr lang="en-US" b="1" dirty="0">
                <a:latin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</a:rPr>
            </a:br>
            <a:r>
              <a:rPr lang="en-US" b="1" dirty="0">
                <a:latin typeface="Times New Roman" pitchFamily="18" charset="0"/>
              </a:rPr>
              <a:t>AB = Type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1524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D60093"/>
                </a:solidFill>
              </a:rPr>
              <a:t>Inheritance of ABO blood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838200"/>
            <a:ext cx="749808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Blood groups are inherited from both parents.</a:t>
            </a:r>
          </a:p>
          <a:p>
            <a:r>
              <a:rPr lang="en-US" dirty="0"/>
              <a:t>The genes for A or B antigens are dominant to the gene for O.</a:t>
            </a:r>
          </a:p>
          <a:p>
            <a:r>
              <a:rPr lang="en-US" dirty="0"/>
              <a:t>The O gene is recessive</a:t>
            </a:r>
          </a:p>
          <a:p>
            <a:r>
              <a:rPr lang="en-US" dirty="0"/>
              <a:t>A and B express a special dominance relationship: </a:t>
            </a:r>
            <a:r>
              <a:rPr lang="en-US" dirty="0" err="1"/>
              <a:t>codominance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The genes for A and B are often shown as   and   , and the recessive </a:t>
            </a:r>
            <a:endParaRPr lang="en-US" dirty="0" smtClean="0"/>
          </a:p>
          <a:p>
            <a:pPr marL="82296" indent="0">
              <a:buNone/>
            </a:pPr>
            <a:r>
              <a:rPr lang="en-US" dirty="0" smtClean="0"/>
              <a:t>gene </a:t>
            </a:r>
            <a:r>
              <a:rPr lang="en-US" dirty="0"/>
              <a:t>for O is shown as the lowercase </a:t>
            </a:r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4169569"/>
            <a:ext cx="688975" cy="8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038600"/>
            <a:ext cx="1096963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012367"/>
            <a:ext cx="1096963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195" y="4169569"/>
            <a:ext cx="701675" cy="8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595734"/>
            <a:ext cx="884237" cy="124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86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230"/>
            <a:ext cx="79248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33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D60093"/>
                </a:solidFill>
              </a:rPr>
              <a:t>Rhesus Factor 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D60093"/>
                </a:solidFill>
              </a:rPr>
              <a:t>Rh</a:t>
            </a:r>
            <a:r>
              <a:rPr lang="en-US" dirty="0" smtClean="0">
                <a:solidFill>
                  <a:srgbClr val="D60093"/>
                </a:solidFill>
              </a:rPr>
              <a:t> Factor 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315200" cy="4800600"/>
          </a:xfrm>
        </p:spPr>
        <p:txBody>
          <a:bodyPr/>
          <a:lstStyle/>
          <a:p>
            <a:r>
              <a:rPr lang="en-US" dirty="0" smtClean="0"/>
              <a:t>Besides the ABO system, a person can be either…</a:t>
            </a:r>
          </a:p>
          <a:p>
            <a:r>
              <a:rPr lang="en-US" dirty="0" err="1" smtClean="0"/>
              <a:t>Rh</a:t>
            </a:r>
            <a:r>
              <a:rPr lang="en-US" dirty="0" smtClean="0"/>
              <a:t> positive</a:t>
            </a:r>
          </a:p>
          <a:p>
            <a:r>
              <a:rPr lang="en-US" dirty="0" err="1" smtClean="0"/>
              <a:t>Rh</a:t>
            </a:r>
            <a:r>
              <a:rPr lang="en-US" dirty="0" smtClean="0"/>
              <a:t> negative</a:t>
            </a:r>
          </a:p>
          <a:p>
            <a:pPr marL="82296" indent="0">
              <a:buNone/>
            </a:pPr>
            <a:r>
              <a:rPr lang="en-US" dirty="0" smtClean="0"/>
              <a:t>(Classified </a:t>
            </a:r>
            <a:r>
              <a:rPr lang="en-US" dirty="0"/>
              <a:t>according to </a:t>
            </a:r>
            <a:endParaRPr lang="en-US" dirty="0" smtClean="0"/>
          </a:p>
          <a:p>
            <a:pPr marL="82296" indent="0">
              <a:buNone/>
            </a:pPr>
            <a:r>
              <a:rPr lang="en-US" dirty="0" smtClean="0"/>
              <a:t>the </a:t>
            </a:r>
            <a:r>
              <a:rPr lang="en-US" dirty="0"/>
              <a:t>presence or </a:t>
            </a:r>
            <a:endParaRPr lang="en-US" dirty="0" smtClean="0"/>
          </a:p>
          <a:p>
            <a:pPr marL="82296" indent="0">
              <a:buNone/>
            </a:pPr>
            <a:r>
              <a:rPr lang="en-US" dirty="0" smtClean="0"/>
              <a:t>absence </a:t>
            </a:r>
            <a:r>
              <a:rPr lang="en-US" dirty="0"/>
              <a:t>of the </a:t>
            </a:r>
            <a:r>
              <a:rPr lang="en-US" dirty="0" smtClean="0"/>
              <a:t>Rhesus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dirty="0"/>
              <a:t>factor(Antigen D)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2438400"/>
            <a:ext cx="3429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189" y="609600"/>
            <a:ext cx="7498080" cy="1143000"/>
          </a:xfrm>
        </p:spPr>
        <p:txBody>
          <a:bodyPr/>
          <a:lstStyle/>
          <a:p>
            <a:r>
              <a:rPr lang="en-US" dirty="0" smtClean="0">
                <a:solidFill>
                  <a:srgbClr val="D60093"/>
                </a:solidFill>
              </a:rPr>
              <a:t>Genotype for Rh group</a:t>
            </a:r>
            <a:endParaRPr lang="en-US" dirty="0">
              <a:solidFill>
                <a:srgbClr val="D6009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57400"/>
            <a:ext cx="7498080" cy="4800600"/>
          </a:xfrm>
        </p:spPr>
        <p:txBody>
          <a:bodyPr/>
          <a:lstStyle/>
          <a:p>
            <a:pPr lvl="1"/>
            <a:r>
              <a:rPr lang="en-GB" i="1" dirty="0" err="1" smtClean="0"/>
              <a:t>Dd</a:t>
            </a:r>
            <a:r>
              <a:rPr lang="en-GB" i="1" dirty="0" smtClean="0"/>
              <a:t>, </a:t>
            </a:r>
            <a:r>
              <a:rPr lang="en-GB" i="1" dirty="0" err="1" smtClean="0"/>
              <a:t>dD</a:t>
            </a:r>
            <a:r>
              <a:rPr lang="en-GB" i="1" dirty="0" smtClean="0"/>
              <a:t>, DD</a:t>
            </a:r>
            <a:r>
              <a:rPr lang="en-GB" dirty="0" smtClean="0"/>
              <a:t>, persons are Rh(D) positive</a:t>
            </a:r>
          </a:p>
          <a:p>
            <a:pPr marL="402336" lvl="1" indent="0">
              <a:buNone/>
            </a:pPr>
            <a:endParaRPr lang="en-GB" dirty="0" smtClean="0"/>
          </a:p>
          <a:p>
            <a:pPr lvl="1"/>
            <a:r>
              <a:rPr lang="en-GB" dirty="0" smtClean="0"/>
              <a:t>Only </a:t>
            </a:r>
            <a:r>
              <a:rPr lang="en-GB" i="1" dirty="0" err="1" smtClean="0"/>
              <a:t>dd</a:t>
            </a:r>
            <a:r>
              <a:rPr lang="en-GB" i="1" dirty="0" smtClean="0"/>
              <a:t> </a:t>
            </a:r>
            <a:r>
              <a:rPr lang="en-GB" dirty="0" smtClean="0"/>
              <a:t>persons are Rh(D) negative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Rh</a:t>
            </a:r>
            <a:r>
              <a:rPr lang="en-US" dirty="0" smtClean="0"/>
              <a:t> and Pregnancy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8153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effectLst/>
              </a:rPr>
              <a:t>Rh Factor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Normally a mother and her baby have separate blood systems </a:t>
            </a:r>
          </a:p>
          <a:p>
            <a:pPr>
              <a:buFont typeface="Wingdings" pitchFamily="2" charset="2"/>
              <a:buNone/>
            </a:pPr>
            <a:endParaRPr lang="en-US" dirty="0" smtClean="0">
              <a:effectLst/>
            </a:endParaRPr>
          </a:p>
          <a:p>
            <a:r>
              <a:rPr lang="en-US" dirty="0" smtClean="0">
                <a:effectLst/>
              </a:rPr>
              <a:t>However,  there are times when the baby’s blood may enter the mother’s system (at birth)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498080" cy="1143000"/>
          </a:xfrm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Rh and Pregnancy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143000"/>
            <a:ext cx="7498080" cy="4800600"/>
          </a:xfrm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If the mother is Rh negative and is exposed to her baby’s Rh positive blood, the mother’s body produces </a:t>
            </a:r>
            <a:r>
              <a:rPr lang="en-US" dirty="0" smtClean="0">
                <a:solidFill>
                  <a:srgbClr val="D60093"/>
                </a:solidFill>
                <a:effectLst/>
              </a:rPr>
              <a:t>Antibodies</a:t>
            </a:r>
            <a:r>
              <a:rPr lang="en-US" dirty="0" smtClean="0">
                <a:effectLst/>
              </a:rPr>
              <a:t> against the baby’s red blood cells</a:t>
            </a:r>
          </a:p>
          <a:p>
            <a:r>
              <a:rPr lang="en-US" dirty="0"/>
              <a:t>This is not normally a problem during a first pregnancy </a:t>
            </a:r>
            <a:r>
              <a:rPr lang="en-US" dirty="0" smtClean="0"/>
              <a:t>because Antibodies </a:t>
            </a:r>
            <a:r>
              <a:rPr lang="en-US" dirty="0"/>
              <a:t>haven’t had time to build up</a:t>
            </a:r>
          </a:p>
          <a:p>
            <a:endParaRPr lang="en-US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831096"/>
            <a:ext cx="7498080" cy="4800600"/>
          </a:xfrm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In the second pregnancy if it is Rh positive the antibodies can </a:t>
            </a:r>
            <a:r>
              <a:rPr lang="en-US" dirty="0" smtClean="0"/>
              <a:t>cross placenta and affect the baby.</a:t>
            </a:r>
          </a:p>
          <a:p>
            <a:r>
              <a:rPr lang="en-US" dirty="0" smtClean="0">
                <a:effectLst/>
              </a:rPr>
              <a:t>So during subsequent pregnancies,</a:t>
            </a:r>
          </a:p>
          <a:p>
            <a:pPr marL="82296" indent="0">
              <a:buNone/>
            </a:pPr>
            <a:r>
              <a:rPr lang="en-US" dirty="0" smtClean="0">
                <a:effectLst/>
              </a:rPr>
              <a:t> the mother is given</a:t>
            </a:r>
          </a:p>
          <a:p>
            <a:pPr marL="82296" indent="0">
              <a:buNone/>
            </a:pPr>
            <a:r>
              <a:rPr lang="en-US" dirty="0" smtClean="0">
                <a:effectLst/>
              </a:rPr>
              <a:t> a drug to suppress</a:t>
            </a:r>
          </a:p>
          <a:p>
            <a:pPr marL="82296" indent="0">
              <a:buNone/>
            </a:pPr>
            <a:r>
              <a:rPr lang="en-US" dirty="0" smtClean="0">
                <a:effectLst/>
              </a:rPr>
              <a:t> her reaction to the </a:t>
            </a:r>
          </a:p>
          <a:p>
            <a:pPr marL="82296" indent="0">
              <a:buNone/>
            </a:pPr>
            <a:r>
              <a:rPr lang="en-US" dirty="0" smtClean="0">
                <a:effectLst/>
              </a:rPr>
              <a:t>baby’s Rh factor</a:t>
            </a:r>
          </a:p>
          <a:p>
            <a:pPr marL="82296" indent="0">
              <a:buNone/>
            </a:pPr>
            <a:endParaRPr lang="en-US" dirty="0" smtClean="0">
              <a:effectLst/>
            </a:endParaRPr>
          </a:p>
          <a:p>
            <a:pPr>
              <a:buFont typeface="Wingdings" pitchFamily="2" charset="2"/>
              <a:buNone/>
            </a:pPr>
            <a:endParaRPr lang="en-US" dirty="0" smtClean="0">
              <a:effectLst/>
            </a:endParaRPr>
          </a:p>
          <a:p>
            <a:endParaRPr lang="en-US" dirty="0" smtClean="0">
              <a:effectLst/>
            </a:endParaRP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175416"/>
            <a:ext cx="3505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effectLst/>
              </a:rPr>
              <a:t>How is blood typing done?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Is used to determine the blood groups of an individual</a:t>
            </a:r>
          </a:p>
          <a:p>
            <a:r>
              <a:rPr lang="en-US" dirty="0" smtClean="0">
                <a:effectLst/>
              </a:rPr>
              <a:t>Involves mixing the blood with three different reagents that have…</a:t>
            </a:r>
          </a:p>
          <a:p>
            <a:r>
              <a:rPr lang="en-US" dirty="0" smtClean="0">
                <a:effectLst/>
              </a:rPr>
              <a:t> A antibodies</a:t>
            </a:r>
          </a:p>
          <a:p>
            <a:r>
              <a:rPr lang="en-US" dirty="0" smtClean="0">
                <a:effectLst/>
              </a:rPr>
              <a:t> B antibodies</a:t>
            </a:r>
          </a:p>
          <a:p>
            <a:r>
              <a:rPr lang="en-US" dirty="0" smtClean="0">
                <a:effectLst/>
              </a:rPr>
              <a:t> Rh antibodies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581400"/>
            <a:ext cx="3952875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0"/>
            <a:ext cx="8077200" cy="5943600"/>
          </a:xfrm>
        </p:spPr>
      </p:pic>
      <p:sp>
        <p:nvSpPr>
          <p:cNvPr id="3" name="Rectangle 2"/>
          <p:cNvSpPr/>
          <p:nvPr/>
        </p:nvSpPr>
        <p:spPr>
          <a:xfrm>
            <a:off x="3124200" y="5934670"/>
            <a:ext cx="40880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O Negative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0"/>
            <a:ext cx="8077200" cy="5791200"/>
          </a:xfrm>
        </p:spPr>
      </p:pic>
      <p:sp>
        <p:nvSpPr>
          <p:cNvPr id="3" name="Rectangle 2"/>
          <p:cNvSpPr/>
          <p:nvPr/>
        </p:nvSpPr>
        <p:spPr>
          <a:xfrm>
            <a:off x="2819400" y="5746761"/>
            <a:ext cx="4778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AB Positive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76200"/>
            <a:ext cx="83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/>
              <a:t>A</a:t>
            </a:r>
            <a:endParaRPr lang="en-US" sz="5400" dirty="0"/>
          </a:p>
        </p:txBody>
      </p:sp>
      <p:sp>
        <p:nvSpPr>
          <p:cNvPr id="6" name="TextBox 5"/>
          <p:cNvSpPr txBox="1"/>
          <p:nvPr/>
        </p:nvSpPr>
        <p:spPr>
          <a:xfrm>
            <a:off x="7239000" y="685800"/>
            <a:ext cx="1143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D (Rh)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524000" y="4648200"/>
            <a:ext cx="41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B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219200" y="0"/>
            <a:ext cx="7924800" cy="5638800"/>
          </a:xfrm>
        </p:spPr>
      </p:pic>
      <p:sp>
        <p:nvSpPr>
          <p:cNvPr id="3" name="Rectangle 2"/>
          <p:cNvSpPr/>
          <p:nvPr/>
        </p:nvSpPr>
        <p:spPr>
          <a:xfrm>
            <a:off x="2971800" y="5715000"/>
            <a:ext cx="49837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O Positive Blood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1066800"/>
            <a:ext cx="8153399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60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871</TotalTime>
  <Words>614</Words>
  <Application>Microsoft Office PowerPoint</Application>
  <PresentationFormat>On-screen Show (4:3)</PresentationFormat>
  <Paragraphs>97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Solstice</vt:lpstr>
      <vt:lpstr>PowerPoint Presentation</vt:lpstr>
      <vt:lpstr>Objectives:</vt:lpstr>
      <vt:lpstr>PowerPoint Presentation</vt:lpstr>
      <vt:lpstr>Importance :</vt:lpstr>
      <vt:lpstr>types of antigens :</vt:lpstr>
      <vt:lpstr>ABO SYSTEM </vt:lpstr>
      <vt:lpstr>Formation of ABO antigens (agglutinogens)</vt:lpstr>
      <vt:lpstr>PowerPoint Presentation</vt:lpstr>
      <vt:lpstr>Antibodies (agglutinins) </vt:lpstr>
      <vt:lpstr>PowerPoint Presentation</vt:lpstr>
      <vt:lpstr>PowerPoint Presentation</vt:lpstr>
      <vt:lpstr>ABO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Genotypes</vt:lpstr>
      <vt:lpstr>Inheritance of ABO blood groups</vt:lpstr>
      <vt:lpstr>PowerPoint Presentation</vt:lpstr>
      <vt:lpstr>Rhesus Factor (Rh Factor )</vt:lpstr>
      <vt:lpstr>Genotype for Rh group</vt:lpstr>
      <vt:lpstr>Rh and Pregnancy</vt:lpstr>
      <vt:lpstr>Rh Factor</vt:lpstr>
      <vt:lpstr>Rh and Pregnancy</vt:lpstr>
      <vt:lpstr>PowerPoint Presentation</vt:lpstr>
      <vt:lpstr>How is blood typing done?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 الله الرحمن الرحيم </dc:title>
  <dc:creator>user</dc:creator>
  <cp:lastModifiedBy>Wafa</cp:lastModifiedBy>
  <cp:revision>109</cp:revision>
  <dcterms:created xsi:type="dcterms:W3CDTF">2006-08-16T00:00:00Z</dcterms:created>
  <dcterms:modified xsi:type="dcterms:W3CDTF">2024-11-04T07:25:25Z</dcterms:modified>
</cp:coreProperties>
</file>