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19"/>
  </p:notesMasterIdLst>
  <p:sldIdLst>
    <p:sldId id="275" r:id="rId3"/>
    <p:sldId id="257" r:id="rId4"/>
    <p:sldId id="264" r:id="rId5"/>
    <p:sldId id="258" r:id="rId6"/>
    <p:sldId id="267" r:id="rId7"/>
    <p:sldId id="259" r:id="rId8"/>
    <p:sldId id="268" r:id="rId9"/>
    <p:sldId id="260" r:id="rId10"/>
    <p:sldId id="276" r:id="rId11"/>
    <p:sldId id="261" r:id="rId12"/>
    <p:sldId id="262" r:id="rId13"/>
    <p:sldId id="269" r:id="rId14"/>
    <p:sldId id="272" r:id="rId15"/>
    <p:sldId id="273" r:id="rId16"/>
    <p:sldId id="274" r:id="rId17"/>
    <p:sldId id="277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59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52E4B8-6870-4D58-9EC3-AB291D64F08D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E39384-B4DD-4A36-A746-042FD201BEB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7C16A3-2F94-4EE7-BAF3-7FA3A9E7ED59}" type="slidenum">
              <a:rPr lang="ar-SA"/>
              <a:pPr/>
              <a:t>12</a:t>
            </a:fld>
            <a:endParaRPr lang="en-US"/>
          </a:p>
        </p:txBody>
      </p:sp>
      <p:sp>
        <p:nvSpPr>
          <p:cNvPr id="16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4CB55A-1A52-40A5-9E8C-1695B77E9BCC}" type="slidenum">
              <a:rPr lang="ar-SA"/>
              <a:pPr/>
              <a:t>13</a:t>
            </a:fld>
            <a:endParaRPr lang="en-US"/>
          </a:p>
        </p:txBody>
      </p:sp>
      <p:sp>
        <p:nvSpPr>
          <p:cNvPr id="16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FB09D8-CB2B-4D85-ADEB-15D69BC71482}" type="slidenum">
              <a:rPr lang="ar-SA"/>
              <a:pPr/>
              <a:t>14</a:t>
            </a:fld>
            <a:endParaRPr lang="en-US"/>
          </a:p>
        </p:txBody>
      </p:sp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1833A9-D545-4CAF-8133-412DB8BA1A88}" type="slidenum">
              <a:rPr lang="ar-SA"/>
              <a:pPr/>
              <a:t>15</a:t>
            </a:fld>
            <a:endParaRPr lang="en-US"/>
          </a:p>
        </p:txBody>
      </p:sp>
      <p:sp>
        <p:nvSpPr>
          <p:cNvPr id="173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عنصر نائب للتاريخ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9818DD-ED5B-4DE5-AB0A-5EDB297D15D3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17" name="عنصر نائب للتذييل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29" name="عنصر نائب لرقم الشريحة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34F93CC-EB0C-46C3-BCC0-77930EBE54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مستطيل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مستطيل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مستطيل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مستطيل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مستطيل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عنوان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9" name="عنوان فرعي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ar-SA" smtClean="0"/>
              <a:t>انقر لتحرير نمط العنوان الثانوي الرئيسي</a:t>
            </a:r>
            <a:endParaRPr kumimoji="0" lang="en-US"/>
          </a:p>
        </p:txBody>
      </p:sp>
      <p:sp>
        <p:nvSpPr>
          <p:cNvPr id="56" name="مستطيل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مستطيل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مستطيل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مستطيل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9818DD-ED5B-4DE5-AB0A-5EDB297D15D3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34F93CC-EB0C-46C3-BCC0-77930EBE54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شكل حر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شكل حر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شكل حر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شكل حر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شكل حر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شكل حر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شكل حر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شكل حر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شكل حر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شكل حر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شكل حر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شكل حر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شكل حر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شكل حر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شكل حر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9818DD-ED5B-4DE5-AB0A-5EDB297D15D3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34F93CC-EB0C-46C3-BCC0-77930EBE54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مستطيل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8" name="مستطيل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مستطيل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مستطيل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مستطيل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مستطيل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9818DD-ED5B-4DE5-AB0A-5EDB297D15D3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34F93CC-EB0C-46C3-BCC0-77930EBE54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مستطيل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5" name="عنصر نائب للمحتوى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9818DD-ED5B-4DE5-AB0A-5EDB297D15D3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34F93CC-EB0C-46C3-BCC0-77930EBE54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مستطيل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مستطيل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مستطيل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مستطيل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مستطيل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مستطيل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مستطيل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مستطيل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مستطيل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9818DD-ED5B-4DE5-AB0A-5EDB297D15D3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34F93CC-EB0C-46C3-BCC0-77930EBE54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9818DD-ED5B-4DE5-AB0A-5EDB297D15D3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34F93CC-EB0C-46C3-BCC0-77930EBE54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9818DD-ED5B-4DE5-AB0A-5EDB297D15D3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34F93CC-EB0C-46C3-BCC0-77930EBE54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مستطيل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رابط مستقيم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مجموعة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رابط مستقيم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رابط مستقيم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رابط مستقيم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عنوان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ar-SA" smtClean="0"/>
              <a:t>انقر فوق الرمز لإضافة صورة</a:t>
            </a:r>
            <a:endParaRPr kumimoji="0" lang="en-US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grpSp>
        <p:nvGrpSpPr>
          <p:cNvPr id="14" name="مجموعة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رابط مستقيم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رابط مستقيم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رابط مستقيم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مجموعة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رابط مستقيم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رابط مستقيم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رابط مستقيم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FD9818DD-ED5B-4DE5-AB0A-5EDB297D15D3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C34F93CC-EB0C-46C3-BCC0-77930EBE54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9818DD-ED5B-4DE5-AB0A-5EDB297D15D3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34F93CC-EB0C-46C3-BCC0-77930EBE54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9818DD-ED5B-4DE5-AB0A-5EDB297D15D3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34F93CC-EB0C-46C3-BCC0-77930EBE54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عنوان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22" name="عنوان فرعي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ar-SA" smtClean="0"/>
              <a:t>انقر لتحرير نمط العنوان الثانوي الرئيسي</a:t>
            </a:r>
            <a:endParaRPr kumimoji="0" lang="en-US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9818DD-ED5B-4DE5-AB0A-5EDB297D15D3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20" name="عنصر نائب للتذييل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عنصر نائب لرقم الشريحة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34F93CC-EB0C-46C3-BCC0-77930EBE54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شكل بيضاوي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شكل بيضاوي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9818DD-ED5B-4DE5-AB0A-5EDB297D15D3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34F93CC-EB0C-46C3-BCC0-77930EBE54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ستطيل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9818DD-ED5B-4DE5-AB0A-5EDB297D15D3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34F93CC-EB0C-46C3-BCC0-77930EBE54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مستطيل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شكل بيضاوي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شكل بيضاوي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9818DD-ED5B-4DE5-AB0A-5EDB297D15D3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34F93CC-EB0C-46C3-BCC0-77930EBE54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5" name="عنصر نائب للمحتوى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9818DD-ED5B-4DE5-AB0A-5EDB297D15D3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34F93CC-EB0C-46C3-BCC0-77930EBE54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9818DD-ED5B-4DE5-AB0A-5EDB297D15D3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34F93CC-EB0C-46C3-BCC0-77930EBE54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ستطيل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9818DD-ED5B-4DE5-AB0A-5EDB297D15D3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34F93CC-EB0C-46C3-BCC0-77930EBE54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مستطيل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9818DD-ED5B-4DE5-AB0A-5EDB297D15D3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34F93CC-EB0C-46C3-BCC0-77930EBE54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9818DD-ED5B-4DE5-AB0A-5EDB297D15D3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34F93CC-EB0C-46C3-BCC0-77930EBE54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مستطيل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ar-SA" smtClean="0"/>
              <a:t>انقر فوق الرمز لإضافة صورة</a:t>
            </a:r>
            <a:endParaRPr kumimoji="0" lang="en-US" dirty="0"/>
          </a:p>
        </p:txBody>
      </p:sp>
      <p:sp>
        <p:nvSpPr>
          <p:cNvPr id="9" name="مخطط انسيابي: معالجة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مخطط انسيابي: معالجة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9818DD-ED5B-4DE5-AB0A-5EDB297D15D3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34F93CC-EB0C-46C3-BCC0-77930EBE54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9818DD-ED5B-4DE5-AB0A-5EDB297D15D3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34F93CC-EB0C-46C3-BCC0-77930EBE54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ستطيل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مستطيل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مستطيل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مستطيل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مستطيل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مستطيل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مستطيل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مستطيل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مستطيل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عنصر نائب للعنوان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13" name="عنصر نائب للنص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  <a:p>
            <a:pPr lvl="1" eaLnBrk="1" latinLnBrk="0" hangingPunct="1"/>
            <a:r>
              <a:rPr kumimoji="0" lang="ar-SA" smtClean="0"/>
              <a:t>المستوى الثاني</a:t>
            </a:r>
          </a:p>
          <a:p>
            <a:pPr lvl="2" eaLnBrk="1" latinLnBrk="0" hangingPunct="1"/>
            <a:r>
              <a:rPr kumimoji="0" lang="ar-SA" smtClean="0"/>
              <a:t>المستوى الثالث</a:t>
            </a:r>
          </a:p>
          <a:p>
            <a:pPr lvl="3" eaLnBrk="1" latinLnBrk="0" hangingPunct="1"/>
            <a:r>
              <a:rPr kumimoji="0" lang="ar-SA" smtClean="0"/>
              <a:t>المستوى الرابع</a:t>
            </a:r>
          </a:p>
          <a:p>
            <a:pPr lvl="4" eaLnBrk="1" latinLnBrk="0" hangingPunct="1"/>
            <a:r>
              <a:rPr kumimoji="0" lang="ar-SA" smtClean="0"/>
              <a:t>المستوى الخامس</a:t>
            </a:r>
            <a:endParaRPr kumimoji="0" lang="en-US"/>
          </a:p>
        </p:txBody>
      </p:sp>
      <p:sp>
        <p:nvSpPr>
          <p:cNvPr id="14" name="عنصر نائب للتاريخ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FD9818DD-ED5B-4DE5-AB0A-5EDB297D15D3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3" name="عنصر نائب لرقم الشريحة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C34F93CC-EB0C-46C3-BCC0-77930EBE540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دائري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شكل بيضاوي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دائرة مجوفة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مستطيل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عنصر نائب للعنوان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9" name="عنصر نائب للنص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  <a:p>
            <a:pPr lvl="1" eaLnBrk="1" latinLnBrk="0" hangingPunct="1"/>
            <a:r>
              <a:rPr kumimoji="0" lang="ar-SA" smtClean="0"/>
              <a:t>المستوى الثاني</a:t>
            </a:r>
          </a:p>
          <a:p>
            <a:pPr lvl="2" eaLnBrk="1" latinLnBrk="0" hangingPunct="1"/>
            <a:r>
              <a:rPr kumimoji="0" lang="ar-SA" smtClean="0"/>
              <a:t>المستوى الثالث</a:t>
            </a:r>
          </a:p>
          <a:p>
            <a:pPr lvl="3" eaLnBrk="1" latinLnBrk="0" hangingPunct="1"/>
            <a:r>
              <a:rPr kumimoji="0" lang="ar-SA" smtClean="0"/>
              <a:t>المستوى الرابع</a:t>
            </a:r>
          </a:p>
          <a:p>
            <a:pPr lvl="4" eaLnBrk="1" latinLnBrk="0" hangingPunct="1"/>
            <a:r>
              <a:rPr kumimoji="0" lang="ar-SA" smtClean="0"/>
              <a:t>المستوى الخامس</a:t>
            </a:r>
            <a:endParaRPr kumimoji="0" lang="en-US"/>
          </a:p>
        </p:txBody>
      </p:sp>
      <p:sp>
        <p:nvSpPr>
          <p:cNvPr id="24" name="عنصر نائب للتاريخ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FD9818DD-ED5B-4DE5-AB0A-5EDB297D15D3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10" name="عنصر نائب للتذييل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عنصر نائب لرقم الشريحة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C34F93CC-EB0C-46C3-BCC0-77930EBE54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مستطيل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mhtml:mk:@MSITStore:C:\Users\Guest.eslameisa-PC\Desktop\Review%20of%20Medical%20Physiology,%20Twenty%20Second%20Edition.chm::/Physiology/S%20VII.%20Respiration/Ch.35.%20Gas%20Transport%20between%20the%20Lungs%20&amp;%20the%20Tissues/c35s2a.mht!http://www.accessmedicine.com/loadBinary.aspx?name=gano22&amp;filename=%09gano22_c035f002.gif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4"/>
          <p:cNvSpPr txBox="1">
            <a:spLocks noChangeArrowheads="1"/>
          </p:cNvSpPr>
          <p:nvPr/>
        </p:nvSpPr>
        <p:spPr bwMode="auto">
          <a:xfrm>
            <a:off x="2819400" y="228600"/>
            <a:ext cx="5867400" cy="22621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3200" b="1" dirty="0" smtClean="0">
                <a:solidFill>
                  <a:srgbClr val="002060"/>
                </a:solidFill>
                <a:latin typeface="Elephant" pitchFamily="18" charset="0"/>
              </a:rPr>
              <a:t>Respiratory  </a:t>
            </a:r>
            <a:r>
              <a:rPr lang="en-US" sz="3200" b="1" dirty="0">
                <a:solidFill>
                  <a:srgbClr val="002060"/>
                </a:solidFill>
                <a:latin typeface="Elephant" pitchFamily="18" charset="0"/>
              </a:rPr>
              <a:t>Physiology</a:t>
            </a:r>
            <a:r>
              <a:rPr lang="en-US" sz="3600" b="1" dirty="0">
                <a:solidFill>
                  <a:srgbClr val="002060"/>
                </a:solidFill>
                <a:latin typeface="Elephant" pitchFamily="18" charset="0"/>
              </a:rPr>
              <a:t/>
            </a:r>
            <a:br>
              <a:rPr lang="en-US" sz="3600" b="1" dirty="0">
                <a:solidFill>
                  <a:srgbClr val="002060"/>
                </a:solidFill>
                <a:latin typeface="Elephant" pitchFamily="18" charset="0"/>
              </a:rPr>
            </a:br>
            <a:r>
              <a:rPr lang="en-US" sz="2400" b="1" dirty="0" smtClean="0">
                <a:solidFill>
                  <a:srgbClr val="002060"/>
                </a:solidFill>
                <a:latin typeface="Elephant" pitchFamily="18" charset="0"/>
              </a:rPr>
              <a:t>Bader Hassan</a:t>
            </a:r>
            <a:endParaRPr lang="en-US" b="1" dirty="0">
              <a:solidFill>
                <a:srgbClr val="002060"/>
              </a:solidFill>
              <a:latin typeface="Elephant" pitchFamily="18" charset="0"/>
            </a:endParaRPr>
          </a:p>
          <a:p>
            <a:pPr algn="r">
              <a:spcBef>
                <a:spcPct val="50000"/>
              </a:spcBef>
            </a:pPr>
            <a:r>
              <a:rPr lang="en-US" b="1" dirty="0">
                <a:solidFill>
                  <a:srgbClr val="002060"/>
                </a:solidFill>
                <a:latin typeface="Elephant" pitchFamily="18" charset="0"/>
              </a:rPr>
              <a:t>Lecturer Of Physiology</a:t>
            </a:r>
          </a:p>
          <a:p>
            <a:pPr algn="r">
              <a:spcBef>
                <a:spcPct val="50000"/>
              </a:spcBef>
            </a:pPr>
            <a:endParaRPr lang="en-US" sz="3600" b="1" dirty="0">
              <a:solidFill>
                <a:srgbClr val="0066FF"/>
              </a:solidFill>
              <a:latin typeface="Elephant" pitchFamily="18" charset="0"/>
            </a:endParaRPr>
          </a:p>
        </p:txBody>
      </p:sp>
      <p:sp>
        <p:nvSpPr>
          <p:cNvPr id="22531" name="Text Box 5"/>
          <p:cNvSpPr txBox="1">
            <a:spLocks noChangeArrowheads="1"/>
          </p:cNvSpPr>
          <p:nvPr/>
        </p:nvSpPr>
        <p:spPr bwMode="auto">
          <a:xfrm>
            <a:off x="381000" y="6248400"/>
            <a:ext cx="8001000" cy="461963"/>
          </a:xfrm>
          <a:prstGeom prst="rect">
            <a:avLst/>
          </a:prstGeom>
          <a:gradFill rotWithShape="1">
            <a:gsLst>
              <a:gs pos="0">
                <a:srgbClr val="2F4776"/>
              </a:gs>
              <a:gs pos="50000">
                <a:srgbClr val="6699FF"/>
              </a:gs>
              <a:gs pos="100000">
                <a:srgbClr val="2F4776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Faculty Of Medicine Dept.Of Physiology</a:t>
            </a:r>
            <a:r>
              <a:rPr lang="en-US" b="1">
                <a:solidFill>
                  <a:schemeClr val="bg1"/>
                </a:solidFill>
              </a:rPr>
              <a:t>  </a:t>
            </a:r>
          </a:p>
        </p:txBody>
      </p:sp>
      <p:sp>
        <p:nvSpPr>
          <p:cNvPr id="22532" name="Text Box 7"/>
          <p:cNvSpPr txBox="1">
            <a:spLocks noChangeArrowheads="1"/>
          </p:cNvSpPr>
          <p:nvPr/>
        </p:nvSpPr>
        <p:spPr bwMode="auto">
          <a:xfrm>
            <a:off x="228600" y="1752600"/>
            <a:ext cx="3810000" cy="1723549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400" b="1" dirty="0" smtClean="0">
                <a:solidFill>
                  <a:srgbClr val="FFC000"/>
                </a:solidFill>
                <a:latin typeface="Andalus" pitchFamily="18" charset="-78"/>
                <a:cs typeface="Andalus" pitchFamily="18" charset="-78"/>
              </a:rPr>
              <a:t>Gas transport</a:t>
            </a:r>
            <a:r>
              <a:rPr lang="en-US" sz="4400" b="1" dirty="0" smtClean="0">
                <a:solidFill>
                  <a:schemeClr val="bg2"/>
                </a:solidFill>
                <a:latin typeface="Andalus" pitchFamily="18" charset="-78"/>
                <a:cs typeface="Andalus" pitchFamily="18" charset="-78"/>
              </a:rPr>
              <a:t>   </a:t>
            </a:r>
            <a:r>
              <a:rPr lang="en-US" sz="2000" b="1" i="1" dirty="0"/>
              <a:t/>
            </a:r>
            <a:br>
              <a:rPr lang="en-US" sz="2000" b="1" i="1" dirty="0"/>
            </a:br>
            <a:endParaRPr lang="en-US" sz="2000" b="1" i="1" dirty="0"/>
          </a:p>
          <a:p>
            <a:pPr>
              <a:spcBef>
                <a:spcPct val="50000"/>
              </a:spcBef>
            </a:pPr>
            <a:endParaRPr lang="en-US" sz="2800" b="1" dirty="0">
              <a:solidFill>
                <a:srgbClr val="FF3300"/>
              </a:solidFill>
            </a:endParaRPr>
          </a:p>
        </p:txBody>
      </p:sp>
      <p:sp>
        <p:nvSpPr>
          <p:cNvPr id="22533" name="Text Box 9"/>
          <p:cNvSpPr txBox="1">
            <a:spLocks noChangeArrowheads="1"/>
          </p:cNvSpPr>
          <p:nvPr/>
        </p:nvSpPr>
        <p:spPr bwMode="auto">
          <a:xfrm>
            <a:off x="0" y="152400"/>
            <a:ext cx="3657600" cy="369332"/>
          </a:xfrm>
          <a:prstGeom prst="rect">
            <a:avLst/>
          </a:prstGeom>
          <a:gradFill rotWithShape="1">
            <a:gsLst>
              <a:gs pos="0">
                <a:srgbClr val="2F4776"/>
              </a:gs>
              <a:gs pos="50000">
                <a:srgbClr val="6699FF"/>
              </a:gs>
              <a:gs pos="100000">
                <a:srgbClr val="2F4776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LECTURE NO </a:t>
            </a:r>
            <a:r>
              <a:rPr lang="en-US" b="1" dirty="0" smtClean="0"/>
              <a:t>(5)   </a:t>
            </a:r>
            <a:endParaRPr lang="ar-SA" b="1" dirty="0"/>
          </a:p>
        </p:txBody>
      </p:sp>
      <p:pic>
        <p:nvPicPr>
          <p:cNvPr id="9" name="Picture 4" descr="untitled.bmp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91000" y="1524000"/>
            <a:ext cx="48006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hee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Transport of oxygen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entaur" pitchFamily="18" charset="0"/>
              </a:rPr>
              <a:t>O2 is transported in the blood in 2 forms:</a:t>
            </a:r>
          </a:p>
          <a:p>
            <a:r>
              <a:rPr lang="en-US" dirty="0" smtClean="0">
                <a:latin typeface="Centaur" pitchFamily="18" charset="0"/>
              </a:rPr>
              <a:t>Dissolved in plasma----------------------- 2%</a:t>
            </a:r>
          </a:p>
          <a:p>
            <a:r>
              <a:rPr lang="en-US" dirty="0" smtClean="0">
                <a:latin typeface="Centaur" pitchFamily="18" charset="0"/>
              </a:rPr>
              <a:t>Bound to hemoglobin -------------------- 98%</a:t>
            </a:r>
          </a:p>
          <a:p>
            <a:r>
              <a:rPr lang="en-US" dirty="0" smtClean="0">
                <a:latin typeface="Centaur" pitchFamily="18" charset="0"/>
              </a:rPr>
              <a:t>O2 binds to hemoglobin in a rapid reversible oxygenation reaction </a:t>
            </a:r>
          </a:p>
          <a:p>
            <a:r>
              <a:rPr lang="en-US" dirty="0" smtClean="0">
                <a:latin typeface="Centaur" pitchFamily="18" charset="0"/>
              </a:rPr>
              <a:t>Iron remain in the ferrous state.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Heme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066800"/>
            <a:ext cx="739140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1197864"/>
          </a:xfrm>
        </p:spPr>
        <p:txBody>
          <a:bodyPr/>
          <a:lstStyle/>
          <a:p>
            <a:r>
              <a:rPr lang="en-US" dirty="0" smtClean="0"/>
              <a:t>Oxygen-hemoglobin dissociation curve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914400" y="1600200"/>
            <a:ext cx="7772400" cy="4755360"/>
          </a:xfrm>
        </p:spPr>
        <p:txBody>
          <a:bodyPr/>
          <a:lstStyle/>
          <a:p>
            <a:r>
              <a:rPr lang="en-US" dirty="0" smtClean="0">
                <a:latin typeface="Centaur" pitchFamily="18" charset="0"/>
              </a:rPr>
              <a:t>Indicate the direct relation between PO2 &amp; the percent saturation of </a:t>
            </a:r>
            <a:r>
              <a:rPr lang="en-US" dirty="0" err="1" smtClean="0">
                <a:latin typeface="Centaur" pitchFamily="18" charset="0"/>
              </a:rPr>
              <a:t>Hb</a:t>
            </a:r>
            <a:r>
              <a:rPr lang="en-US" dirty="0" smtClean="0">
                <a:latin typeface="Centaur" pitchFamily="18" charset="0"/>
              </a:rPr>
              <a:t> with O2.</a:t>
            </a:r>
          </a:p>
          <a:p>
            <a:r>
              <a:rPr lang="en-US" dirty="0" smtClean="0">
                <a:latin typeface="Centaur" pitchFamily="18" charset="0"/>
              </a:rPr>
              <a:t>PO2 of 40 mmHg gives O2 saturation of 75% as in veins.</a:t>
            </a:r>
          </a:p>
          <a:p>
            <a:r>
              <a:rPr lang="en-US" dirty="0" smtClean="0">
                <a:latin typeface="Centaur" pitchFamily="18" charset="0"/>
              </a:rPr>
              <a:t>PO2 of 95 mmHg gives O2 saturation of 97% as in arteries.</a:t>
            </a:r>
          </a:p>
          <a:p>
            <a:r>
              <a:rPr lang="en-US" dirty="0" smtClean="0">
                <a:latin typeface="Centaur" pitchFamily="18" charset="0"/>
              </a:rPr>
              <a:t>The affinity of </a:t>
            </a:r>
            <a:r>
              <a:rPr lang="en-US" dirty="0" err="1" smtClean="0">
                <a:latin typeface="Centaur" pitchFamily="18" charset="0"/>
              </a:rPr>
              <a:t>Hb</a:t>
            </a:r>
            <a:r>
              <a:rPr lang="en-US" dirty="0" smtClean="0">
                <a:latin typeface="Centaur" pitchFamily="18" charset="0"/>
              </a:rPr>
              <a:t> to oxygen is affected by certain factors which shift the curve to the right or to the left.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0" y="2911475"/>
            <a:ext cx="9144000" cy="0"/>
          </a:xfrm>
          <a:prstGeom prst="rect">
            <a:avLst/>
          </a:prstGeom>
          <a:solidFill>
            <a:srgbClr val="CCCC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0" y="2911475"/>
            <a:ext cx="9144000" cy="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3586" name="Group 34"/>
          <p:cNvGraphicFramePr>
            <a:graphicFrameLocks noGrp="1"/>
          </p:cNvGraphicFramePr>
          <p:nvPr/>
        </p:nvGraphicFramePr>
        <p:xfrm>
          <a:off x="0" y="2911475"/>
          <a:ext cx="208280" cy="1036320"/>
        </p:xfrm>
        <a:graphic>
          <a:graphicData uri="http://schemas.openxmlformats.org/drawingml/2006/table">
            <a:tbl>
              <a:tblPr/>
              <a:tblGrid>
                <a:gridCol w="208280"/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charset="0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charset="0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3588" name="Group 36"/>
          <p:cNvGraphicFramePr>
            <a:graphicFrameLocks noGrp="1"/>
          </p:cNvGraphicFramePr>
          <p:nvPr/>
        </p:nvGraphicFramePr>
        <p:xfrm>
          <a:off x="9525" y="2921000"/>
          <a:ext cx="208280" cy="518160"/>
        </p:xfrm>
        <a:graphic>
          <a:graphicData uri="http://schemas.openxmlformats.org/drawingml/2006/table">
            <a:tbl>
              <a:tblPr/>
              <a:tblGrid>
                <a:gridCol w="208280"/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charset="0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587" name="Group 35"/>
          <p:cNvGraphicFramePr>
            <a:graphicFrameLocks noGrp="1"/>
          </p:cNvGraphicFramePr>
          <p:nvPr/>
        </p:nvGraphicFramePr>
        <p:xfrm>
          <a:off x="9525" y="3429000"/>
          <a:ext cx="208280" cy="518160"/>
        </p:xfrm>
        <a:graphic>
          <a:graphicData uri="http://schemas.openxmlformats.org/drawingml/2006/table">
            <a:tbl>
              <a:tblPr/>
              <a:tblGrid>
                <a:gridCol w="208280"/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charset="0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589" name="Rectangle 37"/>
          <p:cNvSpPr>
            <a:spLocks noChangeArrowheads="1"/>
          </p:cNvSpPr>
          <p:nvPr/>
        </p:nvSpPr>
        <p:spPr bwMode="auto">
          <a:xfrm>
            <a:off x="0" y="2911475"/>
            <a:ext cx="9144000" cy="0"/>
          </a:xfrm>
          <a:prstGeom prst="rect">
            <a:avLst/>
          </a:prstGeom>
          <a:solidFill>
            <a:srgbClr val="CCCC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591" name="Rectangle 39"/>
          <p:cNvSpPr>
            <a:spLocks noChangeArrowheads="1"/>
          </p:cNvSpPr>
          <p:nvPr/>
        </p:nvSpPr>
        <p:spPr bwMode="auto">
          <a:xfrm>
            <a:off x="0" y="2911475"/>
            <a:ext cx="9144000" cy="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3619" name="Group 67"/>
          <p:cNvGraphicFramePr>
            <a:graphicFrameLocks noGrp="1"/>
          </p:cNvGraphicFramePr>
          <p:nvPr/>
        </p:nvGraphicFramePr>
        <p:xfrm>
          <a:off x="0" y="2911475"/>
          <a:ext cx="208280" cy="1036320"/>
        </p:xfrm>
        <a:graphic>
          <a:graphicData uri="http://schemas.openxmlformats.org/drawingml/2006/table">
            <a:tbl>
              <a:tblPr/>
              <a:tblGrid>
                <a:gridCol w="208280"/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charset="0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charset="0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3621" name="Group 69"/>
          <p:cNvGraphicFramePr>
            <a:graphicFrameLocks noGrp="1"/>
          </p:cNvGraphicFramePr>
          <p:nvPr/>
        </p:nvGraphicFramePr>
        <p:xfrm>
          <a:off x="9525" y="2921000"/>
          <a:ext cx="208280" cy="518160"/>
        </p:xfrm>
        <a:graphic>
          <a:graphicData uri="http://schemas.openxmlformats.org/drawingml/2006/table">
            <a:tbl>
              <a:tblPr/>
              <a:tblGrid>
                <a:gridCol w="208280"/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charset="0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620" name="Group 68"/>
          <p:cNvGraphicFramePr>
            <a:graphicFrameLocks noGrp="1"/>
          </p:cNvGraphicFramePr>
          <p:nvPr/>
        </p:nvGraphicFramePr>
        <p:xfrm>
          <a:off x="9525" y="3429000"/>
          <a:ext cx="208280" cy="518160"/>
        </p:xfrm>
        <a:graphic>
          <a:graphicData uri="http://schemas.openxmlformats.org/drawingml/2006/table">
            <a:tbl>
              <a:tblPr/>
              <a:tblGrid>
                <a:gridCol w="208280"/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charset="0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623" name="Rectangle 71"/>
          <p:cNvSpPr>
            <a:spLocks noChangeArrowheads="1"/>
          </p:cNvSpPr>
          <p:nvPr/>
        </p:nvSpPr>
        <p:spPr bwMode="auto">
          <a:xfrm>
            <a:off x="0" y="16525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23622" name="Picture 70" descr="mhtml:mk:@MSITStore:C:\Users\Guest.eslameisa-PC\Desktop\Review%20of%20Medical%20Physiology,%20Twenty%20Second%20Edition.chm::/Physiology/S%20VII.%20Respiration/Ch.35.%20Gas%20Transport%20between%20the%20Lungs%20&amp;%20the%20Tissues/c35s2a.mht!http://www.accessmedicine.com/loadBinary.aspx?name=gano22&amp;filename=%09gano22_c035f002.gif"/>
          <p:cNvPicPr>
            <a:picLocks noChangeAspect="1" noChangeArrowheads="1"/>
          </p:cNvPicPr>
          <p:nvPr/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Shift to the right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entaur" pitchFamily="18" charset="0"/>
              </a:rPr>
              <a:t>Indicates decreased affinity of </a:t>
            </a:r>
            <a:r>
              <a:rPr lang="en-US" dirty="0" err="1" smtClean="0">
                <a:latin typeface="Centaur" pitchFamily="18" charset="0"/>
              </a:rPr>
              <a:t>Hb</a:t>
            </a:r>
            <a:r>
              <a:rPr lang="en-US" dirty="0" smtClean="0">
                <a:latin typeface="Centaur" pitchFamily="18" charset="0"/>
              </a:rPr>
              <a:t> to oxygen &amp; increased release of oxygen to tissues.</a:t>
            </a:r>
          </a:p>
          <a:p>
            <a:r>
              <a:rPr lang="en-US" dirty="0" smtClean="0">
                <a:latin typeface="Centaur" pitchFamily="18" charset="0"/>
              </a:rPr>
              <a:t>Caused by :</a:t>
            </a:r>
          </a:p>
          <a:p>
            <a:r>
              <a:rPr lang="en-US" dirty="0" smtClean="0">
                <a:latin typeface="Centaur" pitchFamily="18" charset="0"/>
              </a:rPr>
              <a:t>High carbon dioxide.</a:t>
            </a:r>
          </a:p>
          <a:p>
            <a:r>
              <a:rPr lang="en-US" dirty="0" smtClean="0">
                <a:latin typeface="Centaur" pitchFamily="18" charset="0"/>
              </a:rPr>
              <a:t>High hydrogen ions.</a:t>
            </a:r>
          </a:p>
          <a:p>
            <a:r>
              <a:rPr lang="en-US" dirty="0" smtClean="0">
                <a:latin typeface="Centaur" pitchFamily="18" charset="0"/>
              </a:rPr>
              <a:t>High temperature.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579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1143000" y="-1143000"/>
            <a:ext cx="6858000" cy="914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Shift to the left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entaur" pitchFamily="18" charset="0"/>
              </a:rPr>
              <a:t>Indicates increased affinity of </a:t>
            </a:r>
            <a:r>
              <a:rPr lang="en-US" dirty="0" err="1" smtClean="0">
                <a:latin typeface="Centaur" pitchFamily="18" charset="0"/>
              </a:rPr>
              <a:t>Hb</a:t>
            </a:r>
            <a:r>
              <a:rPr lang="en-US" dirty="0" smtClean="0">
                <a:latin typeface="Centaur" pitchFamily="18" charset="0"/>
              </a:rPr>
              <a:t> to oxygen &amp; decreased release of oxygen to tissues.</a:t>
            </a:r>
          </a:p>
          <a:p>
            <a:r>
              <a:rPr lang="en-US" dirty="0" smtClean="0">
                <a:latin typeface="Centaur" pitchFamily="18" charset="0"/>
              </a:rPr>
              <a:t>Caused by:</a:t>
            </a:r>
          </a:p>
          <a:p>
            <a:r>
              <a:rPr lang="en-US" dirty="0" smtClean="0">
                <a:latin typeface="Centaur" pitchFamily="18" charset="0"/>
              </a:rPr>
              <a:t>Low carbon dioxide.</a:t>
            </a:r>
          </a:p>
          <a:p>
            <a:r>
              <a:rPr lang="en-US" dirty="0" smtClean="0">
                <a:latin typeface="Centaur" pitchFamily="18" charset="0"/>
              </a:rPr>
              <a:t>Low hydrogen ions.</a:t>
            </a:r>
          </a:p>
          <a:p>
            <a:r>
              <a:rPr lang="en-US" dirty="0" smtClean="0">
                <a:latin typeface="Centaur" pitchFamily="18" charset="0"/>
              </a:rPr>
              <a:t>Low temperature.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579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1143000" y="-1143000"/>
            <a:ext cx="6858000" cy="914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Transport of CO2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entaur" pitchFamily="18" charset="0"/>
              </a:rPr>
              <a:t>CO2 is transported in 3 forms:</a:t>
            </a:r>
          </a:p>
          <a:p>
            <a:r>
              <a:rPr lang="en-US" dirty="0" smtClean="0">
                <a:latin typeface="Centaur" pitchFamily="18" charset="0"/>
              </a:rPr>
              <a:t>As bicarbonate (the main form).</a:t>
            </a:r>
          </a:p>
          <a:p>
            <a:r>
              <a:rPr lang="en-US" dirty="0" smtClean="0">
                <a:latin typeface="Centaur" pitchFamily="18" charset="0"/>
              </a:rPr>
              <a:t>Bound to proteins.</a:t>
            </a:r>
          </a:p>
          <a:p>
            <a:r>
              <a:rPr lang="en-US" dirty="0" smtClean="0">
                <a:latin typeface="Centaur" pitchFamily="18" charset="0"/>
              </a:rPr>
              <a:t>Dissolved .</a:t>
            </a:r>
            <a:endParaRPr lang="en-US" dirty="0">
              <a:latin typeface="Centaur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entaur" pitchFamily="18" charset="0"/>
              </a:rPr>
              <a:t>Most carbon dioxide in the plasma enters RBCs where it reacts with water to form bicarbonate.</a:t>
            </a:r>
          </a:p>
          <a:p>
            <a:r>
              <a:rPr lang="en-US" dirty="0" smtClean="0">
                <a:latin typeface="Centaur" pitchFamily="18" charset="0"/>
              </a:rPr>
              <a:t>Then bicarbonate enters the  plasma in exchange to chloride which enters RBCs. </a:t>
            </a:r>
            <a:endParaRPr lang="en-US" dirty="0">
              <a:latin typeface="Centaur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42" name="Picture 2"/>
          <p:cNvPicPr>
            <a:picLocks noGrp="1" noChangeArrowheads="1"/>
          </p:cNvPicPr>
          <p:nvPr>
            <p:ph type="body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0" y="1989138"/>
            <a:ext cx="9144000" cy="4868862"/>
          </a:xfrm>
          <a:noFill/>
          <a:ln/>
        </p:spPr>
      </p:pic>
      <p:sp>
        <p:nvSpPr>
          <p:cNvPr id="163843" name="WordArt 3"/>
          <p:cNvSpPr>
            <a:spLocks noChangeArrowheads="1" noChangeShapeType="1" noTextEdit="1"/>
          </p:cNvSpPr>
          <p:nvPr/>
        </p:nvSpPr>
        <p:spPr bwMode="auto">
          <a:xfrm>
            <a:off x="179388" y="333375"/>
            <a:ext cx="8964612" cy="1524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PerspectiveTopLeft"/>
              <a:lightRig rig="legacyNormal3" dir="r"/>
            </a:scene3d>
            <a:sp3d extrusionH="201600" prstMaterial="legacyMetal">
              <a:extrusionClr>
                <a:srgbClr val="FFFFFF"/>
              </a:extrusionClr>
            </a:sp3d>
          </a:bodyPr>
          <a:lstStyle/>
          <a:p>
            <a:pPr algn="ctr"/>
            <a:r>
              <a:rPr lang="fr-FR" sz="4000" b="1" kern="10">
                <a:ln w="9525">
                  <a:round/>
                  <a:headEnd/>
                  <a:tailEnd/>
                </a:ln>
                <a:gradFill rotWithShape="0">
                  <a:gsLst>
                    <a:gs pos="0">
                      <a:srgbClr val="FAE3B7"/>
                    </a:gs>
                    <a:gs pos="17999">
                      <a:srgbClr val="A28949"/>
                    </a:gs>
                    <a:gs pos="31000">
                      <a:srgbClr val="835E17"/>
                    </a:gs>
                    <a:gs pos="33000">
                      <a:srgbClr val="BD922A"/>
                    </a:gs>
                    <a:gs pos="37000">
                      <a:srgbClr val="FBE4AE"/>
                    </a:gs>
                    <a:gs pos="78999">
                      <a:srgbClr val="BD922A"/>
                    </a:gs>
                    <a:gs pos="87000">
                      <a:srgbClr val="BD922A"/>
                    </a:gs>
                    <a:gs pos="100000">
                      <a:srgbClr val="FBE4AE"/>
                    </a:gs>
                  </a:gsLst>
                  <a:lin ang="18900000" scaled="1"/>
                </a:gradFill>
                <a:latin typeface="Impact"/>
              </a:rPr>
              <a:t>Carbon Dioxide Transport </a:t>
            </a:r>
          </a:p>
          <a:p>
            <a:pPr algn="ctr"/>
            <a:r>
              <a:rPr lang="fr-FR" sz="4000" b="1" kern="10">
                <a:ln w="9525">
                  <a:round/>
                  <a:headEnd/>
                  <a:tailEnd/>
                </a:ln>
                <a:gradFill rotWithShape="0">
                  <a:gsLst>
                    <a:gs pos="0">
                      <a:srgbClr val="FAE3B7"/>
                    </a:gs>
                    <a:gs pos="17999">
                      <a:srgbClr val="A28949"/>
                    </a:gs>
                    <a:gs pos="31000">
                      <a:srgbClr val="835E17"/>
                    </a:gs>
                    <a:gs pos="33000">
                      <a:srgbClr val="BD922A"/>
                    </a:gs>
                    <a:gs pos="37000">
                      <a:srgbClr val="FBE4AE"/>
                    </a:gs>
                    <a:gs pos="78999">
                      <a:srgbClr val="BD922A"/>
                    </a:gs>
                    <a:gs pos="87000">
                      <a:srgbClr val="BD922A"/>
                    </a:gs>
                    <a:gs pos="100000">
                      <a:srgbClr val="FBE4AE"/>
                    </a:gs>
                  </a:gsLst>
                  <a:lin ang="18900000" scaled="1"/>
                </a:gradFill>
                <a:latin typeface="Impact"/>
              </a:rPr>
              <a:t> Tissue  level</a:t>
            </a:r>
            <a:endParaRPr lang="en-US" sz="4000" b="1" kern="10">
              <a:ln w="9525">
                <a:round/>
                <a:headEnd/>
                <a:tailEnd/>
              </a:ln>
              <a:gradFill rotWithShape="0">
                <a:gsLst>
                  <a:gs pos="0">
                    <a:srgbClr val="FAE3B7"/>
                  </a:gs>
                  <a:gs pos="17999">
                    <a:srgbClr val="A28949"/>
                  </a:gs>
                  <a:gs pos="31000">
                    <a:srgbClr val="835E17"/>
                  </a:gs>
                  <a:gs pos="33000">
                    <a:srgbClr val="BD922A"/>
                  </a:gs>
                  <a:gs pos="37000">
                    <a:srgbClr val="FBE4AE"/>
                  </a:gs>
                  <a:gs pos="78999">
                    <a:srgbClr val="BD922A"/>
                  </a:gs>
                  <a:gs pos="87000">
                    <a:srgbClr val="BD922A"/>
                  </a:gs>
                  <a:gs pos="100000">
                    <a:srgbClr val="FBE4AE"/>
                  </a:gs>
                </a:gsLst>
                <a:lin ang="18900000" scaled="1"/>
              </a:gradFill>
              <a:latin typeface="Impac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938" name="Picture 2"/>
          <p:cNvPicPr>
            <a:picLocks noGrp="1" noChangeArrowheads="1"/>
          </p:cNvPicPr>
          <p:nvPr>
            <p:ph type="body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0" y="1844675"/>
            <a:ext cx="9144000" cy="5013325"/>
          </a:xfrm>
          <a:noFill/>
          <a:ln/>
        </p:spPr>
      </p:pic>
      <p:sp>
        <p:nvSpPr>
          <p:cNvPr id="167939" name="WordArt 3"/>
          <p:cNvSpPr>
            <a:spLocks noChangeArrowheads="1" noChangeShapeType="1" noTextEdit="1"/>
          </p:cNvSpPr>
          <p:nvPr/>
        </p:nvSpPr>
        <p:spPr bwMode="auto">
          <a:xfrm>
            <a:off x="0" y="333375"/>
            <a:ext cx="9144000" cy="1524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PerspectiveTopLeft"/>
              <a:lightRig rig="legacyNormal3" dir="r"/>
            </a:scene3d>
            <a:sp3d extrusionH="201600" prstMaterial="legacyMetal">
              <a:extrusionClr>
                <a:srgbClr val="FFFFFF"/>
              </a:extrusionClr>
            </a:sp3d>
          </a:bodyPr>
          <a:lstStyle/>
          <a:p>
            <a:pPr algn="ctr"/>
            <a:r>
              <a:rPr lang="en-US" sz="4000" b="1" kern="10">
                <a:ln w="9525">
                  <a:round/>
                  <a:headEnd/>
                  <a:tailEnd/>
                </a:ln>
                <a:gradFill rotWithShape="0">
                  <a:gsLst>
                    <a:gs pos="0">
                      <a:srgbClr val="FAE3B7"/>
                    </a:gs>
                    <a:gs pos="17999">
                      <a:srgbClr val="A28949"/>
                    </a:gs>
                    <a:gs pos="31000">
                      <a:srgbClr val="835E17"/>
                    </a:gs>
                    <a:gs pos="33000">
                      <a:srgbClr val="BD922A"/>
                    </a:gs>
                    <a:gs pos="37000">
                      <a:srgbClr val="FBE4AE"/>
                    </a:gs>
                    <a:gs pos="78999">
                      <a:srgbClr val="BD922A"/>
                    </a:gs>
                    <a:gs pos="87000">
                      <a:srgbClr val="BD922A"/>
                    </a:gs>
                    <a:gs pos="100000">
                      <a:srgbClr val="FBE4AE"/>
                    </a:gs>
                  </a:gsLst>
                  <a:lin ang="18900000" scaled="1"/>
                </a:gradFill>
                <a:latin typeface="Impact"/>
              </a:rPr>
              <a:t>Carbon Dioxide Transport </a:t>
            </a:r>
          </a:p>
          <a:p>
            <a:pPr algn="ctr"/>
            <a:r>
              <a:rPr lang="en-US" sz="4000" b="1" kern="10">
                <a:ln w="9525">
                  <a:round/>
                  <a:headEnd/>
                  <a:tailEnd/>
                </a:ln>
                <a:gradFill rotWithShape="0">
                  <a:gsLst>
                    <a:gs pos="0">
                      <a:srgbClr val="FAE3B7"/>
                    </a:gs>
                    <a:gs pos="17999">
                      <a:srgbClr val="A28949"/>
                    </a:gs>
                    <a:gs pos="31000">
                      <a:srgbClr val="835E17"/>
                    </a:gs>
                    <a:gs pos="33000">
                      <a:srgbClr val="BD922A"/>
                    </a:gs>
                    <a:gs pos="37000">
                      <a:srgbClr val="FBE4AE"/>
                    </a:gs>
                    <a:gs pos="78999">
                      <a:srgbClr val="BD922A"/>
                    </a:gs>
                    <a:gs pos="87000">
                      <a:srgbClr val="BD922A"/>
                    </a:gs>
                    <a:gs pos="100000">
                      <a:srgbClr val="FBE4AE"/>
                    </a:gs>
                  </a:gsLst>
                  <a:lin ang="18900000" scaled="1"/>
                </a:gradFill>
                <a:latin typeface="Impact"/>
              </a:rPr>
              <a:t>Lung  level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314" name="Picture 2" descr="Feb11~0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88913"/>
            <a:ext cx="9144000" cy="62420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03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172035" name="WordArt 3"/>
          <p:cNvSpPr>
            <a:spLocks noChangeArrowheads="1" noChangeShapeType="1" noTextEdit="1"/>
          </p:cNvSpPr>
          <p:nvPr/>
        </p:nvSpPr>
        <p:spPr bwMode="auto">
          <a:xfrm>
            <a:off x="3671888" y="5805488"/>
            <a:ext cx="5472112" cy="7159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28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/>
              </a:rPr>
              <a:t>Capillary to lung exchange</a:t>
            </a:r>
          </a:p>
        </p:txBody>
      </p:sp>
      <p:sp>
        <p:nvSpPr>
          <p:cNvPr id="17203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 </a:t>
            </a:r>
            <a:endParaRPr lang="ar-SA" dirty="0"/>
          </a:p>
        </p:txBody>
      </p:sp>
      <p:pic>
        <p:nvPicPr>
          <p:cNvPr id="47106" name="Picture 2" descr="C:\Users\compaq\Pictures\Islamic\1913_1265563950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44" y="71414"/>
            <a:ext cx="8832283" cy="6643675"/>
          </a:xfrm>
          <a:prstGeom prst="rect">
            <a:avLst/>
          </a:prstGeom>
          <a:noFill/>
        </p:spPr>
      </p:pic>
      <p:sp>
        <p:nvSpPr>
          <p:cNvPr id="5" name="Oval 4"/>
          <p:cNvSpPr/>
          <p:nvPr/>
        </p:nvSpPr>
        <p:spPr>
          <a:xfrm>
            <a:off x="1428728" y="1571612"/>
            <a:ext cx="3071834" cy="3429024"/>
          </a:xfrm>
          <a:prstGeom prst="ellipse">
            <a:avLst/>
          </a:prstGeom>
          <a:ln w="76200">
            <a:solidFill>
              <a:srgbClr val="CA9D42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6" name="Rounded Rectangle 5"/>
          <p:cNvSpPr/>
          <p:nvPr/>
        </p:nvSpPr>
        <p:spPr>
          <a:xfrm>
            <a:off x="5286380" y="1142984"/>
            <a:ext cx="3128978" cy="4500594"/>
          </a:xfrm>
          <a:prstGeom prst="roundRect">
            <a:avLst/>
          </a:prstGeom>
          <a:solidFill>
            <a:srgbClr val="CA9D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8" name="Rectangle 7"/>
          <p:cNvSpPr/>
          <p:nvPr/>
        </p:nvSpPr>
        <p:spPr>
          <a:xfrm>
            <a:off x="1787528" y="1857364"/>
            <a:ext cx="2498720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ar-SA" sz="4400" b="1" cap="none" spc="0" dirty="0" smtClean="0">
                <a:ln/>
                <a:solidFill>
                  <a:srgbClr val="CA9D42"/>
                </a:solidFill>
                <a:effectLst/>
              </a:rPr>
              <a:t>(لا إله إلا أنت سبحانك إني كنت من الظالمين)</a:t>
            </a:r>
            <a:endParaRPr lang="en-US" sz="4400" b="1" cap="none" spc="0" dirty="0">
              <a:ln/>
              <a:solidFill>
                <a:srgbClr val="CA9D42"/>
              </a:solidFill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286380" y="1357298"/>
            <a:ext cx="307183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l" rtl="0"/>
            <a:r>
              <a:rPr lang="en-US" sz="2800" b="1" dirty="0" smtClean="0">
                <a:ln w="11430"/>
                <a:solidFill>
                  <a:srgbClr val="C0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endParaRPr lang="en-US" sz="2800" b="1" cap="none" spc="0" dirty="0">
              <a:ln w="11430"/>
              <a:solidFill>
                <a:srgbClr val="C0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47108" name="Picture 4" descr="C:\Users\compaq\Pictures\HEARTS\HeartThanks[1]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38805" y="1371600"/>
            <a:ext cx="2847971" cy="3986226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حركة">
  <a:themeElements>
    <a:clrScheme name="حركة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حركة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حركة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انقلاب">
  <a:themeElements>
    <a:clrScheme name="انقلاب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انقلاب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انقلاب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سمة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76</TotalTime>
  <Words>276</Words>
  <Application>Microsoft Office PowerPoint</Application>
  <PresentationFormat>On-screen Show (4:3)</PresentationFormat>
  <Paragraphs>47</Paragraphs>
  <Slides>16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حركة</vt:lpstr>
      <vt:lpstr>انقلاب</vt:lpstr>
      <vt:lpstr>Slide 1</vt:lpstr>
      <vt:lpstr>Transport of oxygen</vt:lpstr>
      <vt:lpstr>Slide 3</vt:lpstr>
      <vt:lpstr>Oxygen-hemoglobin dissociation curve</vt:lpstr>
      <vt:lpstr>Slide 5</vt:lpstr>
      <vt:lpstr>Shift to the right</vt:lpstr>
      <vt:lpstr>Slide 7</vt:lpstr>
      <vt:lpstr>Shift to the left</vt:lpstr>
      <vt:lpstr>Slide 9</vt:lpstr>
      <vt:lpstr>Transport of CO2</vt:lpstr>
      <vt:lpstr>Slide 11</vt:lpstr>
      <vt:lpstr>Slide 12</vt:lpstr>
      <vt:lpstr>Slide 13</vt:lpstr>
      <vt:lpstr>Slide 14</vt:lpstr>
      <vt:lpstr>Slide 15</vt:lpstr>
      <vt:lpstr>Slide 16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الشريحة 1</dc:title>
  <dc:creator>user</dc:creator>
  <cp:lastModifiedBy>Napta</cp:lastModifiedBy>
  <cp:revision>10</cp:revision>
  <dcterms:created xsi:type="dcterms:W3CDTF">2011-10-25T07:20:27Z</dcterms:created>
  <dcterms:modified xsi:type="dcterms:W3CDTF">2021-03-21T09:15:22Z</dcterms:modified>
</cp:coreProperties>
</file>