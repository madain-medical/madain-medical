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326" r:id="rId2"/>
    <p:sldId id="267" r:id="rId3"/>
    <p:sldId id="262" r:id="rId4"/>
    <p:sldId id="327" r:id="rId5"/>
    <p:sldId id="259" r:id="rId6"/>
    <p:sldId id="265" r:id="rId7"/>
    <p:sldId id="261" r:id="rId8"/>
    <p:sldId id="328" r:id="rId9"/>
    <p:sldId id="329" r:id="rId10"/>
    <p:sldId id="264" r:id="rId11"/>
    <p:sldId id="330" r:id="rId12"/>
    <p:sldId id="268" r:id="rId13"/>
    <p:sldId id="331" r:id="rId14"/>
  </p:sldIdLst>
  <p:sldSz cx="1538288" cy="914400"/>
  <p:notesSz cx="9144000" cy="6858000"/>
  <p:defaultTextStyle>
    <a:defPPr>
      <a:defRPr lang="ar-SA"/>
    </a:defPPr>
    <a:lvl1pPr marL="0" algn="r" defTabSz="139948" rtl="1" eaLnBrk="1" latinLnBrk="0" hangingPunct="1">
      <a:defRPr sz="300" kern="1200">
        <a:solidFill>
          <a:schemeClr val="tx1"/>
        </a:solidFill>
        <a:latin typeface="+mn-lt"/>
        <a:ea typeface="+mn-ea"/>
        <a:cs typeface="+mn-cs"/>
      </a:defRPr>
    </a:lvl1pPr>
    <a:lvl2pPr marL="69975" algn="r" defTabSz="139948" rtl="1" eaLnBrk="1" latinLnBrk="0" hangingPunct="1">
      <a:defRPr sz="300" kern="1200">
        <a:solidFill>
          <a:schemeClr val="tx1"/>
        </a:solidFill>
        <a:latin typeface="+mn-lt"/>
        <a:ea typeface="+mn-ea"/>
        <a:cs typeface="+mn-cs"/>
      </a:defRPr>
    </a:lvl2pPr>
    <a:lvl3pPr marL="139948" algn="r" defTabSz="139948" rtl="1" eaLnBrk="1" latinLnBrk="0" hangingPunct="1">
      <a:defRPr sz="300" kern="1200">
        <a:solidFill>
          <a:schemeClr val="tx1"/>
        </a:solidFill>
        <a:latin typeface="+mn-lt"/>
        <a:ea typeface="+mn-ea"/>
        <a:cs typeface="+mn-cs"/>
      </a:defRPr>
    </a:lvl3pPr>
    <a:lvl4pPr marL="209923" algn="r" defTabSz="139948" rtl="1" eaLnBrk="1" latinLnBrk="0" hangingPunct="1">
      <a:defRPr sz="300" kern="1200">
        <a:solidFill>
          <a:schemeClr val="tx1"/>
        </a:solidFill>
        <a:latin typeface="+mn-lt"/>
        <a:ea typeface="+mn-ea"/>
        <a:cs typeface="+mn-cs"/>
      </a:defRPr>
    </a:lvl4pPr>
    <a:lvl5pPr marL="279896" algn="r" defTabSz="139948" rtl="1" eaLnBrk="1" latinLnBrk="0" hangingPunct="1">
      <a:defRPr sz="300" kern="1200">
        <a:solidFill>
          <a:schemeClr val="tx1"/>
        </a:solidFill>
        <a:latin typeface="+mn-lt"/>
        <a:ea typeface="+mn-ea"/>
        <a:cs typeface="+mn-cs"/>
      </a:defRPr>
    </a:lvl5pPr>
    <a:lvl6pPr marL="349871" algn="r" defTabSz="139948" rtl="1" eaLnBrk="1" latinLnBrk="0" hangingPunct="1">
      <a:defRPr sz="300" kern="1200">
        <a:solidFill>
          <a:schemeClr val="tx1"/>
        </a:solidFill>
        <a:latin typeface="+mn-lt"/>
        <a:ea typeface="+mn-ea"/>
        <a:cs typeface="+mn-cs"/>
      </a:defRPr>
    </a:lvl6pPr>
    <a:lvl7pPr marL="419844" algn="r" defTabSz="139948" rtl="1" eaLnBrk="1" latinLnBrk="0" hangingPunct="1">
      <a:defRPr sz="300" kern="1200">
        <a:solidFill>
          <a:schemeClr val="tx1"/>
        </a:solidFill>
        <a:latin typeface="+mn-lt"/>
        <a:ea typeface="+mn-ea"/>
        <a:cs typeface="+mn-cs"/>
      </a:defRPr>
    </a:lvl7pPr>
    <a:lvl8pPr marL="489819" algn="r" defTabSz="139948" rtl="1" eaLnBrk="1" latinLnBrk="0" hangingPunct="1">
      <a:defRPr sz="300" kern="1200">
        <a:solidFill>
          <a:schemeClr val="tx1"/>
        </a:solidFill>
        <a:latin typeface="+mn-lt"/>
        <a:ea typeface="+mn-ea"/>
        <a:cs typeface="+mn-cs"/>
      </a:defRPr>
    </a:lvl8pPr>
    <a:lvl9pPr marL="559792" algn="r" defTabSz="139948" rtl="1" eaLnBrk="1" latinLnBrk="0" hangingPunct="1">
      <a:defRPr sz="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">
          <p15:clr>
            <a:srgbClr val="A4A3A4"/>
          </p15:clr>
        </p15:guide>
        <p15:guide id="2" pos="48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02AE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>
        <p:scale>
          <a:sx n="333" d="100"/>
          <a:sy n="333" d="100"/>
        </p:scale>
        <p:origin x="1229" y="178"/>
      </p:cViewPr>
      <p:guideLst>
        <p:guide orient="horz" pos="288"/>
        <p:guide pos="4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372" y="284058"/>
            <a:ext cx="1307545" cy="19600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0743" y="518160"/>
            <a:ext cx="1076802" cy="2336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99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99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99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98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98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98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98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597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F0650-2405-41A3-A616-6753F4C70CC7}" type="datetimeFigureOut">
              <a:rPr lang="ar-SA" smtClean="0"/>
              <a:t>06/07/1445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8C23-BBB4-48AC-B268-BF88016365B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30794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F0650-2405-41A3-A616-6753F4C70CC7}" type="datetimeFigureOut">
              <a:rPr lang="ar-SA" smtClean="0"/>
              <a:t>06/07/1445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8C23-BBB4-48AC-B268-BF88016365B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653029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514" y="587588"/>
            <a:ext cx="1307545" cy="181610"/>
          </a:xfrm>
        </p:spPr>
        <p:txBody>
          <a:bodyPr anchor="t"/>
          <a:lstStyle>
            <a:lvl1pPr algn="r">
              <a:defRPr sz="600" b="1" cap="all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514" y="387562"/>
            <a:ext cx="1307545" cy="200025"/>
          </a:xfrm>
        </p:spPr>
        <p:txBody>
          <a:bodyPr anchor="b"/>
          <a:lstStyle>
            <a:lvl1pPr marL="0" indent="0">
              <a:buNone/>
              <a:defRPr sz="300">
                <a:solidFill>
                  <a:schemeClr val="tx1">
                    <a:tint val="75000"/>
                  </a:schemeClr>
                </a:solidFill>
              </a:defRPr>
            </a:lvl1pPr>
            <a:lvl2pPr marL="69975" indent="0">
              <a:buNone/>
              <a:defRPr sz="300">
                <a:solidFill>
                  <a:schemeClr val="tx1">
                    <a:tint val="75000"/>
                  </a:schemeClr>
                </a:solidFill>
              </a:defRPr>
            </a:lvl2pPr>
            <a:lvl3pPr marL="139948" indent="0">
              <a:buNone/>
              <a:defRPr sz="200">
                <a:solidFill>
                  <a:schemeClr val="tx1">
                    <a:tint val="75000"/>
                  </a:schemeClr>
                </a:solidFill>
              </a:defRPr>
            </a:lvl3pPr>
            <a:lvl4pPr marL="209923" indent="0">
              <a:buNone/>
              <a:defRPr sz="200">
                <a:solidFill>
                  <a:schemeClr val="tx1">
                    <a:tint val="75000"/>
                  </a:schemeClr>
                </a:solidFill>
              </a:defRPr>
            </a:lvl4pPr>
            <a:lvl5pPr marL="279896" indent="0">
              <a:buNone/>
              <a:defRPr sz="200">
                <a:solidFill>
                  <a:schemeClr val="tx1">
                    <a:tint val="75000"/>
                  </a:schemeClr>
                </a:solidFill>
              </a:defRPr>
            </a:lvl5pPr>
            <a:lvl6pPr marL="349871" indent="0">
              <a:buNone/>
              <a:defRPr sz="200">
                <a:solidFill>
                  <a:schemeClr val="tx1">
                    <a:tint val="75000"/>
                  </a:schemeClr>
                </a:solidFill>
              </a:defRPr>
            </a:lvl6pPr>
            <a:lvl7pPr marL="419844" indent="0">
              <a:buNone/>
              <a:defRPr sz="200">
                <a:solidFill>
                  <a:schemeClr val="tx1">
                    <a:tint val="75000"/>
                  </a:schemeClr>
                </a:solidFill>
              </a:defRPr>
            </a:lvl7pPr>
            <a:lvl8pPr marL="489819" indent="0">
              <a:buNone/>
              <a:defRPr sz="200">
                <a:solidFill>
                  <a:schemeClr val="tx1">
                    <a:tint val="75000"/>
                  </a:schemeClr>
                </a:solidFill>
              </a:defRPr>
            </a:lvl8pPr>
            <a:lvl9pPr marL="559792" indent="0">
              <a:buNone/>
              <a:defRPr sz="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F0650-2405-41A3-A616-6753F4C70CC7}" type="datetimeFigureOut">
              <a:rPr lang="ar-SA" smtClean="0"/>
              <a:t>06/07/1445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8C23-BBB4-48AC-B268-BF88016365B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549738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914" y="213361"/>
            <a:ext cx="679411" cy="603462"/>
          </a:xfrm>
        </p:spPr>
        <p:txBody>
          <a:bodyPr/>
          <a:lstStyle>
            <a:lvl1pPr>
              <a:defRPr sz="400"/>
            </a:lvl1pPr>
            <a:lvl2pPr>
              <a:defRPr sz="400"/>
            </a:lvl2pPr>
            <a:lvl3pPr>
              <a:defRPr sz="300"/>
            </a:lvl3pPr>
            <a:lvl4pPr>
              <a:defRPr sz="300"/>
            </a:lvl4pPr>
            <a:lvl5pPr>
              <a:defRPr sz="300"/>
            </a:lvl5pPr>
            <a:lvl6pPr>
              <a:defRPr sz="300"/>
            </a:lvl6pPr>
            <a:lvl7pPr>
              <a:defRPr sz="300"/>
            </a:lvl7pPr>
            <a:lvl8pPr>
              <a:defRPr sz="300"/>
            </a:lvl8pPr>
            <a:lvl9pPr>
              <a:defRPr sz="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963" y="213361"/>
            <a:ext cx="679411" cy="603462"/>
          </a:xfrm>
        </p:spPr>
        <p:txBody>
          <a:bodyPr/>
          <a:lstStyle>
            <a:lvl1pPr>
              <a:defRPr sz="400"/>
            </a:lvl1pPr>
            <a:lvl2pPr>
              <a:defRPr sz="400"/>
            </a:lvl2pPr>
            <a:lvl3pPr>
              <a:defRPr sz="300"/>
            </a:lvl3pPr>
            <a:lvl4pPr>
              <a:defRPr sz="300"/>
            </a:lvl4pPr>
            <a:lvl5pPr>
              <a:defRPr sz="300"/>
            </a:lvl5pPr>
            <a:lvl6pPr>
              <a:defRPr sz="300"/>
            </a:lvl6pPr>
            <a:lvl7pPr>
              <a:defRPr sz="300"/>
            </a:lvl7pPr>
            <a:lvl8pPr>
              <a:defRPr sz="300"/>
            </a:lvl8pPr>
            <a:lvl9pPr>
              <a:defRPr sz="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F0650-2405-41A3-A616-6753F4C70CC7}" type="datetimeFigureOut">
              <a:rPr lang="ar-SA" smtClean="0"/>
              <a:t>06/07/1445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8C23-BBB4-48AC-B268-BF88016365B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608806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915" y="204682"/>
            <a:ext cx="679678" cy="85301"/>
          </a:xfrm>
        </p:spPr>
        <p:txBody>
          <a:bodyPr anchor="b"/>
          <a:lstStyle>
            <a:lvl1pPr marL="0" indent="0">
              <a:buNone/>
              <a:defRPr sz="400" b="1"/>
            </a:lvl1pPr>
            <a:lvl2pPr marL="69975" indent="0">
              <a:buNone/>
              <a:defRPr sz="300" b="1"/>
            </a:lvl2pPr>
            <a:lvl3pPr marL="139948" indent="0">
              <a:buNone/>
              <a:defRPr sz="300" b="1"/>
            </a:lvl3pPr>
            <a:lvl4pPr marL="209923" indent="0">
              <a:buNone/>
              <a:defRPr sz="200" b="1"/>
            </a:lvl4pPr>
            <a:lvl5pPr marL="279896" indent="0">
              <a:buNone/>
              <a:defRPr sz="200" b="1"/>
            </a:lvl5pPr>
            <a:lvl6pPr marL="349871" indent="0">
              <a:buNone/>
              <a:defRPr sz="200" b="1"/>
            </a:lvl6pPr>
            <a:lvl7pPr marL="419844" indent="0">
              <a:buNone/>
              <a:defRPr sz="200" b="1"/>
            </a:lvl7pPr>
            <a:lvl8pPr marL="489819" indent="0">
              <a:buNone/>
              <a:defRPr sz="200" b="1"/>
            </a:lvl8pPr>
            <a:lvl9pPr marL="559792" indent="0">
              <a:buNone/>
              <a:defRPr sz="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915" y="289984"/>
            <a:ext cx="679678" cy="526838"/>
          </a:xfrm>
        </p:spPr>
        <p:txBody>
          <a:bodyPr/>
          <a:lstStyle>
            <a:lvl1pPr>
              <a:defRPr sz="400"/>
            </a:lvl1pPr>
            <a:lvl2pPr>
              <a:defRPr sz="300"/>
            </a:lvl2pPr>
            <a:lvl3pPr>
              <a:defRPr sz="300"/>
            </a:lvl3pPr>
            <a:lvl4pPr>
              <a:defRPr sz="200"/>
            </a:lvl4pPr>
            <a:lvl5pPr>
              <a:defRPr sz="200"/>
            </a:lvl5pPr>
            <a:lvl6pPr>
              <a:defRPr sz="200"/>
            </a:lvl6pPr>
            <a:lvl7pPr>
              <a:defRPr sz="200"/>
            </a:lvl7pPr>
            <a:lvl8pPr>
              <a:defRPr sz="200"/>
            </a:lvl8pPr>
            <a:lvl9pPr>
              <a:defRPr sz="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428" y="204682"/>
            <a:ext cx="679946" cy="85301"/>
          </a:xfrm>
        </p:spPr>
        <p:txBody>
          <a:bodyPr anchor="b"/>
          <a:lstStyle>
            <a:lvl1pPr marL="0" indent="0">
              <a:buNone/>
              <a:defRPr sz="400" b="1"/>
            </a:lvl1pPr>
            <a:lvl2pPr marL="69975" indent="0">
              <a:buNone/>
              <a:defRPr sz="300" b="1"/>
            </a:lvl2pPr>
            <a:lvl3pPr marL="139948" indent="0">
              <a:buNone/>
              <a:defRPr sz="300" b="1"/>
            </a:lvl3pPr>
            <a:lvl4pPr marL="209923" indent="0">
              <a:buNone/>
              <a:defRPr sz="200" b="1"/>
            </a:lvl4pPr>
            <a:lvl5pPr marL="279896" indent="0">
              <a:buNone/>
              <a:defRPr sz="200" b="1"/>
            </a:lvl5pPr>
            <a:lvl6pPr marL="349871" indent="0">
              <a:buNone/>
              <a:defRPr sz="200" b="1"/>
            </a:lvl6pPr>
            <a:lvl7pPr marL="419844" indent="0">
              <a:buNone/>
              <a:defRPr sz="200" b="1"/>
            </a:lvl7pPr>
            <a:lvl8pPr marL="489819" indent="0">
              <a:buNone/>
              <a:defRPr sz="200" b="1"/>
            </a:lvl8pPr>
            <a:lvl9pPr marL="559792" indent="0">
              <a:buNone/>
              <a:defRPr sz="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428" y="289984"/>
            <a:ext cx="679946" cy="526838"/>
          </a:xfrm>
        </p:spPr>
        <p:txBody>
          <a:bodyPr/>
          <a:lstStyle>
            <a:lvl1pPr>
              <a:defRPr sz="400"/>
            </a:lvl1pPr>
            <a:lvl2pPr>
              <a:defRPr sz="300"/>
            </a:lvl2pPr>
            <a:lvl3pPr>
              <a:defRPr sz="300"/>
            </a:lvl3pPr>
            <a:lvl4pPr>
              <a:defRPr sz="200"/>
            </a:lvl4pPr>
            <a:lvl5pPr>
              <a:defRPr sz="200"/>
            </a:lvl5pPr>
            <a:lvl6pPr>
              <a:defRPr sz="200"/>
            </a:lvl6pPr>
            <a:lvl7pPr>
              <a:defRPr sz="200"/>
            </a:lvl7pPr>
            <a:lvl8pPr>
              <a:defRPr sz="200"/>
            </a:lvl8pPr>
            <a:lvl9pPr>
              <a:defRPr sz="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F0650-2405-41A3-A616-6753F4C70CC7}" type="datetimeFigureOut">
              <a:rPr lang="ar-SA" smtClean="0"/>
              <a:t>06/07/1445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8C23-BBB4-48AC-B268-BF88016365B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267843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F0650-2405-41A3-A616-6753F4C70CC7}" type="datetimeFigureOut">
              <a:rPr lang="ar-SA" smtClean="0"/>
              <a:t>06/07/1445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8C23-BBB4-48AC-B268-BF88016365B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493016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F0650-2405-41A3-A616-6753F4C70CC7}" type="datetimeFigureOut">
              <a:rPr lang="ar-SA" smtClean="0"/>
              <a:t>06/07/1445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8C23-BBB4-48AC-B268-BF88016365B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34614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17" y="36407"/>
            <a:ext cx="506086" cy="154940"/>
          </a:xfrm>
        </p:spPr>
        <p:txBody>
          <a:bodyPr anchor="b"/>
          <a:lstStyle>
            <a:lvl1pPr algn="r">
              <a:defRPr sz="300" b="1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430" y="36407"/>
            <a:ext cx="859946" cy="780415"/>
          </a:xfrm>
        </p:spPr>
        <p:txBody>
          <a:bodyPr/>
          <a:lstStyle>
            <a:lvl1pPr>
              <a:defRPr sz="500"/>
            </a:lvl1pPr>
            <a:lvl2pPr>
              <a:defRPr sz="400"/>
            </a:lvl2pPr>
            <a:lvl3pPr>
              <a:defRPr sz="400"/>
            </a:lvl3pPr>
            <a:lvl4pPr>
              <a:defRPr sz="300"/>
            </a:lvl4pPr>
            <a:lvl5pPr>
              <a:defRPr sz="300"/>
            </a:lvl5pPr>
            <a:lvl6pPr>
              <a:defRPr sz="300"/>
            </a:lvl6pPr>
            <a:lvl7pPr>
              <a:defRPr sz="300"/>
            </a:lvl7pPr>
            <a:lvl8pPr>
              <a:defRPr sz="300"/>
            </a:lvl8pPr>
            <a:lvl9pPr>
              <a:defRPr sz="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17" y="191347"/>
            <a:ext cx="506086" cy="625475"/>
          </a:xfrm>
        </p:spPr>
        <p:txBody>
          <a:bodyPr/>
          <a:lstStyle>
            <a:lvl1pPr marL="0" indent="0">
              <a:buNone/>
              <a:defRPr sz="200"/>
            </a:lvl1pPr>
            <a:lvl2pPr marL="69975" indent="0">
              <a:buNone/>
              <a:defRPr sz="200"/>
            </a:lvl2pPr>
            <a:lvl3pPr marL="139948" indent="0">
              <a:buNone/>
              <a:defRPr sz="200"/>
            </a:lvl3pPr>
            <a:lvl4pPr marL="209923" indent="0">
              <a:buNone/>
              <a:defRPr sz="100"/>
            </a:lvl4pPr>
            <a:lvl5pPr marL="279896" indent="0">
              <a:buNone/>
              <a:defRPr sz="100"/>
            </a:lvl5pPr>
            <a:lvl6pPr marL="349871" indent="0">
              <a:buNone/>
              <a:defRPr sz="100"/>
            </a:lvl6pPr>
            <a:lvl7pPr marL="419844" indent="0">
              <a:buNone/>
              <a:defRPr sz="100"/>
            </a:lvl7pPr>
            <a:lvl8pPr marL="489819" indent="0">
              <a:buNone/>
              <a:defRPr sz="100"/>
            </a:lvl8pPr>
            <a:lvl9pPr marL="559792" indent="0">
              <a:buNone/>
              <a:defRPr sz="1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F0650-2405-41A3-A616-6753F4C70CC7}" type="datetimeFigureOut">
              <a:rPr lang="ar-SA" smtClean="0"/>
              <a:t>06/07/1445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8C23-BBB4-48AC-B268-BF88016365B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009766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515" y="640081"/>
            <a:ext cx="922973" cy="75565"/>
          </a:xfrm>
        </p:spPr>
        <p:txBody>
          <a:bodyPr anchor="b"/>
          <a:lstStyle>
            <a:lvl1pPr algn="r">
              <a:defRPr sz="300" b="1"/>
            </a:lvl1pPr>
          </a:lstStyle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1515" y="81704"/>
            <a:ext cx="922973" cy="548640"/>
          </a:xfrm>
        </p:spPr>
        <p:txBody>
          <a:bodyPr/>
          <a:lstStyle>
            <a:lvl1pPr marL="0" indent="0">
              <a:buNone/>
              <a:defRPr sz="500"/>
            </a:lvl1pPr>
            <a:lvl2pPr marL="69975" indent="0">
              <a:buNone/>
              <a:defRPr sz="400"/>
            </a:lvl2pPr>
            <a:lvl3pPr marL="139948" indent="0">
              <a:buNone/>
              <a:defRPr sz="400"/>
            </a:lvl3pPr>
            <a:lvl4pPr marL="209923" indent="0">
              <a:buNone/>
              <a:defRPr sz="300"/>
            </a:lvl4pPr>
            <a:lvl5pPr marL="279896" indent="0">
              <a:buNone/>
              <a:defRPr sz="300"/>
            </a:lvl5pPr>
            <a:lvl6pPr marL="349871" indent="0">
              <a:buNone/>
              <a:defRPr sz="300"/>
            </a:lvl6pPr>
            <a:lvl7pPr marL="419844" indent="0">
              <a:buNone/>
              <a:defRPr sz="300"/>
            </a:lvl7pPr>
            <a:lvl8pPr marL="489819" indent="0">
              <a:buNone/>
              <a:defRPr sz="300"/>
            </a:lvl8pPr>
            <a:lvl9pPr marL="559792" indent="0">
              <a:buNone/>
              <a:defRPr sz="300"/>
            </a:lvl9pPr>
          </a:lstStyle>
          <a:p>
            <a:endParaRPr lang="ar-S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515" y="715646"/>
            <a:ext cx="922973" cy="107315"/>
          </a:xfrm>
        </p:spPr>
        <p:txBody>
          <a:bodyPr/>
          <a:lstStyle>
            <a:lvl1pPr marL="0" indent="0">
              <a:buNone/>
              <a:defRPr sz="200"/>
            </a:lvl1pPr>
            <a:lvl2pPr marL="69975" indent="0">
              <a:buNone/>
              <a:defRPr sz="200"/>
            </a:lvl2pPr>
            <a:lvl3pPr marL="139948" indent="0">
              <a:buNone/>
              <a:defRPr sz="200"/>
            </a:lvl3pPr>
            <a:lvl4pPr marL="209923" indent="0">
              <a:buNone/>
              <a:defRPr sz="100"/>
            </a:lvl4pPr>
            <a:lvl5pPr marL="279896" indent="0">
              <a:buNone/>
              <a:defRPr sz="100"/>
            </a:lvl5pPr>
            <a:lvl6pPr marL="349871" indent="0">
              <a:buNone/>
              <a:defRPr sz="100"/>
            </a:lvl6pPr>
            <a:lvl7pPr marL="419844" indent="0">
              <a:buNone/>
              <a:defRPr sz="100"/>
            </a:lvl7pPr>
            <a:lvl8pPr marL="489819" indent="0">
              <a:buNone/>
              <a:defRPr sz="100"/>
            </a:lvl8pPr>
            <a:lvl9pPr marL="559792" indent="0">
              <a:buNone/>
              <a:defRPr sz="1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F0650-2405-41A3-A616-6753F4C70CC7}" type="datetimeFigureOut">
              <a:rPr lang="ar-SA" smtClean="0"/>
              <a:t>06/07/1445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8C23-BBB4-48AC-B268-BF88016365B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196344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F0650-2405-41A3-A616-6753F4C70CC7}" type="datetimeFigureOut">
              <a:rPr lang="ar-SA" smtClean="0"/>
              <a:t>06/07/1445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8C23-BBB4-48AC-B268-BF88016365B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951634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15259" y="36619"/>
            <a:ext cx="346115" cy="78020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915" y="36619"/>
            <a:ext cx="1012706" cy="78020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F0650-2405-41A3-A616-6753F4C70CC7}" type="datetimeFigureOut">
              <a:rPr lang="ar-SA" smtClean="0"/>
              <a:t>06/07/1445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78C23-BBB4-48AC-B268-BF88016365B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972327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915" y="36619"/>
            <a:ext cx="1384459" cy="152400"/>
          </a:xfrm>
          <a:prstGeom prst="rect">
            <a:avLst/>
          </a:prstGeom>
        </p:spPr>
        <p:txBody>
          <a:bodyPr vert="horz" lIns="13995" tIns="6996" rIns="13995" bIns="6996" rtlCol="1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ar-S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915" y="213361"/>
            <a:ext cx="1384459" cy="603462"/>
          </a:xfrm>
          <a:prstGeom prst="rect">
            <a:avLst/>
          </a:prstGeom>
        </p:spPr>
        <p:txBody>
          <a:bodyPr vert="horz" lIns="13995" tIns="6996" rIns="13995" bIns="6996" rtlCol="1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2440" y="847513"/>
            <a:ext cx="358934" cy="48684"/>
          </a:xfrm>
          <a:prstGeom prst="rect">
            <a:avLst/>
          </a:prstGeom>
        </p:spPr>
        <p:txBody>
          <a:bodyPr vert="horz" lIns="13995" tIns="6996" rIns="13995" bIns="6996" rtlCol="1" anchor="ctr"/>
          <a:lstStyle>
            <a:lvl1pPr algn="r">
              <a:defRPr sz="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9F0650-2405-41A3-A616-6753F4C70CC7}" type="datetimeFigureOut">
              <a:rPr lang="ar-SA" smtClean="0"/>
              <a:t>06/07/1445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5582" y="847513"/>
            <a:ext cx="487125" cy="48684"/>
          </a:xfrm>
          <a:prstGeom prst="rect">
            <a:avLst/>
          </a:prstGeom>
        </p:spPr>
        <p:txBody>
          <a:bodyPr vert="horz" lIns="13995" tIns="6996" rIns="13995" bIns="6996" rtlCol="1" anchor="ctr"/>
          <a:lstStyle>
            <a:lvl1pPr algn="ctr">
              <a:defRPr sz="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914" y="847513"/>
            <a:ext cx="358934" cy="48684"/>
          </a:xfrm>
          <a:prstGeom prst="rect">
            <a:avLst/>
          </a:prstGeom>
        </p:spPr>
        <p:txBody>
          <a:bodyPr vert="horz" lIns="13995" tIns="6996" rIns="13995" bIns="6996" rtlCol="1" anchor="ctr"/>
          <a:lstStyle>
            <a:lvl1pPr algn="l">
              <a:defRPr sz="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D78C23-BBB4-48AC-B268-BF88016365B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23757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xStyles>
    <p:titleStyle>
      <a:lvl1pPr algn="ctr" defTabSz="139948" rtl="1" eaLnBrk="1" latinLnBrk="0" hangingPunct="1">
        <a:spcBef>
          <a:spcPct val="0"/>
        </a:spcBef>
        <a:buNone/>
        <a:defRPr sz="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2480" indent="-52480" algn="r" defTabSz="139948" rtl="1" eaLnBrk="1" latinLnBrk="0" hangingPunct="1">
        <a:spcBef>
          <a:spcPct val="20000"/>
        </a:spcBef>
        <a:buFont typeface="Arial" panose="020B0604020202020204" pitchFamily="34" charset="0"/>
        <a:buChar char="•"/>
        <a:defRPr sz="500" kern="1200">
          <a:solidFill>
            <a:schemeClr val="tx1"/>
          </a:solidFill>
          <a:latin typeface="+mn-lt"/>
          <a:ea typeface="+mn-ea"/>
          <a:cs typeface="+mn-cs"/>
        </a:defRPr>
      </a:lvl1pPr>
      <a:lvl2pPr marL="113708" indent="-43733" algn="r" defTabSz="139948" rtl="1" eaLnBrk="1" latinLnBrk="0" hangingPunct="1">
        <a:spcBef>
          <a:spcPct val="20000"/>
        </a:spcBef>
        <a:buFont typeface="Arial" panose="020B0604020202020204" pitchFamily="34" charset="0"/>
        <a:buChar char="–"/>
        <a:defRPr sz="400" kern="1200">
          <a:solidFill>
            <a:schemeClr val="tx1"/>
          </a:solidFill>
          <a:latin typeface="+mn-lt"/>
          <a:ea typeface="+mn-ea"/>
          <a:cs typeface="+mn-cs"/>
        </a:defRPr>
      </a:lvl2pPr>
      <a:lvl3pPr marL="174936" indent="-34988" algn="r" defTabSz="139948" rtl="1" eaLnBrk="1" latinLnBrk="0" hangingPunct="1">
        <a:spcBef>
          <a:spcPct val="20000"/>
        </a:spcBef>
        <a:buFont typeface="Arial" panose="020B0604020202020204" pitchFamily="34" charset="0"/>
        <a:buChar char="•"/>
        <a:defRPr sz="400" kern="1200">
          <a:solidFill>
            <a:schemeClr val="tx1"/>
          </a:solidFill>
          <a:latin typeface="+mn-lt"/>
          <a:ea typeface="+mn-ea"/>
          <a:cs typeface="+mn-cs"/>
        </a:defRPr>
      </a:lvl3pPr>
      <a:lvl4pPr marL="244909" indent="-34988" algn="r" defTabSz="139948" rtl="1" eaLnBrk="1" latinLnBrk="0" hangingPunct="1">
        <a:spcBef>
          <a:spcPct val="20000"/>
        </a:spcBef>
        <a:buFont typeface="Arial" panose="020B0604020202020204" pitchFamily="34" charset="0"/>
        <a:buChar char="–"/>
        <a:defRPr sz="300" kern="1200">
          <a:solidFill>
            <a:schemeClr val="tx1"/>
          </a:solidFill>
          <a:latin typeface="+mn-lt"/>
          <a:ea typeface="+mn-ea"/>
          <a:cs typeface="+mn-cs"/>
        </a:defRPr>
      </a:lvl4pPr>
      <a:lvl5pPr marL="314884" indent="-34988" algn="r" defTabSz="139948" rtl="1" eaLnBrk="1" latinLnBrk="0" hangingPunct="1">
        <a:spcBef>
          <a:spcPct val="20000"/>
        </a:spcBef>
        <a:buFont typeface="Arial" panose="020B0604020202020204" pitchFamily="34" charset="0"/>
        <a:buChar char="»"/>
        <a:defRPr sz="300" kern="1200">
          <a:solidFill>
            <a:schemeClr val="tx1"/>
          </a:solidFill>
          <a:latin typeface="+mn-lt"/>
          <a:ea typeface="+mn-ea"/>
          <a:cs typeface="+mn-cs"/>
        </a:defRPr>
      </a:lvl5pPr>
      <a:lvl6pPr marL="384857" indent="-34988" algn="r" defTabSz="139948" rtl="1" eaLnBrk="1" latinLnBrk="0" hangingPunct="1">
        <a:spcBef>
          <a:spcPct val="20000"/>
        </a:spcBef>
        <a:buFont typeface="Arial" panose="020B0604020202020204" pitchFamily="34" charset="0"/>
        <a:buChar char="•"/>
        <a:defRPr sz="300" kern="1200">
          <a:solidFill>
            <a:schemeClr val="tx1"/>
          </a:solidFill>
          <a:latin typeface="+mn-lt"/>
          <a:ea typeface="+mn-ea"/>
          <a:cs typeface="+mn-cs"/>
        </a:defRPr>
      </a:lvl6pPr>
      <a:lvl7pPr marL="454832" indent="-34988" algn="r" defTabSz="139948" rtl="1" eaLnBrk="1" latinLnBrk="0" hangingPunct="1">
        <a:spcBef>
          <a:spcPct val="20000"/>
        </a:spcBef>
        <a:buFont typeface="Arial" panose="020B0604020202020204" pitchFamily="34" charset="0"/>
        <a:buChar char="•"/>
        <a:defRPr sz="300" kern="1200">
          <a:solidFill>
            <a:schemeClr val="tx1"/>
          </a:solidFill>
          <a:latin typeface="+mn-lt"/>
          <a:ea typeface="+mn-ea"/>
          <a:cs typeface="+mn-cs"/>
        </a:defRPr>
      </a:lvl7pPr>
      <a:lvl8pPr marL="524805" indent="-34988" algn="r" defTabSz="139948" rtl="1" eaLnBrk="1" latinLnBrk="0" hangingPunct="1">
        <a:spcBef>
          <a:spcPct val="20000"/>
        </a:spcBef>
        <a:buFont typeface="Arial" panose="020B0604020202020204" pitchFamily="34" charset="0"/>
        <a:buChar char="•"/>
        <a:defRPr sz="300" kern="1200">
          <a:solidFill>
            <a:schemeClr val="tx1"/>
          </a:solidFill>
          <a:latin typeface="+mn-lt"/>
          <a:ea typeface="+mn-ea"/>
          <a:cs typeface="+mn-cs"/>
        </a:defRPr>
      </a:lvl8pPr>
      <a:lvl9pPr marL="594780" indent="-34988" algn="r" defTabSz="139948" rtl="1" eaLnBrk="1" latinLnBrk="0" hangingPunct="1">
        <a:spcBef>
          <a:spcPct val="20000"/>
        </a:spcBef>
        <a:buFont typeface="Arial" panose="020B0604020202020204" pitchFamily="34" charset="0"/>
        <a:buChar char="•"/>
        <a:defRPr sz="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139948" rtl="1" eaLnBrk="1" latinLnBrk="0" hangingPunct="1">
        <a:defRPr sz="300" kern="1200">
          <a:solidFill>
            <a:schemeClr val="tx1"/>
          </a:solidFill>
          <a:latin typeface="+mn-lt"/>
          <a:ea typeface="+mn-ea"/>
          <a:cs typeface="+mn-cs"/>
        </a:defRPr>
      </a:lvl1pPr>
      <a:lvl2pPr marL="69975" algn="r" defTabSz="139948" rtl="1" eaLnBrk="1" latinLnBrk="0" hangingPunct="1">
        <a:defRPr sz="300" kern="1200">
          <a:solidFill>
            <a:schemeClr val="tx1"/>
          </a:solidFill>
          <a:latin typeface="+mn-lt"/>
          <a:ea typeface="+mn-ea"/>
          <a:cs typeface="+mn-cs"/>
        </a:defRPr>
      </a:lvl2pPr>
      <a:lvl3pPr marL="139948" algn="r" defTabSz="139948" rtl="1" eaLnBrk="1" latinLnBrk="0" hangingPunct="1">
        <a:defRPr sz="300" kern="1200">
          <a:solidFill>
            <a:schemeClr val="tx1"/>
          </a:solidFill>
          <a:latin typeface="+mn-lt"/>
          <a:ea typeface="+mn-ea"/>
          <a:cs typeface="+mn-cs"/>
        </a:defRPr>
      </a:lvl3pPr>
      <a:lvl4pPr marL="209923" algn="r" defTabSz="139948" rtl="1" eaLnBrk="1" latinLnBrk="0" hangingPunct="1">
        <a:defRPr sz="300" kern="1200">
          <a:solidFill>
            <a:schemeClr val="tx1"/>
          </a:solidFill>
          <a:latin typeface="+mn-lt"/>
          <a:ea typeface="+mn-ea"/>
          <a:cs typeface="+mn-cs"/>
        </a:defRPr>
      </a:lvl4pPr>
      <a:lvl5pPr marL="279896" algn="r" defTabSz="139948" rtl="1" eaLnBrk="1" latinLnBrk="0" hangingPunct="1">
        <a:defRPr sz="300" kern="1200">
          <a:solidFill>
            <a:schemeClr val="tx1"/>
          </a:solidFill>
          <a:latin typeface="+mn-lt"/>
          <a:ea typeface="+mn-ea"/>
          <a:cs typeface="+mn-cs"/>
        </a:defRPr>
      </a:lvl5pPr>
      <a:lvl6pPr marL="349871" algn="r" defTabSz="139948" rtl="1" eaLnBrk="1" latinLnBrk="0" hangingPunct="1">
        <a:defRPr sz="300" kern="1200">
          <a:solidFill>
            <a:schemeClr val="tx1"/>
          </a:solidFill>
          <a:latin typeface="+mn-lt"/>
          <a:ea typeface="+mn-ea"/>
          <a:cs typeface="+mn-cs"/>
        </a:defRPr>
      </a:lvl6pPr>
      <a:lvl7pPr marL="419844" algn="r" defTabSz="139948" rtl="1" eaLnBrk="1" latinLnBrk="0" hangingPunct="1">
        <a:defRPr sz="300" kern="1200">
          <a:solidFill>
            <a:schemeClr val="tx1"/>
          </a:solidFill>
          <a:latin typeface="+mn-lt"/>
          <a:ea typeface="+mn-ea"/>
          <a:cs typeface="+mn-cs"/>
        </a:defRPr>
      </a:lvl7pPr>
      <a:lvl8pPr marL="489819" algn="r" defTabSz="139948" rtl="1" eaLnBrk="1" latinLnBrk="0" hangingPunct="1">
        <a:defRPr sz="300" kern="1200">
          <a:solidFill>
            <a:schemeClr val="tx1"/>
          </a:solidFill>
          <a:latin typeface="+mn-lt"/>
          <a:ea typeface="+mn-ea"/>
          <a:cs typeface="+mn-cs"/>
        </a:defRPr>
      </a:lvl8pPr>
      <a:lvl9pPr marL="559792" algn="r" defTabSz="139948" rtl="1" eaLnBrk="1" latinLnBrk="0" hangingPunct="1">
        <a:defRPr sz="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ingcentral.health.unm.edu/learning/user/onlineaccess/CE/intro_baci_online/anat/prop.html" TargetMode="Externa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5051" y="25152"/>
            <a:ext cx="691279" cy="5523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27" b="1" i="1" dirty="0">
                <a:solidFill>
                  <a:srgbClr val="0000CC"/>
                </a:solidFill>
                <a:latin typeface="Andalus" pitchFamily="18" charset="-78"/>
                <a:cs typeface="Andalus" pitchFamily="18" charset="-78"/>
              </a:rPr>
              <a:t>Physiology of </a:t>
            </a:r>
            <a:r>
              <a:rPr lang="en-US" sz="427" b="1" i="1" dirty="0">
                <a:solidFill>
                  <a:srgbClr val="0000CC"/>
                </a:solidFill>
                <a:latin typeface="Andalus" pitchFamily="18" charset="-78"/>
                <a:cs typeface="Andalus" pitchFamily="18" charset="-78"/>
              </a:rPr>
              <a:t>the</a:t>
            </a:r>
          </a:p>
          <a:p>
            <a:r>
              <a:rPr lang="en-US" sz="427" b="1" i="1" dirty="0">
                <a:solidFill>
                  <a:srgbClr val="0000CC"/>
                </a:solidFill>
                <a:latin typeface="Andalus" pitchFamily="18" charset="-78"/>
                <a:cs typeface="Andalus" pitchFamily="18" charset="-78"/>
              </a:rPr>
              <a:t> cardiovascular system</a:t>
            </a:r>
          </a:p>
          <a:p>
            <a:endParaRPr lang="en-GB" sz="427" b="1" i="1" dirty="0">
              <a:solidFill>
                <a:srgbClr val="0000CC"/>
              </a:solidFill>
              <a:cs typeface="Andalus" pitchFamily="18" charset="-78"/>
            </a:endParaRPr>
          </a:p>
          <a:p>
            <a:pPr algn="l"/>
            <a:r>
              <a:rPr lang="en-GB" sz="427" b="1" dirty="0">
                <a:solidFill>
                  <a:srgbClr val="0000CC"/>
                </a:solidFill>
                <a:cs typeface="Andalus" pitchFamily="18" charset="-78"/>
              </a:rPr>
              <a:t>Lecture </a:t>
            </a:r>
            <a:r>
              <a:rPr lang="en-GB" sz="427" b="1" dirty="0" smtClean="0">
                <a:solidFill>
                  <a:srgbClr val="0000CC"/>
                </a:solidFill>
                <a:cs typeface="Andalus" pitchFamily="18" charset="-78"/>
              </a:rPr>
              <a:t>(1)</a:t>
            </a:r>
            <a:endParaRPr lang="en-GB" sz="427" b="1" dirty="0">
              <a:solidFill>
                <a:srgbClr val="0000CC"/>
              </a:solidFill>
              <a:cs typeface="Andalus" pitchFamily="18" charset="-78"/>
            </a:endParaRPr>
          </a:p>
          <a:p>
            <a:endParaRPr lang="en-GB" sz="427" b="1" dirty="0">
              <a:solidFill>
                <a:srgbClr val="0000CC"/>
              </a:solidFill>
              <a:cs typeface="Andalus" pitchFamily="18" charset="-78"/>
            </a:endParaRPr>
          </a:p>
          <a:p>
            <a:endParaRPr lang="en-GB" sz="427" b="1" dirty="0">
              <a:solidFill>
                <a:srgbClr val="0000CC"/>
              </a:solidFill>
              <a:cs typeface="Andalus" pitchFamily="18" charset="-78"/>
            </a:endParaRPr>
          </a:p>
          <a:p>
            <a:endParaRPr lang="en-GB" sz="427" b="1" dirty="0">
              <a:solidFill>
                <a:srgbClr val="0000CC"/>
              </a:solidFill>
              <a:cs typeface="Andalus" pitchFamily="18" charset="-7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5051" y="420823"/>
            <a:ext cx="1080120" cy="5355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GB" sz="320" b="1" dirty="0">
                <a:solidFill>
                  <a:srgbClr val="0000CC"/>
                </a:solidFill>
              </a:rPr>
              <a:t>Prepared and presented by: Dr. Mazin Salaheldin Abdalla</a:t>
            </a:r>
          </a:p>
          <a:p>
            <a:pPr algn="ctr"/>
            <a:r>
              <a:rPr lang="en-GB" sz="320" b="1" dirty="0"/>
              <a:t>MBBS</a:t>
            </a:r>
          </a:p>
          <a:p>
            <a:pPr algn="ctr"/>
            <a:r>
              <a:rPr lang="en-GB" sz="320" b="1" dirty="0"/>
              <a:t>MD (cardiology)</a:t>
            </a:r>
          </a:p>
          <a:p>
            <a:pPr algn="ctr"/>
            <a:r>
              <a:rPr lang="en-GB" sz="320" b="1" dirty="0"/>
              <a:t>M.Sc. Human physiology</a:t>
            </a:r>
          </a:p>
          <a:p>
            <a:pPr algn="ctr"/>
            <a:r>
              <a:rPr lang="en-GB" sz="320" b="1" dirty="0"/>
              <a:t>M.Sc. Molecular medicine</a:t>
            </a:r>
          </a:p>
          <a:p>
            <a:pPr algn="ctr"/>
            <a:endParaRPr lang="en-GB" sz="320" b="1" dirty="0"/>
          </a:p>
          <a:p>
            <a:pPr algn="ctr"/>
            <a:r>
              <a:rPr lang="en-GB" sz="320" b="1" i="1" dirty="0"/>
              <a:t>Illustrations from (Lippincott illustrated medical physiology)</a:t>
            </a:r>
            <a:endParaRPr lang="ar-SY" sz="320" b="1" i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165" y="48948"/>
            <a:ext cx="360040" cy="3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22639"/>
      </p:ext>
    </p:extLst>
  </p:cSld>
  <p:clrMapOvr>
    <a:masterClrMapping/>
  </p:clrMapOvr>
  <p:transition>
    <p:wheel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1602AE"/>
                </a:solidFill>
              </a:rPr>
              <a:t>Road-Map…</a:t>
            </a:r>
            <a:endParaRPr lang="ar-SA" b="1" dirty="0">
              <a:solidFill>
                <a:srgbClr val="1602A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US" dirty="0" smtClean="0">
                <a:solidFill>
                  <a:srgbClr val="1602AE"/>
                </a:solidFill>
              </a:rPr>
              <a:t>Introduction to CVS, functional anatomy and basic physiology</a:t>
            </a:r>
          </a:p>
          <a:p>
            <a:pPr marL="0" indent="0" algn="l">
              <a:buNone/>
            </a:pPr>
            <a:r>
              <a:rPr lang="en-US" dirty="0" smtClean="0"/>
              <a:t>Cardiac cycle: the whole story</a:t>
            </a:r>
          </a:p>
          <a:p>
            <a:pPr marL="0" indent="0" algn="l">
              <a:buNone/>
            </a:pPr>
            <a:r>
              <a:rPr lang="en-US" dirty="0" smtClean="0">
                <a:solidFill>
                  <a:srgbClr val="1602AE"/>
                </a:solidFill>
              </a:rPr>
              <a:t>EKGs: (Electrocardiography, electrocardiogram and electrocardiograph)</a:t>
            </a:r>
          </a:p>
          <a:p>
            <a:pPr marL="0" indent="0" algn="l">
              <a:buNone/>
            </a:pPr>
            <a:r>
              <a:rPr lang="en-US" dirty="0" smtClean="0"/>
              <a:t>Bridge to clinical cardiology</a:t>
            </a:r>
          </a:p>
          <a:p>
            <a:pPr marL="0" indent="0" algn="l">
              <a:buNone/>
            </a:pPr>
            <a:r>
              <a:rPr lang="en-US" dirty="0" smtClean="0">
                <a:solidFill>
                  <a:srgbClr val="1602AE"/>
                </a:solidFill>
              </a:rPr>
              <a:t>Equations in a nutshell</a:t>
            </a:r>
            <a:endParaRPr lang="ar-SA" dirty="0">
              <a:solidFill>
                <a:srgbClr val="1602A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6613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solidFill>
                  <a:srgbClr val="1602AE"/>
                </a:solidFill>
              </a:rPr>
              <a:t>Aims of the mini-lectures…</a:t>
            </a:r>
            <a:endParaRPr lang="ar-SA" b="1" u="sng" dirty="0">
              <a:solidFill>
                <a:srgbClr val="1602A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US" dirty="0" smtClean="0"/>
              <a:t>Familiarize the students with the CVS physiology</a:t>
            </a:r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b="1" dirty="0" smtClean="0">
                <a:solidFill>
                  <a:srgbClr val="1602AE"/>
                </a:solidFill>
              </a:rPr>
              <a:t>Reduce the gap between basic and clinical CVS physiology</a:t>
            </a:r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 smtClean="0"/>
              <a:t>Make the argument for the easiness and fun of CVS physiology 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481990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1602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 of the CVS…</a:t>
            </a:r>
            <a:endParaRPr lang="ar-SY" b="1" dirty="0">
              <a:solidFill>
                <a:srgbClr val="1602A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GB" dirty="0" smtClean="0"/>
              <a:t>The primary function of the heart is to </a:t>
            </a:r>
            <a:r>
              <a:rPr lang="en-GB" b="1" dirty="0" smtClean="0">
                <a:solidFill>
                  <a:srgbClr val="1602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pump blood</a:t>
            </a:r>
          </a:p>
          <a:p>
            <a:pPr marL="0" indent="0" algn="l">
              <a:buNone/>
            </a:pPr>
            <a:r>
              <a:rPr lang="en-GB" dirty="0" smtClean="0"/>
              <a:t>The function of the vascular system is to </a:t>
            </a:r>
            <a:r>
              <a:rPr lang="en-GB" b="1" dirty="0" smtClean="0">
                <a:solidFill>
                  <a:srgbClr val="1602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circulate blood </a:t>
            </a:r>
            <a:r>
              <a:rPr lang="en-GB" dirty="0" smtClean="0"/>
              <a:t>throughout the body to deliver nutrients to the tissues and collect the waste products</a:t>
            </a: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198490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solidFill>
                  <a:srgbClr val="1602AE"/>
                </a:solidFill>
              </a:rPr>
              <a:t>Functional anatomy…</a:t>
            </a:r>
            <a:endParaRPr lang="ar-SA" b="1" u="sng" dirty="0">
              <a:solidFill>
                <a:srgbClr val="1602A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dirty="0" smtClean="0"/>
              <a:t>The </a:t>
            </a:r>
            <a:r>
              <a:rPr lang="en-US" b="1" i="1" u="sng" dirty="0" smtClean="0">
                <a:solidFill>
                  <a:srgbClr val="002060"/>
                </a:solidFill>
              </a:rPr>
              <a:t>primary</a:t>
            </a:r>
            <a:r>
              <a:rPr lang="en-US" dirty="0" smtClean="0"/>
              <a:t> function of the heart is to insure that blood is being moved in circle around the body</a:t>
            </a:r>
          </a:p>
          <a:p>
            <a:pPr marL="0" indent="0" algn="l">
              <a:buNone/>
            </a:pPr>
            <a:endParaRPr lang="en-US" dirty="0" smtClean="0"/>
          </a:p>
          <a:p>
            <a:pPr marL="0" indent="0" algn="l">
              <a:buNone/>
            </a:pPr>
            <a:r>
              <a:rPr lang="en-US" dirty="0" smtClean="0"/>
              <a:t>It is made up of muscle called (cardiac muscle)</a:t>
            </a:r>
          </a:p>
          <a:p>
            <a:pPr marL="0" indent="0" algn="l">
              <a:buNone/>
            </a:pPr>
            <a:endParaRPr lang="en-US" dirty="0" smtClean="0"/>
          </a:p>
          <a:p>
            <a:pPr marL="0" indent="0" algn="l">
              <a:buNone/>
            </a:pPr>
            <a:r>
              <a:rPr lang="en-US" dirty="0" smtClean="0"/>
              <a:t>Like any other </a:t>
            </a:r>
            <a:r>
              <a:rPr lang="en-US" b="1" i="1" u="sng" dirty="0" smtClean="0">
                <a:solidFill>
                  <a:srgbClr val="002060"/>
                </a:solidFill>
              </a:rPr>
              <a:t>hollow</a:t>
            </a:r>
            <a:r>
              <a:rPr lang="en-US" dirty="0" smtClean="0"/>
              <a:t> organ, it has three layers</a:t>
            </a:r>
            <a:endParaRPr lang="en-US" dirty="0"/>
          </a:p>
          <a:p>
            <a:pPr marL="0" indent="0" algn="l">
              <a:buNone/>
            </a:pPr>
            <a:r>
              <a:rPr lang="en-US" dirty="0" smtClean="0"/>
              <a:t>(inner, middle, outer)-(Endocardium, myocardium and Epicardium)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844156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00" y="53955"/>
            <a:ext cx="1041549" cy="7955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2314" y="121163"/>
            <a:ext cx="351301" cy="750961"/>
          </a:xfrm>
          <a:prstGeom prst="rect">
            <a:avLst/>
          </a:prstGeom>
          <a:noFill/>
        </p:spPr>
        <p:txBody>
          <a:bodyPr wrap="square" lIns="13995" tIns="6996" rIns="13995" bIns="6996" rtlCol="1">
            <a:spAutoFit/>
          </a:bodyPr>
          <a:lstStyle/>
          <a:p>
            <a:pPr algn="ctr"/>
            <a:r>
              <a:rPr lang="en-US" dirty="0">
                <a:solidFill>
                  <a:srgbClr val="1602AE"/>
                </a:solidFill>
              </a:rPr>
              <a:t>Inferior v. cava</a:t>
            </a:r>
          </a:p>
          <a:p>
            <a:pPr algn="ctr"/>
            <a:r>
              <a:rPr lang="en-US" dirty="0"/>
              <a:t>Right atrium</a:t>
            </a:r>
          </a:p>
          <a:p>
            <a:pPr algn="ctr"/>
            <a:r>
              <a:rPr lang="en-US" dirty="0">
                <a:solidFill>
                  <a:srgbClr val="1602AE"/>
                </a:solidFill>
              </a:rPr>
              <a:t>Superior v. cava</a:t>
            </a:r>
          </a:p>
          <a:p>
            <a:pPr algn="ctr"/>
            <a:r>
              <a:rPr lang="en-US" dirty="0"/>
              <a:t>Tricuspid valve</a:t>
            </a:r>
          </a:p>
          <a:p>
            <a:pPr algn="ctr"/>
            <a:r>
              <a:rPr lang="en-US" dirty="0">
                <a:solidFill>
                  <a:srgbClr val="1602AE"/>
                </a:solidFill>
              </a:rPr>
              <a:t>Right ventricle</a:t>
            </a:r>
          </a:p>
          <a:p>
            <a:pPr algn="ctr"/>
            <a:r>
              <a:rPr lang="en-US" dirty="0"/>
              <a:t>Pulmonic valve</a:t>
            </a:r>
          </a:p>
          <a:p>
            <a:pPr algn="ctr"/>
            <a:r>
              <a:rPr lang="en-US" dirty="0">
                <a:solidFill>
                  <a:srgbClr val="1602AE"/>
                </a:solidFill>
              </a:rPr>
              <a:t>Pulmonary trunk</a:t>
            </a:r>
          </a:p>
          <a:p>
            <a:pPr algn="ctr"/>
            <a:r>
              <a:rPr lang="en-US" dirty="0"/>
              <a:t>Right and left pulmonary arteries</a:t>
            </a:r>
          </a:p>
          <a:p>
            <a:pPr algn="ctr"/>
            <a:r>
              <a:rPr lang="en-US" dirty="0">
                <a:solidFill>
                  <a:srgbClr val="1602AE"/>
                </a:solidFill>
              </a:rPr>
              <a:t>Pulmonary veins</a:t>
            </a:r>
          </a:p>
          <a:p>
            <a:pPr algn="ctr"/>
            <a:r>
              <a:rPr lang="en-US" dirty="0"/>
              <a:t>Left atrium</a:t>
            </a:r>
          </a:p>
          <a:p>
            <a:pPr algn="ctr"/>
            <a:r>
              <a:rPr lang="en-US" dirty="0">
                <a:solidFill>
                  <a:srgbClr val="1602AE"/>
                </a:solidFill>
              </a:rPr>
              <a:t>Mitral valve</a:t>
            </a:r>
          </a:p>
          <a:p>
            <a:pPr algn="ctr"/>
            <a:r>
              <a:rPr lang="en-US" dirty="0"/>
              <a:t>Left ventricle</a:t>
            </a:r>
          </a:p>
          <a:p>
            <a:pPr algn="ctr"/>
            <a:r>
              <a:rPr lang="en-US" dirty="0">
                <a:solidFill>
                  <a:srgbClr val="1602AE"/>
                </a:solidFill>
              </a:rPr>
              <a:t>Aortic valve</a:t>
            </a:r>
          </a:p>
          <a:p>
            <a:pPr algn="ctr"/>
            <a:r>
              <a:rPr lang="en-US" dirty="0"/>
              <a:t>Aorta</a:t>
            </a:r>
          </a:p>
          <a:p>
            <a:pPr algn="ctr"/>
            <a:r>
              <a:rPr lang="en-US" dirty="0">
                <a:solidFill>
                  <a:srgbClr val="1602AE"/>
                </a:solidFill>
              </a:rPr>
              <a:t>Systemic circulation</a:t>
            </a:r>
            <a:endParaRPr lang="ar-SA" dirty="0">
              <a:solidFill>
                <a:srgbClr val="1602A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359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75566" y="361190"/>
            <a:ext cx="484554" cy="163218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13995" tIns="6996" rIns="13995" bIns="6996" rtlCol="1" anchor="ctr"/>
          <a:lstStyle/>
          <a:p>
            <a:pPr algn="ctr"/>
            <a:r>
              <a:rPr lang="en-US" sz="400" b="1" dirty="0"/>
              <a:t>Right atrium</a:t>
            </a:r>
            <a:endParaRPr lang="ar-SA" sz="400" b="1" dirty="0"/>
          </a:p>
        </p:txBody>
      </p:sp>
      <p:sp>
        <p:nvSpPr>
          <p:cNvPr id="4" name="Rectangle 3"/>
          <p:cNvSpPr/>
          <p:nvPr/>
        </p:nvSpPr>
        <p:spPr>
          <a:xfrm>
            <a:off x="867491" y="361190"/>
            <a:ext cx="520895" cy="16321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13995" tIns="6996" rIns="13995" bIns="6996" rtlCol="1" anchor="ctr"/>
          <a:lstStyle/>
          <a:p>
            <a:pPr algn="ctr"/>
            <a:r>
              <a:rPr lang="en-US" sz="400" b="1" dirty="0">
                <a:solidFill>
                  <a:schemeClr val="bg1"/>
                </a:solidFill>
              </a:rPr>
              <a:t>Left atrium</a:t>
            </a:r>
            <a:endParaRPr lang="ar-SA" sz="400" b="1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04187" y="679365"/>
            <a:ext cx="1175044" cy="124814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13995" tIns="6996" rIns="13995" bIns="6996" rtlCol="1" anchor="ctr"/>
          <a:lstStyle/>
          <a:p>
            <a:pPr algn="ctr"/>
            <a:r>
              <a:rPr lang="en-US" sz="400" b="1" dirty="0"/>
              <a:t>System circulation</a:t>
            </a:r>
            <a:endParaRPr lang="ar-SA" sz="400" b="1" dirty="0"/>
          </a:p>
        </p:txBody>
      </p:sp>
      <p:sp>
        <p:nvSpPr>
          <p:cNvPr id="10" name="Rectangle 9"/>
          <p:cNvSpPr/>
          <p:nvPr/>
        </p:nvSpPr>
        <p:spPr>
          <a:xfrm>
            <a:off x="308613" y="63557"/>
            <a:ext cx="993336" cy="15361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13995" tIns="6996" rIns="13995" bIns="6996" rtlCol="1" anchor="ctr"/>
          <a:lstStyle/>
          <a:p>
            <a:pPr algn="ctr"/>
            <a:r>
              <a:rPr lang="en-US" sz="400" b="1" dirty="0"/>
              <a:t>Pulmonic circulation</a:t>
            </a:r>
            <a:endParaRPr lang="ar-SA" sz="400" b="1" dirty="0"/>
          </a:p>
        </p:txBody>
      </p:sp>
      <p:sp>
        <p:nvSpPr>
          <p:cNvPr id="11" name="Down Arrow 10"/>
          <p:cNvSpPr/>
          <p:nvPr/>
        </p:nvSpPr>
        <p:spPr>
          <a:xfrm>
            <a:off x="982571" y="525700"/>
            <a:ext cx="145367" cy="153617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13995" tIns="6996" rIns="13995" bIns="6996" rtlCol="1" anchor="ctr"/>
          <a:lstStyle/>
          <a:p>
            <a:pPr algn="ctr"/>
            <a:endParaRPr lang="ar-SA">
              <a:solidFill>
                <a:srgbClr val="FF0000"/>
              </a:solidFill>
            </a:endParaRPr>
          </a:p>
        </p:txBody>
      </p:sp>
      <p:sp>
        <p:nvSpPr>
          <p:cNvPr id="12" name="Up Arrow 11"/>
          <p:cNvSpPr/>
          <p:nvPr/>
        </p:nvSpPr>
        <p:spPr>
          <a:xfrm>
            <a:off x="297505" y="525700"/>
            <a:ext cx="205936" cy="15361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995" tIns="6996" rIns="13995" bIns="6996" rtlCol="1" anchor="ctr"/>
          <a:lstStyle/>
          <a:p>
            <a:pPr algn="ctr"/>
            <a:endParaRPr lang="ar-SA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398" y="217174"/>
            <a:ext cx="155965" cy="1440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13" y="217175"/>
            <a:ext cx="218459" cy="146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3738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1602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heart is an excitable tissue…</a:t>
            </a:r>
            <a:endParaRPr lang="ar-SY" b="1" dirty="0">
              <a:solidFill>
                <a:srgbClr val="1602A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GB" dirty="0" smtClean="0"/>
              <a:t>The body contains </a:t>
            </a:r>
            <a:r>
              <a:rPr lang="en-GB" b="1" dirty="0" smtClean="0">
                <a:solidFill>
                  <a:srgbClr val="1602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en-GB" dirty="0" smtClean="0"/>
              <a:t> types tissues (epithelium, connective, muscles and nervous)</a:t>
            </a:r>
          </a:p>
          <a:p>
            <a:pPr marL="0" indent="0" algn="l">
              <a:buNone/>
            </a:pPr>
            <a:r>
              <a:rPr lang="en-GB" dirty="0" smtClean="0"/>
              <a:t>Only </a:t>
            </a:r>
            <a:r>
              <a:rPr lang="en-GB" b="1" dirty="0" smtClean="0">
                <a:solidFill>
                  <a:srgbClr val="1602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GB" dirty="0" smtClean="0"/>
              <a:t> are considered excitable (muscle and nervous)</a:t>
            </a:r>
          </a:p>
          <a:p>
            <a:pPr marL="0" indent="0" algn="l">
              <a:buNone/>
            </a:pPr>
            <a:r>
              <a:rPr lang="en-GB" dirty="0" smtClean="0"/>
              <a:t>They are called excitable because they can generate action potential  and they can do so because they possess voltage gated sodium channel</a:t>
            </a: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3415617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rgbClr val="1602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Cardiac muscle….</a:t>
            </a:r>
            <a:endParaRPr lang="ar-SY" b="1" dirty="0">
              <a:solidFill>
                <a:srgbClr val="1602A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GB" dirty="0" smtClean="0"/>
              <a:t>Contractile cardiac muscle</a:t>
            </a:r>
          </a:p>
          <a:p>
            <a:pPr marL="0" indent="0" algn="ctr">
              <a:buNone/>
            </a:pPr>
            <a:r>
              <a:rPr lang="en-GB" b="1" dirty="0" smtClean="0">
                <a:solidFill>
                  <a:srgbClr val="1602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(Contraction)</a:t>
            </a:r>
            <a:endParaRPr lang="en-GB" b="1" dirty="0">
              <a:solidFill>
                <a:srgbClr val="1602A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l">
              <a:buNone/>
            </a:pPr>
            <a:r>
              <a:rPr lang="en-GB" dirty="0" smtClean="0"/>
              <a:t> </a:t>
            </a:r>
          </a:p>
          <a:p>
            <a:pPr marL="0" indent="0" algn="l">
              <a:buNone/>
            </a:pPr>
            <a:r>
              <a:rPr lang="en-GB" dirty="0" smtClean="0"/>
              <a:t>Conductive cardiac muscle</a:t>
            </a:r>
          </a:p>
          <a:p>
            <a:pPr marL="0" indent="0" algn="ctr">
              <a:buNone/>
            </a:pPr>
            <a:r>
              <a:rPr lang="en-GB" b="1" dirty="0" smtClean="0">
                <a:solidFill>
                  <a:srgbClr val="1602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(Generation and conduction of action potential)</a:t>
            </a:r>
            <a:endParaRPr lang="ar-SY" b="1" dirty="0">
              <a:solidFill>
                <a:srgbClr val="1602A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6222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u="sng" dirty="0" smtClean="0">
                <a:solidFill>
                  <a:srgbClr val="1602AE"/>
                </a:solidFill>
              </a:rPr>
              <a:t>Cardiac properties </a:t>
            </a:r>
            <a:endParaRPr lang="ar-SA" b="1" i="1" u="sng" dirty="0">
              <a:solidFill>
                <a:srgbClr val="1602A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600" dirty="0"/>
              <a:t>Inotropy</a:t>
            </a:r>
          </a:p>
          <a:p>
            <a:pPr marL="0" indent="0" algn="l">
              <a:buNone/>
            </a:pPr>
            <a:r>
              <a:rPr lang="en-US" sz="600" dirty="0"/>
              <a:t>Dromotropy</a:t>
            </a:r>
          </a:p>
          <a:p>
            <a:pPr marL="0" indent="0" algn="l">
              <a:buNone/>
            </a:pPr>
            <a:r>
              <a:rPr lang="en-US" sz="600" dirty="0"/>
              <a:t>Chronotropy</a:t>
            </a:r>
          </a:p>
          <a:p>
            <a:pPr marL="0" indent="0" algn="l">
              <a:buNone/>
            </a:pPr>
            <a:r>
              <a:rPr lang="en-US" sz="600" b="1" i="1" dirty="0">
                <a:solidFill>
                  <a:srgbClr val="FF0000"/>
                </a:solidFill>
              </a:rPr>
              <a:t>Lusitropy</a:t>
            </a:r>
          </a:p>
          <a:p>
            <a:pPr marL="0" indent="0" algn="l">
              <a:buNone/>
            </a:pPr>
            <a:r>
              <a:rPr lang="en-US" sz="600" dirty="0"/>
              <a:t>Bathmotropy</a:t>
            </a:r>
            <a:endParaRPr lang="ar-SA" sz="600" dirty="0"/>
          </a:p>
          <a:p>
            <a:pPr marL="0" indent="0" algn="l">
              <a:buNone/>
            </a:pPr>
            <a:endParaRPr lang="ar-SA" sz="6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b="1" dirty="0">
                <a:hlinkClick r:id="rId2"/>
              </a:rPr>
              <a:t>Automaticity</a:t>
            </a:r>
            <a:r>
              <a:rPr lang="en-US" dirty="0"/>
              <a:t> </a:t>
            </a:r>
            <a:endParaRPr lang="en-US" dirty="0" smtClean="0"/>
          </a:p>
          <a:p>
            <a:pPr marL="0" indent="0" algn="l">
              <a:buNone/>
            </a:pPr>
            <a:r>
              <a:rPr lang="en-US" b="1" dirty="0" smtClean="0"/>
              <a:t>To generate electrical impulses</a:t>
            </a:r>
          </a:p>
          <a:p>
            <a:pPr marL="0" indent="0" algn="l">
              <a:buNone/>
            </a:pPr>
            <a:r>
              <a:rPr lang="en-US" b="1" dirty="0" smtClean="0">
                <a:hlinkClick r:id="rId2"/>
              </a:rPr>
              <a:t>Excitability</a:t>
            </a:r>
            <a:endParaRPr lang="en-US" b="1" dirty="0" smtClean="0"/>
          </a:p>
          <a:p>
            <a:pPr marL="0" indent="0" algn="l">
              <a:buNone/>
            </a:pPr>
            <a:r>
              <a:rPr lang="en-US" b="1" dirty="0" smtClean="0"/>
              <a:t>To respond to electrical impulses</a:t>
            </a:r>
          </a:p>
          <a:p>
            <a:pPr marL="0" indent="0" algn="l">
              <a:buNone/>
            </a:pPr>
            <a:r>
              <a:rPr lang="en-US" b="1" dirty="0" smtClean="0">
                <a:hlinkClick r:id="rId2"/>
              </a:rPr>
              <a:t>Conductivity</a:t>
            </a:r>
            <a:endParaRPr lang="en-US" b="1" dirty="0" smtClean="0"/>
          </a:p>
          <a:p>
            <a:pPr marL="0" indent="0" algn="l">
              <a:buNone/>
            </a:pPr>
            <a:r>
              <a:rPr lang="en-US" b="1" dirty="0" smtClean="0"/>
              <a:t>To allow the transmission of impulses</a:t>
            </a:r>
          </a:p>
          <a:p>
            <a:pPr marL="0" indent="0" algn="l">
              <a:buNone/>
            </a:pPr>
            <a:r>
              <a:rPr lang="en-US" b="1" dirty="0">
                <a:hlinkClick r:id="rId2"/>
              </a:rPr>
              <a:t>Contractility</a:t>
            </a:r>
            <a:r>
              <a:rPr lang="en-US" dirty="0"/>
              <a:t> </a:t>
            </a:r>
            <a:endParaRPr lang="en-US" dirty="0" smtClean="0"/>
          </a:p>
          <a:p>
            <a:pPr marL="0" indent="0" algn="l">
              <a:buNone/>
            </a:pPr>
            <a:r>
              <a:rPr lang="en-US" b="1" dirty="0" smtClean="0"/>
              <a:t>To contract after excitation</a:t>
            </a:r>
          </a:p>
          <a:p>
            <a:pPr marL="0" indent="0" algn="l">
              <a:buNone/>
            </a:pPr>
            <a:r>
              <a:rPr lang="en-US" b="1" dirty="0">
                <a:hlinkClick r:id="rId2"/>
              </a:rPr>
              <a:t>Rhythmicity</a:t>
            </a:r>
            <a:r>
              <a:rPr lang="en-US" dirty="0"/>
              <a:t> </a:t>
            </a:r>
            <a:endParaRPr lang="en-US" dirty="0" smtClean="0"/>
          </a:p>
          <a:p>
            <a:pPr marL="0" indent="0" algn="l">
              <a:buNone/>
            </a:pPr>
            <a:r>
              <a:rPr lang="en-US" b="1" dirty="0" smtClean="0"/>
              <a:t>Impulses sent in evenly manner </a:t>
            </a:r>
          </a:p>
          <a:p>
            <a:pPr marL="0" indent="0" algn="l">
              <a:buNone/>
            </a:pPr>
            <a:r>
              <a:rPr lang="en-US" b="1" dirty="0" smtClean="0">
                <a:hlinkClick r:id="rId2"/>
              </a:rPr>
              <a:t>Refractoriness</a:t>
            </a:r>
            <a:endParaRPr lang="en-US" b="1" dirty="0" smtClean="0"/>
          </a:p>
          <a:p>
            <a:pPr marL="0" indent="0" algn="l">
              <a:buNone/>
            </a:pPr>
            <a:r>
              <a:rPr lang="en-US" b="1" dirty="0" smtClean="0"/>
              <a:t>Inability to respond to another stimulus </a:t>
            </a:r>
            <a:r>
              <a:rPr lang="en-US" dirty="0"/>
              <a:t>  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603125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0344" y="111760"/>
            <a:ext cx="1117600" cy="142646"/>
          </a:xfrm>
        </p:spPr>
        <p:txBody>
          <a:bodyPr>
            <a:normAutofit/>
          </a:bodyPr>
          <a:lstStyle/>
          <a:p>
            <a:r>
              <a:rPr lang="en-GB" b="1" dirty="0" smtClean="0">
                <a:solidFill>
                  <a:srgbClr val="1602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Cardiac action potential…</a:t>
            </a:r>
            <a:endParaRPr lang="en-US" b="1" dirty="0">
              <a:solidFill>
                <a:srgbClr val="1602A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210344" y="274320"/>
            <a:ext cx="538886" cy="85969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>
                <a:latin typeface="Comic Sans MS" pitchFamily="66" charset="0"/>
              </a:rPr>
              <a:t>Skeletal muscle action potential</a:t>
            </a:r>
            <a:endParaRPr lang="en-US" dirty="0">
              <a:latin typeface="Comic Sans MS" pitchFamily="66" charset="0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half" idx="3"/>
          </p:nvPr>
        </p:nvSpPr>
        <p:spPr>
          <a:xfrm>
            <a:off x="789041" y="274320"/>
            <a:ext cx="538903" cy="85969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>
                <a:latin typeface="Comic Sans MS" pitchFamily="66" charset="0"/>
              </a:rPr>
              <a:t>Cardiac muscle action potential</a:t>
            </a:r>
            <a:endParaRPr lang="en-US" dirty="0">
              <a:latin typeface="Comic Sans MS" pitchFamily="66" charset="0"/>
            </a:endParaRPr>
          </a:p>
        </p:txBody>
      </p:sp>
      <p:pic>
        <p:nvPicPr>
          <p:cNvPr id="4097" name="Picture 1" descr="C:\Users\user\Desktop\action_potential[1].jpg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0344" y="375920"/>
            <a:ext cx="538903" cy="508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098" name="Picture 2" descr="C:\Users\user\Desktop\634544_xlarge[1].jpg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7789" y="360289"/>
            <a:ext cx="538903" cy="5181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3866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1602AE"/>
                </a:solidFill>
              </a:rPr>
              <a:t>Looking ahead: What is it all about?</a:t>
            </a:r>
            <a:br>
              <a:rPr lang="en-US" b="1" dirty="0" smtClean="0">
                <a:solidFill>
                  <a:srgbClr val="1602AE"/>
                </a:solidFill>
              </a:rPr>
            </a:br>
            <a:r>
              <a:rPr lang="en-US" b="1" dirty="0" smtClean="0">
                <a:solidFill>
                  <a:srgbClr val="1602AE"/>
                </a:solidFill>
              </a:rPr>
              <a:t>The duality of terms</a:t>
            </a:r>
            <a:endParaRPr lang="ar-SA" b="1" dirty="0">
              <a:solidFill>
                <a:srgbClr val="1602A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 smtClean="0">
                <a:solidFill>
                  <a:srgbClr val="1602AE"/>
                </a:solidFill>
              </a:rPr>
              <a:t>Resistance</a:t>
            </a:r>
          </a:p>
          <a:p>
            <a:pPr marL="0" indent="0" algn="ctr">
              <a:buNone/>
            </a:pPr>
            <a:r>
              <a:rPr lang="en-US" dirty="0" smtClean="0"/>
              <a:t>Systole</a:t>
            </a:r>
          </a:p>
          <a:p>
            <a:pPr marL="0" indent="0" algn="ctr">
              <a:buNone/>
            </a:pPr>
            <a:r>
              <a:rPr lang="en-US" dirty="0" smtClean="0">
                <a:solidFill>
                  <a:srgbClr val="1602AE"/>
                </a:solidFill>
              </a:rPr>
              <a:t>Contraction</a:t>
            </a:r>
          </a:p>
          <a:p>
            <a:pPr marL="0" indent="0" algn="ctr">
              <a:buNone/>
            </a:pPr>
            <a:r>
              <a:rPr lang="en-US" dirty="0" smtClean="0"/>
              <a:t>Inotropy</a:t>
            </a:r>
          </a:p>
          <a:p>
            <a:pPr marL="0" indent="0" algn="ctr">
              <a:buNone/>
            </a:pPr>
            <a:r>
              <a:rPr lang="en-US" dirty="0" smtClean="0">
                <a:solidFill>
                  <a:srgbClr val="1602AE"/>
                </a:solidFill>
              </a:rPr>
              <a:t>Right heart</a:t>
            </a:r>
          </a:p>
          <a:p>
            <a:pPr marL="0" indent="0" algn="ctr">
              <a:buNone/>
            </a:pPr>
            <a:r>
              <a:rPr lang="en-US" dirty="0" smtClean="0"/>
              <a:t>Oxygenated</a:t>
            </a:r>
          </a:p>
          <a:p>
            <a:pPr marL="0" indent="0" algn="ctr">
              <a:buNone/>
            </a:pPr>
            <a:r>
              <a:rPr lang="en-US" dirty="0" smtClean="0">
                <a:solidFill>
                  <a:srgbClr val="1602AE"/>
                </a:solidFill>
              </a:rPr>
              <a:t>Heart induced  </a:t>
            </a:r>
          </a:p>
          <a:p>
            <a:pPr marL="0" indent="0" algn="ctr">
              <a:buNone/>
            </a:pPr>
            <a:endParaRPr lang="ar-SA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 smtClean="0">
                <a:solidFill>
                  <a:srgbClr val="1602AE"/>
                </a:solidFill>
              </a:rPr>
              <a:t>Volume</a:t>
            </a:r>
          </a:p>
          <a:p>
            <a:pPr marL="0" indent="0" algn="ctr">
              <a:buNone/>
            </a:pPr>
            <a:r>
              <a:rPr lang="en-US" dirty="0" smtClean="0"/>
              <a:t>Diastole</a:t>
            </a:r>
          </a:p>
          <a:p>
            <a:pPr marL="0" indent="0" algn="ctr">
              <a:buNone/>
            </a:pPr>
            <a:r>
              <a:rPr lang="en-US" dirty="0" smtClean="0">
                <a:solidFill>
                  <a:srgbClr val="1602AE"/>
                </a:solidFill>
              </a:rPr>
              <a:t>Relaxation</a:t>
            </a:r>
          </a:p>
          <a:p>
            <a:pPr marL="0" indent="0" algn="ctr">
              <a:buNone/>
            </a:pPr>
            <a:r>
              <a:rPr lang="en-US" dirty="0" smtClean="0"/>
              <a:t>Lusitropy</a:t>
            </a:r>
          </a:p>
          <a:p>
            <a:pPr marL="0" indent="0" algn="ctr">
              <a:buNone/>
            </a:pPr>
            <a:r>
              <a:rPr lang="en-US" dirty="0" smtClean="0">
                <a:solidFill>
                  <a:srgbClr val="1602AE"/>
                </a:solidFill>
              </a:rPr>
              <a:t>Left heart</a:t>
            </a:r>
          </a:p>
          <a:p>
            <a:pPr marL="0" indent="0" algn="ctr">
              <a:buNone/>
            </a:pPr>
            <a:r>
              <a:rPr lang="en-US" dirty="0" smtClean="0"/>
              <a:t>Deoxygenated</a:t>
            </a:r>
          </a:p>
          <a:p>
            <a:pPr marL="0" indent="0" algn="ctr">
              <a:buNone/>
            </a:pPr>
            <a:r>
              <a:rPr lang="en-US" dirty="0" smtClean="0">
                <a:solidFill>
                  <a:srgbClr val="1602AE"/>
                </a:solidFill>
              </a:rPr>
              <a:t>Vascular induced</a:t>
            </a:r>
            <a:endParaRPr lang="ar-SA" dirty="0">
              <a:solidFill>
                <a:srgbClr val="1602A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3763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Physiology lit. (recommended)…</a:t>
            </a:r>
            <a:endParaRPr lang="ar-SY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GB" dirty="0" smtClean="0"/>
              <a:t>Guyton and Hall textbook of physiology</a:t>
            </a:r>
          </a:p>
          <a:p>
            <a:pPr marL="0" indent="0" algn="l">
              <a:buNone/>
            </a:pPr>
            <a:r>
              <a:rPr lang="en-GB" b="1" dirty="0" smtClean="0">
                <a:solidFill>
                  <a:srgbClr val="0000CC"/>
                </a:solidFill>
              </a:rPr>
              <a:t>Lippincott illustrated physiology </a:t>
            </a:r>
          </a:p>
          <a:p>
            <a:pPr marL="0" indent="0" algn="l">
              <a:buNone/>
            </a:pPr>
            <a:r>
              <a:rPr lang="en-GB" dirty="0" smtClean="0"/>
              <a:t>Ganong review of medical physiology</a:t>
            </a:r>
          </a:p>
          <a:p>
            <a:pPr marL="0" indent="0" algn="l">
              <a:buNone/>
            </a:pPr>
            <a:r>
              <a:rPr lang="en-GB" dirty="0" smtClean="0"/>
              <a:t>Linda Costanzo textbook of medical physiology</a:t>
            </a:r>
          </a:p>
          <a:p>
            <a:pPr marL="0" indent="0" algn="l">
              <a:buNone/>
            </a:pPr>
            <a:r>
              <a:rPr lang="en-GB" dirty="0" smtClean="0"/>
              <a:t>BRS, Linda Costanzo</a:t>
            </a:r>
          </a:p>
          <a:p>
            <a:pPr marL="0" indent="0" algn="l">
              <a:buNone/>
            </a:pPr>
            <a:r>
              <a:rPr lang="en-GB" dirty="0" smtClean="0"/>
              <a:t>Essential to physiology  </a:t>
            </a: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4235188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2055</TotalTime>
  <Words>401</Words>
  <Application>Microsoft Office PowerPoint</Application>
  <PresentationFormat>Custom</PresentationFormat>
  <Paragraphs>106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Andalus</vt:lpstr>
      <vt:lpstr>Arial</vt:lpstr>
      <vt:lpstr>Calibri</vt:lpstr>
      <vt:lpstr>Comic Sans MS</vt:lpstr>
      <vt:lpstr>Times New Roman</vt:lpstr>
      <vt:lpstr>Office Theme</vt:lpstr>
      <vt:lpstr>PowerPoint Presentation</vt:lpstr>
      <vt:lpstr>Road-Map…</vt:lpstr>
      <vt:lpstr>Aims of the mini-lectures…</vt:lpstr>
      <vt:lpstr>Function of the CVS…</vt:lpstr>
      <vt:lpstr>Functional anatomy…</vt:lpstr>
      <vt:lpstr>PowerPoint Presentation</vt:lpstr>
      <vt:lpstr>PowerPoint Presentation</vt:lpstr>
      <vt:lpstr>The heart is an excitable tissue…</vt:lpstr>
      <vt:lpstr>Cardiac muscle….</vt:lpstr>
      <vt:lpstr>Cardiac properties </vt:lpstr>
      <vt:lpstr>Cardiac action potential…</vt:lpstr>
      <vt:lpstr>Looking ahead: What is it all about? The duality of terms</vt:lpstr>
      <vt:lpstr>Physiology lit. (recommended)…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Cardiovascular Physiology</dc:title>
  <dc:creator>zooz</dc:creator>
  <cp:lastModifiedBy>Mazin</cp:lastModifiedBy>
  <cp:revision>129</cp:revision>
  <dcterms:created xsi:type="dcterms:W3CDTF">2019-02-03T11:47:37Z</dcterms:created>
  <dcterms:modified xsi:type="dcterms:W3CDTF">2024-01-16T08:54:31Z</dcterms:modified>
</cp:coreProperties>
</file>