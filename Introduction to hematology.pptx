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60" r:id="rId4"/>
    <p:sldId id="261" r:id="rId5"/>
    <p:sldId id="258" r:id="rId6"/>
    <p:sldId id="259" r:id="rId7"/>
    <p:sldId id="278" r:id="rId8"/>
    <p:sldId id="262" r:id="rId9"/>
    <p:sldId id="264" r:id="rId10"/>
    <p:sldId id="263" r:id="rId11"/>
    <p:sldId id="269" r:id="rId12"/>
    <p:sldId id="270" r:id="rId13"/>
    <p:sldId id="271" r:id="rId14"/>
    <p:sldId id="273" r:id="rId15"/>
    <p:sldId id="272" r:id="rId16"/>
    <p:sldId id="265" r:id="rId17"/>
    <p:sldId id="276" r:id="rId18"/>
    <p:sldId id="266" r:id="rId19"/>
    <p:sldId id="267" r:id="rId20"/>
    <p:sldId id="268" r:id="rId21"/>
    <p:sldId id="275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53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6/21/2022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6/21/2022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6/21/2022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33600"/>
            <a:ext cx="7406640" cy="1472184"/>
          </a:xfrm>
        </p:spPr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3883459" y="3244334"/>
            <a:ext cx="5306261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dirty="0">
                <a:latin typeface="AR DARLING" pitchFamily="2" charset="0"/>
              </a:rPr>
              <a:t>Introduction </a:t>
            </a:r>
            <a:r>
              <a:rPr lang="en-US" sz="6000" dirty="0" smtClean="0">
                <a:latin typeface="AR DARLING" pitchFamily="2" charset="0"/>
              </a:rPr>
              <a:t>to</a:t>
            </a:r>
          </a:p>
          <a:p>
            <a:pPr algn="ctr"/>
            <a:r>
              <a:rPr lang="en-US" sz="6000" dirty="0" smtClean="0">
                <a:latin typeface="AR DARLING" pitchFamily="2" charset="0"/>
              </a:rPr>
              <a:t> </a:t>
            </a:r>
            <a:r>
              <a:rPr lang="en-US" sz="6000" dirty="0">
                <a:latin typeface="AR DARLING" pitchFamily="2" charset="0"/>
              </a:rPr>
              <a:t>Hematology</a:t>
            </a:r>
          </a:p>
        </p:txBody>
      </p:sp>
    </p:spTree>
    <p:extLst>
      <p:ext uri="{BB962C8B-B14F-4D97-AF65-F5344CB8AC3E}">
        <p14:creationId xmlns:p14="http://schemas.microsoft.com/office/powerpoint/2010/main" val="3100506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-30480"/>
            <a:ext cx="7498080" cy="1143000"/>
          </a:xfrm>
        </p:spPr>
        <p:txBody>
          <a:bodyPr/>
          <a:lstStyle/>
          <a:p>
            <a:r>
              <a:rPr lang="en-US" dirty="0"/>
              <a:t>Definition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90600" y="1143000"/>
            <a:ext cx="7943088" cy="4800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Hematology (Greek </a:t>
            </a:r>
            <a:r>
              <a:rPr lang="en-US" dirty="0" err="1"/>
              <a:t>Haema</a:t>
            </a:r>
            <a:r>
              <a:rPr lang="en-US" dirty="0"/>
              <a:t> = Blood; logy = Study of). </a:t>
            </a:r>
          </a:p>
          <a:p>
            <a:endParaRPr lang="en-US" dirty="0"/>
          </a:p>
          <a:p>
            <a:r>
              <a:rPr lang="en-US" dirty="0"/>
              <a:t>Hematology is the branch of medical science that deals with the study of blood.</a:t>
            </a:r>
          </a:p>
          <a:p>
            <a:endParaRPr lang="en-US" dirty="0"/>
          </a:p>
          <a:p>
            <a:r>
              <a:rPr lang="en-US" dirty="0"/>
              <a:t>Blood, along with the cardiovascular system constitutes the Circulatory system 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60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Blood is a type of connective tissues.</a:t>
            </a:r>
          </a:p>
          <a:p>
            <a:r>
              <a:rPr lang="en-US" dirty="0" smtClean="0"/>
              <a:t>Volume </a:t>
            </a:r>
            <a:r>
              <a:rPr lang="en-US" dirty="0"/>
              <a:t>of blood is about 5 litters in an average adult male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8% of the total body weight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pH of blood </a:t>
            </a:r>
            <a:r>
              <a:rPr lang="en-US" dirty="0"/>
              <a:t>in normal conditions is 7.4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Volume of plasma is about 3.5 </a:t>
            </a:r>
            <a:r>
              <a:rPr lang="en-US" dirty="0" smtClean="0"/>
              <a:t>L</a:t>
            </a:r>
          </a:p>
          <a:p>
            <a:r>
              <a:rPr lang="en-US" dirty="0" smtClean="0"/>
              <a:t>Blood </a:t>
            </a:r>
            <a:r>
              <a:rPr lang="en-US" dirty="0"/>
              <a:t>is five times more viscous </a:t>
            </a:r>
            <a:r>
              <a:rPr lang="en-US" dirty="0" smtClean="0"/>
              <a:t>than water</a:t>
            </a:r>
            <a:r>
              <a:rPr lang="en-US" dirty="0"/>
              <a:t>. It is mainly due to red blood cells </a:t>
            </a:r>
            <a:r>
              <a:rPr lang="en-US" dirty="0" smtClean="0"/>
              <a:t> and plasma proteins</a:t>
            </a:r>
            <a:r>
              <a:rPr lang="en-US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984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0"/>
            <a:ext cx="7498080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066800"/>
            <a:ext cx="8001000" cy="56388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384762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0480"/>
            <a:ext cx="7498080" cy="1143000"/>
          </a:xfrm>
        </p:spPr>
        <p:txBody>
          <a:bodyPr/>
          <a:lstStyle/>
          <a:p>
            <a:r>
              <a:rPr lang="en-US" dirty="0" smtClean="0"/>
              <a:t>Component of the blood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066800"/>
            <a:ext cx="8077200" cy="4800600"/>
          </a:xfrm>
        </p:spPr>
        <p:txBody>
          <a:bodyPr>
            <a:normAutofit/>
          </a:bodyPr>
          <a:lstStyle/>
          <a:p>
            <a:r>
              <a:rPr lang="en-US" dirty="0" smtClean="0"/>
              <a:t>It </a:t>
            </a:r>
            <a:r>
              <a:rPr lang="en-US" dirty="0"/>
              <a:t>consist of :</a:t>
            </a:r>
          </a:p>
          <a:p>
            <a:pPr marL="82296" indent="0">
              <a:buNone/>
            </a:pPr>
            <a:r>
              <a:rPr lang="en-US" dirty="0"/>
              <a:t>        1- Cells (cellular part).</a:t>
            </a:r>
          </a:p>
          <a:p>
            <a:pPr marL="82296" indent="0">
              <a:buNone/>
            </a:pPr>
            <a:r>
              <a:rPr lang="en-US" dirty="0"/>
              <a:t>        2- plasma (fluid part ).</a:t>
            </a:r>
          </a:p>
          <a:p>
            <a:r>
              <a:rPr lang="en-US" dirty="0"/>
              <a:t>The cells are: </a:t>
            </a:r>
          </a:p>
          <a:p>
            <a:pPr marL="82296" indent="0">
              <a:buNone/>
            </a:pPr>
            <a:r>
              <a:rPr lang="en-US" dirty="0"/>
              <a:t>a</a:t>
            </a:r>
            <a:r>
              <a:rPr lang="en-US" dirty="0" smtClean="0"/>
              <a:t>- </a:t>
            </a:r>
            <a:r>
              <a:rPr lang="en-US" dirty="0"/>
              <a:t>Red blood cells (RBCs) ,(erythrocytes).</a:t>
            </a:r>
          </a:p>
          <a:p>
            <a:pPr marL="82296" indent="0">
              <a:buNone/>
            </a:pPr>
            <a:r>
              <a:rPr lang="en-US" dirty="0"/>
              <a:t>b</a:t>
            </a:r>
            <a:r>
              <a:rPr lang="en-US" dirty="0" smtClean="0"/>
              <a:t>- </a:t>
            </a:r>
            <a:r>
              <a:rPr lang="en-US" dirty="0"/>
              <a:t>White blood cells (WBCs), (leukocytes).</a:t>
            </a:r>
          </a:p>
          <a:p>
            <a:pPr marL="82296" indent="0">
              <a:buNone/>
            </a:pPr>
            <a:r>
              <a:rPr lang="en-US" dirty="0"/>
              <a:t>c</a:t>
            </a:r>
            <a:r>
              <a:rPr lang="en-US" dirty="0" smtClean="0"/>
              <a:t>- </a:t>
            </a:r>
            <a:r>
              <a:rPr lang="en-US" dirty="0"/>
              <a:t>Platelets  (thrombocytes). </a:t>
            </a:r>
          </a:p>
        </p:txBody>
      </p:sp>
    </p:spTree>
    <p:extLst>
      <p:ext uri="{BB962C8B-B14F-4D97-AF65-F5344CB8AC3E}">
        <p14:creationId xmlns:p14="http://schemas.microsoft.com/office/powerpoint/2010/main" val="1993289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0"/>
            <a:ext cx="82296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1605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03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1143000"/>
          </a:xfrm>
        </p:spPr>
        <p:txBody>
          <a:bodyPr/>
          <a:lstStyle/>
          <a:p>
            <a:r>
              <a:rPr lang="en-US" dirty="0"/>
              <a:t>PLASMA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>
            <a:normAutofit fontScale="92500"/>
          </a:bodyPr>
          <a:lstStyle/>
          <a:p>
            <a:r>
              <a:rPr lang="en-US" dirty="0"/>
              <a:t>Plasma is </a:t>
            </a:r>
            <a:r>
              <a:rPr lang="en-US" dirty="0" smtClean="0"/>
              <a:t>the liquid </a:t>
            </a:r>
            <a:r>
              <a:rPr lang="en-US" dirty="0"/>
              <a:t>part of blood</a:t>
            </a:r>
            <a:r>
              <a:rPr lang="en-US" dirty="0" smtClean="0"/>
              <a:t>.</a:t>
            </a:r>
          </a:p>
          <a:p>
            <a:r>
              <a:rPr lang="en-US" dirty="0" smtClean="0"/>
              <a:t> It contains about 91</a:t>
            </a:r>
            <a:r>
              <a:rPr lang="en-US" dirty="0"/>
              <a:t>% </a:t>
            </a:r>
            <a:r>
              <a:rPr lang="en-US" dirty="0" smtClean="0"/>
              <a:t>-- </a:t>
            </a:r>
            <a:r>
              <a:rPr lang="en-US" dirty="0"/>
              <a:t>92% of water and 8% </a:t>
            </a:r>
            <a:r>
              <a:rPr lang="en-US" dirty="0" smtClean="0"/>
              <a:t>-- </a:t>
            </a:r>
            <a:r>
              <a:rPr lang="en-US" dirty="0"/>
              <a:t>9% of solids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solids are the organic and the inorganic </a:t>
            </a:r>
            <a:r>
              <a:rPr lang="en-US" dirty="0" smtClean="0"/>
              <a:t>substances</a:t>
            </a:r>
          </a:p>
          <a:p>
            <a:pPr marL="82296" indent="0">
              <a:buNone/>
            </a:pP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**Serum </a:t>
            </a:r>
          </a:p>
          <a:p>
            <a:pPr marL="82296" indent="0">
              <a:buNone/>
            </a:pPr>
            <a:r>
              <a:rPr lang="en-US" dirty="0" smtClean="0"/>
              <a:t>When </a:t>
            </a:r>
            <a:r>
              <a:rPr lang="en-US" dirty="0"/>
              <a:t>the blood </a:t>
            </a:r>
            <a:r>
              <a:rPr lang="en-US" dirty="0" smtClean="0"/>
              <a:t>is </a:t>
            </a:r>
            <a:r>
              <a:rPr lang="en-US" dirty="0"/>
              <a:t>collected in </a:t>
            </a:r>
            <a:r>
              <a:rPr lang="en-US" dirty="0" smtClean="0"/>
              <a:t>a container</a:t>
            </a:r>
            <a:r>
              <a:rPr lang="en-US" dirty="0"/>
              <a:t>, it clots. In this process, the </a:t>
            </a:r>
            <a:r>
              <a:rPr lang="en-US" dirty="0" smtClean="0"/>
              <a:t>fibrinogen (protein) is converted </a:t>
            </a:r>
            <a:r>
              <a:rPr lang="en-US" dirty="0"/>
              <a:t>into </a:t>
            </a:r>
            <a:r>
              <a:rPr lang="en-US" dirty="0" smtClean="0"/>
              <a:t>fibrin forming </a:t>
            </a:r>
            <a:r>
              <a:rPr lang="en-US" dirty="0"/>
              <a:t>the blood clot. </a:t>
            </a:r>
          </a:p>
        </p:txBody>
      </p:sp>
    </p:spTree>
    <p:extLst>
      <p:ext uri="{BB962C8B-B14F-4D97-AF65-F5344CB8AC3E}">
        <p14:creationId xmlns:p14="http://schemas.microsoft.com/office/powerpoint/2010/main" val="2404698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90600"/>
            <a:ext cx="8019288" cy="4800600"/>
          </a:xfrm>
        </p:spPr>
        <p:txBody>
          <a:bodyPr/>
          <a:lstStyle/>
          <a:p>
            <a:r>
              <a:rPr lang="en-US" dirty="0"/>
              <a:t>i.e. serum contains all the other </a:t>
            </a:r>
            <a:r>
              <a:rPr lang="en-US" dirty="0" smtClean="0"/>
              <a:t>constituents of </a:t>
            </a:r>
            <a:r>
              <a:rPr lang="en-US" dirty="0"/>
              <a:t>plasma except fibrinogen. </a:t>
            </a:r>
            <a:endParaRPr lang="en-US" dirty="0" smtClean="0"/>
          </a:p>
          <a:p>
            <a:r>
              <a:rPr lang="en-US" dirty="0" smtClean="0"/>
              <a:t>Fibrinogen </a:t>
            </a:r>
            <a:r>
              <a:rPr lang="en-US" dirty="0"/>
              <a:t>is absent </a:t>
            </a:r>
            <a:r>
              <a:rPr lang="en-US" dirty="0" smtClean="0"/>
              <a:t>in serum </a:t>
            </a:r>
            <a:r>
              <a:rPr lang="en-US" dirty="0"/>
              <a:t>because it is converted into fibrin during </a:t>
            </a:r>
            <a:r>
              <a:rPr lang="en-US" dirty="0" smtClean="0"/>
              <a:t>blood clotting</a:t>
            </a:r>
            <a:r>
              <a:rPr lang="en-US" dirty="0"/>
              <a:t>. </a:t>
            </a:r>
            <a:endParaRPr lang="en-US" dirty="0" smtClean="0"/>
          </a:p>
          <a:p>
            <a:pPr marL="82296" indent="0">
              <a:buNone/>
            </a:pPr>
            <a:endParaRPr lang="en-US" dirty="0"/>
          </a:p>
          <a:p>
            <a:pPr marL="82296" indent="0">
              <a:buNone/>
            </a:pPr>
            <a:r>
              <a:rPr lang="en-US" dirty="0" smtClean="0"/>
              <a:t>          </a:t>
            </a:r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Serum 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= Plasma – Fibrinogen</a:t>
            </a:r>
          </a:p>
        </p:txBody>
      </p:sp>
    </p:spTree>
    <p:extLst>
      <p:ext uri="{BB962C8B-B14F-4D97-AF65-F5344CB8AC3E}">
        <p14:creationId xmlns:p14="http://schemas.microsoft.com/office/powerpoint/2010/main" val="1250168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259875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Hematopoiesis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Definition :-</a:t>
            </a:r>
          </a:p>
          <a:p>
            <a:r>
              <a:rPr lang="en-US" dirty="0"/>
              <a:t> Hematopoiesis: mechanism of blood cells </a:t>
            </a:r>
            <a:r>
              <a:rPr lang="en-US" dirty="0" smtClean="0"/>
              <a:t>formation , stages </a:t>
            </a:r>
            <a:r>
              <a:rPr lang="en-US" dirty="0"/>
              <a:t>of </a:t>
            </a:r>
            <a:r>
              <a:rPr lang="en-US" dirty="0" smtClean="0"/>
              <a:t>development and differentiation. </a:t>
            </a:r>
            <a:endParaRPr lang="en-US" dirty="0"/>
          </a:p>
          <a:p>
            <a:r>
              <a:rPr lang="en-US" dirty="0"/>
              <a:t>It Include:</a:t>
            </a:r>
          </a:p>
          <a:p>
            <a:r>
              <a:rPr lang="en-US" dirty="0"/>
              <a:t>    1- Erythropoiesis: formation of RBCs.</a:t>
            </a:r>
          </a:p>
          <a:p>
            <a:r>
              <a:rPr lang="en-US" dirty="0"/>
              <a:t>    2- Leucopoiesis: formation of WBCs.</a:t>
            </a:r>
          </a:p>
          <a:p>
            <a:r>
              <a:rPr lang="en-US" dirty="0"/>
              <a:t>    3- </a:t>
            </a:r>
            <a:r>
              <a:rPr lang="en-US" dirty="0" err="1"/>
              <a:t>Thrombopoiesis</a:t>
            </a:r>
            <a:r>
              <a:rPr lang="en-US" dirty="0"/>
              <a:t>: formation of platelets.</a:t>
            </a:r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87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Sites of hematopoiesis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82296" indent="0">
              <a:buNone/>
            </a:pPr>
            <a:r>
              <a:rPr lang="en-US" u="sng" dirty="0"/>
              <a:t>Fetal period : </a:t>
            </a:r>
          </a:p>
          <a:p>
            <a:r>
              <a:rPr lang="en-US" dirty="0"/>
              <a:t>-First </a:t>
            </a:r>
            <a:r>
              <a:rPr lang="en-US" dirty="0" smtClean="0"/>
              <a:t>trimester (3monthes): </a:t>
            </a:r>
            <a:r>
              <a:rPr lang="en-US" dirty="0"/>
              <a:t>yolk sac.</a:t>
            </a:r>
          </a:p>
          <a:p>
            <a:r>
              <a:rPr lang="en-US" dirty="0"/>
              <a:t>-Second </a:t>
            </a:r>
            <a:r>
              <a:rPr lang="en-US" dirty="0" smtClean="0"/>
              <a:t>trimester (3monthes): </a:t>
            </a:r>
            <a:r>
              <a:rPr lang="en-US" dirty="0"/>
              <a:t>liver &amp; spleen.</a:t>
            </a:r>
          </a:p>
          <a:p>
            <a:r>
              <a:rPr lang="en-US" dirty="0"/>
              <a:t>-Third </a:t>
            </a:r>
            <a:r>
              <a:rPr lang="en-US" dirty="0" smtClean="0"/>
              <a:t>trimester (3monthes): </a:t>
            </a:r>
            <a:r>
              <a:rPr lang="en-US" dirty="0"/>
              <a:t>red bone marrow.</a:t>
            </a:r>
          </a:p>
          <a:p>
            <a:endParaRPr lang="en-US" dirty="0"/>
          </a:p>
          <a:p>
            <a:pPr marL="82296" indent="0">
              <a:buNone/>
            </a:pPr>
            <a:r>
              <a:rPr lang="en-US" u="sng" dirty="0"/>
              <a:t> After birth: </a:t>
            </a:r>
          </a:p>
          <a:p>
            <a:r>
              <a:rPr lang="en-US" dirty="0"/>
              <a:t>-Red bone marrow of all bones at first.</a:t>
            </a:r>
          </a:p>
          <a:p>
            <a:r>
              <a:rPr lang="en-US" dirty="0"/>
              <a:t>-Then the active red bone marrow becomes gradually replaced by inactive yellow marrow.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710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US" u="sng" dirty="0" smtClean="0"/>
              <a:t>The </a:t>
            </a:r>
            <a:r>
              <a:rPr lang="en-US" u="sng" dirty="0"/>
              <a:t>sites during adult :-</a:t>
            </a:r>
          </a:p>
          <a:p>
            <a:pPr marL="82296" indent="0">
              <a:buNone/>
            </a:pPr>
            <a:r>
              <a:rPr lang="en-US" dirty="0"/>
              <a:t>At about age of 20y the red marrow is confined to:</a:t>
            </a:r>
          </a:p>
          <a:p>
            <a:r>
              <a:rPr lang="en-US" dirty="0"/>
              <a:t>-The flat bones (skull, scapula, ribs, sternum, vertebrae &amp; iliac bone ).</a:t>
            </a:r>
          </a:p>
          <a:p>
            <a:r>
              <a:rPr lang="en-US" dirty="0"/>
              <a:t>-The end of long bones.</a:t>
            </a:r>
          </a:p>
          <a:p>
            <a:r>
              <a:rPr lang="en-US" dirty="0"/>
              <a:t>-Small bones of the hand &amp; feet.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52400"/>
            <a:ext cx="4335056" cy="670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4463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89916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770205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28600"/>
            <a:ext cx="7498080" cy="1143000"/>
          </a:xfrm>
        </p:spPr>
        <p:txBody>
          <a:bodyPr/>
          <a:lstStyle/>
          <a:p>
            <a:r>
              <a:rPr lang="en-US" dirty="0"/>
              <a:t>STEM CELLS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5257800"/>
          </a:xfrm>
        </p:spPr>
        <p:txBody>
          <a:bodyPr>
            <a:normAutofit/>
          </a:bodyPr>
          <a:lstStyle/>
          <a:p>
            <a:r>
              <a:rPr lang="en-US" dirty="0"/>
              <a:t>Stem cells are the primary cells capable of </a:t>
            </a:r>
            <a:r>
              <a:rPr lang="en-US" dirty="0" smtClean="0"/>
              <a:t>self-renewal and </a:t>
            </a:r>
            <a:r>
              <a:rPr lang="en-US" dirty="0"/>
              <a:t>differentiating into specialized cells 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err="1"/>
              <a:t>Hemopoietic</a:t>
            </a:r>
            <a:r>
              <a:rPr lang="en-US" dirty="0"/>
              <a:t> stem cells are the primitive cells in </a:t>
            </a:r>
            <a:r>
              <a:rPr lang="en-US" dirty="0" smtClean="0"/>
              <a:t>the bone </a:t>
            </a:r>
            <a:r>
              <a:rPr lang="en-US" dirty="0"/>
              <a:t>marrow, which give rise to the blood cells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02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Hemopoietic</a:t>
            </a:r>
            <a:r>
              <a:rPr lang="en-US" dirty="0"/>
              <a:t> stem cells in the bone marrow are called uncommitted pluripotent </a:t>
            </a:r>
            <a:r>
              <a:rPr lang="en-US" dirty="0" err="1"/>
              <a:t>hemopoietic</a:t>
            </a:r>
            <a:r>
              <a:rPr lang="en-US" dirty="0"/>
              <a:t> stem cells (PHSC</a:t>
            </a:r>
            <a:r>
              <a:rPr lang="en-US" dirty="0" smtClean="0"/>
              <a:t>)</a:t>
            </a:r>
          </a:p>
          <a:p>
            <a:r>
              <a:rPr lang="en-US" dirty="0" smtClean="0"/>
              <a:t> It </a:t>
            </a:r>
            <a:r>
              <a:rPr lang="en-US" dirty="0"/>
              <a:t>is defined as a cell that can give rise to all types of blood cells. </a:t>
            </a:r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15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/>
          <a:lstStyle/>
          <a:p>
            <a:r>
              <a:rPr lang="en-US" dirty="0"/>
              <a:t>When the cells are designed to form a particular type of blood cell, the uncommitted PHSCs are called committed PHSCs which is restricted to give rise to one group of blood cells.</a:t>
            </a:r>
          </a:p>
        </p:txBody>
      </p:sp>
    </p:spTree>
    <p:extLst>
      <p:ext uri="{BB962C8B-B14F-4D97-AF65-F5344CB8AC3E}">
        <p14:creationId xmlns:p14="http://schemas.microsoft.com/office/powerpoint/2010/main" val="218696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535659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85116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6779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382903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0"/>
            <a:ext cx="8321041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445886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158</TotalTime>
  <Words>532</Words>
  <Application>Microsoft Office PowerPoint</Application>
  <PresentationFormat>On-screen Show (4:3)</PresentationFormat>
  <Paragraphs>61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Solstice</vt:lpstr>
      <vt:lpstr> </vt:lpstr>
      <vt:lpstr>Definition </vt:lpstr>
      <vt:lpstr>Blood</vt:lpstr>
      <vt:lpstr>PowerPoint Presentation</vt:lpstr>
      <vt:lpstr>Component of the blood</vt:lpstr>
      <vt:lpstr>PowerPoint Presentation</vt:lpstr>
      <vt:lpstr>PowerPoint Presentation</vt:lpstr>
      <vt:lpstr>PLASMA</vt:lpstr>
      <vt:lpstr>PowerPoint Presentation</vt:lpstr>
      <vt:lpstr>PowerPoint Presentation</vt:lpstr>
      <vt:lpstr>Hematopoiesis</vt:lpstr>
      <vt:lpstr>Sites of hematopoiesis</vt:lpstr>
      <vt:lpstr>PowerPoint Presentation</vt:lpstr>
      <vt:lpstr>PowerPoint Presentation</vt:lpstr>
      <vt:lpstr>PowerPoint Presentation</vt:lpstr>
      <vt:lpstr>STEM CELLS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Hematology</dc:title>
  <dc:creator>Wafa</dc:creator>
  <cp:lastModifiedBy>Wafa</cp:lastModifiedBy>
  <cp:revision>46</cp:revision>
  <dcterms:created xsi:type="dcterms:W3CDTF">2006-08-16T00:00:00Z</dcterms:created>
  <dcterms:modified xsi:type="dcterms:W3CDTF">2022-06-21T08:15:13Z</dcterms:modified>
</cp:coreProperties>
</file>