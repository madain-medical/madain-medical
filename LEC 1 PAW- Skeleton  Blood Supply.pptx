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3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51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6" descr="Brickwork-HD-R1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048584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585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58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587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SD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  <p:sp>
        <p:nvSpPr>
          <p:cNvPr id="1048593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5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8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97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8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0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0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2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8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8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4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5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9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2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3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7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7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6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6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6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6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07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70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7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8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6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8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9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7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7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  <p:sp>
        <p:nvSpPr>
          <p:cNvPr id="104870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70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2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6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7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7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7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7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7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7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7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8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7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7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3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6" descr="Brickwork-HD-R1a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048576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7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048578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79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0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1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B4ACC08-7FD2-4817-9012-29A5B8B94E4F}" type="datetimeFigureOut">
              <a:rPr lang="en-SD" smtClean="0"/>
              <a:t>23/07/2025</a:t>
            </a:fld>
            <a:endParaRPr lang="en-SD"/>
          </a:p>
        </p:txBody>
      </p:sp>
      <p:sp>
        <p:nvSpPr>
          <p:cNvPr id="104858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SD"/>
          </a:p>
        </p:txBody>
      </p:sp>
      <p:sp>
        <p:nvSpPr>
          <p:cNvPr id="104858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A0BE99C-5970-4C4D-8C77-E1D80B22921F}" type="slidenum">
              <a:rPr lang="en-SD" smtClean="0"/>
              <a:t>‹#›</a:t>
            </a:fld>
            <a:endParaRPr lang="en-S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 smtClean="0"/>
              <a:t>Posterior abdominal wall</a:t>
            </a:r>
            <a:br>
              <a:rPr lang="en-US" sz="6600" dirty="0" smtClean="0"/>
            </a:br>
            <a:r>
              <a:rPr lang="en-US" sz="6600" dirty="0" smtClean="0"/>
              <a:t>Skeleton </a:t>
            </a:r>
            <a:r>
              <a:rPr lang="en-US" sz="6600" dirty="0"/>
              <a:t>&amp; vessels of Paw</a:t>
            </a:r>
            <a:endParaRPr lang="en-SD" sz="6600" dirty="0"/>
          </a:p>
        </p:txBody>
      </p:sp>
      <p:sp>
        <p:nvSpPr>
          <p:cNvPr id="104859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By: m. g. hamaad</a:t>
            </a:r>
            <a:endParaRPr lang="en-S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Lumbar vertebrae</a:t>
            </a:r>
            <a:endParaRPr lang="en-SD" dirty="0"/>
          </a:p>
        </p:txBody>
      </p:sp>
      <p:sp>
        <p:nvSpPr>
          <p:cNvPr id="1048603" name="Content Placeholder 2"/>
          <p:cNvSpPr>
            <a:spLocks noGrp="1"/>
          </p:cNvSpPr>
          <p:nvPr>
            <p:ph sz="quarter" idx="13"/>
          </p:nvPr>
        </p:nvSpPr>
        <p:spPr>
          <a:xfrm>
            <a:off x="320511" y="727588"/>
            <a:ext cx="5976593" cy="4847302"/>
          </a:xfrm>
        </p:spPr>
        <p:txBody>
          <a:bodyPr>
            <a:normAutofit fontScale="92500"/>
          </a:bodyPr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features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There are 5 L V.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Lumbar vertebrae have massive body.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Vertebral foramen is triangular.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Spine is quadrangular.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Superior articular facet is concave. Inferior articular facet is convex.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Posterior- inferior part of root of transverse process has a rough elevation called </a:t>
            </a:r>
            <a:r>
              <a:rPr lang="en-US" u="sng" cap="none" dirty="0">
                <a:latin typeface="Aharoni" panose="02010803020104030203" pitchFamily="2" charset="-79"/>
                <a:cs typeface="Aharoni" panose="02010803020104030203" pitchFamily="2" charset="-79"/>
              </a:rPr>
              <a:t>accessory process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  <a:endParaRPr lang="en-SD" cap="none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097154" name="Content Placeholder 5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297103" y="1121821"/>
            <a:ext cx="5371923" cy="4252764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8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8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8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8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897559" y="327582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Lumbar vertebrae</a:t>
            </a:r>
            <a:endParaRPr lang="en-SD" dirty="0"/>
          </a:p>
        </p:txBody>
      </p:sp>
      <p:sp>
        <p:nvSpPr>
          <p:cNvPr id="1048610" name="Content Placeholder 2"/>
          <p:cNvSpPr>
            <a:spLocks noGrp="1"/>
          </p:cNvSpPr>
          <p:nvPr>
            <p:ph sz="quarter" idx="13"/>
          </p:nvPr>
        </p:nvSpPr>
        <p:spPr>
          <a:xfrm>
            <a:off x="897559" y="1027522"/>
            <a:ext cx="10244923" cy="4347063"/>
          </a:xfrm>
        </p:spPr>
        <p:txBody>
          <a:bodyPr/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cap="none" dirty="0">
                <a:latin typeface="Arial Rounded MT Bold" panose="020F0704030504030204" pitchFamily="34" charset="0"/>
                <a:cs typeface="Aharoni" panose="02010803020104030203" pitchFamily="2" charset="-79"/>
              </a:rPr>
              <a:t>Total number of lumbar vertebrae : 5 vertebrae.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cap="none" dirty="0">
                <a:latin typeface="Arial Rounded MT Bold" panose="020F0704030504030204" pitchFamily="34" charset="0"/>
                <a:cs typeface="Aharoni" panose="02010803020104030203" pitchFamily="2" charset="-79"/>
              </a:rPr>
              <a:t>Typical: first to fourth.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cap="none" dirty="0">
                <a:latin typeface="Arial Rounded MT Bold" panose="020F0704030504030204" pitchFamily="34" charset="0"/>
                <a:cs typeface="Aharoni" panose="02010803020104030203" pitchFamily="2" charset="-79"/>
              </a:rPr>
              <a:t>Atypical : fifth.</a:t>
            </a:r>
            <a:endParaRPr lang="en-SD" sz="2200" cap="none" dirty="0"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Typical Lumbar vertebrae</a:t>
            </a:r>
            <a:endParaRPr lang="en-SD" dirty="0"/>
          </a:p>
        </p:txBody>
      </p:sp>
      <p:sp>
        <p:nvSpPr>
          <p:cNvPr id="1048612" name="Content Placeholder 2"/>
          <p:cNvSpPr>
            <a:spLocks noGrp="1"/>
          </p:cNvSpPr>
          <p:nvPr>
            <p:ph sz="quarter" idx="13"/>
          </p:nvPr>
        </p:nvSpPr>
        <p:spPr>
          <a:xfrm>
            <a:off x="716437" y="1027522"/>
            <a:ext cx="5580667" cy="4347063"/>
          </a:xfrm>
        </p:spPr>
        <p:txBody>
          <a:bodyPr>
            <a:normAutofit/>
          </a:bodyPr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</a:t>
            </a:r>
            <a:r>
              <a:rPr lang="en-US" dirty="0"/>
              <a:t>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Body.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Vertebral foramen.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Vertebral {neural} arch: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Pedicles.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Laminae.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Transverse processes.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Articular processes.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Spinous process.</a:t>
            </a:r>
          </a:p>
        </p:txBody>
      </p:sp>
      <p:pic>
        <p:nvPicPr>
          <p:cNvPr id="2097155" name="Content Placeholder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630252" y="838985"/>
            <a:ext cx="4664189" cy="4664187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8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48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4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48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4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486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body</a:t>
            </a:r>
            <a:endParaRPr lang="en-SD" dirty="0"/>
          </a:p>
        </p:txBody>
      </p:sp>
      <p:sp>
        <p:nvSpPr>
          <p:cNvPr id="1048614" name="Content Placeholder 2"/>
          <p:cNvSpPr>
            <a:spLocks noGrp="1"/>
          </p:cNvSpPr>
          <p:nvPr>
            <p:ph sz="quarter" idx="13"/>
          </p:nvPr>
        </p:nvSpPr>
        <p:spPr>
          <a:xfrm>
            <a:off x="499621" y="1027522"/>
            <a:ext cx="5797483" cy="43470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Large.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Has: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Anterior surface: provides attachment for: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u="sng" cap="none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Anterior longitudinal ligament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u="sng" cap="none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Crura of diaphragm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Lateral surfaces: provides attachment for: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u="sng" cap="none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Psoas major and its tendinous arch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Posterior surface: provides attachment for: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u="sng" cap="none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Posterior longitudinal ligament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pic>
        <p:nvPicPr>
          <p:cNvPr id="2097156" name="Content Placeholder 6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426003" y="735291"/>
            <a:ext cx="5266376" cy="4889588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4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4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4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4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4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Vertebral arch</a:t>
            </a:r>
            <a:endParaRPr lang="en-SD" dirty="0"/>
          </a:p>
        </p:txBody>
      </p:sp>
      <p:sp>
        <p:nvSpPr>
          <p:cNvPr id="1048616" name="Content Placeholder 2"/>
          <p:cNvSpPr>
            <a:spLocks noGrp="1"/>
          </p:cNvSpPr>
          <p:nvPr>
            <p:ph sz="quarter" idx="13"/>
          </p:nvPr>
        </p:nvSpPr>
        <p:spPr>
          <a:xfrm>
            <a:off x="320511" y="1027522"/>
            <a:ext cx="5976593" cy="4347063"/>
          </a:xfrm>
        </p:spPr>
        <p:txBody>
          <a:bodyPr>
            <a:normAutofit/>
          </a:bodyPr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pedicles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Short &amp; strong.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It has: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Superior vertebral notch: on its upper border.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Inferior vertebral notch: on inferior border, </a:t>
            </a:r>
            <a:r>
              <a:rPr lang="en-US" u="sng" cap="none" dirty="0">
                <a:latin typeface="Aharoni" panose="02010803020104030203" pitchFamily="2" charset="-79"/>
                <a:cs typeface="Aharoni" panose="02010803020104030203" pitchFamily="2" charset="-79"/>
              </a:rPr>
              <a:t>deeper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cap="none" dirty="0" smtClean="0">
                <a:latin typeface="Aharoni" panose="02010803020104030203" pitchFamily="2" charset="-79"/>
                <a:cs typeface="Aharoni" panose="02010803020104030203" pitchFamily="2" charset="-79"/>
              </a:rPr>
              <a:t>more 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than superior one.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The notches of all pedicles together form </a:t>
            </a:r>
            <a:r>
              <a:rPr lang="en-US" u="sng" cap="none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intervertebral foramina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: for spinal nerves.</a:t>
            </a:r>
            <a:endParaRPr lang="en-SD" cap="none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097157" name="Content Placeholder 5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297103" y="1121821"/>
            <a:ext cx="5371923" cy="4252764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86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6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6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86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86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86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Vertebral arch</a:t>
            </a:r>
            <a:endParaRPr lang="en-SD" dirty="0"/>
          </a:p>
        </p:txBody>
      </p:sp>
      <p:sp>
        <p:nvSpPr>
          <p:cNvPr id="1048618" name="Content Placeholder 2"/>
          <p:cNvSpPr>
            <a:spLocks noGrp="1"/>
          </p:cNvSpPr>
          <p:nvPr>
            <p:ph sz="quarter" idx="13"/>
          </p:nvPr>
        </p:nvSpPr>
        <p:spPr>
          <a:xfrm>
            <a:off x="320511" y="1027522"/>
            <a:ext cx="5976593" cy="4347063"/>
          </a:xfrm>
        </p:spPr>
        <p:txBody>
          <a:bodyPr>
            <a:normAutofit/>
          </a:bodyPr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laminae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Short and Thick.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Directed posterior- medially.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They provide attachment for: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Ligamentum flavum.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Deep muscles of back.</a:t>
            </a:r>
            <a:endParaRPr lang="en-SD" cap="none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097158" name="Content Placeholder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206044" y="690399"/>
            <a:ext cx="4851598" cy="4851596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8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Vertebral arch</a:t>
            </a:r>
            <a:endParaRPr lang="en-SD" dirty="0"/>
          </a:p>
        </p:txBody>
      </p:sp>
      <p:sp>
        <p:nvSpPr>
          <p:cNvPr id="1048620" name="Content Placeholder 2"/>
          <p:cNvSpPr>
            <a:spLocks noGrp="1"/>
          </p:cNvSpPr>
          <p:nvPr>
            <p:ph sz="quarter" idx="13"/>
          </p:nvPr>
        </p:nvSpPr>
        <p:spPr>
          <a:xfrm>
            <a:off x="320511" y="1027522"/>
            <a:ext cx="5976593" cy="4347063"/>
          </a:xfrm>
        </p:spPr>
        <p:txBody>
          <a:bodyPr>
            <a:normAutofit fontScale="95000" lnSpcReduction="10000"/>
          </a:bodyPr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spine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Quadrilateral.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Provides attachment for: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Supraspinatus ligament.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 smtClean="0">
                <a:latin typeface="Aharoni" panose="02010803020104030203" pitchFamily="2" charset="-79"/>
                <a:cs typeface="Aharoni" panose="02010803020104030203" pitchFamily="2" charset="-79"/>
              </a:rPr>
              <a:t>Thoracolumbar 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fascia.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cap="none" dirty="0">
                <a:latin typeface="Aharoni" panose="02010803020104030203" pitchFamily="2" charset="-79"/>
                <a:cs typeface="Aharoni" panose="02010803020104030203" pitchFamily="2" charset="-79"/>
              </a:rPr>
              <a:t>Interspinous ligaments.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cap="none" dirty="0">
                <a:latin typeface="Aharoni" panose="02010803020104030203" pitchFamily="2" charset="-79"/>
                <a:cs typeface="Aharoni" panose="02010803020104030203" pitchFamily="2" charset="-79"/>
              </a:rPr>
              <a:t>Interspinalis muscles.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Deep muscles of back.</a:t>
            </a:r>
            <a:endParaRPr lang="en-SD" cap="none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097159" name="Content Placeholder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206044" y="690399"/>
            <a:ext cx="4851598" cy="4851596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8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48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48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Vertebral arch</a:t>
            </a:r>
            <a:endParaRPr lang="en-SD" dirty="0"/>
          </a:p>
        </p:txBody>
      </p:sp>
      <p:sp>
        <p:nvSpPr>
          <p:cNvPr id="1048622" name="Content Placeholder 2"/>
          <p:cNvSpPr>
            <a:spLocks noGrp="1"/>
          </p:cNvSpPr>
          <p:nvPr>
            <p:ph sz="quarter" idx="13"/>
          </p:nvPr>
        </p:nvSpPr>
        <p:spPr>
          <a:xfrm>
            <a:off x="320511" y="1027522"/>
            <a:ext cx="5976593" cy="4347063"/>
          </a:xfrm>
        </p:spPr>
        <p:txBody>
          <a:bodyPr>
            <a:normAutofit fontScale="90000" lnSpcReduction="20000"/>
          </a:bodyPr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Transverse Process (TP)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Tapering and Thin.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Homologous with ribs.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Provides attachment for: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Medial and lateral arcuate ligaments.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Iliolumbar ligament.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Thoracolumbar fascia.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Psoas major.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Quadratus lumborum.</a:t>
            </a:r>
            <a:endParaRPr lang="en-SD" cap="none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097160" name="Content Placeholder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486592" y="904974"/>
            <a:ext cx="4592160" cy="4592158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8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48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486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486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486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486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Vertebral arch</a:t>
            </a:r>
            <a:endParaRPr lang="en-SD" dirty="0"/>
          </a:p>
        </p:txBody>
      </p:sp>
      <p:sp>
        <p:nvSpPr>
          <p:cNvPr id="1048624" name="Content Placeholder 2"/>
          <p:cNvSpPr>
            <a:spLocks noGrp="1"/>
          </p:cNvSpPr>
          <p:nvPr>
            <p:ph sz="quarter" idx="13"/>
          </p:nvPr>
        </p:nvSpPr>
        <p:spPr>
          <a:xfrm>
            <a:off x="226243" y="838985"/>
            <a:ext cx="6608189" cy="4746721"/>
          </a:xfrm>
        </p:spPr>
        <p:txBody>
          <a:bodyPr>
            <a:normAutofit fontScale="97500"/>
          </a:bodyPr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Articular Process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Has: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Superior articular facet: Concave, Medially.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Inferior articular facet: Convex, Laterally.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Posterior border of superior articular process contains: </a:t>
            </a:r>
            <a:r>
              <a:rPr lang="en-US" u="sng" cap="none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mamillary process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pic>
        <p:nvPicPr>
          <p:cNvPr id="2097161" name="Content Placeholder 6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834432" y="838985"/>
            <a:ext cx="4798245" cy="4746722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486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97559" y="139045"/>
            <a:ext cx="10396882" cy="699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 typical vertebra: l5</a:t>
            </a:r>
            <a:endParaRPr lang="en-SD" dirty="0"/>
          </a:p>
        </p:txBody>
      </p:sp>
      <p:sp>
        <p:nvSpPr>
          <p:cNvPr id="1048626" name="Content Placeholder 2"/>
          <p:cNvSpPr>
            <a:spLocks noGrp="1"/>
          </p:cNvSpPr>
          <p:nvPr>
            <p:ph sz="quarter" idx="13"/>
          </p:nvPr>
        </p:nvSpPr>
        <p:spPr>
          <a:xfrm>
            <a:off x="226243" y="1047258"/>
            <a:ext cx="6608189" cy="43301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Thick and short transverse process: </a:t>
            </a:r>
          </a:p>
          <a:p>
            <a:pPr>
              <a:lnSpc>
                <a:spcPct val="150000"/>
              </a:lnSpc>
            </a:pPr>
            <a:r>
              <a:rPr lang="en-US" u="sng" cap="none" dirty="0">
                <a:latin typeface="Aharoni" panose="02010803020104030203" pitchFamily="2" charset="-79"/>
                <a:cs typeface="Aharoni" panose="02010803020104030203" pitchFamily="2" charset="-79"/>
              </a:rPr>
              <a:t>Connected to whole of pedicles and part of body</a:t>
            </a: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The distance between inferior articular process is more than superior articular process.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The body is very much deeper anteriorly. </a:t>
            </a:r>
            <a:endParaRPr lang="zh-CN" altLang="en-US" dirty="0"/>
          </a:p>
        </p:txBody>
      </p:sp>
      <p:pic>
        <p:nvPicPr>
          <p:cNvPr id="2097162" name="Content Placeholder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7535223" y="1047257"/>
            <a:ext cx="3927772" cy="4330176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685801" y="2205872"/>
            <a:ext cx="10394707" cy="1673415"/>
          </a:xfrm>
        </p:spPr>
        <p:txBody>
          <a:bodyPr/>
          <a:lstStyle/>
          <a:p>
            <a:pPr algn="ctr"/>
            <a:r>
              <a:rPr lang="en-US" dirty="0"/>
              <a:t>Vessels of paw</a:t>
            </a:r>
            <a:endParaRPr lang="en-S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98646" y="226244"/>
            <a:ext cx="10394707" cy="1074656"/>
          </a:xfrm>
        </p:spPr>
        <p:txBody>
          <a:bodyPr/>
          <a:lstStyle/>
          <a:p>
            <a:pPr algn="ctr"/>
            <a:r>
              <a:rPr lang="en-US" dirty="0"/>
              <a:t>Vessels of paw</a:t>
            </a:r>
            <a:endParaRPr lang="en-SD" dirty="0"/>
          </a:p>
        </p:txBody>
      </p:sp>
      <p:sp>
        <p:nvSpPr>
          <p:cNvPr id="1048634" name="Content Placeholder 2"/>
          <p:cNvSpPr>
            <a:spLocks noGrp="1"/>
          </p:cNvSpPr>
          <p:nvPr>
            <p:ph sz="quarter" idx="13"/>
          </p:nvPr>
        </p:nvSpPr>
        <p:spPr>
          <a:xfrm>
            <a:off x="898646" y="1923069"/>
            <a:ext cx="10394707" cy="23001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Vasculature of PAW includes:</a:t>
            </a:r>
          </a:p>
          <a:p>
            <a:pPr>
              <a:lnSpc>
                <a:spcPct val="150000"/>
              </a:lnSpc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Abdominal Aorta &amp; its branches.</a:t>
            </a:r>
          </a:p>
          <a:p>
            <a:pPr>
              <a:lnSpc>
                <a:spcPct val="150000"/>
              </a:lnSpc>
            </a:pPr>
            <a:r>
              <a:rPr lang="en-US" cap="none" dirty="0">
                <a:latin typeface="Aharoni" panose="02010803020104030203" pitchFamily="2" charset="-79"/>
                <a:cs typeface="Aharoni" panose="02010803020104030203" pitchFamily="2" charset="-79"/>
              </a:rPr>
              <a:t>IVC &amp; its tributaries.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897559" y="0"/>
            <a:ext cx="10396882" cy="115814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Abdominal aorta</a:t>
            </a:r>
            <a:endParaRPr lang="en-SD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6" name="Content Placeholder 2"/>
          <p:cNvSpPr>
            <a:spLocks noGrp="1"/>
          </p:cNvSpPr>
          <p:nvPr>
            <p:ph sz="quarter" idx="13"/>
          </p:nvPr>
        </p:nvSpPr>
        <p:spPr>
          <a:xfrm>
            <a:off x="339365" y="970962"/>
            <a:ext cx="6664750" cy="4603662"/>
          </a:xfrm>
        </p:spPr>
        <p:txBody>
          <a:bodyPr>
            <a:normAutofit fontScale="95000"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Continuation of thoracic aorta.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Enters abdomen behind median arcuate line.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Infront of left side of T12 body.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Descends down to body of L4 {where it divides into the two </a:t>
            </a:r>
            <a:r>
              <a:rPr lang="en-US" u="sng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common iliac arteries</a:t>
            </a:r>
            <a:r>
              <a:rPr lang="en-US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related to: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Splenic vein &amp; pancreatic body: cross in front of it.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vein, uncinate process, 3</a:t>
            </a:r>
            <a:r>
              <a:rPr lang="en-US" cap="none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 of duodenum.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IVC: on its right margin.</a:t>
            </a:r>
          </a:p>
        </p:txBody>
      </p:sp>
      <p:pic>
        <p:nvPicPr>
          <p:cNvPr id="2097163" name="Content Placeholder 5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875348" y="873312"/>
            <a:ext cx="4776182" cy="4603662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8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8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486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897559" y="0"/>
            <a:ext cx="10396882" cy="58010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</a:t>
            </a:r>
            <a:endParaRPr lang="en-S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8" name="Content Placeholder 2"/>
          <p:cNvSpPr>
            <a:spLocks noGrp="1"/>
          </p:cNvSpPr>
          <p:nvPr>
            <p:ph sz="quarter" idx="13"/>
          </p:nvPr>
        </p:nvSpPr>
        <p:spPr>
          <a:xfrm>
            <a:off x="897559" y="471948"/>
            <a:ext cx="6106556" cy="5171768"/>
          </a:xfrm>
        </p:spPr>
        <p:txBody>
          <a:bodyPr>
            <a:normAutofit fontScale="80000" lnSpcReduction="2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u="sng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Median sacral artery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from posterior surface of bifurcation area.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u="sng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Single ventral branches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Coeliac trunk {T12}.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mesenteric A {L1}.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Inferior mesenteric A {L3}.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100" u="sng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Lateral paired visceral branches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Suprarenal As {T12, L1}.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As {L1}.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Gonadal As {L2}.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100" u="sng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Lateral paired AW branches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Subcostal As {T12}.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Inferior phrenic As {T12}.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Lumbar As {L1- L4}.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100" u="sng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Terminal branches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 L common iliac As {L4}.</a:t>
            </a:r>
          </a:p>
        </p:txBody>
      </p:sp>
      <p:pic>
        <p:nvPicPr>
          <p:cNvPr id="2097164" name="Content Placeholder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7205286" y="754144"/>
            <a:ext cx="3512990" cy="4820481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48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8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8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48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486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48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86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486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486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486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486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486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486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897559" y="0"/>
            <a:ext cx="10396882" cy="83898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Coeliac trunk branches</a:t>
            </a:r>
            <a:endParaRPr lang="en-SD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5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952" y="678730"/>
            <a:ext cx="5332095" cy="4859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897559" y="0"/>
            <a:ext cx="10396882" cy="83898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 branches</a:t>
            </a:r>
            <a:endParaRPr lang="en-SD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6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162" y="738824"/>
            <a:ext cx="5019675" cy="49078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897559" y="0"/>
            <a:ext cx="10396882" cy="83898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 branches</a:t>
            </a:r>
            <a:endParaRPr lang="en-SD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162" y="738824"/>
            <a:ext cx="5019675" cy="49078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97559" y="0"/>
            <a:ext cx="10396882" cy="115814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Inferior vena cava</a:t>
            </a:r>
            <a:endParaRPr lang="en-SD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3" name="Content Placeholder 2"/>
          <p:cNvSpPr>
            <a:spLocks noGrp="1"/>
          </p:cNvSpPr>
          <p:nvPr>
            <p:ph sz="quarter" idx="13"/>
          </p:nvPr>
        </p:nvSpPr>
        <p:spPr>
          <a:xfrm>
            <a:off x="414779" y="1158140"/>
            <a:ext cx="5241303" cy="4110085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begins opposite L5 vertebra,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Formed by union of two common iliac veins behind the right common iliac artery.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runs upwards on the right of the aorta.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extends to the central tendon of the diaphragm.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pierces diaphragm at level of T8.</a:t>
            </a:r>
          </a:p>
        </p:txBody>
      </p:sp>
      <p:pic>
        <p:nvPicPr>
          <p:cNvPr id="2097168" name="Content Placeholder 5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875348" y="873312"/>
            <a:ext cx="4776182" cy="4603662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8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48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48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897559" y="0"/>
            <a:ext cx="10396882" cy="97096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tributaries</a:t>
            </a:r>
            <a:endParaRPr lang="en-SD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5" name="Content Placeholder 2"/>
          <p:cNvSpPr>
            <a:spLocks noGrp="1"/>
          </p:cNvSpPr>
          <p:nvPr>
            <p:ph sz="quarter" idx="13"/>
          </p:nvPr>
        </p:nvSpPr>
        <p:spPr>
          <a:xfrm>
            <a:off x="897559" y="754144"/>
            <a:ext cx="5955728" cy="48204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Vena caval tributaries are not </a:t>
            </a:r>
            <a:r>
              <a:rPr lang="en-US" u="sng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branches of the abdominal aorta.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corresponding to the three ventral branches of aorta.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u="sng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Tributaries include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Hepatic veins.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iliac veins.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Lumbar veins.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gonadal vein (left one to left renal V).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suprarenal vein (left one to left renal V).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Inferior phrenic veins.</a:t>
            </a:r>
          </a:p>
        </p:txBody>
      </p:sp>
      <p:pic>
        <p:nvPicPr>
          <p:cNvPr id="2097169" name="Content Placeholder 6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7022967" y="838986"/>
            <a:ext cx="4637964" cy="4735637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48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48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48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48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897559" y="0"/>
            <a:ext cx="10396882" cy="838986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in abdominal arteries</a:t>
            </a:r>
            <a:endParaRPr lang="en-S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0" name="Picture 4"/>
          <p:cNvPicPr>
            <a:picLocks noChangeAspect="1"/>
          </p:cNvPicPr>
          <p:nvPr/>
        </p:nvPicPr>
        <p:blipFill rotWithShape="1">
          <a:blip r:embed="rId2"/>
          <a:srcRect l="4602" t="4376" b="10272"/>
          <a:stretch>
            <a:fillRect/>
          </a:stretch>
        </p:blipFill>
        <p:spPr>
          <a:xfrm>
            <a:off x="1709393" y="838986"/>
            <a:ext cx="8773214" cy="48453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1066800" y="1574522"/>
            <a:ext cx="10058400" cy="33022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3800" dirty="0">
                <a:latin typeface="Brush Script MT" panose="03060802040406070304" pitchFamily="66" charset="0"/>
              </a:rPr>
              <a:t>That is 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750" fill="hold"/>
                                        <p:tgtEl>
                                          <p:spTgt spid="10486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750"/>
                                        <p:tgtEl>
                                          <p:spTgt spid="10486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1" grpId="0"/>
      <p:bldP spid="1048651" grpId="1"/>
      <p:bldP spid="1048651" grpId="2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693</Words>
  <Application>Microsoft Office PowerPoint</Application>
  <PresentationFormat>Custom</PresentationFormat>
  <Paragraphs>130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Main Event</vt:lpstr>
      <vt:lpstr>Posterior abdominal wall Skeleton &amp; vessels of Paw</vt:lpstr>
      <vt:lpstr>Lumbar vertebrae</vt:lpstr>
      <vt:lpstr>Lumbar vertebrae</vt:lpstr>
      <vt:lpstr>Typical Lumbar vertebrae</vt:lpstr>
      <vt:lpstr>body</vt:lpstr>
      <vt:lpstr>Vertebral arch</vt:lpstr>
      <vt:lpstr>Vertebral arch</vt:lpstr>
      <vt:lpstr>Vertebral arch</vt:lpstr>
      <vt:lpstr>Vertebral arch</vt:lpstr>
      <vt:lpstr>Vertebral arch</vt:lpstr>
      <vt:lpstr>A typical vertebra: l5</vt:lpstr>
      <vt:lpstr>Vessels of paw</vt:lpstr>
      <vt:lpstr>Vessels of paw</vt:lpstr>
      <vt:lpstr>Abdominal aorta</vt:lpstr>
      <vt:lpstr>branches</vt:lpstr>
      <vt:lpstr>Coeliac trunk branches</vt:lpstr>
      <vt:lpstr>SM branches</vt:lpstr>
      <vt:lpstr>IM branches</vt:lpstr>
      <vt:lpstr>Inferior vena cava</vt:lpstr>
      <vt:lpstr>tributaries</vt:lpstr>
      <vt:lpstr>Variations in abdominal arteries</vt:lpstr>
      <vt:lpstr>That is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Skeleton &amp; vessels of Paw</dc:title>
  <dc:creator>MEDICO126</dc:creator>
  <cp:lastModifiedBy>Mohamed Hammad</cp:lastModifiedBy>
  <cp:revision>8</cp:revision>
  <dcterms:created xsi:type="dcterms:W3CDTF">2021-08-21T02:08:25Z</dcterms:created>
  <dcterms:modified xsi:type="dcterms:W3CDTF">2025-07-23T17:30:50Z</dcterms:modified>
</cp:coreProperties>
</file>