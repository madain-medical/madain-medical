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</p:sldMasterIdLst>
  <p:notesMasterIdLst>
    <p:notesMasterId r:id="rId19"/>
  </p:notesMasterIdLst>
  <p:sldIdLst>
    <p:sldId id="274" r:id="rId3"/>
    <p:sldId id="257" r:id="rId4"/>
    <p:sldId id="258" r:id="rId5"/>
    <p:sldId id="273" r:id="rId6"/>
    <p:sldId id="259" r:id="rId7"/>
    <p:sldId id="260" r:id="rId8"/>
    <p:sldId id="261" r:id="rId9"/>
    <p:sldId id="276" r:id="rId10"/>
    <p:sldId id="269" r:id="rId11"/>
    <p:sldId id="262" r:id="rId12"/>
    <p:sldId id="263" r:id="rId13"/>
    <p:sldId id="264" r:id="rId14"/>
    <p:sldId id="265" r:id="rId15"/>
    <p:sldId id="266" r:id="rId16"/>
    <p:sldId id="275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15" autoAdjust="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700FE-BB54-417F-94C2-38DC39764909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817AB-4D07-43D1-A8C7-A0145F52BC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88258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F49FC5-7D60-41CD-97EC-CAF289E0ADEF}" type="slidenum">
              <a:rPr lang="en-US"/>
              <a:pPr/>
              <a:t>8</a:t>
            </a:fld>
            <a:endParaRPr lang="en-US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3466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0F5C89-B2A3-49E7-8C78-3EB4B477A0B5}" type="slidenum">
              <a:rPr lang="en-US"/>
              <a:pPr/>
              <a:t>9</a:t>
            </a:fld>
            <a:endParaRPr lang="en-US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2815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عنصر نائب للتاريخ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17" name="عنصر نائب للتذييل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عنصر نائب لرقم الشريحة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مستطيل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مستطيل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مستطيل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مستطيل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مستطيل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عنوان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وان فرعي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56" name="مستطيل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مستطيل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مستطيل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مستطيل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شكل حر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شكل حر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شكل حر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شكل حر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شكل حر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شكل حر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شكل حر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شكل حر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شكل حر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شكل حر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شكل حر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شكل حر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شكل حر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شكل حر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شكل حر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مستطيل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مستطيل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مستطيل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مستطيل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مستطيل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مستطيل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مستطيل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مستطيل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مستطيل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مستطيل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مستطيل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مستطيل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مستطيل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رابط مستقيم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مجموعة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رابط مستقيم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رابط مستقيم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رابط مستقيم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عنوان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ar-SA" smtClean="0"/>
              <a:t>انقر فوق الرمز لإضافة صورة</a:t>
            </a:r>
            <a:endParaRPr kumimoji="0"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grpSp>
        <p:nvGrpSpPr>
          <p:cNvPr id="14" name="مجموعة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رابط مستقيم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رابط مستقيم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رابط مستقيم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مجموعة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رابط مستقيم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رابط مستقيم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رابط مستقيم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عنوان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22" name="عنوان فرعي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20" name="عنصر نائب للتذييل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عنصر نائب لرقم الشريحة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شكل بيضاوي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مستطيل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مستطيل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مستطيل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ar-SA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9" name="مخطط انسيابي: معالجة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خطط انسيابي: معالجة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مستطيل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ستطيل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مستطيل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مستطيل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مستطيل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عنصر نائب للعنوان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3" name="عنصر نائب للنص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14" name="عنصر نائب للتاريخ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عنصر نائب لرقم الشريحة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دائري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دائرة مجوفة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مستطيل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عنصر نائب للعنوان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صر نائب للنص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24" name="عنصر نائب للتاريخ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66C3DCB-5E7E-4B8F-8EAD-FAF4E2D34942}" type="datetimeFigureOut">
              <a:rPr lang="en-US" smtClean="0"/>
              <a:pPr/>
              <a:t>4/20/2021</a:t>
            </a:fld>
            <a:endParaRPr lang="en-US"/>
          </a:p>
        </p:txBody>
      </p:sp>
      <p:sp>
        <p:nvSpPr>
          <p:cNvPr id="10" name="عنصر نائب للتذييل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عنصر نائب لرقم الشريحة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B550690-BE06-41D6-B272-F099083E0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مستطيل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video" Target="Heart%20edit.wmv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2819400" y="228600"/>
            <a:ext cx="5867400" cy="2108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 b="1" dirty="0" smtClean="0">
                <a:solidFill>
                  <a:srgbClr val="002060"/>
                </a:solidFill>
                <a:latin typeface="Elephant" pitchFamily="18" charset="0"/>
              </a:rPr>
              <a:t>CVS  </a:t>
            </a:r>
            <a:r>
              <a:rPr lang="en-US" sz="3200" b="1" dirty="0">
                <a:solidFill>
                  <a:srgbClr val="002060"/>
                </a:solidFill>
                <a:latin typeface="Elephant" pitchFamily="18" charset="0"/>
              </a:rPr>
              <a:t>Physiology</a:t>
            </a:r>
            <a: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  <a:t/>
            </a:r>
            <a:b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</a:br>
            <a:r>
              <a:rPr lang="en-US" dirty="0" smtClean="0">
                <a:solidFill>
                  <a:srgbClr val="002060"/>
                </a:solidFill>
                <a:latin typeface="Elephant" pitchFamily="18" charset="0"/>
              </a:rPr>
              <a:t>Bader Hassan</a:t>
            </a:r>
          </a:p>
          <a:p>
            <a:pPr algn="r">
              <a:spcBef>
                <a:spcPct val="50000"/>
              </a:spcBef>
            </a:pPr>
            <a:r>
              <a:rPr lang="en-US" b="1" dirty="0" smtClean="0">
                <a:solidFill>
                  <a:srgbClr val="002060"/>
                </a:solidFill>
                <a:latin typeface="Elephant" pitchFamily="18" charset="0"/>
              </a:rPr>
              <a:t>Lecturer Of Physiology</a:t>
            </a:r>
          </a:p>
          <a:p>
            <a:pPr algn="r">
              <a:spcBef>
                <a:spcPct val="50000"/>
              </a:spcBef>
            </a:pPr>
            <a:endParaRPr lang="en-US" sz="3600" b="1" dirty="0">
              <a:solidFill>
                <a:srgbClr val="0066FF"/>
              </a:solidFill>
              <a:latin typeface="Elephant" pitchFamily="18" charset="0"/>
            </a:endParaRP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381000" y="6248400"/>
            <a:ext cx="8001000" cy="461963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Faculty Of Medicine Dept.Of Physiology</a:t>
            </a:r>
            <a:r>
              <a:rPr lang="en-US" b="1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228600" y="1752600"/>
            <a:ext cx="3810000" cy="273921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Cardiac output</a:t>
            </a:r>
          </a:p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         COP   </a:t>
            </a:r>
            <a:r>
              <a:rPr lang="en-US" sz="2000" b="1" i="1" dirty="0"/>
              <a:t/>
            </a:r>
            <a:br>
              <a:rPr lang="en-US" sz="2000" b="1" i="1" dirty="0"/>
            </a:br>
            <a:endParaRPr lang="en-US" sz="2000" b="1" i="1" dirty="0"/>
          </a:p>
          <a:p>
            <a:pPr>
              <a:spcBef>
                <a:spcPct val="50000"/>
              </a:spcBef>
            </a:pPr>
            <a:endParaRPr lang="en-US" sz="2800" b="1" dirty="0">
              <a:solidFill>
                <a:srgbClr val="FF3300"/>
              </a:solidFill>
            </a:endParaRPr>
          </a:p>
        </p:txBody>
      </p:sp>
      <p:sp>
        <p:nvSpPr>
          <p:cNvPr id="22533" name="Text Box 9"/>
          <p:cNvSpPr txBox="1">
            <a:spLocks noChangeArrowheads="1"/>
          </p:cNvSpPr>
          <p:nvPr/>
        </p:nvSpPr>
        <p:spPr bwMode="auto">
          <a:xfrm>
            <a:off x="304800" y="228600"/>
            <a:ext cx="4495800" cy="369332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LECTURE NO </a:t>
            </a:r>
            <a:r>
              <a:rPr lang="en-US" b="1" dirty="0" smtClean="0"/>
              <a:t>(4)   </a:t>
            </a:r>
            <a:endParaRPr lang="ar-SA" b="1" dirty="0"/>
          </a:p>
        </p:txBody>
      </p:sp>
      <p:pic>
        <p:nvPicPr>
          <p:cNvPr id="7" name="Heart edit.wmv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419600" y="1524000"/>
            <a:ext cx="4572000" cy="4495800"/>
          </a:xfrm>
          <a:prstGeom prst="rect">
            <a:avLst/>
          </a:prstGeom>
          <a:ln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009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cardiac output 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524000"/>
            <a:ext cx="7772400" cy="483156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Is the volume of blood ejected by each ventricle each minute.</a:t>
            </a:r>
          </a:p>
          <a:p>
            <a:r>
              <a:rPr lang="en-US" dirty="0" smtClean="0">
                <a:latin typeface="Centaur" pitchFamily="18" charset="0"/>
              </a:rPr>
              <a:t>It equal 5 L/min in an average adult male at rest , less in females.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of the COP 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295400"/>
            <a:ext cx="7772400" cy="506016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COP = HR X SV </a:t>
            </a:r>
          </a:p>
          <a:p>
            <a:r>
              <a:rPr lang="en-US" dirty="0" smtClean="0">
                <a:latin typeface="Centaur" pitchFamily="18" charset="0"/>
              </a:rPr>
              <a:t>Its controlled by controlling: heart rate &amp; stroke volume.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Control of the heart rate:-</a:t>
            </a:r>
          </a:p>
          <a:p>
            <a:r>
              <a:rPr lang="en-US" dirty="0" smtClean="0">
                <a:latin typeface="Centaur" pitchFamily="18" charset="0"/>
              </a:rPr>
              <a:t>Normal heart rate ranges between 60-100 </a:t>
            </a:r>
            <a:r>
              <a:rPr lang="en-US" dirty="0" smtClean="0">
                <a:latin typeface="Centaur" pitchFamily="18" charset="0"/>
              </a:rPr>
              <a:t>beats/min</a:t>
            </a:r>
            <a:r>
              <a:rPr lang="en-US" dirty="0" smtClean="0">
                <a:latin typeface="Centaur" pitchFamily="18" charset="0"/>
              </a:rPr>
              <a:t>.</a:t>
            </a:r>
          </a:p>
          <a:p>
            <a:r>
              <a:rPr lang="en-US" dirty="0" smtClean="0">
                <a:latin typeface="Centaur" pitchFamily="18" charset="0"/>
              </a:rPr>
              <a:t>Less than 60= </a:t>
            </a:r>
            <a:r>
              <a:rPr lang="en-US" dirty="0" err="1" smtClean="0">
                <a:latin typeface="Centaur" pitchFamily="18" charset="0"/>
              </a:rPr>
              <a:t>bradycardia</a:t>
            </a:r>
            <a:r>
              <a:rPr lang="en-US" dirty="0" smtClean="0">
                <a:latin typeface="Centaur" pitchFamily="18" charset="0"/>
              </a:rPr>
              <a:t>.</a:t>
            </a:r>
          </a:p>
          <a:p>
            <a:r>
              <a:rPr lang="en-US" dirty="0" smtClean="0">
                <a:latin typeface="Centaur" pitchFamily="18" charset="0"/>
              </a:rPr>
              <a:t>More than 100 = tachycardia.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1175"/>
            <a:ext cx="9142413" cy="583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Factors affecting the HR 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295400"/>
            <a:ext cx="7772400" cy="50601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Neural factors :-</a:t>
            </a:r>
          </a:p>
          <a:p>
            <a:r>
              <a:rPr lang="en-US" dirty="0" smtClean="0">
                <a:latin typeface="Centaur" pitchFamily="18" charset="0"/>
              </a:rPr>
              <a:t>HR is increased by sympathetic &amp; decreased parasympathetic.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Hormonal factors:- </a:t>
            </a:r>
          </a:p>
          <a:p>
            <a:r>
              <a:rPr lang="en-US" dirty="0" smtClean="0">
                <a:latin typeface="Centaur" pitchFamily="18" charset="0"/>
              </a:rPr>
              <a:t>HR is increased by </a:t>
            </a:r>
            <a:r>
              <a:rPr lang="en-US" dirty="0" err="1" smtClean="0">
                <a:latin typeface="Centaur" pitchFamily="18" charset="0"/>
              </a:rPr>
              <a:t>catecholamines</a:t>
            </a:r>
            <a:r>
              <a:rPr lang="en-US" dirty="0" smtClean="0">
                <a:latin typeface="Centaur" pitchFamily="18" charset="0"/>
              </a:rPr>
              <a:t> &amp; thyroid hormones.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Physiological factors:-</a:t>
            </a:r>
          </a:p>
          <a:p>
            <a:r>
              <a:rPr lang="en-US" dirty="0" smtClean="0">
                <a:latin typeface="Centaur" pitchFamily="18" charset="0"/>
              </a:rPr>
              <a:t>HR is increased by exercise and decreased by sleep.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524000"/>
            <a:ext cx="7772400" cy="4831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Physical factors:-</a:t>
            </a:r>
          </a:p>
          <a:p>
            <a:r>
              <a:rPr lang="en-US" dirty="0" smtClean="0">
                <a:latin typeface="Centaur" pitchFamily="18" charset="0"/>
              </a:rPr>
              <a:t>HR is increased by high temperature &amp; decreased by cold.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Drugs:-</a:t>
            </a:r>
          </a:p>
          <a:p>
            <a:r>
              <a:rPr lang="en-US" dirty="0" smtClean="0">
                <a:latin typeface="Centaur" pitchFamily="18" charset="0"/>
              </a:rPr>
              <a:t>HR is increased by atropine (</a:t>
            </a:r>
            <a:r>
              <a:rPr lang="en-US" dirty="0" err="1" smtClean="0">
                <a:latin typeface="Centaur" pitchFamily="18" charset="0"/>
              </a:rPr>
              <a:t>muscarinic</a:t>
            </a:r>
            <a:r>
              <a:rPr lang="en-US" dirty="0" smtClean="0">
                <a:latin typeface="Centaur" pitchFamily="18" charset="0"/>
              </a:rPr>
              <a:t> blocker) </a:t>
            </a:r>
          </a:p>
          <a:p>
            <a:r>
              <a:rPr lang="en-US" dirty="0" smtClean="0">
                <a:latin typeface="Centaur" pitchFamily="18" charset="0"/>
              </a:rPr>
              <a:t>HR is decreased by </a:t>
            </a:r>
            <a:r>
              <a:rPr lang="en-US" dirty="0" err="1" smtClean="0">
                <a:latin typeface="Centaur" pitchFamily="18" charset="0"/>
              </a:rPr>
              <a:t>propranolol</a:t>
            </a:r>
            <a:r>
              <a:rPr lang="en-US" dirty="0" smtClean="0">
                <a:latin typeface="Centaur" pitchFamily="18" charset="0"/>
              </a:rPr>
              <a:t>.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924800" cy="914400"/>
          </a:xfrm>
        </p:spPr>
        <p:txBody>
          <a:bodyPr/>
          <a:lstStyle/>
          <a:p>
            <a:r>
              <a:rPr lang="en-US" dirty="0" smtClean="0"/>
              <a:t>Control of stroke volume (SV)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447800"/>
            <a:ext cx="7772400" cy="490776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Volume of blood ejected by each ventricle each beat.</a:t>
            </a:r>
          </a:p>
          <a:p>
            <a:r>
              <a:rPr lang="en-US" dirty="0" smtClean="0">
                <a:latin typeface="Centaur" pitchFamily="18" charset="0"/>
              </a:rPr>
              <a:t>Equal 70 ml in an average adult male at rest.</a:t>
            </a:r>
          </a:p>
          <a:p>
            <a:r>
              <a:rPr lang="en-US" dirty="0" smtClean="0">
                <a:latin typeface="Centaur" pitchFamily="18" charset="0"/>
              </a:rPr>
              <a:t>Factors affecting the SV are:-</a:t>
            </a:r>
          </a:p>
          <a:p>
            <a:r>
              <a:rPr lang="en-US" dirty="0" smtClean="0">
                <a:latin typeface="Centaur" pitchFamily="18" charset="0"/>
              </a:rPr>
              <a:t>SV is ↑ by sympathetic stimulation.</a:t>
            </a:r>
          </a:p>
          <a:p>
            <a:r>
              <a:rPr lang="en-US" dirty="0" smtClean="0">
                <a:latin typeface="Centaur" pitchFamily="18" charset="0"/>
              </a:rPr>
              <a:t>Parasympathetic has no direct effect on the stroke volume because it does not supply the ventricle.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b="1">
                <a:solidFill>
                  <a:schemeClr val="hlink"/>
                </a:solidFill>
                <a:effectLst/>
              </a:rPr>
              <a:t>Stroke Volume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Volume (ml) of blood ejected per beat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7772400" y="6443663"/>
            <a:ext cx="10255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 eaLnBrk="0" hangingPunct="0">
              <a:spcBef>
                <a:spcPct val="20000"/>
              </a:spcBef>
              <a:buClr>
                <a:schemeClr val="tx1"/>
              </a:buClr>
            </a:pPr>
            <a:r>
              <a:rPr lang="en-US" sz="1200" b="0" i="0">
                <a:solidFill>
                  <a:srgbClr val="FFFFFF"/>
                </a:solidFill>
                <a:effectLst/>
                <a:latin typeface="Trebuchet MS" pitchFamily="34" charset="0"/>
              </a:rPr>
              <a:t>Figure 20–19</a:t>
            </a:r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3" cstate="print"/>
          <a:srcRect l="12453" t="15303" r="12430" b="9026"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4" name="Picture 4" descr="4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0" y="457200"/>
            <a:ext cx="9144000" cy="64008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Hormonal factors :-</a:t>
            </a:r>
          </a:p>
          <a:p>
            <a:r>
              <a:rPr lang="en-US" dirty="0" smtClean="0">
                <a:latin typeface="Centaur" pitchFamily="18" charset="0"/>
              </a:rPr>
              <a:t>SV ↑ by </a:t>
            </a:r>
            <a:r>
              <a:rPr lang="en-US" dirty="0" err="1" smtClean="0">
                <a:latin typeface="Centaur" pitchFamily="18" charset="0"/>
              </a:rPr>
              <a:t>catecholamines</a:t>
            </a:r>
            <a:r>
              <a:rPr lang="en-US" dirty="0" smtClean="0">
                <a:latin typeface="Centaur" pitchFamily="18" charset="0"/>
              </a:rPr>
              <a:t> &amp; thyroid hormones.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Physiological factors:-</a:t>
            </a:r>
          </a:p>
          <a:p>
            <a:r>
              <a:rPr lang="en-US" dirty="0" smtClean="0">
                <a:latin typeface="Centaur" pitchFamily="18" charset="0"/>
              </a:rPr>
              <a:t>SV is ↑ by exercise.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Physical factors:-</a:t>
            </a:r>
          </a:p>
          <a:p>
            <a:r>
              <a:rPr lang="en-US" dirty="0" smtClean="0">
                <a:latin typeface="Centaur" pitchFamily="18" charset="0"/>
              </a:rPr>
              <a:t>SV is ↑ by high temperature and ↓ by cold 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Drugs :-</a:t>
            </a:r>
          </a:p>
          <a:p>
            <a:r>
              <a:rPr lang="en-US" dirty="0" smtClean="0">
                <a:latin typeface="Centaur" pitchFamily="18" charset="0"/>
              </a:rPr>
              <a:t>SV ↑ is by digitalis &amp; ↓ by beta blockers.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Ions :-</a:t>
            </a:r>
          </a:p>
          <a:p>
            <a:r>
              <a:rPr lang="en-US" dirty="0" smtClean="0">
                <a:latin typeface="Centaur" pitchFamily="18" charset="0"/>
              </a:rPr>
              <a:t>SV is ↑ by calcium ions </a:t>
            </a:r>
          </a:p>
          <a:p>
            <a:r>
              <a:rPr lang="en-US" dirty="0" err="1" smtClean="0">
                <a:latin typeface="Centaur" pitchFamily="18" charset="0"/>
              </a:rPr>
              <a:t>Hypercalcemia</a:t>
            </a:r>
            <a:r>
              <a:rPr lang="en-US" dirty="0" smtClean="0">
                <a:latin typeface="Centaur" pitchFamily="18" charset="0"/>
              </a:rPr>
              <a:t> can stops the heart in systolic phase.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Preload &amp; after load 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Preload : </a:t>
            </a:r>
            <a:r>
              <a:rPr lang="en-US" dirty="0" smtClean="0">
                <a:latin typeface="Centaur" pitchFamily="18" charset="0"/>
              </a:rPr>
              <a:t>the load on the ventricle before contraction.</a:t>
            </a:r>
          </a:p>
          <a:p>
            <a:r>
              <a:rPr lang="en-US" dirty="0" smtClean="0">
                <a:latin typeface="Centaur" pitchFamily="18" charset="0"/>
              </a:rPr>
              <a:t>Means the end diastolic volume which depend on venous return.</a:t>
            </a:r>
          </a:p>
          <a:p>
            <a:r>
              <a:rPr lang="en-US" dirty="0" smtClean="0">
                <a:latin typeface="Centaur" pitchFamily="18" charset="0"/>
              </a:rPr>
              <a:t>When the preload is ↑ the SV is ↑ according to the Frank – Starling law.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/>
                <a:cs typeface="Calibri"/>
              </a:rPr>
              <a:t>Frank – Starling law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Describe a direct relationship between the force of contraction and the initial length of the ventricular muscle fibers before contraction. </a:t>
            </a:r>
          </a:p>
          <a:p>
            <a:r>
              <a:rPr lang="en-US" dirty="0" smtClean="0">
                <a:latin typeface="Centaur" pitchFamily="18" charset="0"/>
              </a:rPr>
              <a:t>The initial length of the ventricular muscle fibers depend on the end diastolic volume (the venous return).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After load 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Is the resistance in arteries against ejection of blood.</a:t>
            </a:r>
          </a:p>
          <a:p>
            <a:r>
              <a:rPr lang="en-US" dirty="0" smtClean="0">
                <a:latin typeface="Centaur" pitchFamily="18" charset="0"/>
              </a:rPr>
              <a:t>When increased it decreases the stroke volume.</a:t>
            </a:r>
          </a:p>
          <a:p>
            <a:r>
              <a:rPr lang="en-US" dirty="0" smtClean="0">
                <a:latin typeface="Centaur" pitchFamily="18" charset="0"/>
              </a:rPr>
              <a:t>After load is increased by </a:t>
            </a:r>
            <a:r>
              <a:rPr lang="en-US" dirty="0" err="1" smtClean="0">
                <a:latin typeface="Centaur" pitchFamily="18" charset="0"/>
              </a:rPr>
              <a:t>stenosis</a:t>
            </a:r>
            <a:r>
              <a:rPr lang="en-US" dirty="0" smtClean="0">
                <a:latin typeface="Centaur" pitchFamily="18" charset="0"/>
              </a:rPr>
              <a:t> of aortic valve and hypertension.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1175"/>
            <a:ext cx="9142413" cy="583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 </a:t>
            </a:r>
            <a:endParaRPr lang="ar-SA" dirty="0"/>
          </a:p>
        </p:txBody>
      </p:sp>
      <p:pic>
        <p:nvPicPr>
          <p:cNvPr id="47106" name="Picture 2" descr="C:\Users\compaq\Pictures\Islamic\1913_1265563950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71414"/>
            <a:ext cx="8832283" cy="6643675"/>
          </a:xfrm>
          <a:prstGeom prst="rect">
            <a:avLst/>
          </a:prstGeom>
          <a:noFill/>
        </p:spPr>
      </p:pic>
      <p:sp>
        <p:nvSpPr>
          <p:cNvPr id="5" name="Oval 4"/>
          <p:cNvSpPr/>
          <p:nvPr/>
        </p:nvSpPr>
        <p:spPr>
          <a:xfrm>
            <a:off x="1428728" y="1571612"/>
            <a:ext cx="3071834" cy="3429024"/>
          </a:xfrm>
          <a:prstGeom prst="ellipse">
            <a:avLst/>
          </a:prstGeom>
          <a:ln w="76200">
            <a:solidFill>
              <a:srgbClr val="CA9D4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6" name="Rounded Rectangle 5"/>
          <p:cNvSpPr/>
          <p:nvPr/>
        </p:nvSpPr>
        <p:spPr>
          <a:xfrm>
            <a:off x="5286380" y="1142984"/>
            <a:ext cx="3128978" cy="4500594"/>
          </a:xfrm>
          <a:prstGeom prst="roundRect">
            <a:avLst/>
          </a:prstGeom>
          <a:solidFill>
            <a:srgbClr val="CA9D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8" name="Rectangle 7"/>
          <p:cNvSpPr/>
          <p:nvPr/>
        </p:nvSpPr>
        <p:spPr>
          <a:xfrm>
            <a:off x="1787528" y="1857364"/>
            <a:ext cx="2498720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ar-SA" sz="4400" b="1" cap="none" spc="0" dirty="0" smtClean="0">
                <a:ln/>
                <a:solidFill>
                  <a:srgbClr val="CA9D42"/>
                </a:solidFill>
                <a:effectLst/>
              </a:rPr>
              <a:t>(لا إله إلا أنت سبحانك إني كنت من الظالمين)</a:t>
            </a:r>
            <a:endParaRPr lang="en-US" sz="4400" b="1" cap="none" spc="0" dirty="0">
              <a:ln/>
              <a:solidFill>
                <a:srgbClr val="CA9D42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86380" y="1357298"/>
            <a:ext cx="307183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 rtl="0"/>
            <a:r>
              <a:rPr lang="en-US" sz="2800" b="1" dirty="0" smtClean="0">
                <a:ln w="11430"/>
                <a:solidFill>
                  <a:srgbClr val="C0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n-US" sz="2800" b="1" cap="none" spc="0" dirty="0">
              <a:ln w="11430"/>
              <a:solidFill>
                <a:srgbClr val="C0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47108" name="Picture 4" descr="C:\Users\compaq\Pictures\HEARTS\HeartThanks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8805" y="1371600"/>
            <a:ext cx="2847971" cy="3986226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حركة">
  <a:themeElements>
    <a:clrScheme name="حركة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حركة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حركة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انقلاب">
  <a:themeElements>
    <a:clrScheme name="انقلاب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انقلاب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انقلاب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133</TotalTime>
  <Words>433</Words>
  <Application>Microsoft Office PowerPoint</Application>
  <PresentationFormat>On-screen Show (4:3)</PresentationFormat>
  <Paragraphs>64</Paragraphs>
  <Slides>16</Slides>
  <Notes>2</Notes>
  <HiddenSlides>0</HiddenSlides>
  <MMClips>1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حركة</vt:lpstr>
      <vt:lpstr>انقلاب</vt:lpstr>
      <vt:lpstr>Slide 1</vt:lpstr>
      <vt:lpstr>The cardiac output </vt:lpstr>
      <vt:lpstr>Control of the COP </vt:lpstr>
      <vt:lpstr>Slide 4</vt:lpstr>
      <vt:lpstr>Factors affecting the HR </vt:lpstr>
      <vt:lpstr>Slide 6</vt:lpstr>
      <vt:lpstr>Control of stroke volume (SV)</vt:lpstr>
      <vt:lpstr>Stroke Volume</vt:lpstr>
      <vt:lpstr>Slide 9</vt:lpstr>
      <vt:lpstr>Slide 10</vt:lpstr>
      <vt:lpstr>Slide 11</vt:lpstr>
      <vt:lpstr>Preload &amp; after load </vt:lpstr>
      <vt:lpstr>Frank – Starling law</vt:lpstr>
      <vt:lpstr>After load </vt:lpstr>
      <vt:lpstr>Slide 15</vt:lpstr>
      <vt:lpstr>Slide 16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الشريحة 1</dc:title>
  <dc:creator>user</dc:creator>
  <cp:lastModifiedBy>Napta</cp:lastModifiedBy>
  <cp:revision>13</cp:revision>
  <dcterms:created xsi:type="dcterms:W3CDTF">2011-10-20T12:32:56Z</dcterms:created>
  <dcterms:modified xsi:type="dcterms:W3CDTF">2021-04-20T05:33:12Z</dcterms:modified>
</cp:coreProperties>
</file>