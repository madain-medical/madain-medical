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8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5" r:id="rId38"/>
    <p:sldId id="285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817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8984" y="1792224"/>
            <a:ext cx="990599" cy="304799"/>
          </a:xfrm>
        </p:spPr>
        <p:txBody>
          <a:bodyPr/>
          <a:lstStyle>
            <a:lvl1pPr algn="l">
              <a:defRPr b="0">
                <a:solidFill>
                  <a:schemeClr val="bg1"/>
                </a:solidFill>
              </a:defRPr>
            </a:lvl1pPr>
          </a:lstStyle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976" y="3227832"/>
            <a:ext cx="3867912" cy="310896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</a:defRPr>
            </a:lvl1pPr>
          </a:lstStyle>
          <a:p>
            <a:endParaRPr lang="en-SD"/>
          </a:p>
        </p:txBody>
      </p:sp>
      <p:sp>
        <p:nvSpPr>
          <p:cNvPr id="8" name="Rectangle 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762801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9"/>
            <a:ext cx="8825659" cy="706964"/>
          </a:xfrm>
          <a:prstGeom prst="rect">
            <a:avLst/>
          </a:prstGeo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549494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9192"/>
            <a:ext cx="4343400" cy="2286000"/>
          </a:xfrm>
          <a:prstGeom prst="rect">
            <a:avLst/>
          </a:prstGeom>
        </p:spPr>
        <p:txBody>
          <a:bodyPr anchor="ctr" anchorCtr="0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4576" y="2679192"/>
            <a:ext cx="3758184" cy="2286000"/>
          </a:xfrm>
        </p:spPr>
        <p:txBody>
          <a:bodyPr anchor="ctr" anchorCtr="0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 b="1"/>
            </a:lvl1pPr>
          </a:lstStyle>
          <a:p>
            <a:endParaRPr lang="en-SD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701958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8032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76" y="2603500"/>
            <a:ext cx="4828032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87502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69264"/>
            <a:ext cx="8825659" cy="70408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98448"/>
            <a:ext cx="4828032" cy="284378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76" y="2606040"/>
            <a:ext cx="48280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1" y="3187921"/>
            <a:ext cx="4825160" cy="2854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926247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2144" y="969264"/>
            <a:ext cx="8825659" cy="7040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185373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Rectangle 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026786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298448"/>
            <a:ext cx="2793159" cy="1597152"/>
          </a:xfrm>
          <a:prstGeom prst="rect">
            <a:avLst/>
          </a:prstGeo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9008" y="1447800"/>
            <a:ext cx="5195997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3" y="3129280"/>
            <a:ext cx="2793159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56867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59" cy="173566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338316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7" y="4969927"/>
            <a:ext cx="8825657" cy="56673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7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13548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0704"/>
            <a:ext cx="8833104" cy="1371600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2144" y="3547872"/>
            <a:ext cx="8825659" cy="2478024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089306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2" name="TextBox 11"/>
          <p:cNvSpPr txBox="1"/>
          <p:nvPr/>
        </p:nvSpPr>
        <p:spPr bwMode="gray">
          <a:xfrm>
            <a:off x="898295" y="596767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 bwMode="gray">
          <a:xfrm>
            <a:off x="9715063" y="2629300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980517"/>
            <a:ext cx="8460983" cy="2698249"/>
          </a:xfrm>
          <a:prstGeom prst="rect">
            <a:avLst/>
          </a:prstGeom>
        </p:spPr>
        <p:txBody>
          <a:bodyPr anchor="ctr" anchorCtr="0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 bwMode="gray">
          <a:xfrm>
            <a:off x="1945945" y="3679987"/>
            <a:ext cx="7725772" cy="34217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400" cap="small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8"/>
            <a:ext cx="8825659" cy="997858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23" name="Rectangle 2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908890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3525"/>
            <a:ext cx="8865623" cy="1819656"/>
          </a:xfrm>
          <a:prstGeom prst="rect">
            <a:avLst/>
          </a:prstGeo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9200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729718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3129168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79764"/>
            <a:ext cx="3129168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5380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4"/>
            <a:ext cx="3145380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595032"/>
            <a:ext cx="3161029" cy="58473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79764"/>
            <a:ext cx="3161029" cy="2847290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991" y="2603500"/>
            <a:ext cx="32564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5824" y="2603500"/>
            <a:ext cx="0" cy="3423554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973288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 anchor="ctr" anchorCtr="0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5"/>
            <a:ext cx="3050438" cy="57626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10916"/>
            <a:ext cx="2691242" cy="1584094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7"/>
            <a:ext cx="3050438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09108"/>
            <a:ext cx="3050438" cy="91257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3" y="4532842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3" y="5109107"/>
            <a:ext cx="3050438" cy="91794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4245" y="2603500"/>
            <a:ext cx="1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7352" y="2603500"/>
            <a:ext cx="0" cy="3461811"/>
          </a:xfrm>
          <a:prstGeom prst="line">
            <a:avLst/>
          </a:prstGeom>
          <a:ln w="12700" cmpd="sng">
            <a:solidFill>
              <a:schemeClr val="tx1">
                <a:lumMod val="75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1971034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595033"/>
            <a:ext cx="8825659" cy="3424768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137319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Rectangle 12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6"/>
            <a:ext cx="1441567" cy="4748591"/>
          </a:xfrm>
          <a:prstGeom prst="rect">
            <a:avLst/>
          </a:prstGeo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5"/>
            <a:ext cx="6256025" cy="47485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D"/>
          </a:p>
        </p:txBody>
      </p:sp>
      <p:sp>
        <p:nvSpPr>
          <p:cNvPr id="20" name="Rectangle 1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260094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1" name="Oval 20"/>
            <p:cNvSpPr/>
            <p:nvPr/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3" name="Oval 22"/>
            <p:cNvSpPr/>
            <p:nvPr/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34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27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2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30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2760" y="6391656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72E9699-3EED-459B-899E-571DAA5AB9DB}" type="datetimeFigureOut">
              <a:rPr lang="en-SD" smtClean="0"/>
              <a:t>24/10/2025</a:t>
            </a:fld>
            <a:endParaRPr lang="en-S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7784" y="6391656"/>
            <a:ext cx="3867912" cy="310896"/>
          </a:xfrm>
          <a:prstGeom prst="rect">
            <a:avLst/>
          </a:prstGeom>
        </p:spPr>
        <p:txBody>
          <a:bodyPr vert="horz" lIns="91440" tIns="45720" rIns="91440" bIns="45720" rtlCol="0" anchor="ctr" anchorCtr="0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SD"/>
          </a:p>
        </p:txBody>
      </p:sp>
      <p:sp>
        <p:nvSpPr>
          <p:cNvPr id="29" name="Rectangle 2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935B74F5-3246-4B0D-B4EA-EEBA500A0719}" type="slidenum">
              <a:rPr lang="en-SD" smtClean="0"/>
              <a:t>‹#›</a:t>
            </a:fld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322340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64CE-ECBB-467D-B931-7D67D0F204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09450"/>
            <a:ext cx="10104715" cy="2677648"/>
          </a:xfrm>
        </p:spPr>
        <p:txBody>
          <a:bodyPr/>
          <a:lstStyle/>
          <a:p>
            <a:pPr algn="ctr"/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Male Internal Genitalia</a:t>
            </a:r>
            <a:br>
              <a:rPr lang="en-US" dirty="0"/>
            </a:br>
            <a:r>
              <a:rPr lang="en-US" sz="3600" dirty="0"/>
              <a:t>ANATOMY OF TESTIS, EPIDIDYMIS, PROSTATE, </a:t>
            </a:r>
            <a:r>
              <a:rPr lang="en-US" altLang="en-SD" sz="3600" dirty="0"/>
              <a:t>VAS DEFERENS, </a:t>
            </a:r>
            <a:r>
              <a:rPr lang="en-US" sz="3600" dirty="0"/>
              <a:t>SEMINAL VESICLES</a:t>
            </a:r>
            <a:endParaRPr lang="en-S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372C9-1B5D-47FC-85E6-4A5C7755B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cap="none" dirty="0">
                <a:latin typeface="Brush Script MT" panose="03060802040406070304" pitchFamily="66" charset="0"/>
              </a:rPr>
              <a:t>BY: M. G. HAMMAD</a:t>
            </a:r>
            <a:endParaRPr lang="en-SD" sz="3200" cap="none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23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0F34E-6BCA-9D89-2901-414A0509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TESTIS &amp; EPIDIDYMIS</a:t>
            </a:r>
            <a:endParaRPr lang="en-SD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3836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DA317-7255-25DE-E995-E14D0009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Testis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9F7F-51F3-8E1E-3C9D-275A86C53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596" y="2379306"/>
            <a:ext cx="5740390" cy="41148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 oval organ.</a:t>
            </a:r>
          </a:p>
          <a:p>
            <a:r>
              <a:rPr lang="en-US" dirty="0"/>
              <a:t>Has a thick covering of fibrous tissue called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tunica albuginea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dirty="0"/>
              <a:t>its posterolateral surface attaches to  epididymis.</a:t>
            </a:r>
          </a:p>
          <a:p>
            <a:r>
              <a:rPr lang="en-US" dirty="0"/>
              <a:t>The front and lateral surfaces of testis lie free in a serous space formed by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tunica vaginalis</a:t>
            </a:r>
            <a:r>
              <a:rPr lang="en-US" dirty="0"/>
              <a:t>.</a:t>
            </a:r>
          </a:p>
          <a:p>
            <a:r>
              <a:rPr lang="en-US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Tunica Vaginalis</a:t>
            </a:r>
            <a:r>
              <a:rPr 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is </a:t>
            </a:r>
            <a:r>
              <a:rPr lang="en-US" dirty="0"/>
              <a:t>a remnant of the fetal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processus vaginalis</a:t>
            </a:r>
            <a:r>
              <a:rPr lang="en-US" dirty="0"/>
              <a:t>.</a:t>
            </a:r>
          </a:p>
          <a:p>
            <a:r>
              <a:rPr lang="en-US" dirty="0"/>
              <a:t>In hydrocele of testis the space of tunica vaginalis becomes distended with fluid.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Testis, epididymis</a:t>
            </a:r>
            <a:r>
              <a:rPr lang="en-US" dirty="0"/>
              <a:t> and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tunica vaginalis</a:t>
            </a:r>
            <a:r>
              <a:rPr lang="en-US" dirty="0"/>
              <a:t> lie in the scrotum surrounded by thin membranes.</a:t>
            </a:r>
            <a:endParaRPr lang="en-SD" dirty="0">
              <a:solidFill>
                <a:schemeClr val="tx1"/>
              </a:solidFill>
            </a:endParaRPr>
          </a:p>
        </p:txBody>
      </p:sp>
      <p:pic>
        <p:nvPicPr>
          <p:cNvPr id="5" name="Picture 2052">
            <a:extLst>
              <a:ext uri="{FF2B5EF4-FFF2-40B4-BE49-F238E27FC236}">
                <a16:creationId xmlns:a16="http://schemas.microsoft.com/office/drawing/2014/main" id="{6FF7BD6B-362A-A61E-1C3B-F8C6DD0D599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66939" y="1856508"/>
            <a:ext cx="5111134" cy="4910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981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0781-1FC5-FA57-A67D-AF56B442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Descent of the Testes</a:t>
            </a:r>
            <a:endParaRPr lang="en-SD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0FED5-25E6-9278-C241-5188824FF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2555" y="2603500"/>
            <a:ext cx="5600431" cy="3918598"/>
          </a:xfrm>
        </p:spPr>
        <p:txBody>
          <a:bodyPr>
            <a:normAutofit fontScale="92500" lnSpcReduction="10000"/>
          </a:bodyPr>
          <a:lstStyle/>
          <a:p>
            <a:pPr marL="274320" indent="-274320">
              <a:lnSpc>
                <a:spcPct val="150000"/>
              </a:lnSpc>
              <a:defRPr/>
            </a:pPr>
            <a:r>
              <a:rPr lang="en-US" dirty="0"/>
              <a:t>During fetal development they are near the kidneys.</a:t>
            </a:r>
          </a:p>
          <a:p>
            <a:pPr marL="274320" indent="-274320">
              <a:lnSpc>
                <a:spcPct val="150000"/>
              </a:lnSpc>
              <a:defRPr/>
            </a:pPr>
            <a:r>
              <a:rPr lang="en-US" dirty="0"/>
              <a:t>Slowly move inferiorly in the abdominal cavity.</a:t>
            </a:r>
          </a:p>
          <a:p>
            <a:pPr marL="274320" indent="-274320">
              <a:lnSpc>
                <a:spcPct val="150000"/>
              </a:lnSpc>
              <a:defRPr/>
            </a:pPr>
            <a:r>
              <a:rPr lang="en-US" dirty="0">
                <a:solidFill>
                  <a:srgbClr val="FF0000"/>
                </a:solidFill>
              </a:rPr>
              <a:t>During the 7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month they descend through the inguinal canals.</a:t>
            </a:r>
          </a:p>
          <a:p>
            <a:pPr marL="274320" indent="-274320">
              <a:lnSpc>
                <a:spcPct val="150000"/>
              </a:lnSpc>
              <a:defRPr/>
            </a:pPr>
            <a:r>
              <a:rPr lang="en-GB" b="1" dirty="0">
                <a:solidFill>
                  <a:srgbClr val="FF0000"/>
                </a:solidFill>
              </a:rPr>
              <a:t>Cryptorchidism</a:t>
            </a:r>
            <a:r>
              <a:rPr lang="en-GB" dirty="0"/>
              <a:t> is the absence of one or both testes from the scrotum.</a:t>
            </a:r>
          </a:p>
          <a:p>
            <a:pPr marL="274320" indent="-274320">
              <a:lnSpc>
                <a:spcPct val="150000"/>
              </a:lnSpc>
              <a:defRPr/>
            </a:pPr>
            <a:r>
              <a:rPr lang="en-GB" dirty="0"/>
              <a:t>It is the most common birth defect regarding male genitalia.</a:t>
            </a:r>
            <a:endParaRPr lang="en-US" dirty="0"/>
          </a:p>
        </p:txBody>
      </p:sp>
      <p:pic>
        <p:nvPicPr>
          <p:cNvPr id="5" name="Content Placeholder 4" descr="descent of testes.jpg">
            <a:extLst>
              <a:ext uri="{FF2B5EF4-FFF2-40B4-BE49-F238E27FC236}">
                <a16:creationId xmlns:a16="http://schemas.microsoft.com/office/drawing/2014/main" id="{0ADA964F-47E7-5C29-9D40-54516D1A67E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910149" y="2689289"/>
            <a:ext cx="6208486" cy="3991170"/>
          </a:xfrm>
        </p:spPr>
      </p:pic>
    </p:spTree>
    <p:extLst>
      <p:ext uri="{BB962C8B-B14F-4D97-AF65-F5344CB8AC3E}">
        <p14:creationId xmlns:p14="http://schemas.microsoft.com/office/powerpoint/2010/main" val="4235742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583EC0-B95E-4CD4-9A9A-0C3F6FA82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5B8355-5373-403A-B5C2-4C8E70AC8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5BACD68-BDD7-43D0-A593-66B247A4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20AC87D-DE1E-46F5-889B-6CFD4FB14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C643F3-476E-4474-A4AA-2AF19ECCB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B7EE1E46-6AD7-4F25-ABEB-0C06AE466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19C342B7-8020-4464-8EB2-AE58A8B8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F3EC447-6BFD-478D-BCE7-B572B85BF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9EF6B20-23CA-444F-8D20-3A38184B6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FC4F8C-DCFB-41A7-9587-B6E49A204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B8134D-DAA6-44DB-9A7B-8D5B04711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5AD0F1C-BC8E-4CB4-BAC4-8F33C36F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1087E9-D266-4B08-AAB1-F7439DF65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A2B069-C853-43DD-8CC0-7CE6F331A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D86E2-5424-44EC-A189-3E2DDD38D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4F8CFC5E-B977-45D3-A7A8-A4EDF8C88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A347F91F-7A0C-4FD7-AC29-DCAF67A2E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1FD264AA-C656-4350-AD8E-3E13639C0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DA57521-8AE1-3F2C-4AC2-E6A81653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1" y="624169"/>
            <a:ext cx="4003885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/>
              <a:t>Blood Supply: Arterial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BBD13-93EF-D80B-8D5E-018A851051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8480" y="1682006"/>
            <a:ext cx="4221384" cy="469205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By Testicular A.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Branch from the aorta.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Runs in the spermatic cord.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Gives off a branch to epididymis.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Reaches back of testis.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</a:rPr>
              <a:t>It divides into medial and lateral branches.</a:t>
            </a:r>
          </a:p>
        </p:txBody>
      </p:sp>
      <p:pic>
        <p:nvPicPr>
          <p:cNvPr id="6" name="Content Placeholder 5" descr="A diagram of the internal organs of the urinary system&#10;&#10;AI-generated content may be incorrect.">
            <a:extLst>
              <a:ext uri="{FF2B5EF4-FFF2-40B4-BE49-F238E27FC236}">
                <a16:creationId xmlns:a16="http://schemas.microsoft.com/office/drawing/2014/main" id="{73868FE0-6053-3AFA-6D99-8B7EBE1099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46"/>
          <a:stretch>
            <a:fillRect/>
          </a:stretch>
        </p:blipFill>
        <p:spPr>
          <a:xfrm>
            <a:off x="5892168" y="100267"/>
            <a:ext cx="4962038" cy="354076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4EF29AB-620C-4783-9B23-EACEB54D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pic>
        <p:nvPicPr>
          <p:cNvPr id="10" name="Picture 9" descr="A diagram of blood vessels&#10;&#10;AI-generated content may be incorrect.">
            <a:extLst>
              <a:ext uri="{FF2B5EF4-FFF2-40B4-BE49-F238E27FC236}">
                <a16:creationId xmlns:a16="http://schemas.microsoft.com/office/drawing/2014/main" id="{E1D655C3-7370-0146-FD0B-62E525D23D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8511" y="3738581"/>
            <a:ext cx="4988766" cy="311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89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F925D-B3E8-D7B4-3062-E23C6FA27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Supply: Venous Drainage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3E1B-C66A-349A-CB64-F94D3EDB0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539" y="2603500"/>
            <a:ext cx="6503437" cy="3881276"/>
          </a:xfrm>
        </p:spPr>
        <p:txBody>
          <a:bodyPr>
            <a:normAutofit/>
          </a:bodyPr>
          <a:lstStyle/>
          <a:p>
            <a:r>
              <a:rPr lang="en-US" dirty="0"/>
              <a:t>By pampiniform plexus.</a:t>
            </a:r>
          </a:p>
          <a:p>
            <a:r>
              <a:rPr lang="en-US" dirty="0"/>
              <a:t>In the inguinal canal the plexus separated out into about four veins.</a:t>
            </a:r>
          </a:p>
          <a:p>
            <a:r>
              <a:rPr lang="en-US" dirty="0"/>
              <a:t>These veins join to form two veins that leave the deep inguinal ring.</a:t>
            </a:r>
          </a:p>
          <a:p>
            <a:r>
              <a:rPr lang="en-US" dirty="0"/>
              <a:t>Then become single (</a:t>
            </a: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testicular veins</a:t>
            </a:r>
            <a:r>
              <a:rPr lang="en-US" dirty="0"/>
              <a:t>) on psoas major on the posterior abdominal wall.</a:t>
            </a:r>
          </a:p>
          <a:p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 Testicular vein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joins the renal vein.</a:t>
            </a:r>
          </a:p>
          <a:p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Testicular vein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drains directly into the inferior vena cava.</a:t>
            </a:r>
            <a:endParaRPr lang="en-S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184D4D-6F53-B144-E81B-AA36B21CECE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2604" y="1816403"/>
            <a:ext cx="5152538" cy="4990494"/>
          </a:xfrm>
        </p:spPr>
      </p:pic>
    </p:spTree>
    <p:extLst>
      <p:ext uri="{BB962C8B-B14F-4D97-AF65-F5344CB8AC3E}">
        <p14:creationId xmlns:p14="http://schemas.microsoft.com/office/powerpoint/2010/main" val="101895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the internal organs of the urinary system&#10;&#10;AI-generated content may be incorrect.">
            <a:extLst>
              <a:ext uri="{FF2B5EF4-FFF2-40B4-BE49-F238E27FC236}">
                <a16:creationId xmlns:a16="http://schemas.microsoft.com/office/drawing/2014/main" id="{1B27D640-19A7-65B1-26CD-BA478ABB1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066730"/>
            <a:ext cx="6096000" cy="4572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22A462F-317B-DA17-7C98-0E5C15783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69264"/>
            <a:ext cx="8825659" cy="704088"/>
          </a:xfrm>
        </p:spPr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BLOOD SUPPLY OF TESTIS</a:t>
            </a:r>
            <a:endParaRPr lang="en-SD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953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6583EC0-B95E-4CD4-9A9A-0C3F6FA82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5B8355-5373-403A-B5C2-4C8E70AC8A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5BACD68-BDD7-43D0-A593-66B247A49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20AC87D-DE1E-46F5-889B-6CFD4FB14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C643F3-476E-4474-A4AA-2AF19ECCB3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B7EE1E46-6AD7-4F25-ABEB-0C06AE466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19C342B7-8020-4464-8EB2-AE58A8B8F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F3EC447-6BFD-478D-BCE7-B572B85BF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19EF6B20-23CA-444F-8D20-3A38184B6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FC4F8C-DCFB-41A7-9587-B6E49A204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B8134D-DAA6-44DB-9A7B-8D5B04711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5AD0F1C-BC8E-4CB4-BAC4-8F33C36F6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81087E9-D266-4B08-AAB1-F7439DF652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4A2B069-C853-43DD-8CC0-7CE6F331A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DDD86E2-5424-44EC-A189-3E2DDD38D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4F8CFC5E-B977-45D3-A7A8-A4EDF8C88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A347F91F-7A0C-4FD7-AC29-DCAF67A2E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1FD264AA-C656-4350-AD8E-3E13639C0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8C86050-119F-8624-0BC6-2BBB291B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860" y="973668"/>
            <a:ext cx="3987963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300" dirty="0"/>
              <a:t>Lymph Drainage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49EE5-978C-4187-E855-00B6DAE27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860" y="2120900"/>
            <a:ext cx="3682821" cy="389890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Majalla UI"/>
              </a:rPr>
              <a:t>Follow testicular arteries.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cs typeface="Majalla UI"/>
              </a:rPr>
              <a:t>Drains into paraaortic lymph nodes (lumbar lymph nodes).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diagram of the lymph nodes&#10;&#10;AI-generated content may be incorrect.">
            <a:extLst>
              <a:ext uri="{FF2B5EF4-FFF2-40B4-BE49-F238E27FC236}">
                <a16:creationId xmlns:a16="http://schemas.microsoft.com/office/drawing/2014/main" id="{D848C12F-9F77-6DBD-4D46-8B8F3994FC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476" y="1115884"/>
            <a:ext cx="6251664" cy="4626231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C4EF29AB-620C-4783-9B23-EACEB54D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418389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98A1D0BB-B8F0-46D7-9453-2DC9E54FEC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3A44EAD-8C36-423B-81F2-9BCEF6FF05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A4EF45-4BCE-497F-A3E5-E8A78B0DE6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86444F9-DFF7-4015-A354-A443BCF5C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FF60ADBC-C1BD-4EC5-9B6F-1DF12DE5A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7DF05586-9EB6-494C-8B3A-2A85346133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D279CF7F-04A6-40E3-84DD-DDC0553A2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8E22FFA0-E7AE-4CCB-BFD0-C000AA64B5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AE8C830-95B3-4B62-9882-4301B7A9A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80F4C73-8A40-435B-AFB5-F5C3BDC03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88" y="0"/>
            <a:ext cx="12193588" cy="6861555"/>
            <a:chOff x="-1588" y="0"/>
            <a:chExt cx="12193588" cy="686155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DD4069D-6BA0-4C9D-8EA6-8C476FC7D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108000"/>
                    <a:satMod val="164000"/>
                    <a:lumMod val="74000"/>
                  </a:schemeClr>
                  <a:schemeClr val="dk2">
                    <a:tint val="96000"/>
                    <a:hueMod val="88000"/>
                    <a:satMod val="140000"/>
                    <a:lumMod val="13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B60D1FC8-A019-4110-A93E-8C709AD78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18288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47CEA9B-73E1-441D-8800-FA49BA991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1412" y="5870955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072D5EB-F874-4157-885B-E3C42CDA80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352347-BE60-4DA4-A026-651AE5F7F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SD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26F82C6E-5FB8-4065-8BCB-D9158DD57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CF36403A-34F0-4F3D-A4BA-D1B1FA2F31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  <p:sp>
          <p:nvSpPr>
            <p:cNvPr id="30" name="Freeform 5">
              <a:extLst>
                <a:ext uri="{FF2B5EF4-FFF2-40B4-BE49-F238E27FC236}">
                  <a16:creationId xmlns:a16="http://schemas.microsoft.com/office/drawing/2014/main" id="{7CCD3DE1-6CA0-4EB1-A8E8-EFD50A1FE3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SD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98C9DA3-2C09-5C20-4A6D-2FB9A86B2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973668"/>
            <a:ext cx="3178260" cy="10202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dirty="0"/>
              <a:t>Nerve Supply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768DE-B8A4-AB03-4E8B-EC420B66C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894" y="2120900"/>
            <a:ext cx="4304970" cy="38989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testis is supplied by sympathetic nerves.</a:t>
            </a:r>
          </a:p>
          <a:p>
            <a:r>
              <a:rPr lang="en-US" dirty="0">
                <a:solidFill>
                  <a:schemeClr val="bg1"/>
                </a:solidFill>
              </a:rPr>
              <a:t>Neurons  lie in T10 segment of the cord.</a:t>
            </a:r>
          </a:p>
          <a:p>
            <a:r>
              <a:rPr lang="en-US" dirty="0">
                <a:solidFill>
                  <a:schemeClr val="bg1"/>
                </a:solidFill>
              </a:rPr>
              <a:t>Passing in the greater or lesser splanchnic nerve to the coeliac ganglion.</a:t>
            </a:r>
          </a:p>
          <a:p>
            <a:r>
              <a:rPr lang="en-US" dirty="0">
                <a:solidFill>
                  <a:schemeClr val="bg1"/>
                </a:solidFill>
              </a:rPr>
              <a:t>Postganglionic fibers reach testis along testicular artery.</a:t>
            </a:r>
          </a:p>
          <a:p>
            <a:r>
              <a:rPr lang="en-US" dirty="0">
                <a:solidFill>
                  <a:schemeClr val="bg1"/>
                </a:solidFill>
              </a:rPr>
              <a:t>Sensory fibers ('testicular sensation') share the same sympathetic pathway.</a:t>
            </a:r>
          </a:p>
        </p:txBody>
      </p:sp>
      <p:pic>
        <p:nvPicPr>
          <p:cNvPr id="6" name="Content Placeholder 5" descr="A diagram of the body&#10;&#10;AI-generated content may be incorrect.">
            <a:extLst>
              <a:ext uri="{FF2B5EF4-FFF2-40B4-BE49-F238E27FC236}">
                <a16:creationId xmlns:a16="http://schemas.microsoft.com/office/drawing/2014/main" id="{5201EC76-233D-7B1A-38AD-6820AF6DE2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29" r="-3" b="14553"/>
          <a:stretch>
            <a:fillRect/>
          </a:stretch>
        </p:blipFill>
        <p:spPr>
          <a:xfrm>
            <a:off x="5334476" y="803751"/>
            <a:ext cx="6251664" cy="5250498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552D6D00-2548-4ECD-9FA4-D422A252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146331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FF614-65EA-0427-DFB1-4A02080DA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Epididymis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26BFE-D34B-B907-6585-93F3598970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3935" y="2194624"/>
            <a:ext cx="7613779" cy="46633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Firm structure.</a:t>
            </a:r>
          </a:p>
          <a:p>
            <a:r>
              <a:rPr lang="en-US" dirty="0"/>
              <a:t>Attached behind the testis, with the ductus deferens to its medial side.</a:t>
            </a:r>
          </a:p>
          <a:p>
            <a:r>
              <a:rPr lang="en-US" dirty="0"/>
              <a:t>It consists of a single tube, 7 m long.</a:t>
            </a:r>
          </a:p>
          <a:p>
            <a:r>
              <a:rPr lang="en-US" dirty="0"/>
              <a:t>Highly coiled and packed together by ﬁbrous tissue.</a:t>
            </a:r>
          </a:p>
          <a:p>
            <a:r>
              <a:rPr lang="en-US" dirty="0"/>
              <a:t>It has:</a:t>
            </a:r>
          </a:p>
          <a:p>
            <a:pPr>
              <a:buFont typeface="+mj-lt"/>
              <a:buAutoNum type="alphaLcPeriod"/>
            </a:pPr>
            <a:r>
              <a:rPr lang="en-US" dirty="0"/>
              <a:t>Large head (upper pole, globus major).</a:t>
            </a:r>
          </a:p>
          <a:p>
            <a:pPr>
              <a:buFont typeface="+mj-lt"/>
              <a:buAutoNum type="alphaLcPeriod"/>
            </a:pPr>
            <a:r>
              <a:rPr lang="en-US" dirty="0"/>
              <a:t>Small tail (lower pole, globus minor).</a:t>
            </a:r>
          </a:p>
          <a:p>
            <a:pPr>
              <a:buFont typeface="+mj-lt"/>
              <a:buAutoNum type="alphaLcPeriod"/>
            </a:pPr>
            <a:r>
              <a:rPr lang="en-US" dirty="0"/>
              <a:t>Body.</a:t>
            </a:r>
          </a:p>
          <a:p>
            <a:r>
              <a:rPr lang="en-US" dirty="0"/>
              <a:t>A narrow slit between epididymis and testis is sinus of the epididymis.</a:t>
            </a:r>
          </a:p>
          <a:p>
            <a:r>
              <a:rPr lang="en-US" dirty="0"/>
              <a:t>The head receives the vasa efferentia from testis.</a:t>
            </a:r>
          </a:p>
          <a:p>
            <a:r>
              <a:rPr lang="en-US" dirty="0"/>
              <a:t>From the tail the ductus (vas) deferens a pears as direct continuation of the canal of the epididymis.</a:t>
            </a:r>
          </a:p>
          <a:p>
            <a:r>
              <a:rPr lang="en-US" dirty="0"/>
              <a:t>Vasculature of Epididymis from Testicular vessels.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AC87E0-903A-F3F5-F2AF-97037BE7F0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624" y="2194623"/>
            <a:ext cx="4023536" cy="4588620"/>
          </a:xfrm>
        </p:spPr>
      </p:pic>
    </p:spTree>
    <p:extLst>
      <p:ext uri="{BB962C8B-B14F-4D97-AF65-F5344CB8AC3E}">
        <p14:creationId xmlns:p14="http://schemas.microsoft.com/office/powerpoint/2010/main" val="337358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AB992-AF28-9DD9-DF97-17414771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9C1E-133A-844A-F5A9-F1BCAC79B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SD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VAS DEFERENS &amp;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SEMINAL VESICLES</a:t>
            </a:r>
            <a:endParaRPr lang="en-SD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95548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1563-28CA-4483-B09F-E86A7514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SD" dirty="0"/>
              <a:t>Vas Deferens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ECF4-E1DF-4BD5-980F-A8F5B4EB3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7882" y="2366682"/>
            <a:ext cx="5445103" cy="42223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thick-walled tube, about </a:t>
            </a:r>
            <a:r>
              <a:rPr lang="en-US" altLang="en-SD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45 cm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conveys mature sperm from epididymis to ejaculatory duct and urethra.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arises from lower end or tail of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epididymis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passes through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inguinal canal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emerges from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deep inguinal ring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passes around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lateral margin of inferior epigastric artery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passes downward and backward on lateral pelvic wall and crosses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ureter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region of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ischial spine</a:t>
            </a:r>
            <a:r>
              <a:rPr lang="en-US" altLang="en-SD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AD73513F-98C5-44FC-934A-D200F4F3DA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764" y="2214282"/>
            <a:ext cx="4664730" cy="4678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179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1563-28CA-4483-B09F-E86A7514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SD" dirty="0"/>
              <a:t>Vas Deferens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ECF4-E1DF-4BD5-980F-A8F5B4EB3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40267"/>
            <a:ext cx="5373385" cy="37427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 deferens runs medially and downward on posterior surface of bladder.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part of vas deferens is dilated to form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ampulla of vas deferens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Inferior end of ampulla narrows down and joins duct of </a:t>
            </a:r>
            <a:r>
              <a:rPr lang="en-US" altLang="en-SD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seminal vesicle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form </a:t>
            </a:r>
            <a:r>
              <a:rPr lang="en-US" altLang="en-SD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ejaculatory duct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alt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D8F8B98-061E-4716-8021-7302BF4DB8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108" y="2330824"/>
            <a:ext cx="4933668" cy="4431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016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1563-28CA-4483-B09F-E86A75147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Seminal Vesicles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ECF4-E1DF-4BD5-980F-A8F5B4EB3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440267"/>
            <a:ext cx="5710518" cy="37427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Lobulated organ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inches (5 cm) long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Lies on the posterior surface of the urinary bladder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ar-SA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Inferiorly</a:t>
            </a:r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Seminal vesicle joins the vas deferens to form ejaculatory ducts on each side.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ar-SA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Posteriorly</a:t>
            </a:r>
            <a:r>
              <a:rPr lang="en-US" altLang="ar-SA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eminal vesicles are related to the rectum.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seminal vesicle consists of a much-coiled tube embedded in connective tissue.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F3503A4-B176-44DA-BDA4-135DDFADC9F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66"/>
          <a:stretch>
            <a:fillRect/>
          </a:stretch>
        </p:blipFill>
        <p:spPr bwMode="auto">
          <a:xfrm>
            <a:off x="6714655" y="2250141"/>
            <a:ext cx="5321774" cy="4449484"/>
          </a:xfrm>
          <a:prstGeom prst="rect">
            <a:avLst/>
          </a:prstGeom>
          <a:noFill/>
          <a:ln w="9525">
            <a:solidFill>
              <a:srgbClr val="FA462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C230846-0A50-4104-8192-481DF4D73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43192" y="1962852"/>
            <a:ext cx="4644008" cy="4697596"/>
          </a:xfrm>
          <a:prstGeom prst="rect">
            <a:avLst/>
          </a:prstGeom>
          <a:noFill/>
          <a:ln w="9525">
            <a:solidFill>
              <a:srgbClr val="E830C5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7398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216.105.128.136/Lparmenterweb/Bio211Lab/Bio211chapter28lab/figure_28_10a_labeled.jpg">
            <a:extLst>
              <a:ext uri="{FF2B5EF4-FFF2-40B4-BE49-F238E27FC236}">
                <a16:creationId xmlns:a16="http://schemas.microsoft.com/office/drawing/2014/main" id="{0DDEE82C-26BA-4B40-AA4C-0197599397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81"/>
          <a:stretch/>
        </p:blipFill>
        <p:spPr bwMode="auto">
          <a:xfrm>
            <a:off x="2384030" y="0"/>
            <a:ext cx="7979170" cy="6876951"/>
          </a:xfrm>
          <a:prstGeom prst="rect">
            <a:avLst/>
          </a:prstGeom>
          <a:noFill/>
          <a:ln>
            <a:solidFill>
              <a:srgbClr val="F84E8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570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14AD-C14B-4DD3-A912-704EE469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/>
              <a:t>BLOOD SUPPLY OF VAS </a:t>
            </a:r>
            <a:r>
              <a:rPr lang="en-US" altLang="en-SD" sz="2400" dirty="0"/>
              <a:t>DEFERENS &amp; </a:t>
            </a:r>
            <a:r>
              <a:rPr lang="en-US" sz="2400" dirty="0"/>
              <a:t>Seminal Vesicles</a:t>
            </a:r>
            <a:endParaRPr lang="en-SD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66897-1073-43FF-BCBF-00167BACA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188" y="2626659"/>
            <a:ext cx="5776798" cy="38100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artery to the ductus deferens is a branch of the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superior vesical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 sometimes the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 vesical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artery.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accompanies the ductus to the lower pole of the epididymis and anastomoses with the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testicular artery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seminal vesicles are supplied by branches from the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 vesicle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middle rectal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arteries.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Veins corresponding to arteries.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Lymph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follows artery to nearest iliac LNs.</a:t>
            </a:r>
            <a:endParaRPr 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46F7EC92-272C-430B-9374-B098BF66E5CE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65" y="2348754"/>
            <a:ext cx="5752978" cy="3971382"/>
          </a:xfrm>
          <a:prstGeom prst="rect">
            <a:avLst/>
          </a:prstGeom>
          <a:noFill/>
          <a:ln w="9525">
            <a:solidFill>
              <a:srgbClr val="F84E83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61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C14AD-C14B-4DD3-A912-704EE469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2400" dirty="0"/>
              <a:t>NERVE SUPPLY OF VAS </a:t>
            </a:r>
            <a:r>
              <a:rPr lang="en-US" altLang="en-SD" sz="2400" dirty="0"/>
              <a:t>DEFERENS &amp; </a:t>
            </a:r>
            <a:r>
              <a:rPr lang="en-US" sz="2400" dirty="0"/>
              <a:t>Seminal Vesicles</a:t>
            </a:r>
            <a:endParaRPr lang="en-SD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66897-1073-43FF-BCBF-00167BACA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6492" y="2894524"/>
            <a:ext cx="5776798" cy="2994212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smooth muscle of the ductus and seminal vesicles receives ﬁbers from the pelvic plexus.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sympathetic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ﬁbers from ﬁrst lumbar ganglion and are motor.</a:t>
            </a:r>
            <a:endParaRPr 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31B47C-D272-43F4-9C5B-AD316D66209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0734" y="2426648"/>
            <a:ext cx="4632042" cy="4431352"/>
          </a:xfrm>
        </p:spPr>
      </p:pic>
    </p:spTree>
    <p:extLst>
      <p:ext uri="{BB962C8B-B14F-4D97-AF65-F5344CB8AC3E}">
        <p14:creationId xmlns:p14="http://schemas.microsoft.com/office/powerpoint/2010/main" val="626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175F-8CC5-4C96-90B6-070EA9201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SD" dirty="0"/>
              <a:t>EJACULATORY DUCTS</a:t>
            </a:r>
            <a:endParaRPr lang="en-S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C93BB-F5E5-4EF5-9545-8BEF9DD48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7176" y="2411506"/>
            <a:ext cx="5265810" cy="371138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then 1 inches (2.5 cm) long.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Formed by the union of </a:t>
            </a:r>
            <a:r>
              <a:rPr lang="en-US" altLang="en-SD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duct of seminal vesicle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SD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vas deferens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Pierce </a:t>
            </a:r>
            <a:r>
              <a:rPr lang="en-US" altLang="en-SD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posterior surface of the prostate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into the </a:t>
            </a:r>
            <a:r>
              <a:rPr lang="en-US" altLang="en-SD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prostatic part of the urethra</a:t>
            </a:r>
            <a:r>
              <a:rPr lang="en-US" altLang="en-SD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2" descr="http://216.105.128.136/Lparmenterweb/Bio211Lab/Bio211chapter28lab/figure_28_10a_labeled.jpg">
            <a:extLst>
              <a:ext uri="{FF2B5EF4-FFF2-40B4-BE49-F238E27FC236}">
                <a16:creationId xmlns:a16="http://schemas.microsoft.com/office/drawing/2014/main" id="{F7679AAF-CC39-419F-969B-6D78CAF80EE5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81"/>
          <a:stretch/>
        </p:blipFill>
        <p:spPr bwMode="auto">
          <a:xfrm>
            <a:off x="6098708" y="2177694"/>
            <a:ext cx="5779528" cy="4712974"/>
          </a:xfrm>
          <a:prstGeom prst="rect">
            <a:avLst/>
          </a:prstGeom>
          <a:noFill/>
          <a:ln>
            <a:solidFill>
              <a:srgbClr val="F84E83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44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830E3-81FD-7955-5164-8622E740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PROSTATIC GLAND</a:t>
            </a:r>
            <a:endParaRPr lang="en-SD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3685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Prostatic Gland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6847" y="2286000"/>
            <a:ext cx="6364941" cy="424927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prostate is a fibromuscular glandular organ that surrounds the prostatic urethra 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Lies beneath the bladder and above the urogenital diaphragm.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prostate provides about 30% of the volume of seminal ﬂuid.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Composed of 2 parts:</a:t>
            </a:r>
          </a:p>
          <a:p>
            <a:pPr algn="l" rtl="0">
              <a:buFontTx/>
              <a:buChar char="-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Glandular part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2/3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rtl="0">
              <a:buFontTx/>
              <a:buChar char="-"/>
            </a:pP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Fibromuscular part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1/3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1533961-DF0D-412E-86A9-A52D7CC264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788" y="2286000"/>
            <a:ext cx="5280212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477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SHAPE &amp; SIZE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2353" y="2488791"/>
            <a:ext cx="5701553" cy="404648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chestnut-like organ.</a:t>
            </a:r>
          </a:p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measures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cm width.</a:t>
            </a:r>
            <a:endParaRPr lang="en-US" sz="2000" baseline="30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cm long.</a:t>
            </a:r>
          </a:p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It has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Anterior, posterior and inferolateral surfaces.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568E067-BAAC-435C-A383-7F367DC6AE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7" b="8321"/>
          <a:stretch>
            <a:fillRect/>
          </a:stretch>
        </p:blipFill>
        <p:spPr bwMode="auto">
          <a:xfrm>
            <a:off x="6754735" y="2488791"/>
            <a:ext cx="5474698" cy="404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08D46BA2-B7D0-4FB2-96D1-0135B38DB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146" y="2017712"/>
            <a:ext cx="4967287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8613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SHAPE &amp; SIZE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2353" y="2488791"/>
            <a:ext cx="5701553" cy="4046480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Base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base is the upper surface.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Fused with the neck of the bladder and perforated by the urethra.</a:t>
            </a:r>
          </a:p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Apex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lowest part.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Penetrated by prostatic urethra at its front part.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568E067-BAAC-435C-A383-7F367DC6AE2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57" b="8321"/>
          <a:stretch>
            <a:fillRect/>
          </a:stretch>
        </p:blipFill>
        <p:spPr bwMode="auto">
          <a:xfrm>
            <a:off x="6415650" y="2377312"/>
            <a:ext cx="5776350" cy="426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737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SHAPE &amp; SIZE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2353" y="2488791"/>
            <a:ext cx="5701553" cy="3768574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Anterior Surface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back of the retropubic space.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to the bodies of the pubic bones by puboprostatic ligament.</a:t>
            </a:r>
          </a:p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Inferolateral Surface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Clasped by the levator prostatae parts of levator ani.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DDC28DE-F3FA-4750-AFCD-F8CC7EEAF5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856" y="2488791"/>
            <a:ext cx="5227884" cy="404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0D93573-6980-4EA1-BA1D-3992C2B43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146" y="2017712"/>
            <a:ext cx="4967287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90A9B218-B56F-418B-9A5F-59EA7918DE43}"/>
              </a:ext>
            </a:extLst>
          </p:cNvPr>
          <p:cNvSpPr/>
          <p:nvPr/>
        </p:nvSpPr>
        <p:spPr>
          <a:xfrm rot="1106393">
            <a:off x="8822907" y="6287280"/>
            <a:ext cx="1274244" cy="1033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D"/>
          </a:p>
        </p:txBody>
      </p:sp>
    </p:spTree>
    <p:extLst>
      <p:ext uri="{BB962C8B-B14F-4D97-AF65-F5344CB8AC3E}">
        <p14:creationId xmlns:p14="http://schemas.microsoft.com/office/powerpoint/2010/main" val="122454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SHAPE &amp; SIZE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2353" y="2488791"/>
            <a:ext cx="5701553" cy="3768574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Posterior Surface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in front of the lower rectum.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Separated from it by the rectovesical fascia.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a vertical median groove palpable on rectal examination.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ejaculatory ducts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pierce the posterior surface just below the bladder and pass obliquely through the gland for about </a:t>
            </a: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 cm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open into the </a:t>
            </a:r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prostatic urethra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about halfway down.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DDC28DE-F3FA-4750-AFCD-F8CC7EEAF5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856" y="2488791"/>
            <a:ext cx="5227884" cy="40464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661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B2D5F-60D7-4F7D-B8EE-AA9D26634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CAPSULE OF PROSTATE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9001E-D4D4-4C07-A7C3-7BB0DDAEF9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2353" y="2488791"/>
            <a:ext cx="5701553" cy="3768574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Has 2 Capsules: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True Capsule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itchFamily="18" charset="0"/>
                <a:cs typeface="Times New Roman" pitchFamily="18" charset="0"/>
              </a:rPr>
              <a:t>Prostate is surrounded by a </a:t>
            </a: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fibrous capsule</a:t>
            </a:r>
            <a:r>
              <a:rPr lang="en-US" sz="2000" dirty="0">
                <a:effectLst/>
                <a:latin typeface="Times New Roman" pitchFamily="18" charset="0"/>
                <a:cs typeface="Times New Roman" pitchFamily="18" charset="0"/>
              </a:rPr>
              <a:t> which contains prostatic plexuses of nerv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es </a:t>
            </a:r>
            <a:r>
              <a:rPr lang="en-US" sz="2000" dirty="0">
                <a:effectLst/>
                <a:latin typeface="Times New Roman" pitchFamily="18" charset="0"/>
                <a:cs typeface="Times New Roman" pitchFamily="18" charset="0"/>
              </a:rPr>
              <a:t>and veins</a:t>
            </a:r>
            <a:r>
              <a:rPr lang="en-US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False Capsule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effectLst/>
                <a:latin typeface="Times New Roman" pitchFamily="18" charset="0"/>
                <a:cs typeface="Times New Roman" pitchFamily="18" charset="0"/>
              </a:rPr>
              <a:t>Visceral layer of </a:t>
            </a: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pelvic fascia</a:t>
            </a:r>
            <a:r>
              <a:rPr lang="en-US" sz="2000" dirty="0">
                <a:effectLst/>
                <a:latin typeface="Times New Roman" pitchFamily="18" charset="0"/>
                <a:cs typeface="Times New Roman" pitchFamily="18" charset="0"/>
              </a:rPr>
              <a:t> forms a fibrous prostatic sheath outside the true capsule.</a:t>
            </a:r>
          </a:p>
        </p:txBody>
      </p:sp>
      <p:pic>
        <p:nvPicPr>
          <p:cNvPr id="6" name="Picture 2" descr="http://ueu.co/wp-content/uploads/2014/09/loadBinaryCA7M57JE.jpg">
            <a:extLst>
              <a:ext uri="{FF2B5EF4-FFF2-40B4-BE49-F238E27FC236}">
                <a16:creationId xmlns:a16="http://schemas.microsoft.com/office/drawing/2014/main" id="{345F6139-CE04-4E23-9653-BB9434A2E2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20"/>
          <a:stretch/>
        </p:blipFill>
        <p:spPr bwMode="auto">
          <a:xfrm>
            <a:off x="7975506" y="2380591"/>
            <a:ext cx="3768260" cy="4289774"/>
          </a:xfrm>
          <a:prstGeom prst="rect">
            <a:avLst/>
          </a:prstGeom>
          <a:noFill/>
          <a:ln>
            <a:solidFill>
              <a:srgbClr val="FA462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73C84034-6ACD-47E6-9A36-517618E489F0}"/>
              </a:ext>
            </a:extLst>
          </p:cNvPr>
          <p:cNvSpPr/>
          <p:nvPr/>
        </p:nvSpPr>
        <p:spPr>
          <a:xfrm>
            <a:off x="10528085" y="6104240"/>
            <a:ext cx="815790" cy="360040"/>
          </a:xfrm>
          <a:prstGeom prst="roundRect">
            <a:avLst/>
          </a:prstGeom>
          <a:noFill/>
          <a:ln>
            <a:solidFill>
              <a:srgbClr val="FA34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7845AF1B-3823-4C7C-B8C0-20BEE75625A1}"/>
              </a:ext>
            </a:extLst>
          </p:cNvPr>
          <p:cNvSpPr/>
          <p:nvPr/>
        </p:nvSpPr>
        <p:spPr>
          <a:xfrm>
            <a:off x="10927976" y="4060287"/>
            <a:ext cx="815790" cy="360040"/>
          </a:xfrm>
          <a:prstGeom prst="roundRect">
            <a:avLst/>
          </a:prstGeom>
          <a:noFill/>
          <a:ln>
            <a:solidFill>
              <a:srgbClr val="FA34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4" descr="http://intranet.tdmu.edu.ua/data/kafedra/internal/xirtop/classes_stud/en/med/medprof/ptn/operative%20surgery/2/Employment%206.%20Topographical%20anatomy.files/image052.gif">
            <a:extLst>
              <a:ext uri="{FF2B5EF4-FFF2-40B4-BE49-F238E27FC236}">
                <a16:creationId xmlns:a16="http://schemas.microsoft.com/office/drawing/2014/main" id="{41A4567F-977D-43B0-A77E-6E1FC1800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4" t="4229" r="2089" b="4862"/>
          <a:stretch/>
        </p:blipFill>
        <p:spPr bwMode="auto">
          <a:xfrm>
            <a:off x="7213661" y="2846519"/>
            <a:ext cx="4793673" cy="3437741"/>
          </a:xfrm>
          <a:prstGeom prst="rect">
            <a:avLst/>
          </a:prstGeom>
          <a:noFill/>
          <a:ln>
            <a:solidFill>
              <a:srgbClr val="E830C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4CAF8904-2671-40D1-9D31-D6ED03089957}"/>
              </a:ext>
            </a:extLst>
          </p:cNvPr>
          <p:cNvSpPr/>
          <p:nvPr/>
        </p:nvSpPr>
        <p:spPr>
          <a:xfrm>
            <a:off x="10528085" y="4920245"/>
            <a:ext cx="1215681" cy="432048"/>
          </a:xfrm>
          <a:prstGeom prst="roundRect">
            <a:avLst/>
          </a:prstGeom>
          <a:noFill/>
          <a:ln>
            <a:solidFill>
              <a:srgbClr val="E83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">
            <a:extLst>
              <a:ext uri="{FF2B5EF4-FFF2-40B4-BE49-F238E27FC236}">
                <a16:creationId xmlns:a16="http://schemas.microsoft.com/office/drawing/2014/main" id="{96DFD7DC-4BB0-4412-A8E5-3B6A37CE17FA}"/>
              </a:ext>
            </a:extLst>
          </p:cNvPr>
          <p:cNvSpPr/>
          <p:nvPr/>
        </p:nvSpPr>
        <p:spPr>
          <a:xfrm>
            <a:off x="10447402" y="5393632"/>
            <a:ext cx="1215681" cy="432048"/>
          </a:xfrm>
          <a:prstGeom prst="roundRect">
            <a:avLst/>
          </a:prstGeom>
          <a:noFill/>
          <a:ln>
            <a:solidFill>
              <a:srgbClr val="E83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6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9AAE-2856-4B18-9890-C6361A6D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LOBES &amp; STRUCTURES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87FB-2193-4147-91AB-62DDB4DA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553" y="2603500"/>
            <a:ext cx="5615433" cy="3416301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gland consists of acini embedded in a fibromuscular stroma.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incompletely divided into five lobes: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Anterior lobe.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Middle (median) lobe.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Posterior lobe.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 Lateral lobes.</a:t>
            </a:r>
            <a:endParaRPr lang="en-SD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4BF25-3DAF-4450-BFC9-F4D435D0D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8" r="7084" b="1979"/>
          <a:stretch/>
        </p:blipFill>
        <p:spPr bwMode="auto">
          <a:xfrm>
            <a:off x="7141788" y="2515983"/>
            <a:ext cx="4593012" cy="40575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91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9AAE-2856-4B18-9890-C6361A6D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LOBES &amp; STRUCTURES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87FB-2193-4147-91AB-62DDB4DA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553" y="2603501"/>
            <a:ext cx="4993341" cy="2811182"/>
          </a:xfrm>
        </p:spPr>
        <p:txBody>
          <a:bodyPr/>
          <a:lstStyle/>
          <a:p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Anterior lobe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Small area in front of the urethra.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Consisting entirely of stromal tissue with few acini.</a:t>
            </a:r>
            <a:endParaRPr lang="en-SD" sz="2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4BF25-3DAF-4450-BFC9-F4D435D0D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8" r="7084" b="1979"/>
          <a:stretch/>
        </p:blipFill>
        <p:spPr bwMode="auto">
          <a:xfrm>
            <a:off x="7141788" y="2515983"/>
            <a:ext cx="4593012" cy="40575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324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9AAE-2856-4B18-9890-C6361A6D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LOBES &amp; STRUCTURES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87FB-2193-4147-91AB-62DDB4DA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553" y="2603500"/>
            <a:ext cx="6347012" cy="3285235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Middle lobe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Lies between the ejaculatory ducts and proximal urethra.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When affected by benign it elongates and obstructs the urethra.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Normally; it causes a swelling in urethra (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uvula vesicae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It contains glandular tissues.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4BF25-3DAF-4450-BFC9-F4D435D0D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8" r="7084" b="1979"/>
          <a:stretch/>
        </p:blipFill>
        <p:spPr bwMode="auto">
          <a:xfrm>
            <a:off x="7141788" y="2515983"/>
            <a:ext cx="4593012" cy="40575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01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9AAE-2856-4B18-9890-C6361A6D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LOBES &amp; STRUCTURES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87FB-2193-4147-91AB-62DDB4DA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553" y="2603501"/>
            <a:ext cx="6347012" cy="2811182"/>
          </a:xfrm>
        </p:spPr>
        <p:txBody>
          <a:bodyPr/>
          <a:lstStyle/>
          <a:p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Posterior lobe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Lies behind urethra and below ejaculatory ducts.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Glandular.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One of commonest sites of cancerous changes.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4BF25-3DAF-4450-BFC9-F4D435D0D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8" r="7084" b="1979"/>
          <a:stretch/>
        </p:blipFill>
        <p:spPr bwMode="auto">
          <a:xfrm>
            <a:off x="7141788" y="2515983"/>
            <a:ext cx="4593012" cy="40575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78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9AAE-2856-4B18-9890-C6361A6D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LOBES &amp; STRUCTURES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287FB-2193-4147-91AB-62DDB4DAEE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553" y="2603501"/>
            <a:ext cx="6347012" cy="2811182"/>
          </a:xfrm>
        </p:spPr>
        <p:txBody>
          <a:bodyPr/>
          <a:lstStyle/>
          <a:p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 &amp; L Lateral lobe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Located at sides of urethra.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Glandular.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Are commonest sites of cancerous changes.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Enlargement of the lateral lobes may be detected on </a:t>
            </a:r>
            <a:r>
              <a:rPr lang="en-US" altLang="ar-SA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rectal examination</a:t>
            </a:r>
            <a:r>
              <a:rPr lang="en-US" altLang="ar-SA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14BF25-3DAF-4450-BFC9-F4D435D0DDB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18" r="7084" b="1979"/>
          <a:stretch/>
        </p:blipFill>
        <p:spPr bwMode="auto">
          <a:xfrm>
            <a:off x="7141788" y="2515983"/>
            <a:ext cx="4593012" cy="4057500"/>
          </a:xfrm>
          <a:prstGeom prst="rect">
            <a:avLst/>
          </a:prstGeom>
          <a:noFill/>
          <a:ln w="9525">
            <a:solidFill>
              <a:srgbClr val="92D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07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C5A0-B02B-4260-83E5-15067860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B37A-44DA-4FCE-9982-CC01900205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Superior relation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Neck of the urinary bladder.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Urethra enters the center of the base of the prostate.</a:t>
            </a:r>
          </a:p>
          <a:p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 relation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Urogenital Diaphragm.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Urethra leaves prostate just above its apex on the anterior surface.</a:t>
            </a:r>
          </a:p>
        </p:txBody>
      </p:sp>
      <p:pic>
        <p:nvPicPr>
          <p:cNvPr id="5" name="Content Placeholder 4" descr="http://image.slidesharecdn.com/prostatepostopvideoslides-140225075945-phpapp02/95/prostate-cancer-and-the-role-of-postop-radiation-10-638.jpg?cb=1393315448">
            <a:extLst>
              <a:ext uri="{FF2B5EF4-FFF2-40B4-BE49-F238E27FC236}">
                <a16:creationId xmlns:a16="http://schemas.microsoft.com/office/drawing/2014/main" id="{CC9F416F-62E4-4D10-9D41-C2128D3D968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29" t="7383" b="2734"/>
          <a:stretch/>
        </p:blipFill>
        <p:spPr bwMode="auto">
          <a:xfrm>
            <a:off x="6819058" y="2306264"/>
            <a:ext cx="5292260" cy="4405224"/>
          </a:xfrm>
          <a:prstGeom prst="rect">
            <a:avLst/>
          </a:prstGeom>
          <a:noFill/>
          <a:ln>
            <a:solidFill>
              <a:srgbClr val="FA462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54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C5A0-B02B-4260-83E5-15067860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</a:t>
            </a:r>
            <a:endParaRPr lang="en-S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DB37A-44DA-4FCE-9982-CC0190020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8259" y="2250141"/>
            <a:ext cx="6864326" cy="4338918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Anterior relation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Symphysis pubis.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Puboprostatic ligaments.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Pubic bone.</a:t>
            </a:r>
          </a:p>
          <a:p>
            <a:pPr marL="342900" lvl="3" indent="-342900"/>
            <a:r>
              <a:rPr lang="en-US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Posterior relation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Rectal ampulla.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Rectovesical septum/ Recto- prostatic  fascia (</a:t>
            </a:r>
            <a:r>
              <a:rPr lang="en-US" sz="1800" u="sng" dirty="0">
                <a:latin typeface="Times New Roman" pitchFamily="18" charset="0"/>
                <a:cs typeface="Times New Roman" pitchFamily="18" charset="0"/>
              </a:rPr>
              <a:t>fascia of Denon Villiers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Ejaculatory duct (pierces posterior surface).</a:t>
            </a:r>
          </a:p>
          <a:p>
            <a:pPr marL="342900" lvl="3" indent="-342900"/>
            <a:r>
              <a:rPr lang="en-US" sz="18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Lateral relation</a:t>
            </a:r>
            <a:r>
              <a:rPr lang="en-US" sz="1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lvl="3" indent="-342900">
              <a:buFont typeface="Wingdings" panose="05000000000000000000" pitchFamily="2" charset="2"/>
              <a:buChar char="q"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Anterior fibers of the levator ani.</a:t>
            </a:r>
            <a:endParaRPr lang="ar-SA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0D92B100-0AE3-44EF-8ED4-77FA5581E5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52585" y="2185006"/>
            <a:ext cx="4448690" cy="4672994"/>
          </a:xfrm>
          <a:prstGeom prst="rect">
            <a:avLst/>
          </a:prstGeom>
          <a:noFill/>
          <a:ln w="9525">
            <a:solidFill>
              <a:srgbClr val="FA4622"/>
            </a:solidFill>
            <a:miter lim="800000"/>
            <a:headEnd/>
            <a:tailEnd/>
          </a:ln>
        </p:spPr>
      </p:pic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DEC25B17-976B-43B6-BBA3-15C3FFFBAC33}"/>
              </a:ext>
            </a:extLst>
          </p:cNvPr>
          <p:cNvSpPr/>
          <p:nvPr/>
        </p:nvSpPr>
        <p:spPr>
          <a:xfrm>
            <a:off x="7180728" y="4305479"/>
            <a:ext cx="758263" cy="383062"/>
          </a:xfrm>
          <a:prstGeom prst="roundRect">
            <a:avLst/>
          </a:prstGeom>
          <a:noFill/>
          <a:ln>
            <a:solidFill>
              <a:srgbClr val="E83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759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C5A0-B02B-4260-83E5-15067860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RELATION</a:t>
            </a:r>
            <a:endParaRPr lang="en-SD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3E5925AA-3A24-421F-95F1-99337D843A3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9388" y="2133320"/>
            <a:ext cx="6436658" cy="4617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89600E5A-4C76-4A86-8D83-2FF310E2BCEE}"/>
              </a:ext>
            </a:extLst>
          </p:cNvPr>
          <p:cNvSpPr/>
          <p:nvPr/>
        </p:nvSpPr>
        <p:spPr>
          <a:xfrm>
            <a:off x="8555270" y="5208494"/>
            <a:ext cx="830776" cy="591671"/>
          </a:xfrm>
          <a:prstGeom prst="roundRect">
            <a:avLst/>
          </a:prstGeom>
          <a:noFill/>
          <a:ln>
            <a:solidFill>
              <a:srgbClr val="E830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91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8B7C-B3E5-49DE-887A-2A06E5FD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</a:t>
            </a:r>
            <a:endParaRPr lang="en-S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99FF-F1B4-4E5C-A355-5CE1BE684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Arterial Supply</a:t>
            </a:r>
            <a:endParaRPr lang="en-SD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A4BCA-F6CB-4DC4-B9A8-3F3E4AF9F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54954" y="3420056"/>
            <a:ext cx="4828032" cy="284378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artery is </a:t>
            </a:r>
            <a:r>
              <a:rPr 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 vesical artery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arteries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rectal artery (main source sometimes).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pudendal artery.</a:t>
            </a:r>
            <a:endParaRPr 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CA4C135-2537-4FFC-A1AE-F16DF1412DE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986" y="2606040"/>
            <a:ext cx="6218226" cy="4006848"/>
          </a:xfrm>
        </p:spPr>
      </p:pic>
    </p:spTree>
    <p:extLst>
      <p:ext uri="{BB962C8B-B14F-4D97-AF65-F5344CB8AC3E}">
        <p14:creationId xmlns:p14="http://schemas.microsoft.com/office/powerpoint/2010/main" val="276740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8B7C-B3E5-49DE-887A-2A06E5FD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</a:t>
            </a:r>
            <a:endParaRPr lang="en-S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99FF-F1B4-4E5C-A355-5CE1BE68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7968" y="2337099"/>
            <a:ext cx="4828032" cy="576262"/>
          </a:xfrm>
        </p:spPr>
        <p:txBody>
          <a:bodyPr/>
          <a:lstStyle/>
          <a:p>
            <a:pPr algn="ctr"/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Venous Drainage</a:t>
            </a:r>
            <a:endParaRPr lang="en-SD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A4BCA-F6CB-4DC4-B9A8-3F3E4AF9F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7859" y="3003176"/>
            <a:ext cx="5185127" cy="35500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veins run into a plexus between the true and false capsules (prostatic venous plexus).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PVP joins the </a:t>
            </a:r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vesico- prostatic plexus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situated at the front and sides of the groove between bladder and prostate.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front, this plexus receives the deep dorsal vein of the penis.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plexus drains backwards into the internal iliac veins.</a:t>
            </a:r>
            <a:endParaRPr 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BA5730D-DE00-48AC-AD7E-72C28551D80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45" y="2554941"/>
            <a:ext cx="5647854" cy="4012266"/>
          </a:xfrm>
        </p:spPr>
      </p:pic>
    </p:spTree>
    <p:extLst>
      <p:ext uri="{BB962C8B-B14F-4D97-AF65-F5344CB8AC3E}">
        <p14:creationId xmlns:p14="http://schemas.microsoft.com/office/powerpoint/2010/main" val="120696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8B7C-B3E5-49DE-887A-2A06E5FD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BLOOD SUPPLY</a:t>
            </a:r>
            <a:endParaRPr lang="en-S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99FF-F1B4-4E5C-A355-5CE1BE684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7968" y="2337099"/>
            <a:ext cx="4828032" cy="576262"/>
          </a:xfrm>
        </p:spPr>
        <p:txBody>
          <a:bodyPr/>
          <a:lstStyle/>
          <a:p>
            <a:pPr algn="ctr"/>
            <a:r>
              <a:rPr lang="en-US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Lymph Drainage</a:t>
            </a:r>
            <a:endParaRPr lang="en-SD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A4BCA-F6CB-4DC4-B9A8-3F3E4AF9F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7859" y="3003176"/>
            <a:ext cx="5185127" cy="3550024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iliac lymph nodes (main nodes).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Hypogastric LNs.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Lateral sacral LNs.</a:t>
            </a:r>
            <a:endParaRPr lang="en-SD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2324E37-9375-4EBF-84F8-5B0562B89DC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272" y="2470596"/>
            <a:ext cx="4201740" cy="3981956"/>
          </a:xfrm>
        </p:spPr>
      </p:pic>
    </p:spTree>
    <p:extLst>
      <p:ext uri="{BB962C8B-B14F-4D97-AF65-F5344CB8AC3E}">
        <p14:creationId xmlns:p14="http://schemas.microsoft.com/office/powerpoint/2010/main" val="327816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8B7C-B3E5-49DE-887A-2A06E5FD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NERVE SUPPLY</a:t>
            </a:r>
            <a:endParaRPr lang="en-S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A4BCA-F6CB-4DC4-B9A8-3F3E4AF9F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7225" y="2429435"/>
            <a:ext cx="6651810" cy="41237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Parasympathetic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acini receive parasympathetic (</a:t>
            </a:r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cholinergic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innervation from the 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pelvic splanchnic nerves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000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Sympathetic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inferior hypogastric Plexus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sympathetic nerves stimulate the smooth muscle of the prostate during ejaculation.</a:t>
            </a:r>
          </a:p>
        </p:txBody>
      </p:sp>
      <p:pic>
        <p:nvPicPr>
          <p:cNvPr id="10" name="Picture 2" descr="http://images.slideplayer.com/8/2361063/slides/slide_2.jpg">
            <a:extLst>
              <a:ext uri="{FF2B5EF4-FFF2-40B4-BE49-F238E27FC236}">
                <a16:creationId xmlns:a16="http://schemas.microsoft.com/office/drawing/2014/main" id="{3A14C038-89DF-46E6-9D19-09F6AA9337A1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60" t="13916" r="22322" b="14771"/>
          <a:stretch/>
        </p:blipFill>
        <p:spPr bwMode="auto">
          <a:xfrm>
            <a:off x="7004142" y="2287044"/>
            <a:ext cx="4793412" cy="4512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ounded Rectangle 1">
            <a:extLst>
              <a:ext uri="{FF2B5EF4-FFF2-40B4-BE49-F238E27FC236}">
                <a16:creationId xmlns:a16="http://schemas.microsoft.com/office/drawing/2014/main" id="{65428F33-F307-4387-85C8-8E054CC2D397}"/>
              </a:ext>
            </a:extLst>
          </p:cNvPr>
          <p:cNvSpPr/>
          <p:nvPr/>
        </p:nvSpPr>
        <p:spPr>
          <a:xfrm>
            <a:off x="8017932" y="3504165"/>
            <a:ext cx="2088232" cy="422376"/>
          </a:xfrm>
          <a:prstGeom prst="round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4689" y="2958480"/>
            <a:ext cx="8229600" cy="1930226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3800" dirty="0">
                <a:ln w="0">
                  <a:solidFill>
                    <a:srgbClr val="FF0000"/>
                  </a:solidFill>
                </a:ln>
                <a:solidFill>
                  <a:srgbClr val="0070C0"/>
                </a:solidFill>
                <a:effectLst>
                  <a:reflection blurRad="6350" stA="53000" endA="300" endPos="35500" dir="5400000" sy="-90000" algn="bl" rotWithShape="0"/>
                </a:effectLst>
              </a:rPr>
              <a:t>THANKS</a:t>
            </a:r>
            <a:endParaRPr lang="ar-SA" sz="13800" dirty="0">
              <a:ln w="0">
                <a:solidFill>
                  <a:srgbClr val="FF0000"/>
                </a:solidFill>
              </a:ln>
              <a:solidFill>
                <a:srgbClr val="0070C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65988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EC7F02AD-9687-440F-A9DF-FAA6F22270D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1044</TotalTime>
  <Words>1474</Words>
  <Application>Microsoft Office PowerPoint</Application>
  <PresentationFormat>Widescreen</PresentationFormat>
  <Paragraphs>200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Brush Script MT</vt:lpstr>
      <vt:lpstr>Century Gothic</vt:lpstr>
      <vt:lpstr>Majalla UI</vt:lpstr>
      <vt:lpstr>Times New Roman</vt:lpstr>
      <vt:lpstr>Wingdings</vt:lpstr>
      <vt:lpstr>Wingdings 3</vt:lpstr>
      <vt:lpstr>Ion Boardroom</vt:lpstr>
      <vt:lpstr>Male Internal Genitalia ANATOMY OF TESTIS, EPIDIDYMIS, PROSTATE, VAS DEFERENS, SEMINAL VESICLES</vt:lpstr>
      <vt:lpstr>TESTIS &amp; EPIDIDYMIS</vt:lpstr>
      <vt:lpstr>The Testis</vt:lpstr>
      <vt:lpstr>Descent of the Testes</vt:lpstr>
      <vt:lpstr>Blood Supply: Arterial Supply</vt:lpstr>
      <vt:lpstr>Blood Supply: Venous Drainage</vt:lpstr>
      <vt:lpstr>BLOOD SUPPLY OF TESTIS</vt:lpstr>
      <vt:lpstr>Lymph Drainage</vt:lpstr>
      <vt:lpstr>Nerve Supply</vt:lpstr>
      <vt:lpstr>The Epididymis</vt:lpstr>
      <vt:lpstr>VAS DEFERENS &amp; SEMINAL VESICLES</vt:lpstr>
      <vt:lpstr>Vas Deferens</vt:lpstr>
      <vt:lpstr>Vas Deferens</vt:lpstr>
      <vt:lpstr>Seminal Vesicles</vt:lpstr>
      <vt:lpstr>PowerPoint Presentation</vt:lpstr>
      <vt:lpstr>BLOOD SUPPLY OF VAS DEFERENS &amp; Seminal Vesicles</vt:lpstr>
      <vt:lpstr>NERVE SUPPLY OF VAS DEFERENS &amp; Seminal Vesicles</vt:lpstr>
      <vt:lpstr>EJACULATORY DUCTS</vt:lpstr>
      <vt:lpstr>PROSTATIC GLAND</vt:lpstr>
      <vt:lpstr>Prostatic Gland</vt:lpstr>
      <vt:lpstr>SHAPE &amp; SIZE</vt:lpstr>
      <vt:lpstr>SHAPE &amp; SIZE</vt:lpstr>
      <vt:lpstr>SHAPE &amp; SIZE</vt:lpstr>
      <vt:lpstr>SHAPE &amp; SIZE</vt:lpstr>
      <vt:lpstr>CAPSULE OF PROSTATE</vt:lpstr>
      <vt:lpstr>LOBES &amp; STRUCTURES</vt:lpstr>
      <vt:lpstr>LOBES &amp; STRUCTURES</vt:lpstr>
      <vt:lpstr>LOBES &amp; STRUCTURES</vt:lpstr>
      <vt:lpstr>LOBES &amp; STRUCTURES</vt:lpstr>
      <vt:lpstr>LOBES &amp; STRUCTURES</vt:lpstr>
      <vt:lpstr>RELATION</vt:lpstr>
      <vt:lpstr>RELATION</vt:lpstr>
      <vt:lpstr>RELATION</vt:lpstr>
      <vt:lpstr>BLOOD SUPPLY</vt:lpstr>
      <vt:lpstr>BLOOD SUPPLY</vt:lpstr>
      <vt:lpstr>BLOOD SUPPLY</vt:lpstr>
      <vt:lpstr>NERVE SUPPLY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MEDICO126</dc:creator>
  <cp:lastModifiedBy>Mohamed Hammad</cp:lastModifiedBy>
  <cp:revision>23</cp:revision>
  <dcterms:created xsi:type="dcterms:W3CDTF">2021-10-09T16:42:51Z</dcterms:created>
  <dcterms:modified xsi:type="dcterms:W3CDTF">2025-10-24T18:22:29Z</dcterms:modified>
</cp:coreProperties>
</file>