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0"/>
  </p:notesMasterIdLst>
  <p:sldIdLst>
    <p:sldId id="277" r:id="rId3"/>
    <p:sldId id="257" r:id="rId4"/>
    <p:sldId id="258" r:id="rId5"/>
    <p:sldId id="259" r:id="rId6"/>
    <p:sldId id="274" r:id="rId7"/>
    <p:sldId id="267" r:id="rId8"/>
    <p:sldId id="265" r:id="rId9"/>
    <p:sldId id="260" r:id="rId10"/>
    <p:sldId id="261" r:id="rId11"/>
    <p:sldId id="266" r:id="rId12"/>
    <p:sldId id="262" r:id="rId13"/>
    <p:sldId id="271" r:id="rId14"/>
    <p:sldId id="272" r:id="rId15"/>
    <p:sldId id="263" r:id="rId16"/>
    <p:sldId id="264" r:id="rId17"/>
    <p:sldId id="270" r:id="rId18"/>
    <p:sldId id="27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17B30-4597-4F01-B216-96E5DEE43BEA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27FA7-0C33-40F1-993C-7DD17D5CF8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33116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739AEA-C890-40D7-BDC1-C368AF409E40}" type="slidenum">
              <a:rPr lang="en-US"/>
              <a:pPr/>
              <a:t>12</a:t>
            </a:fld>
            <a:endParaRPr lang="en-US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/>
              <a:t>The diaphragm is a muscle that separates the pleural cavity from the abdominal cavity. </a:t>
            </a:r>
          </a:p>
          <a:p>
            <a:r>
              <a:rPr lang="en-US"/>
              <a:t>During inhalation, the diaphragm contracts, increasing the size of the chest cavity. The air enters</a:t>
            </a:r>
          </a:p>
        </p:txBody>
      </p:sp>
    </p:spTree>
    <p:extLst>
      <p:ext uri="{BB962C8B-B14F-4D97-AF65-F5344CB8AC3E}">
        <p14:creationId xmlns="" xmlns:p14="http://schemas.microsoft.com/office/powerpoint/2010/main" val="1558353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498CF7-AA2A-4171-AB34-9781D992375F}" type="slidenum">
              <a:rPr lang="en-US"/>
              <a:pPr/>
              <a:t>13</a:t>
            </a:fld>
            <a:endParaRPr lang="en-US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/>
              <a:t>Exhalation occurs when the diaphragm relaxes.</a:t>
            </a:r>
          </a:p>
          <a:p>
            <a:r>
              <a:rPr lang="en-US"/>
              <a:t>Heimlich manuever</a:t>
            </a:r>
          </a:p>
        </p:txBody>
      </p:sp>
    </p:spTree>
    <p:extLst>
      <p:ext uri="{BB962C8B-B14F-4D97-AF65-F5344CB8AC3E}">
        <p14:creationId xmlns="" xmlns:p14="http://schemas.microsoft.com/office/powerpoint/2010/main" val="1710993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3930136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عنصر نائب للتاريخ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17" name="عنصر نائب للتذييل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عنصر نائب لرقم الشريحة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مستطيل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مستطيل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مستطيل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مستطيل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مستطيل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عنوان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وان فرعي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56" name="مستطيل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مستطيل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مستطيل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مستطيل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شكل حر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شكل حر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شكل حر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شكل حر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شكل حر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شكل حر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شكل حر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شكل حر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شكل حر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شكل حر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شكل حر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شكل حر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شكل حر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شكل حر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شكل حر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مستطيل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8" name="مستطيل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مستطيل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مستطيل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مستطيل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مستطيل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مستطيل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مستطيل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مستطيل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مستطيل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مستطيل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مستطيل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مستطيل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مستطيل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مستطيل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رابط مستقيم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مجموعة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رابط مستقيم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رابط مستقيم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رابط مستقيم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عنوان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ar-SA" smtClean="0"/>
              <a:t>انقر فوق الرمز لإضافة صورة</a:t>
            </a:r>
            <a:endParaRPr kumimoji="0"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grpSp>
        <p:nvGrpSpPr>
          <p:cNvPr id="14" name="مجموعة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رابط مستقيم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رابط مستقيم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رابط مستقيم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مجموعة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رابط مستقيم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رابط مستقيم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رابط مستقيم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عنوان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22" name="عنوان فرعي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20" name="عنصر نائب للتذييل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عنصر نائب لرقم الشريحة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شكل بيضاوي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شكل بيضاوي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مستطيل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شكل بيضاوي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شكل بيضاوي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مستطيل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مستطيل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ar-SA" smtClean="0"/>
              <a:t>انقر فوق الرمز لإضافة صورة</a:t>
            </a:r>
            <a:endParaRPr kumimoji="0" lang="en-US" dirty="0"/>
          </a:p>
        </p:txBody>
      </p:sp>
      <p:sp>
        <p:nvSpPr>
          <p:cNvPr id="9" name="مخطط انسيابي: معالجة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مخطط انسيابي: معالجة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مستطيل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مستطيل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مستطيل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مستطيل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مستطيل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مستطيل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مستطيل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عنصر نائب للعنوان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13" name="عنصر نائب للنص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14" name="عنصر نائب للتاريخ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عنصر نائب لرقم الشريحة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دائري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شكل بيضاوي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دائرة مجوفة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مستطيل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عنصر نائب للعنوان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صر نائب للنص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24" name="عنصر نائب للتاريخ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054D7BA6-CB21-490E-86B8-BC29D93D30D0}" type="datetimeFigureOut">
              <a:rPr lang="en-US" smtClean="0"/>
              <a:pPr/>
              <a:t>8/14/2021</a:t>
            </a:fld>
            <a:endParaRPr lang="en-US"/>
          </a:p>
        </p:txBody>
      </p:sp>
      <p:sp>
        <p:nvSpPr>
          <p:cNvPr id="10" name="عنصر نائب للتذييل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عنصر نائب لرقم الشريحة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D271BC76-E0B0-4896-8C58-683E412BE9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مستطيل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2819400" y="228600"/>
            <a:ext cx="5867400" cy="217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 b="1" dirty="0" smtClean="0">
                <a:solidFill>
                  <a:srgbClr val="002060"/>
                </a:solidFill>
                <a:latin typeface="Elephant" pitchFamily="18" charset="0"/>
              </a:rPr>
              <a:t>Respiratory  </a:t>
            </a:r>
            <a:r>
              <a:rPr lang="en-US" sz="3200" b="1" dirty="0">
                <a:solidFill>
                  <a:srgbClr val="002060"/>
                </a:solidFill>
                <a:latin typeface="Elephant" pitchFamily="18" charset="0"/>
              </a:rPr>
              <a:t>Physiology</a:t>
            </a:r>
            <a:r>
              <a:rPr lang="en-US" sz="3600" b="1" dirty="0">
                <a:solidFill>
                  <a:srgbClr val="002060"/>
                </a:solidFill>
                <a:latin typeface="Elephant" pitchFamily="18" charset="0"/>
              </a:rPr>
              <a:t/>
            </a:r>
            <a:br>
              <a:rPr lang="en-US" sz="3600" b="1" dirty="0">
                <a:solidFill>
                  <a:srgbClr val="002060"/>
                </a:solidFill>
                <a:latin typeface="Elephant" pitchFamily="18" charset="0"/>
              </a:rPr>
            </a:br>
            <a:r>
              <a:rPr lang="en-US" b="1" dirty="0" smtClean="0">
                <a:solidFill>
                  <a:srgbClr val="002060"/>
                </a:solidFill>
                <a:latin typeface="Elephant" pitchFamily="18" charset="0"/>
              </a:rPr>
              <a:t>BADER HASSAN</a:t>
            </a:r>
            <a:endParaRPr lang="en-US" b="1" dirty="0">
              <a:solidFill>
                <a:srgbClr val="002060"/>
              </a:solidFill>
              <a:latin typeface="Elephant" pitchFamily="18" charset="0"/>
            </a:endParaRPr>
          </a:p>
          <a:p>
            <a:pPr algn="r">
              <a:spcBef>
                <a:spcPct val="50000"/>
              </a:spcBef>
            </a:pPr>
            <a:r>
              <a:rPr lang="en-US" b="1" dirty="0">
                <a:solidFill>
                  <a:srgbClr val="002060"/>
                </a:solidFill>
                <a:latin typeface="Elephant" pitchFamily="18" charset="0"/>
              </a:rPr>
              <a:t>Lecturer Of Physiology</a:t>
            </a:r>
          </a:p>
          <a:p>
            <a:pPr algn="r">
              <a:spcBef>
                <a:spcPct val="50000"/>
              </a:spcBef>
            </a:pPr>
            <a:endParaRPr lang="en-US" sz="3600" b="1" dirty="0">
              <a:solidFill>
                <a:srgbClr val="0066FF"/>
              </a:solidFill>
              <a:latin typeface="Elephant" pitchFamily="18" charset="0"/>
            </a:endParaRP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381000" y="6248400"/>
            <a:ext cx="8001000" cy="461963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Faculty Of Medicine Dept.Of Physiology</a:t>
            </a:r>
            <a:r>
              <a:rPr lang="en-US" b="1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22532" name="Text Box 7"/>
          <p:cNvSpPr txBox="1">
            <a:spLocks noChangeArrowheads="1"/>
          </p:cNvSpPr>
          <p:nvPr/>
        </p:nvSpPr>
        <p:spPr bwMode="auto">
          <a:xfrm>
            <a:off x="228600" y="1752600"/>
            <a:ext cx="3810000" cy="1723549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 b="1" dirty="0" smtClean="0">
                <a:solidFill>
                  <a:srgbClr val="FFC000"/>
                </a:solidFill>
                <a:latin typeface="Andalus" pitchFamily="18" charset="-78"/>
                <a:cs typeface="Andalus" pitchFamily="18" charset="-78"/>
              </a:rPr>
              <a:t>Ventilation</a:t>
            </a:r>
            <a:r>
              <a:rPr lang="en-US" sz="4400" b="1" dirty="0" smtClean="0">
                <a:solidFill>
                  <a:schemeClr val="bg2"/>
                </a:solidFill>
                <a:latin typeface="Andalus" pitchFamily="18" charset="-78"/>
                <a:cs typeface="Andalus" pitchFamily="18" charset="-78"/>
              </a:rPr>
              <a:t>   </a:t>
            </a:r>
            <a:r>
              <a:rPr lang="en-US" sz="2000" b="1" i="1" dirty="0"/>
              <a:t/>
            </a:r>
            <a:br>
              <a:rPr lang="en-US" sz="2000" b="1" i="1" dirty="0"/>
            </a:br>
            <a:endParaRPr lang="en-US" sz="2000" b="1" i="1" dirty="0"/>
          </a:p>
          <a:p>
            <a:pPr>
              <a:spcBef>
                <a:spcPct val="50000"/>
              </a:spcBef>
            </a:pPr>
            <a:endParaRPr lang="en-US" sz="2800" b="1" dirty="0">
              <a:solidFill>
                <a:srgbClr val="FF3300"/>
              </a:solidFill>
            </a:endParaRPr>
          </a:p>
        </p:txBody>
      </p:sp>
      <p:sp>
        <p:nvSpPr>
          <p:cNvPr id="22533" name="Text Box 9"/>
          <p:cNvSpPr txBox="1">
            <a:spLocks noChangeArrowheads="1"/>
          </p:cNvSpPr>
          <p:nvPr/>
        </p:nvSpPr>
        <p:spPr bwMode="auto">
          <a:xfrm>
            <a:off x="0" y="152400"/>
            <a:ext cx="3657600" cy="369332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LECTURE NO </a:t>
            </a:r>
            <a:r>
              <a:rPr lang="en-US" b="1" dirty="0" smtClean="0"/>
              <a:t>(2)   </a:t>
            </a:r>
            <a:endParaRPr lang="ar-SA" b="1" dirty="0"/>
          </a:p>
        </p:txBody>
      </p:sp>
      <p:pic>
        <p:nvPicPr>
          <p:cNvPr id="9" name="Picture 4" descr="untitled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524000"/>
            <a:ext cx="4800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Ventilation 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Ventilation: </a:t>
            </a:r>
            <a:r>
              <a:rPr lang="en-US" dirty="0" smtClean="0">
                <a:latin typeface="Centaur" pitchFamily="18" charset="0"/>
              </a:rPr>
              <a:t>is the process of getting air into &amp; out of the lungs during breathing.</a:t>
            </a:r>
          </a:p>
          <a:p>
            <a:r>
              <a:rPr lang="en-US" dirty="0" smtClean="0">
                <a:latin typeface="Centaur" pitchFamily="18" charset="0"/>
              </a:rPr>
              <a:t>It always adjusted to meet the metabolic demands of the body</a:t>
            </a:r>
          </a:p>
          <a:p>
            <a:r>
              <a:rPr lang="en-US" dirty="0" smtClean="0">
                <a:latin typeface="Centaur" pitchFamily="18" charset="0"/>
              </a:rPr>
              <a:t> To provide sufficient O2 &amp; to eliminate excess CO2.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u="sng" dirty="0" err="1" smtClean="0">
                <a:solidFill>
                  <a:srgbClr val="FFC000"/>
                </a:solidFill>
                <a:latin typeface="Centaur" pitchFamily="18" charset="0"/>
              </a:rPr>
              <a:t>Hperventilation</a:t>
            </a: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: </a:t>
            </a:r>
          </a:p>
          <a:p>
            <a:r>
              <a:rPr lang="en-US" dirty="0" smtClean="0">
                <a:latin typeface="Centaur" pitchFamily="18" charset="0"/>
              </a:rPr>
              <a:t>Refers to ventilation in excess of the metabolic demands of tissues.</a:t>
            </a:r>
          </a:p>
          <a:p>
            <a:r>
              <a:rPr lang="en-US" sz="3200" b="1" u="sng" dirty="0" err="1" smtClean="0">
                <a:solidFill>
                  <a:srgbClr val="FFC000"/>
                </a:solidFill>
                <a:latin typeface="Centaur" pitchFamily="18" charset="0"/>
              </a:rPr>
              <a:t>Hypoventilation:</a:t>
            </a:r>
          </a:p>
          <a:p>
            <a:r>
              <a:rPr lang="en-US" dirty="0" smtClean="0">
                <a:latin typeface="Centaur" pitchFamily="18" charset="0"/>
              </a:rPr>
              <a:t>Refers to ventilation less than the metabolic demands of tissues.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Mechanism of ventilation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Air moves into the lungs when the atmospheric pressure is higher than the intrapulmonary pressure (inspiration).</a:t>
            </a:r>
          </a:p>
          <a:p>
            <a:r>
              <a:rPr lang="en-US" dirty="0" smtClean="0">
                <a:latin typeface="Centaur" pitchFamily="18" charset="0"/>
              </a:rPr>
              <a:t>Air moves out of the lungs when the atmospheric pressure is lower than the intrapulmonary pressure (expiration)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2867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Mechanism of inspiration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entaur" pitchFamily="18" charset="0"/>
              </a:rPr>
              <a:t>Contraction of inspiratory muscles.</a:t>
            </a:r>
          </a:p>
          <a:p>
            <a:r>
              <a:rPr lang="en-US" dirty="0" smtClean="0">
                <a:latin typeface="Centaur" pitchFamily="18" charset="0"/>
              </a:rPr>
              <a:t>Expansion of the chest.</a:t>
            </a:r>
          </a:p>
          <a:p>
            <a:r>
              <a:rPr lang="en-US" dirty="0" smtClean="0">
                <a:latin typeface="Centaur" pitchFamily="18" charset="0"/>
              </a:rPr>
              <a:t>Reduction of intra-pleural pressure.</a:t>
            </a:r>
          </a:p>
          <a:p>
            <a:r>
              <a:rPr lang="en-US" dirty="0" smtClean="0">
                <a:latin typeface="Centaur" pitchFamily="18" charset="0"/>
              </a:rPr>
              <a:t>Expansion of the lungs.</a:t>
            </a:r>
          </a:p>
          <a:p>
            <a:r>
              <a:rPr lang="en-US" dirty="0" smtClean="0">
                <a:latin typeface="Centaur" pitchFamily="18" charset="0"/>
              </a:rPr>
              <a:t>Reduction of intra-pulmonary pressure.</a:t>
            </a:r>
          </a:p>
          <a:p>
            <a:r>
              <a:rPr lang="en-US" dirty="0" smtClean="0">
                <a:latin typeface="Centaur" pitchFamily="18" charset="0"/>
              </a:rPr>
              <a:t>Air moves into the lungs.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6" descr="0724l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5624" t="3000" r="41624" b="22050"/>
          <a:stretch>
            <a:fillRect/>
          </a:stretch>
        </p:blipFill>
        <p:spPr bwMode="auto">
          <a:xfrm>
            <a:off x="1066800" y="990600"/>
            <a:ext cx="6629400" cy="5562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entaur" pitchFamily="18" charset="0"/>
              </a:rPr>
              <a:t>Inspiration is an active process because it involves contraction of inspiratory muscles.</a:t>
            </a:r>
          </a:p>
          <a:p>
            <a:r>
              <a:rPr lang="en-US" sz="3200" b="1" u="sng" dirty="0" err="1" smtClean="0">
                <a:solidFill>
                  <a:srgbClr val="FFC000"/>
                </a:solidFill>
                <a:latin typeface="Centaur" pitchFamily="18" charset="0"/>
              </a:rPr>
              <a:t>inspiratory muscles at rest are:</a:t>
            </a:r>
          </a:p>
          <a:p>
            <a:r>
              <a:rPr lang="en-US" dirty="0" smtClean="0">
                <a:latin typeface="Centaur" pitchFamily="18" charset="0"/>
              </a:rPr>
              <a:t>The diaphragm.</a:t>
            </a:r>
          </a:p>
          <a:p>
            <a:r>
              <a:rPr lang="en-US" dirty="0" smtClean="0">
                <a:latin typeface="Centaur" pitchFamily="18" charset="0"/>
              </a:rPr>
              <a:t>The external intercostal muscles.</a:t>
            </a:r>
          </a:p>
          <a:p>
            <a:r>
              <a:rPr lang="en-US" dirty="0" smtClean="0">
                <a:latin typeface="Centaur" pitchFamily="18" charset="0"/>
              </a:rPr>
              <a:t> In addition, there are accessory inspiratory muscles working during forced inspiration e.g. during exercise.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Mechanism of expiration 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Relaxation of inspiratory muscles.</a:t>
            </a:r>
          </a:p>
          <a:p>
            <a:r>
              <a:rPr lang="en-US" dirty="0" smtClean="0">
                <a:latin typeface="Centaur" pitchFamily="18" charset="0"/>
              </a:rPr>
              <a:t>Increased intrapleural pressure.</a:t>
            </a:r>
          </a:p>
          <a:p>
            <a:r>
              <a:rPr lang="en-US" dirty="0" smtClean="0">
                <a:latin typeface="Centaur" pitchFamily="18" charset="0"/>
              </a:rPr>
              <a:t>Deflation of the lung.</a:t>
            </a:r>
          </a:p>
          <a:p>
            <a:r>
              <a:rPr lang="en-US" dirty="0" smtClean="0">
                <a:latin typeface="Centaur" pitchFamily="18" charset="0"/>
              </a:rPr>
              <a:t>Increased intra-pulmonary pressure.</a:t>
            </a:r>
          </a:p>
          <a:p>
            <a:r>
              <a:rPr lang="en-US" dirty="0" smtClean="0">
                <a:latin typeface="Centaur" pitchFamily="18" charset="0"/>
              </a:rPr>
              <a:t>Air moves out of the lungs. 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1027" descr="0724l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36787" t="3000" r="9000" b="22050"/>
          <a:stretch>
            <a:fillRect/>
          </a:stretch>
        </p:blipFill>
        <p:spPr bwMode="auto">
          <a:xfrm>
            <a:off x="1447800" y="1371600"/>
            <a:ext cx="7086600" cy="5105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Expiration at rest is a passive process science it does not involve contraction of any expiratory muscle.</a:t>
            </a:r>
          </a:p>
          <a:p>
            <a:r>
              <a:rPr lang="en-US" dirty="0" smtClean="0">
                <a:latin typeface="Centaur" pitchFamily="18" charset="0"/>
              </a:rPr>
              <a:t>Forced  expiration requires the action of the following expiratory muscles:</a:t>
            </a:r>
          </a:p>
          <a:p>
            <a:r>
              <a:rPr lang="en-US" dirty="0" smtClean="0">
                <a:latin typeface="Centaur" pitchFamily="18" charset="0"/>
              </a:rPr>
              <a:t>Internal intercostal muscles.</a:t>
            </a:r>
          </a:p>
          <a:p>
            <a:r>
              <a:rPr lang="en-US" dirty="0" smtClean="0">
                <a:latin typeface="Centaur" pitchFamily="18" charset="0"/>
              </a:rPr>
              <a:t>Abdominal muscles.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bio_ch37_408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98600" y="1685925"/>
            <a:ext cx="6591300" cy="3617913"/>
          </a:xfrm>
          <a:prstGeom prst="rect">
            <a:avLst/>
          </a:prstGeom>
          <a:noFill/>
        </p:spPr>
      </p:pic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000125" y="1963738"/>
            <a:ext cx="671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200"/>
              <a:t>Air inhaled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860425" y="4008438"/>
            <a:ext cx="9255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/>
              <a:t>Diaphragm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796925" y="3157538"/>
            <a:ext cx="854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200"/>
              <a:t>Rib cage rises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4848225" y="1887538"/>
            <a:ext cx="773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200"/>
              <a:t>Air exhaled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4797425" y="3830638"/>
            <a:ext cx="9255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/>
              <a:t>Diaphragm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4721225" y="2979738"/>
            <a:ext cx="854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200"/>
              <a:t>Rib cage descends</a:t>
            </a: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2130425" y="5319713"/>
            <a:ext cx="1019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400" b="1"/>
              <a:t>Inhalation</a:t>
            </a: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6054725" y="5319713"/>
            <a:ext cx="1079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400" b="1"/>
              <a:t>Exhalation</a:t>
            </a: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838200" y="762000"/>
            <a:ext cx="1435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400" b="1">
                <a:solidFill>
                  <a:schemeClr val="bg1"/>
                </a:solidFill>
              </a:rPr>
              <a:t>Section 37-3</a:t>
            </a:r>
          </a:p>
        </p:txBody>
      </p:sp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2590800" y="136525"/>
            <a:ext cx="6172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Figure 37-16 The Mechanics of Breathing</a:t>
            </a:r>
          </a:p>
        </p:txBody>
      </p:sp>
      <p:sp>
        <p:nvSpPr>
          <p:cNvPr id="12303" name="Freeform 15"/>
          <p:cNvSpPr>
            <a:spLocks/>
          </p:cNvSpPr>
          <p:nvPr/>
        </p:nvSpPr>
        <p:spPr bwMode="auto">
          <a:xfrm>
            <a:off x="4354513" y="1182688"/>
            <a:ext cx="4340225" cy="4665662"/>
          </a:xfrm>
          <a:custGeom>
            <a:avLst/>
            <a:gdLst/>
            <a:ahLst/>
            <a:cxnLst>
              <a:cxn ang="0">
                <a:pos x="302" y="243"/>
              </a:cxn>
              <a:cxn ang="0">
                <a:pos x="179" y="308"/>
              </a:cxn>
              <a:cxn ang="0">
                <a:pos x="98" y="373"/>
              </a:cxn>
              <a:cxn ang="0">
                <a:pos x="32" y="488"/>
              </a:cxn>
              <a:cxn ang="0">
                <a:pos x="8" y="545"/>
              </a:cxn>
              <a:cxn ang="0">
                <a:pos x="24" y="724"/>
              </a:cxn>
              <a:cxn ang="0">
                <a:pos x="57" y="1026"/>
              </a:cxn>
              <a:cxn ang="0">
                <a:pos x="57" y="1581"/>
              </a:cxn>
              <a:cxn ang="0">
                <a:pos x="122" y="2055"/>
              </a:cxn>
              <a:cxn ang="0">
                <a:pos x="277" y="2414"/>
              </a:cxn>
              <a:cxn ang="0">
                <a:pos x="441" y="2577"/>
              </a:cxn>
              <a:cxn ang="0">
                <a:pos x="653" y="2708"/>
              </a:cxn>
              <a:cxn ang="0">
                <a:pos x="808" y="2773"/>
              </a:cxn>
              <a:cxn ang="0">
                <a:pos x="1216" y="2920"/>
              </a:cxn>
              <a:cxn ang="0">
                <a:pos x="1453" y="2895"/>
              </a:cxn>
              <a:cxn ang="0">
                <a:pos x="1477" y="2887"/>
              </a:cxn>
              <a:cxn ang="0">
                <a:pos x="1494" y="2871"/>
              </a:cxn>
              <a:cxn ang="0">
                <a:pos x="1600" y="2846"/>
              </a:cxn>
              <a:cxn ang="0">
                <a:pos x="1853" y="2765"/>
              </a:cxn>
              <a:cxn ang="0">
                <a:pos x="2359" y="2740"/>
              </a:cxn>
              <a:cxn ang="0">
                <a:pos x="2457" y="2724"/>
              </a:cxn>
              <a:cxn ang="0">
                <a:pos x="2596" y="2659"/>
              </a:cxn>
              <a:cxn ang="0">
                <a:pos x="2710" y="2544"/>
              </a:cxn>
              <a:cxn ang="0">
                <a:pos x="2734" y="2447"/>
              </a:cxn>
              <a:cxn ang="0">
                <a:pos x="2694" y="2104"/>
              </a:cxn>
              <a:cxn ang="0">
                <a:pos x="2669" y="1965"/>
              </a:cxn>
              <a:cxn ang="0">
                <a:pos x="2612" y="1589"/>
              </a:cxn>
              <a:cxn ang="0">
                <a:pos x="2571" y="1402"/>
              </a:cxn>
              <a:cxn ang="0">
                <a:pos x="2538" y="1238"/>
              </a:cxn>
              <a:cxn ang="0">
                <a:pos x="2473" y="1026"/>
              </a:cxn>
              <a:cxn ang="0">
                <a:pos x="2383" y="749"/>
              </a:cxn>
              <a:cxn ang="0">
                <a:pos x="2351" y="692"/>
              </a:cxn>
              <a:cxn ang="0">
                <a:pos x="2318" y="577"/>
              </a:cxn>
              <a:cxn ang="0">
                <a:pos x="2269" y="488"/>
              </a:cxn>
              <a:cxn ang="0">
                <a:pos x="2220" y="365"/>
              </a:cxn>
              <a:cxn ang="0">
                <a:pos x="2138" y="332"/>
              </a:cxn>
              <a:cxn ang="0">
                <a:pos x="1951" y="275"/>
              </a:cxn>
              <a:cxn ang="0">
                <a:pos x="1755" y="218"/>
              </a:cxn>
              <a:cxn ang="0">
                <a:pos x="1616" y="169"/>
              </a:cxn>
              <a:cxn ang="0">
                <a:pos x="1567" y="137"/>
              </a:cxn>
              <a:cxn ang="0">
                <a:pos x="1502" y="112"/>
              </a:cxn>
              <a:cxn ang="0">
                <a:pos x="1485" y="96"/>
              </a:cxn>
              <a:cxn ang="0">
                <a:pos x="1134" y="30"/>
              </a:cxn>
              <a:cxn ang="0">
                <a:pos x="767" y="22"/>
              </a:cxn>
              <a:cxn ang="0">
                <a:pos x="628" y="104"/>
              </a:cxn>
              <a:cxn ang="0">
                <a:pos x="326" y="234"/>
              </a:cxn>
              <a:cxn ang="0">
                <a:pos x="302" y="243"/>
              </a:cxn>
            </a:cxnLst>
            <a:rect l="0" t="0" r="r" b="b"/>
            <a:pathLst>
              <a:path w="2734" h="2939">
                <a:moveTo>
                  <a:pt x="302" y="243"/>
                </a:moveTo>
                <a:cubicBezTo>
                  <a:pt x="258" y="264"/>
                  <a:pt x="226" y="296"/>
                  <a:pt x="179" y="308"/>
                </a:cubicBezTo>
                <a:cubicBezTo>
                  <a:pt x="151" y="330"/>
                  <a:pt x="127" y="353"/>
                  <a:pt x="98" y="373"/>
                </a:cubicBezTo>
                <a:cubicBezTo>
                  <a:pt x="77" y="412"/>
                  <a:pt x="56" y="451"/>
                  <a:pt x="32" y="488"/>
                </a:cubicBezTo>
                <a:cubicBezTo>
                  <a:pt x="25" y="507"/>
                  <a:pt x="8" y="524"/>
                  <a:pt x="8" y="545"/>
                </a:cubicBezTo>
                <a:cubicBezTo>
                  <a:pt x="0" y="711"/>
                  <a:pt x="12" y="633"/>
                  <a:pt x="24" y="724"/>
                </a:cubicBezTo>
                <a:cubicBezTo>
                  <a:pt x="37" y="824"/>
                  <a:pt x="44" y="925"/>
                  <a:pt x="57" y="1026"/>
                </a:cubicBezTo>
                <a:cubicBezTo>
                  <a:pt x="40" y="1214"/>
                  <a:pt x="49" y="1393"/>
                  <a:pt x="57" y="1581"/>
                </a:cubicBezTo>
                <a:cubicBezTo>
                  <a:pt x="61" y="1699"/>
                  <a:pt x="43" y="1932"/>
                  <a:pt x="122" y="2055"/>
                </a:cubicBezTo>
                <a:cubicBezTo>
                  <a:pt x="153" y="2181"/>
                  <a:pt x="214" y="2300"/>
                  <a:pt x="277" y="2414"/>
                </a:cubicBezTo>
                <a:cubicBezTo>
                  <a:pt x="324" y="2499"/>
                  <a:pt x="339" y="2543"/>
                  <a:pt x="441" y="2577"/>
                </a:cubicBezTo>
                <a:cubicBezTo>
                  <a:pt x="509" y="2622"/>
                  <a:pt x="576" y="2676"/>
                  <a:pt x="653" y="2708"/>
                </a:cubicBezTo>
                <a:cubicBezTo>
                  <a:pt x="705" y="2729"/>
                  <a:pt x="757" y="2745"/>
                  <a:pt x="808" y="2773"/>
                </a:cubicBezTo>
                <a:cubicBezTo>
                  <a:pt x="956" y="2854"/>
                  <a:pt x="1043" y="2901"/>
                  <a:pt x="1216" y="2920"/>
                </a:cubicBezTo>
                <a:cubicBezTo>
                  <a:pt x="1294" y="2939"/>
                  <a:pt x="1374" y="2903"/>
                  <a:pt x="1453" y="2895"/>
                </a:cubicBezTo>
                <a:cubicBezTo>
                  <a:pt x="1461" y="2892"/>
                  <a:pt x="1469" y="2891"/>
                  <a:pt x="1477" y="2887"/>
                </a:cubicBezTo>
                <a:cubicBezTo>
                  <a:pt x="1483" y="2883"/>
                  <a:pt x="1486" y="2874"/>
                  <a:pt x="1494" y="2871"/>
                </a:cubicBezTo>
                <a:cubicBezTo>
                  <a:pt x="1522" y="2859"/>
                  <a:pt x="1569" y="2852"/>
                  <a:pt x="1600" y="2846"/>
                </a:cubicBezTo>
                <a:cubicBezTo>
                  <a:pt x="1681" y="2798"/>
                  <a:pt x="1760" y="2780"/>
                  <a:pt x="1853" y="2765"/>
                </a:cubicBezTo>
                <a:cubicBezTo>
                  <a:pt x="2013" y="2711"/>
                  <a:pt x="2191" y="2763"/>
                  <a:pt x="2359" y="2740"/>
                </a:cubicBezTo>
                <a:cubicBezTo>
                  <a:pt x="2415" y="2721"/>
                  <a:pt x="2347" y="2741"/>
                  <a:pt x="2457" y="2724"/>
                </a:cubicBezTo>
                <a:cubicBezTo>
                  <a:pt x="2506" y="2715"/>
                  <a:pt x="2550" y="2676"/>
                  <a:pt x="2596" y="2659"/>
                </a:cubicBezTo>
                <a:cubicBezTo>
                  <a:pt x="2638" y="2625"/>
                  <a:pt x="2680" y="2589"/>
                  <a:pt x="2710" y="2544"/>
                </a:cubicBezTo>
                <a:cubicBezTo>
                  <a:pt x="2716" y="2510"/>
                  <a:pt x="2725" y="2479"/>
                  <a:pt x="2734" y="2447"/>
                </a:cubicBezTo>
                <a:cubicBezTo>
                  <a:pt x="2729" y="2338"/>
                  <a:pt x="2729" y="2210"/>
                  <a:pt x="2694" y="2104"/>
                </a:cubicBezTo>
                <a:cubicBezTo>
                  <a:pt x="2686" y="2057"/>
                  <a:pt x="2683" y="2009"/>
                  <a:pt x="2669" y="1965"/>
                </a:cubicBezTo>
                <a:cubicBezTo>
                  <a:pt x="2648" y="1841"/>
                  <a:pt x="2637" y="1711"/>
                  <a:pt x="2612" y="1589"/>
                </a:cubicBezTo>
                <a:cubicBezTo>
                  <a:pt x="2599" y="1526"/>
                  <a:pt x="2581" y="1464"/>
                  <a:pt x="2571" y="1402"/>
                </a:cubicBezTo>
                <a:cubicBezTo>
                  <a:pt x="2543" y="1241"/>
                  <a:pt x="2574" y="1325"/>
                  <a:pt x="2538" y="1238"/>
                </a:cubicBezTo>
                <a:cubicBezTo>
                  <a:pt x="2524" y="1169"/>
                  <a:pt x="2503" y="1089"/>
                  <a:pt x="2473" y="1026"/>
                </a:cubicBezTo>
                <a:cubicBezTo>
                  <a:pt x="2459" y="957"/>
                  <a:pt x="2410" y="798"/>
                  <a:pt x="2383" y="749"/>
                </a:cubicBezTo>
                <a:cubicBezTo>
                  <a:pt x="2372" y="730"/>
                  <a:pt x="2358" y="712"/>
                  <a:pt x="2351" y="692"/>
                </a:cubicBezTo>
                <a:cubicBezTo>
                  <a:pt x="2336" y="654"/>
                  <a:pt x="2335" y="612"/>
                  <a:pt x="2318" y="577"/>
                </a:cubicBezTo>
                <a:cubicBezTo>
                  <a:pt x="2302" y="546"/>
                  <a:pt x="2284" y="518"/>
                  <a:pt x="2269" y="488"/>
                </a:cubicBezTo>
                <a:cubicBezTo>
                  <a:pt x="2258" y="446"/>
                  <a:pt x="2251" y="397"/>
                  <a:pt x="2220" y="365"/>
                </a:cubicBezTo>
                <a:cubicBezTo>
                  <a:pt x="2198" y="342"/>
                  <a:pt x="2165" y="341"/>
                  <a:pt x="2138" y="332"/>
                </a:cubicBezTo>
                <a:cubicBezTo>
                  <a:pt x="2076" y="310"/>
                  <a:pt x="2013" y="298"/>
                  <a:pt x="1951" y="275"/>
                </a:cubicBezTo>
                <a:cubicBezTo>
                  <a:pt x="1799" y="218"/>
                  <a:pt x="1866" y="231"/>
                  <a:pt x="1755" y="218"/>
                </a:cubicBezTo>
                <a:cubicBezTo>
                  <a:pt x="1743" y="214"/>
                  <a:pt x="1645" y="185"/>
                  <a:pt x="1616" y="169"/>
                </a:cubicBezTo>
                <a:cubicBezTo>
                  <a:pt x="1598" y="159"/>
                  <a:pt x="1585" y="142"/>
                  <a:pt x="1567" y="137"/>
                </a:cubicBezTo>
                <a:cubicBezTo>
                  <a:pt x="1538" y="129"/>
                  <a:pt x="1527" y="128"/>
                  <a:pt x="1502" y="112"/>
                </a:cubicBezTo>
                <a:cubicBezTo>
                  <a:pt x="1495" y="107"/>
                  <a:pt x="1492" y="99"/>
                  <a:pt x="1485" y="96"/>
                </a:cubicBezTo>
                <a:cubicBezTo>
                  <a:pt x="1378" y="47"/>
                  <a:pt x="1247" y="40"/>
                  <a:pt x="1134" y="30"/>
                </a:cubicBezTo>
                <a:cubicBezTo>
                  <a:pt x="1015" y="0"/>
                  <a:pt x="887" y="15"/>
                  <a:pt x="767" y="22"/>
                </a:cubicBezTo>
                <a:cubicBezTo>
                  <a:pt x="704" y="43"/>
                  <a:pt x="685" y="76"/>
                  <a:pt x="628" y="104"/>
                </a:cubicBezTo>
                <a:cubicBezTo>
                  <a:pt x="527" y="204"/>
                  <a:pt x="455" y="202"/>
                  <a:pt x="326" y="234"/>
                </a:cubicBezTo>
                <a:cubicBezTo>
                  <a:pt x="307" y="253"/>
                  <a:pt x="315" y="256"/>
                  <a:pt x="302" y="243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bio_ch37_408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98600" y="1685925"/>
            <a:ext cx="6591300" cy="3617913"/>
          </a:xfrm>
          <a:prstGeom prst="rect">
            <a:avLst/>
          </a:prstGeom>
          <a:noFill/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000125" y="1963738"/>
            <a:ext cx="671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200"/>
              <a:t>Air inhaled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860425" y="4008438"/>
            <a:ext cx="9255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/>
              <a:t>Diaphragm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796925" y="3157538"/>
            <a:ext cx="854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200"/>
              <a:t>Rib cage rises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4848225" y="1887538"/>
            <a:ext cx="773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200"/>
              <a:t>Air exhaled</a:t>
            </a: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4797425" y="3830638"/>
            <a:ext cx="9255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200"/>
              <a:t>Diaphragm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4721225" y="2979738"/>
            <a:ext cx="854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200"/>
              <a:t>Rib cage descends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2130425" y="5319713"/>
            <a:ext cx="1019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400" b="1"/>
              <a:t>Inhalation</a:t>
            </a: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6054725" y="5319713"/>
            <a:ext cx="1079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1400" b="1"/>
              <a:t>Exhalation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838200" y="762000"/>
            <a:ext cx="1435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400" b="1">
                <a:solidFill>
                  <a:schemeClr val="bg1"/>
                </a:solidFill>
              </a:rPr>
              <a:t>Section 37-3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2590800" y="136525"/>
            <a:ext cx="6172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Figure 37-16 The Mechanics of Breathing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Surfactant 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914400" y="1783560"/>
            <a:ext cx="7924800" cy="4572000"/>
          </a:xfrm>
        </p:spPr>
        <p:txBody>
          <a:bodyPr/>
          <a:lstStyle/>
          <a:p>
            <a:r>
              <a:rPr lang="en-US" dirty="0" smtClean="0">
                <a:latin typeface="Centaur" pitchFamily="18" charset="0"/>
              </a:rPr>
              <a:t>A </a:t>
            </a:r>
            <a:r>
              <a:rPr lang="en-US" dirty="0" err="1" smtClean="0">
                <a:latin typeface="Centaur" pitchFamily="18" charset="0"/>
              </a:rPr>
              <a:t>phospholipid</a:t>
            </a:r>
            <a:r>
              <a:rPr lang="en-US" dirty="0" smtClean="0">
                <a:latin typeface="Centaur" pitchFamily="18" charset="0"/>
              </a:rPr>
              <a:t> substance.</a:t>
            </a:r>
          </a:p>
          <a:p>
            <a:r>
              <a:rPr lang="en-US" dirty="0" smtClean="0">
                <a:latin typeface="Centaur" pitchFamily="18" charset="0"/>
              </a:rPr>
              <a:t>Produced by type II alveolar cells.</a:t>
            </a:r>
          </a:p>
          <a:p>
            <a:r>
              <a:rPr lang="en-US" dirty="0" smtClean="0">
                <a:latin typeface="Centaur" pitchFamily="18" charset="0"/>
              </a:rPr>
              <a:t>Act to reduce the surface tension of fluid in the alveoli.</a:t>
            </a:r>
          </a:p>
          <a:p>
            <a:r>
              <a:rPr lang="en-US" dirty="0" smtClean="0">
                <a:latin typeface="Centaur" pitchFamily="18" charset="0"/>
              </a:rPr>
              <a:t>The surface tension occurs due to cohesive force between water molecules tending to contract the surface of alveoli resulting in their collapse.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Surfactant prevent alveolar collapse.</a:t>
            </a:r>
          </a:p>
          <a:p>
            <a:r>
              <a:rPr lang="en-US" dirty="0" smtClean="0">
                <a:latin typeface="Centaur" pitchFamily="18" charset="0"/>
              </a:rPr>
              <a:t>Production of surfactant starts late in pregnancy after 32nd week of pregnancy.</a:t>
            </a:r>
          </a:p>
          <a:p>
            <a:r>
              <a:rPr lang="en-US" dirty="0" smtClean="0">
                <a:latin typeface="Centaur" pitchFamily="18" charset="0"/>
              </a:rPr>
              <a:t>It is deficient in pre term babies.</a:t>
            </a:r>
          </a:p>
          <a:p>
            <a:r>
              <a:rPr lang="en-US" dirty="0" smtClean="0">
                <a:latin typeface="Centaur" pitchFamily="18" charset="0"/>
              </a:rPr>
              <a:t>These babies develop cyanosis &amp; difficulty in breathing at birth due to alveolar collapse </a:t>
            </a:r>
          </a:p>
          <a:p>
            <a:r>
              <a:rPr lang="en-US" dirty="0" smtClean="0">
                <a:latin typeface="Centaur" pitchFamily="18" charset="0"/>
              </a:rPr>
              <a:t>This was called respiratory distress syndrome (RDS) 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 descr="F:\VS 223 Powerpts\VS 223 PPTs\images\Control\01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457200"/>
            <a:ext cx="8534400" cy="57467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71684" name="Picture 4" descr="36543366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0"/>
            <a:ext cx="8763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حركة">
  <a:themeElements>
    <a:clrScheme name="حركة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حركة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حركة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انقلاب">
  <a:themeElements>
    <a:clrScheme name="انقلاب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انقلاب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انقلاب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222</TotalTime>
  <Words>447</Words>
  <Application>Microsoft Office PowerPoint</Application>
  <PresentationFormat>On-screen Show (4:3)</PresentationFormat>
  <Paragraphs>75</Paragraphs>
  <Slides>17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حركة</vt:lpstr>
      <vt:lpstr>انقلاب</vt:lpstr>
      <vt:lpstr>Slide 1</vt:lpstr>
      <vt:lpstr>Ventilation </vt:lpstr>
      <vt:lpstr>Slide 3</vt:lpstr>
      <vt:lpstr>Mechanism of ventilation</vt:lpstr>
      <vt:lpstr>Slide 5</vt:lpstr>
      <vt:lpstr>Mechanism of inspiration</vt:lpstr>
      <vt:lpstr>Slide 7</vt:lpstr>
      <vt:lpstr>Slide 8</vt:lpstr>
      <vt:lpstr>Mechanism of expiration </vt:lpstr>
      <vt:lpstr>Slide 10</vt:lpstr>
      <vt:lpstr>Slide 11</vt:lpstr>
      <vt:lpstr>Slide 12</vt:lpstr>
      <vt:lpstr>Slide 13</vt:lpstr>
      <vt:lpstr>Surfactant </vt:lpstr>
      <vt:lpstr>Slide 15</vt:lpstr>
      <vt:lpstr>Slide 16</vt:lpstr>
      <vt:lpstr>Slide 17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الشريحة 1</dc:title>
  <dc:creator>user</dc:creator>
  <cp:lastModifiedBy>Napta</cp:lastModifiedBy>
  <cp:revision>14</cp:revision>
  <dcterms:created xsi:type="dcterms:W3CDTF">2011-10-24T08:25:49Z</dcterms:created>
  <dcterms:modified xsi:type="dcterms:W3CDTF">2021-08-14T08:53:37Z</dcterms:modified>
</cp:coreProperties>
</file>