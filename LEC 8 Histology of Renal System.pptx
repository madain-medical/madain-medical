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9" r:id="rId15"/>
    <p:sldId id="268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C0A8F-FF7B-4A83-821D-C88FA8761E5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085A5-364E-49CF-8CDE-D45683C59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10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97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57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27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58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91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31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50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08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94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6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26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3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31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61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01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01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04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41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08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94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05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8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01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553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046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642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Snap ITC" panose="04040A07060A02020202" pitchFamily="82" charset="0"/>
              </a:rPr>
              <a:t>Histology of urinary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070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latin typeface="Snap ITC" panose="04040A07060A02020202" pitchFamily="82" charset="0"/>
              </a:rPr>
              <a:t>Histology of urinary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746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085A5-364E-49CF-8CDE-D45683C59AD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2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3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6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0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3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7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7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4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78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07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0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BA1D0-1229-4DF4-B0BC-0244173C416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C1149-E12B-4B3C-BAB1-624C9343E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4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>
                <a:latin typeface="Aharoni" panose="02010803020104030203" pitchFamily="2" charset="-79"/>
                <a:cs typeface="Aharoni" panose="02010803020104030203" pitchFamily="2" charset="-79"/>
              </a:rPr>
              <a:t>Histology of urinary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4052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latin typeface="Blackadder ITC" panose="04020505051007020D02" pitchFamily="82" charset="0"/>
              </a:rPr>
              <a:t>By: M. G. Hammad</a:t>
            </a:r>
          </a:p>
        </p:txBody>
      </p:sp>
    </p:spTree>
    <p:extLst>
      <p:ext uri="{BB962C8B-B14F-4D97-AF65-F5344CB8AC3E}">
        <p14:creationId xmlns:p14="http://schemas.microsoft.com/office/powerpoint/2010/main" val="190805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389" y="269591"/>
            <a:ext cx="10515600" cy="80858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lgerian" panose="04020705040A02060702" pitchFamily="82" charset="0"/>
              </a:rPr>
              <a:t>Introduction</a:t>
            </a:r>
            <a:br>
              <a:rPr lang="en-US" sz="2800" b="1" dirty="0">
                <a:latin typeface="Algerian" panose="04020705040A02060702" pitchFamily="82" charset="0"/>
              </a:rPr>
            </a:br>
            <a:r>
              <a:rPr lang="en-US" sz="2200" b="1" dirty="0">
                <a:latin typeface="Algerian" panose="04020705040A02060702" pitchFamily="82" charset="0"/>
              </a:rPr>
              <a:t>anatomical review </a:t>
            </a:r>
            <a:endParaRPr lang="en-US" sz="2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716" y="2248706"/>
            <a:ext cx="5746845" cy="300568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system formed of: 2kidneys, 2 Ureters, Bladder, Urethra.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main functions are: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cellular wastes from blood.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Reabsorption water and solutes.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Excretion of wastes and excess water as urine.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189" y="923959"/>
            <a:ext cx="6375622" cy="5655176"/>
          </a:xfrm>
        </p:spPr>
      </p:pic>
    </p:spTree>
    <p:extLst>
      <p:ext uri="{BB962C8B-B14F-4D97-AF65-F5344CB8AC3E}">
        <p14:creationId xmlns:p14="http://schemas.microsoft.com/office/powerpoint/2010/main" val="87859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550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kidney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kidney has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Lateral border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Medial border, hilum.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Renal pelvis.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calyces.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calyces.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Renal sinuses.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077" y="493395"/>
            <a:ext cx="7820168" cy="6117150"/>
          </a:xfrm>
        </p:spPr>
      </p:pic>
    </p:spTree>
    <p:extLst>
      <p:ext uri="{BB962C8B-B14F-4D97-AF65-F5344CB8AC3E}">
        <p14:creationId xmlns:p14="http://schemas.microsoft.com/office/powerpoint/2010/main" val="189758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738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Histological structures of kidney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955" y="1825625"/>
            <a:ext cx="4503761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Outer layer: cortex.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zone: Medulla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Renal pyramid (8-15).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Renal column.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752" y="827246"/>
            <a:ext cx="7481248" cy="5852038"/>
          </a:xfrm>
        </p:spPr>
      </p:pic>
      <p:sp>
        <p:nvSpPr>
          <p:cNvPr id="6" name="Down Arrow 5"/>
          <p:cNvSpPr/>
          <p:nvPr/>
        </p:nvSpPr>
        <p:spPr>
          <a:xfrm>
            <a:off x="2142698" y="2565779"/>
            <a:ext cx="163774" cy="47767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2852383" y="3355942"/>
            <a:ext cx="477672" cy="42531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30055" y="338393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Renal lobe</a:t>
            </a:r>
          </a:p>
        </p:txBody>
      </p:sp>
    </p:spTree>
    <p:extLst>
      <p:ext uri="{BB962C8B-B14F-4D97-AF65-F5344CB8AC3E}">
        <p14:creationId xmlns:p14="http://schemas.microsoft.com/office/powerpoint/2010/main" val="64002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644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The functional unite of kidney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6048" y="1743739"/>
            <a:ext cx="5181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nephron: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1 to 1.4 million nephron.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Composed of: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Renal corpuscle.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Proximal convoluted tubule.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Nephron loops ( loop of Henle ).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Distal convoluted tubules.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Collecting tubules.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N.B: collecting tubules     collecting ducts    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Calyces      ureter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831" y="925365"/>
            <a:ext cx="6603240" cy="5434972"/>
          </a:xfrm>
        </p:spPr>
      </p:pic>
      <p:sp>
        <p:nvSpPr>
          <p:cNvPr id="7" name="Right Arrow 6"/>
          <p:cNvSpPr/>
          <p:nvPr/>
        </p:nvSpPr>
        <p:spPr>
          <a:xfrm>
            <a:off x="2645959" y="4836319"/>
            <a:ext cx="221777" cy="81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1120253" y="5584211"/>
            <a:ext cx="221777" cy="81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4380645" y="4981932"/>
            <a:ext cx="115722" cy="3064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0800000">
            <a:off x="533540" y="5237116"/>
            <a:ext cx="3766783" cy="991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344036" y="5237116"/>
            <a:ext cx="109182" cy="245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9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68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Types of nephron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881" y="1825625"/>
            <a:ext cx="423876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Cortical nephron: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on the cortex.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Juxtamedullary nephron: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 to medulla, has long loops on the medulla.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9932"/>
            <a:ext cx="5484124" cy="6465494"/>
          </a:xfrm>
        </p:spPr>
      </p:pic>
    </p:spTree>
    <p:extLst>
      <p:ext uri="{BB962C8B-B14F-4D97-AF65-F5344CB8AC3E}">
        <p14:creationId xmlns:p14="http://schemas.microsoft.com/office/powerpoint/2010/main" val="168550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01" y="286404"/>
            <a:ext cx="5343703" cy="54927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Blood circulation through the kidney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7698" y="1825625"/>
            <a:ext cx="4511722" cy="4875426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Kidney vessels named according to their location and shape.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Renal artery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Segmental arteries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Interlobar arteries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Arcuate arteries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Interlobular arteries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Afferent arterioles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Efferent arterioles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Pretubular capillaries 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Vasa recta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Venules.              From here the same as artery</a:t>
            </a: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904" y="365125"/>
            <a:ext cx="6776116" cy="6439504"/>
          </a:xfrm>
        </p:spPr>
      </p:pic>
      <p:sp>
        <p:nvSpPr>
          <p:cNvPr id="5" name="Right Arrow 4"/>
          <p:cNvSpPr/>
          <p:nvPr/>
        </p:nvSpPr>
        <p:spPr>
          <a:xfrm>
            <a:off x="1856094" y="2538176"/>
            <a:ext cx="709683" cy="1364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ight Arrow 5"/>
          <p:cNvSpPr/>
          <p:nvPr/>
        </p:nvSpPr>
        <p:spPr>
          <a:xfrm>
            <a:off x="2493559" y="2922209"/>
            <a:ext cx="1082154" cy="1379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404591" y="2648104"/>
            <a:ext cx="1260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Renal sinus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04591" y="3297983"/>
            <a:ext cx="1082154" cy="1487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35565" y="3012925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C.M junction</a:t>
            </a:r>
          </a:p>
        </p:txBody>
      </p:sp>
      <p:sp>
        <p:nvSpPr>
          <p:cNvPr id="11" name="Right Arrow 10"/>
          <p:cNvSpPr/>
          <p:nvPr/>
        </p:nvSpPr>
        <p:spPr>
          <a:xfrm flipV="1">
            <a:off x="2230283" y="3628457"/>
            <a:ext cx="670988" cy="1270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Right Arrow 11"/>
          <p:cNvSpPr/>
          <p:nvPr/>
        </p:nvSpPr>
        <p:spPr>
          <a:xfrm flipV="1">
            <a:off x="2610174" y="4013923"/>
            <a:ext cx="670988" cy="1270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Right Arrow 12"/>
          <p:cNvSpPr/>
          <p:nvPr/>
        </p:nvSpPr>
        <p:spPr>
          <a:xfrm flipV="1">
            <a:off x="2464881" y="4379692"/>
            <a:ext cx="670988" cy="1270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Right Arrow 13"/>
          <p:cNvSpPr/>
          <p:nvPr/>
        </p:nvSpPr>
        <p:spPr>
          <a:xfrm flipV="1">
            <a:off x="2457448" y="4745461"/>
            <a:ext cx="670988" cy="1270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Right Arrow 14"/>
          <p:cNvSpPr/>
          <p:nvPr/>
        </p:nvSpPr>
        <p:spPr>
          <a:xfrm flipV="1">
            <a:off x="2779646" y="5130927"/>
            <a:ext cx="670988" cy="1270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Right Arrow 15"/>
          <p:cNvSpPr/>
          <p:nvPr/>
        </p:nvSpPr>
        <p:spPr>
          <a:xfrm flipV="1">
            <a:off x="1651715" y="5513323"/>
            <a:ext cx="670988" cy="1270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Right Arrow 16"/>
          <p:cNvSpPr/>
          <p:nvPr/>
        </p:nvSpPr>
        <p:spPr>
          <a:xfrm flipV="1">
            <a:off x="1520600" y="5890004"/>
            <a:ext cx="670988" cy="1270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58316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2355"/>
            <a:ext cx="5190938" cy="4822660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332" y="329370"/>
            <a:ext cx="6744270" cy="6528630"/>
          </a:xfrm>
        </p:spPr>
      </p:pic>
    </p:spTree>
    <p:extLst>
      <p:ext uri="{BB962C8B-B14F-4D97-AF65-F5344CB8AC3E}">
        <p14:creationId xmlns:p14="http://schemas.microsoft.com/office/powerpoint/2010/main" val="2046468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724" y="0"/>
            <a:ext cx="10515600" cy="764275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Structures of nephron</a:t>
            </a:r>
            <a:br>
              <a:rPr lang="en-US" sz="2000" b="1" dirty="0">
                <a:latin typeface="Algerian" panose="04020705040A02060702" pitchFamily="82" charset="0"/>
              </a:rPr>
            </a:br>
            <a:r>
              <a:rPr lang="en-US" sz="2000" b="1" dirty="0">
                <a:latin typeface="Algerian" panose="04020705040A02060702" pitchFamily="82" charset="0"/>
              </a:rPr>
              <a:t>Renal corpuscle: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163" y="1825625"/>
            <a:ext cx="5494361" cy="435133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Lies at the beginning of nephron.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200 micron.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Formed of: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Glomerulus: loose knot of capillaries.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Bowman’s capsule: double-walled epithelial capsule.(visceral and parietal layers).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the 2 layers of capsule lies </a:t>
            </a:r>
            <a:r>
              <a:rPr lang="en-US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capsular space.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corpuscle has: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Vascular pole.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Renal or tubular pole.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910" y="1337481"/>
            <a:ext cx="6790180" cy="5327626"/>
          </a:xfrm>
        </p:spPr>
      </p:pic>
    </p:spTree>
    <p:extLst>
      <p:ext uri="{BB962C8B-B14F-4D97-AF65-F5344CB8AC3E}">
        <p14:creationId xmlns:p14="http://schemas.microsoft.com/office/powerpoint/2010/main" val="93121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833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Structures of Renal corpuscle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03" y="1050877"/>
            <a:ext cx="4798325" cy="4913195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Parietal layer of bowman’s capsule: simple squamous epithelium, rests on basal lamina &amp; reticular fibers.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tubular pole, the epithelium become simple cuboidal epithelium.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Visceral layer of bowman’s capsule: the cells modified to podocytes cells.</a:t>
            </a:r>
          </a:p>
          <a:p>
            <a:r>
              <a:rPr lang="en-US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Podocytes cells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processes.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processes (foot or pedicels).</a:t>
            </a:r>
          </a:p>
          <a:p>
            <a:r>
              <a:rPr lang="en-US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Mesangial cells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 the area between capillaries lack of podocytes.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2 types: extra glomerular &amp; glomerular mesangial cells.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65"/>
          <a:stretch/>
        </p:blipFill>
        <p:spPr>
          <a:xfrm>
            <a:off x="5128158" y="1364776"/>
            <a:ext cx="6979254" cy="4899544"/>
          </a:xfrm>
        </p:spPr>
      </p:pic>
      <p:sp>
        <p:nvSpPr>
          <p:cNvPr id="10" name="Right Arrow 9"/>
          <p:cNvSpPr/>
          <p:nvPr/>
        </p:nvSpPr>
        <p:spPr>
          <a:xfrm rot="16200000">
            <a:off x="8782538" y="4873273"/>
            <a:ext cx="186292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199819" y="5752532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Mesangial cells</a:t>
            </a:r>
          </a:p>
        </p:txBody>
      </p:sp>
    </p:spTree>
    <p:extLst>
      <p:ext uri="{BB962C8B-B14F-4D97-AF65-F5344CB8AC3E}">
        <p14:creationId xmlns:p14="http://schemas.microsoft.com/office/powerpoint/2010/main" val="337441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550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Functions of Mesangial cells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166" y="2969300"/>
            <a:ext cx="3318486" cy="2545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support and contraction.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Phagocytosis.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Secretion (erythropoietin).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283" y="1379610"/>
            <a:ext cx="8893338" cy="524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2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20" y="119467"/>
            <a:ext cx="10515600" cy="49468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Proximal convoluted tubule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220" y="1825625"/>
            <a:ext cx="463237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Lies at the tubular pole of R.C.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longer than D.C.T 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lined by simple cuboidal EPI.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lumen surface of cells has long microvilli(brush border).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780" y="733805"/>
            <a:ext cx="7381914" cy="5443158"/>
          </a:xfrm>
        </p:spPr>
      </p:pic>
    </p:spTree>
    <p:extLst>
      <p:ext uri="{BB962C8B-B14F-4D97-AF65-F5344CB8AC3E}">
        <p14:creationId xmlns:p14="http://schemas.microsoft.com/office/powerpoint/2010/main" val="264021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98" y="279609"/>
            <a:ext cx="11511886" cy="6215070"/>
          </a:xfrm>
        </p:spPr>
      </p:pic>
    </p:spTree>
    <p:extLst>
      <p:ext uri="{BB962C8B-B14F-4D97-AF65-F5344CB8AC3E}">
        <p14:creationId xmlns:p14="http://schemas.microsoft.com/office/powerpoint/2010/main" val="2461698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318" y="245659"/>
            <a:ext cx="8559264" cy="6419448"/>
          </a:xfrm>
        </p:spPr>
      </p:pic>
    </p:spTree>
    <p:extLst>
      <p:ext uri="{BB962C8B-B14F-4D97-AF65-F5344CB8AC3E}">
        <p14:creationId xmlns:p14="http://schemas.microsoft.com/office/powerpoint/2010/main" val="2420890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55" y="146762"/>
            <a:ext cx="10515600" cy="221729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Nephron loop (loop of Henle)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755" y="1730091"/>
            <a:ext cx="3747448" cy="344167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U-shaped straight tube.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Consists of descending and ascending limbs.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cross from cortex to medulla.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lined by simple cuboidal near cortex and simple squamous near medulla.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307" y="271274"/>
            <a:ext cx="7824090" cy="6439824"/>
          </a:xfrm>
        </p:spPr>
      </p:pic>
    </p:spTree>
    <p:extLst>
      <p:ext uri="{BB962C8B-B14F-4D97-AF65-F5344CB8AC3E}">
        <p14:creationId xmlns:p14="http://schemas.microsoft.com/office/powerpoint/2010/main" val="343115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297" y="1690688"/>
            <a:ext cx="5506522" cy="4129892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6" y="1910687"/>
            <a:ext cx="6390582" cy="3689894"/>
          </a:xfrm>
        </p:spPr>
      </p:pic>
    </p:spTree>
    <p:extLst>
      <p:ext uri="{BB962C8B-B14F-4D97-AF65-F5344CB8AC3E}">
        <p14:creationId xmlns:p14="http://schemas.microsoft.com/office/powerpoint/2010/main" val="3426896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042" y="2753483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French Script MT" panose="03020402040607040605" pitchFamily="66" charset="0"/>
                <a:cs typeface="Courier New" panose="02070309020205020404" pitchFamily="49" charset="0"/>
              </a:rPr>
              <a:t>To be continue…. </a:t>
            </a:r>
          </a:p>
        </p:txBody>
      </p:sp>
    </p:spTree>
    <p:extLst>
      <p:ext uri="{BB962C8B-B14F-4D97-AF65-F5344CB8AC3E}">
        <p14:creationId xmlns:p14="http://schemas.microsoft.com/office/powerpoint/2010/main" val="21997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5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47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47" tmFilter="0, 0; 0.125,0.2665; 0.25,0.4; 0.375,0.465; 0.5,0.5;  0.625,0.535; 0.75,0.6; 0.875,0.7335; 1,1">
                                          <p:stCondLst>
                                            <p:cond delay="74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73" tmFilter="0, 0; 0.125,0.2665; 0.25,0.4; 0.375,0.465; 0.5,0.5;  0.625,0.535; 0.75,0.6; 0.875,0.7335; 1,1">
                                          <p:stCondLst>
                                            <p:cond delay="149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85" tmFilter="0, 0; 0.125,0.2665; 0.25,0.4; 0.375,0.465; 0.5,0.5;  0.625,0.535; 0.75,0.6; 0.875,0.7335; 1,1">
                                          <p:stCondLst>
                                            <p:cond delay="18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9">
                                          <p:stCondLst>
                                            <p:cond delay="7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87" decel="50000">
                                          <p:stCondLst>
                                            <p:cond delay="76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9">
                                          <p:stCondLst>
                                            <p:cond delay="14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87" decel="50000">
                                          <p:stCondLst>
                                            <p:cond delay="150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9">
                                          <p:stCondLst>
                                            <p:cond delay="184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87" decel="50000">
                                          <p:stCondLst>
                                            <p:cond delay="18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9">
                                          <p:stCondLst>
                                            <p:cond delay="20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87" decel="50000">
                                          <p:stCondLst>
                                            <p:cond delay="20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7263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Distal convoluted tubule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755" y="1975750"/>
            <a:ext cx="4757382" cy="4351338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continuation of thick ascending limb of Henle loop.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Lined by simple cuboidal cells.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PCT epithelium there is no brush border in these cells.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cells flatter and smaller than PCT cells.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lumen of DCT is wider more than PCT.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nuclei can appear in section of DCT.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functions concerning with ion transporting.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maintaining acid-base balance.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37" y="941696"/>
            <a:ext cx="7069750" cy="5818946"/>
          </a:xfrm>
        </p:spPr>
      </p:pic>
    </p:spTree>
    <p:extLst>
      <p:ext uri="{BB962C8B-B14F-4D97-AF65-F5344CB8AC3E}">
        <p14:creationId xmlns:p14="http://schemas.microsoft.com/office/powerpoint/2010/main" val="141898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65" y="941696"/>
            <a:ext cx="5909576" cy="535492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702" y="1828800"/>
            <a:ext cx="5862392" cy="3908260"/>
          </a:xfrm>
        </p:spPr>
      </p:pic>
    </p:spTree>
    <p:extLst>
      <p:ext uri="{BB962C8B-B14F-4D97-AF65-F5344CB8AC3E}">
        <p14:creationId xmlns:p14="http://schemas.microsoft.com/office/powerpoint/2010/main" val="3572077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373"/>
            <a:ext cx="10515600" cy="27632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Juxtaglomerular apparatus (JGA)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16" y="684887"/>
            <a:ext cx="4872251" cy="59777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Lies where the initial straight part of DCT comes in close contact with the vascular pole of RC.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 of JGA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Macula densa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point where the DCT touch the arterioles, cells of DCT become columnar &amp; more closely packed, with apical nuclei.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Juxtaglomerular granular cells(JG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adjacent to MD, modified smooth muscle cells of tunica media of arterioles, form secretory phenotype cells with rounded nuclei.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Lacis cells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glomerular mesangial cells, has the same functions of glomerular mesangial cells.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482" y="499341"/>
            <a:ext cx="7044518" cy="6376108"/>
          </a:xfrm>
        </p:spPr>
      </p:pic>
      <p:sp>
        <p:nvSpPr>
          <p:cNvPr id="6" name="Right Arrow 5"/>
          <p:cNvSpPr/>
          <p:nvPr/>
        </p:nvSpPr>
        <p:spPr>
          <a:xfrm rot="18496254">
            <a:off x="7517336" y="4305963"/>
            <a:ext cx="1863343" cy="52142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1</a:t>
            </a:r>
          </a:p>
        </p:txBody>
      </p:sp>
      <p:sp>
        <p:nvSpPr>
          <p:cNvPr id="7" name="Down Arrow 6"/>
          <p:cNvSpPr/>
          <p:nvPr/>
        </p:nvSpPr>
        <p:spPr>
          <a:xfrm rot="1173649">
            <a:off x="9251959" y="2090639"/>
            <a:ext cx="343960" cy="143601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2</a:t>
            </a:r>
          </a:p>
        </p:txBody>
      </p:sp>
      <p:sp>
        <p:nvSpPr>
          <p:cNvPr id="8" name="Down Arrow 7"/>
          <p:cNvSpPr/>
          <p:nvPr/>
        </p:nvSpPr>
        <p:spPr>
          <a:xfrm rot="19891074">
            <a:off x="8333457" y="2410937"/>
            <a:ext cx="231099" cy="83089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014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006" y="174058"/>
            <a:ext cx="10515600" cy="38550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Function of JGA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7006" y="2617195"/>
            <a:ext cx="4689143" cy="150442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regulation of glomerular filtrating rate (GFR).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blood pressure within arterioles.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787" y="1815152"/>
            <a:ext cx="6558426" cy="4372284"/>
          </a:xfrm>
        </p:spPr>
      </p:pic>
    </p:spTree>
    <p:extLst>
      <p:ext uri="{BB962C8B-B14F-4D97-AF65-F5344CB8AC3E}">
        <p14:creationId xmlns:p14="http://schemas.microsoft.com/office/powerpoint/2010/main" val="51384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923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lgerian" panose="04020705040A02060702" pitchFamily="82" charset="0"/>
              </a:rPr>
              <a:t>Collecting tubules &amp; ducts:</a:t>
            </a:r>
            <a:br>
              <a:rPr lang="en-US" sz="2000" b="1" dirty="0">
                <a:latin typeface="Algerian" panose="04020705040A02060702" pitchFamily="82" charset="0"/>
              </a:rPr>
            </a:br>
            <a:r>
              <a:rPr lang="en-US" sz="2700" b="1" dirty="0">
                <a:latin typeface="Algerian" panose="04020705040A02060702" pitchFamily="82" charset="0"/>
              </a:rPr>
              <a:t>Collecting tubules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4051" y="1825625"/>
            <a:ext cx="4620904" cy="435133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last part of nephron.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Begins at the end of DCT.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tubule about 40 micron in diameter.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Lined by simple cuboidal epithelium.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scanty microvilli.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cells rest on infolding basement membrane.</a:t>
            </a: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457" y="928048"/>
            <a:ext cx="6794686" cy="5109264"/>
          </a:xfrm>
        </p:spPr>
      </p:pic>
    </p:spTree>
    <p:extLst>
      <p:ext uri="{BB962C8B-B14F-4D97-AF65-F5344CB8AC3E}">
        <p14:creationId xmlns:p14="http://schemas.microsoft.com/office/powerpoint/2010/main" val="284624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22" y="2014176"/>
            <a:ext cx="5918578" cy="3974236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68" y="1705970"/>
            <a:ext cx="6120864" cy="4590648"/>
          </a:xfrm>
        </p:spPr>
      </p:pic>
    </p:spTree>
    <p:extLst>
      <p:ext uri="{BB962C8B-B14F-4D97-AF65-F5344CB8AC3E}">
        <p14:creationId xmlns:p14="http://schemas.microsoft.com/office/powerpoint/2010/main" val="4212700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8996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Collecting ducts (CD)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346" y="1825625"/>
            <a:ext cx="4593609" cy="435133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Formed by joining collecting tubules.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at the tip of medullary pyramids.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 tubule about 200 micron in diameter.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epithelium are more columnar cells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scanty microvilli.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cells rest on infolding basement membrane.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270" y="655094"/>
            <a:ext cx="7294730" cy="6037306"/>
          </a:xfrm>
        </p:spPr>
      </p:pic>
    </p:spTree>
    <p:extLst>
      <p:ext uri="{BB962C8B-B14F-4D97-AF65-F5344CB8AC3E}">
        <p14:creationId xmlns:p14="http://schemas.microsoft.com/office/powerpoint/2010/main" val="76257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106" y="1951630"/>
            <a:ext cx="6579676" cy="3799076"/>
          </a:xfrm>
        </p:spPr>
      </p:pic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26" y="25020"/>
            <a:ext cx="5124736" cy="6832980"/>
          </a:xfrm>
        </p:spPr>
      </p:pic>
    </p:spTree>
    <p:extLst>
      <p:ext uri="{BB962C8B-B14F-4D97-AF65-F5344CB8AC3E}">
        <p14:creationId xmlns:p14="http://schemas.microsoft.com/office/powerpoint/2010/main" val="2290151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68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Calyces &amp; renal pelvis &amp; ureter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4051" y="996287"/>
            <a:ext cx="4825621" cy="5207972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walls of these structures become gradually thicker from calyces through ureter to bladder.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walls formed of: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Mucosa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lined by unique transitional epithelium (urothelium).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Surrounded by thick lamina propria &amp; submucosa.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Muscularis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sheath of interwoven smooth muscle layers( inner longitudinal, outer circular ).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Adventitia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 containing BV &amp; N</a:t>
            </a: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732" y="1132764"/>
            <a:ext cx="7467442" cy="5600582"/>
          </a:xfrm>
        </p:spPr>
      </p:pic>
    </p:spTree>
    <p:extLst>
      <p:ext uri="{BB962C8B-B14F-4D97-AF65-F5344CB8AC3E}">
        <p14:creationId xmlns:p14="http://schemas.microsoft.com/office/powerpoint/2010/main" val="175766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4" y="1610436"/>
            <a:ext cx="7060778" cy="469983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825" y="404349"/>
            <a:ext cx="4719854" cy="6293138"/>
          </a:xfrm>
        </p:spPr>
      </p:pic>
    </p:spTree>
    <p:extLst>
      <p:ext uri="{BB962C8B-B14F-4D97-AF65-F5344CB8AC3E}">
        <p14:creationId xmlns:p14="http://schemas.microsoft.com/office/powerpoint/2010/main" val="1260344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009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Urinary bladder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516" y="1064525"/>
            <a:ext cx="4757383" cy="562287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walls formed of: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Mucosa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lined by unique transitional epithelium (urothelium).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Surrounded by thick lamina propria &amp; dens irregular CT of submucosa, these layers highly vascularized.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Muscularis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Consists of 3 layers, collectively called </a:t>
            </a:r>
            <a:r>
              <a:rPr lang="en-US" sz="2000" u="sng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detrusor muscle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Adventitia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 , cover all bladder externally except the upper part(serous peritoneum).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891" y="1173707"/>
            <a:ext cx="7581056" cy="5404514"/>
          </a:xfrm>
        </p:spPr>
      </p:pic>
    </p:spTree>
    <p:extLst>
      <p:ext uri="{BB962C8B-B14F-4D97-AF65-F5344CB8AC3E}">
        <p14:creationId xmlns:p14="http://schemas.microsoft.com/office/powerpoint/2010/main" val="214068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79" y="313032"/>
            <a:ext cx="10712842" cy="6419448"/>
          </a:xfrm>
        </p:spPr>
      </p:pic>
    </p:spTree>
    <p:extLst>
      <p:ext uri="{BB962C8B-B14F-4D97-AF65-F5344CB8AC3E}">
        <p14:creationId xmlns:p14="http://schemas.microsoft.com/office/powerpoint/2010/main" val="772861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0092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latin typeface="Algerian" panose="04020705040A02060702" pitchFamily="82" charset="0"/>
              </a:rPr>
              <a:t>Urethra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346" y="928047"/>
            <a:ext cx="5181600" cy="562287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Fibromuscular tube.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Carries the urine to exterior.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mucosa has large longitudinal folds.</a:t>
            </a:r>
          </a:p>
          <a:p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male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Prostatic part: lined by urothelium.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Membranous part: lined by stratified columnar at beginning and pseudostratified epithelium at end.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Spongy part: lined by stratified columnar, pseudostratifiied columnar and stratified squamous more distally.</a:t>
            </a:r>
          </a:p>
          <a:p>
            <a:r>
              <a:rPr lang="en-US" sz="21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female: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Lined firstly by transitional EPI, then stratified squamous EPI with some pseudostratifiied in some areas.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946" y="696037"/>
            <a:ext cx="6587980" cy="5464102"/>
          </a:xfrm>
        </p:spPr>
      </p:pic>
    </p:spTree>
    <p:extLst>
      <p:ext uri="{BB962C8B-B14F-4D97-AF65-F5344CB8AC3E}">
        <p14:creationId xmlns:p14="http://schemas.microsoft.com/office/powerpoint/2010/main" val="130092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46" y="2047165"/>
            <a:ext cx="6296390" cy="3908258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582" y="1624084"/>
            <a:ext cx="5811702" cy="4754420"/>
          </a:xfrm>
        </p:spPr>
      </p:pic>
    </p:spTree>
    <p:extLst>
      <p:ext uri="{BB962C8B-B14F-4D97-AF65-F5344CB8AC3E}">
        <p14:creationId xmlns:p14="http://schemas.microsoft.com/office/powerpoint/2010/main" val="2204958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382" y="228648"/>
            <a:ext cx="10515600" cy="385502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Algerian" panose="04020705040A02060702" pitchFamily="82" charset="0"/>
              </a:rPr>
              <a:t>Male urethra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4150"/>
            <a:ext cx="10075964" cy="6010016"/>
          </a:xfrm>
        </p:spPr>
      </p:pic>
    </p:spTree>
    <p:extLst>
      <p:ext uri="{BB962C8B-B14F-4D97-AF65-F5344CB8AC3E}">
        <p14:creationId xmlns:p14="http://schemas.microsoft.com/office/powerpoint/2010/main" val="2216239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484" y="228648"/>
            <a:ext cx="10515600" cy="289968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Female urethra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458" y="518616"/>
            <a:ext cx="8763652" cy="603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27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6445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latin typeface="Algerian" panose="04020705040A02060702" pitchFamily="82" charset="0"/>
              </a:rPr>
              <a:t>Urothelium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3107" y="1649512"/>
            <a:ext cx="4457132" cy="4723991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Transitional EPI.</a:t>
            </a:r>
          </a:p>
          <a:p>
            <a:pPr>
              <a:lnSpc>
                <a:spcPct val="7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Composed of 3 layers: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Basal layer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single small cells rest on thin basement membrane.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layer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more than one layers of more columnar cells.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Superficial layer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large, polyhedral, bi or multinucleated cells. protect underlying cells against cytotoxic effects of urine.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97"/>
          <a:stretch/>
        </p:blipFill>
        <p:spPr>
          <a:xfrm>
            <a:off x="4822056" y="578347"/>
            <a:ext cx="7051496" cy="5526232"/>
          </a:xfrm>
        </p:spPr>
      </p:pic>
    </p:spTree>
    <p:extLst>
      <p:ext uri="{BB962C8B-B14F-4D97-AF65-F5344CB8AC3E}">
        <p14:creationId xmlns:p14="http://schemas.microsoft.com/office/powerpoint/2010/main" val="407551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179" y="1520056"/>
            <a:ext cx="7886700" cy="3810249"/>
          </a:xfrm>
        </p:spPr>
        <p:txBody>
          <a:bodyPr>
            <a:prstTxWarp prst="textCurveUp">
              <a:avLst/>
            </a:prstTxWarp>
            <a:normAutofit/>
          </a:bodyPr>
          <a:lstStyle/>
          <a:p>
            <a:pPr>
              <a:defRPr/>
            </a:pPr>
            <a:r>
              <a:rPr lang="en-US" sz="45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lgerian" panose="04020705040A02060702" pitchFamily="82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6370330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1174</Words>
  <Application>Microsoft Office PowerPoint</Application>
  <PresentationFormat>Widescreen</PresentationFormat>
  <Paragraphs>222</Paragraphs>
  <Slides>35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Aharoni</vt:lpstr>
      <vt:lpstr>Algerian</vt:lpstr>
      <vt:lpstr>Arial</vt:lpstr>
      <vt:lpstr>Blackadder ITC</vt:lpstr>
      <vt:lpstr>Calibri</vt:lpstr>
      <vt:lpstr>Calibri Light</vt:lpstr>
      <vt:lpstr>French Script MT</vt:lpstr>
      <vt:lpstr>Snap ITC</vt:lpstr>
      <vt:lpstr>Times New Roman</vt:lpstr>
      <vt:lpstr>Wingdings</vt:lpstr>
      <vt:lpstr>Office Theme</vt:lpstr>
      <vt:lpstr>Histology of urinary system</vt:lpstr>
      <vt:lpstr>Introduction anatomical review </vt:lpstr>
      <vt:lpstr>kidney</vt:lpstr>
      <vt:lpstr>Histological structures of kidney</vt:lpstr>
      <vt:lpstr>The functional unite of kidney</vt:lpstr>
      <vt:lpstr>Types of nephron</vt:lpstr>
      <vt:lpstr>Blood circulation through the kidney</vt:lpstr>
      <vt:lpstr>PowerPoint Presentation</vt:lpstr>
      <vt:lpstr>Structures of nephron Renal corpuscle:</vt:lpstr>
      <vt:lpstr>Structures of Renal corpuscle</vt:lpstr>
      <vt:lpstr>Functions of Mesangial cells </vt:lpstr>
      <vt:lpstr>Proximal convoluted tubule</vt:lpstr>
      <vt:lpstr>PowerPoint Presentation</vt:lpstr>
      <vt:lpstr>PowerPoint Presentation</vt:lpstr>
      <vt:lpstr>Nephron loop (loop of Henle)</vt:lpstr>
      <vt:lpstr>PowerPoint Presentation</vt:lpstr>
      <vt:lpstr>To be continue…. </vt:lpstr>
      <vt:lpstr>Distal convoluted tubule</vt:lpstr>
      <vt:lpstr>PowerPoint Presentation</vt:lpstr>
      <vt:lpstr>Juxtaglomerular apparatus (JGA)</vt:lpstr>
      <vt:lpstr>Function of JGA</vt:lpstr>
      <vt:lpstr>Collecting tubules &amp; ducts: Collecting tubules</vt:lpstr>
      <vt:lpstr>PowerPoint Presentation</vt:lpstr>
      <vt:lpstr>Collecting ducts (CD)</vt:lpstr>
      <vt:lpstr>PowerPoint Presentation</vt:lpstr>
      <vt:lpstr>Calyces &amp; renal pelvis &amp; ureter </vt:lpstr>
      <vt:lpstr>PowerPoint Presentation</vt:lpstr>
      <vt:lpstr>Urinary bladder</vt:lpstr>
      <vt:lpstr>PowerPoint Presentation</vt:lpstr>
      <vt:lpstr>Urethra </vt:lpstr>
      <vt:lpstr>PowerPoint Presentation</vt:lpstr>
      <vt:lpstr>Male urethra</vt:lpstr>
      <vt:lpstr>Female urethra</vt:lpstr>
      <vt:lpstr>Urothelium 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Histology of urinary system</dc:title>
  <dc:creator>Medico Legal</dc:creator>
  <cp:lastModifiedBy>Mohamed Hammad</cp:lastModifiedBy>
  <cp:revision>82</cp:revision>
  <dcterms:created xsi:type="dcterms:W3CDTF">2015-03-23T20:36:01Z</dcterms:created>
  <dcterms:modified xsi:type="dcterms:W3CDTF">2025-10-21T07:26:41Z</dcterms:modified>
</cp:coreProperties>
</file>