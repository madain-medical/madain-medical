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3"/>
  </p:notesMasterIdLst>
  <p:sldIdLst>
    <p:sldId id="277" r:id="rId3"/>
    <p:sldId id="281" r:id="rId4"/>
    <p:sldId id="270" r:id="rId5"/>
    <p:sldId id="257" r:id="rId6"/>
    <p:sldId id="268" r:id="rId7"/>
    <p:sldId id="258" r:id="rId8"/>
    <p:sldId id="279" r:id="rId9"/>
    <p:sldId id="259" r:id="rId10"/>
    <p:sldId id="267" r:id="rId11"/>
    <p:sldId id="260" r:id="rId12"/>
    <p:sldId id="266" r:id="rId13"/>
    <p:sldId id="271" r:id="rId14"/>
    <p:sldId id="262" r:id="rId15"/>
    <p:sldId id="282" r:id="rId16"/>
    <p:sldId id="283" r:id="rId17"/>
    <p:sldId id="263" r:id="rId18"/>
    <p:sldId id="264" r:id="rId19"/>
    <p:sldId id="269" r:id="rId20"/>
    <p:sldId id="275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41" autoAdjust="0"/>
    <p:restoredTop sz="94660"/>
  </p:normalViewPr>
  <p:slideViewPr>
    <p:cSldViewPr>
      <p:cViewPr varScale="1">
        <p:scale>
          <a:sx n="68" d="100"/>
          <a:sy n="68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E5D4E-5BE9-45DE-A587-62FF0219CF61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CD30E-546D-4409-BF31-0CF3908BB8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9400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7CA0C7-AB3D-4E69-B4EB-DAF1FCA63EE2}" type="slidenum">
              <a:rPr lang="en-US"/>
              <a:pPr/>
              <a:t>3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Remember, oxygen is the final electron acceptor in cellular respiration (O</a:t>
            </a:r>
            <a:r>
              <a:rPr lang="en-US" b="1" baseline="-25000"/>
              <a:t>2</a:t>
            </a:r>
            <a:r>
              <a:rPr lang="en-US"/>
              <a:t> combines with H</a:t>
            </a:r>
            <a:r>
              <a:rPr lang="en-US" baseline="30000"/>
              <a:t>+</a:t>
            </a:r>
            <a:r>
              <a:rPr lang="en-US"/>
              <a:t> &amp; electrons to form H</a:t>
            </a:r>
            <a:r>
              <a:rPr lang="en-US" b="1" baseline="-25000"/>
              <a:t>2</a:t>
            </a:r>
            <a:r>
              <a:rPr lang="en-US"/>
              <a:t>O).</a:t>
            </a:r>
          </a:p>
        </p:txBody>
      </p:sp>
    </p:spTree>
    <p:extLst>
      <p:ext uri="{BB962C8B-B14F-4D97-AF65-F5344CB8AC3E}">
        <p14:creationId xmlns="" xmlns:p14="http://schemas.microsoft.com/office/powerpoint/2010/main" val="11985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F028B9-EBF6-46AB-ADC7-625C09E3EE36}" type="slidenum">
              <a:rPr lang="en-US"/>
              <a:pPr/>
              <a:t>7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39048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48F8C1-1332-4212-A979-AB77404FFF6B}" type="slidenum">
              <a:rPr lang="en-US"/>
              <a:pPr/>
              <a:t>12</a:t>
            </a:fld>
            <a:endParaRPr lang="en-US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2200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D04EFA-3318-4943-BF48-079CDE5ABADF}" type="slidenum">
              <a:rPr lang="en-US"/>
              <a:pPr/>
              <a:t>18</a:t>
            </a:fld>
            <a:endParaRPr lang="en-US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Lining of nasal cavity (as well as entire upper respiratory tract) is composed of pseudostratified ciliated columnar epithelium.</a:t>
            </a:r>
          </a:p>
          <a:p>
            <a:r>
              <a:rPr lang="en-US"/>
              <a:t>This epithelium contains numerous mucus-producing goblet cells.</a:t>
            </a:r>
          </a:p>
          <a:p>
            <a:r>
              <a:rPr lang="en-US"/>
              <a:t>Mucus functions to moisten air &amp; trap small particles.  Cilia move mucus &amp; embedded particles to pharynx to be swallowed.</a:t>
            </a:r>
          </a:p>
          <a:p>
            <a:r>
              <a:rPr lang="en-US"/>
              <a:t>Nose hairs filter large particles out of air.</a:t>
            </a:r>
          </a:p>
          <a:p>
            <a:r>
              <a:rPr lang="en-US"/>
              <a:t>Blood vessels beneath the epithelium release heat that warms incoming air.</a:t>
            </a:r>
          </a:p>
        </p:txBody>
      </p:sp>
    </p:spTree>
    <p:extLst>
      <p:ext uri="{BB962C8B-B14F-4D97-AF65-F5344CB8AC3E}">
        <p14:creationId xmlns="" xmlns:p14="http://schemas.microsoft.com/office/powerpoint/2010/main" val="420793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مستطيل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9" name="مستطيل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مستطيل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مستطيل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2" name="مستطيل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56" name="مستطيل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5" name="مستطيل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6" name="مستطيل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7" name="مستطيل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شكل حر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5" name="شكل حر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3" name="شكل حر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6" name="شكل حر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7" name="شكل حر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8" name="شكل حر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9" name="شكل حر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0" name="شكل حر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1" name="شكل حر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2" name="شكل حر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3" name="شكل حر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4" name="شكل حر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5" name="شكل حر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6" name="شكل حر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7" name="شكل حر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مستطيل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مستطيل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ستطيل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مستطيل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مستطيل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مستطيل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مستطيل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مستطيل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9" name="مستطيل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مستطيل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مستطيل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مستطيل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9" name="مستطيل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مستطيل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9" name="رابط مستقيم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مجموعة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رابط مستقيم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رابط مستقيم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رابط مستقيم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عنوان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ar-SA" dirty="0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grpSp>
        <p:nvGrpSpPr>
          <p:cNvPr id="14" name="مجموعة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رابط مستقيم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رابط مستقيم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مجموعة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رابط مستقيم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رابط مستقيم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رابط مستقيم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عنوان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22" name="عنوان فرعي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20" name="عنصر نائب للتذييل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10" name="عنصر نائب لرقم الشريحة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شكل بيضاوي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شكل بيضاوي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مستطيل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شكل بيضاوي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شكل بيضاوي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مستطيل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مستطيل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ar-SA" dirty="0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9" name="مخطط انسيابي: معالجة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خطط انسيابي: معالجة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مستطيل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مستطيل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ستطيل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مستطيل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مستطيل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مستطيل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مستطيل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دائري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شكل بيضاوي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دائرة مجوفة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5" name="عنصر نائب للعنوان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صر نائب للنص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24" name="عنصر نائب للتاريخ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EDE5B6F1-46E6-4D9A-8F1A-09E4DD736279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عنصر نائب لرقم الشريحة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CB52E28-4DDD-430D-960E-4772FE3784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مستطيل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819400" y="228600"/>
            <a:ext cx="5867400" cy="2139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b="1" dirty="0" smtClean="0">
                <a:solidFill>
                  <a:srgbClr val="002060"/>
                </a:solidFill>
                <a:latin typeface="Elephant" pitchFamily="18" charset="0"/>
              </a:rPr>
              <a:t>Respiratory  </a:t>
            </a:r>
            <a:r>
              <a:rPr lang="en-US" sz="3200" b="1" dirty="0">
                <a:solidFill>
                  <a:srgbClr val="002060"/>
                </a:solidFill>
                <a:latin typeface="Elephant" pitchFamily="18" charset="0"/>
              </a:rPr>
              <a:t>Physiology</a:t>
            </a:r>
            <a: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</a:br>
            <a:r>
              <a:rPr lang="en-US" b="1" dirty="0" smtClean="0">
                <a:solidFill>
                  <a:srgbClr val="002060"/>
                </a:solidFill>
                <a:latin typeface="Elephant" pitchFamily="18" charset="0"/>
              </a:rPr>
              <a:t>Bader Hassan</a:t>
            </a:r>
            <a:endParaRPr lang="en-US" b="1" dirty="0">
              <a:solidFill>
                <a:srgbClr val="002060"/>
              </a:solidFill>
              <a:latin typeface="Elephant" pitchFamily="18" charset="0"/>
            </a:endParaRPr>
          </a:p>
          <a:p>
            <a:pPr algn="r">
              <a:spcBef>
                <a:spcPct val="50000"/>
              </a:spcBef>
            </a:pPr>
            <a:r>
              <a:rPr lang="en-US" b="1" dirty="0">
                <a:solidFill>
                  <a:srgbClr val="002060"/>
                </a:solidFill>
                <a:latin typeface="Elephant" pitchFamily="18" charset="0"/>
              </a:rPr>
              <a:t>Lecturer Of Physiology</a:t>
            </a:r>
          </a:p>
          <a:p>
            <a:pPr algn="r">
              <a:spcBef>
                <a:spcPct val="50000"/>
              </a:spcBef>
            </a:pPr>
            <a:endParaRPr lang="en-US" sz="3600" b="1" dirty="0">
              <a:solidFill>
                <a:srgbClr val="0066FF"/>
              </a:solidFill>
              <a:latin typeface="Elephant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381000" y="6248400"/>
            <a:ext cx="8001000" cy="461963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Faculty Of Medicine Dept.Of Physiology</a:t>
            </a:r>
            <a:r>
              <a:rPr lang="en-US" b="1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228600" y="1752600"/>
            <a:ext cx="3810000" cy="1723549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Introduction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   </a:t>
            </a:r>
            <a:r>
              <a:rPr lang="en-US" sz="2000" b="1" i="1" dirty="0"/>
              <a:t/>
            </a:r>
            <a:br>
              <a:rPr lang="en-US" sz="2000" b="1" i="1" dirty="0"/>
            </a:br>
            <a:endParaRPr lang="en-US" sz="2000" b="1" i="1" dirty="0"/>
          </a:p>
          <a:p>
            <a:pPr>
              <a:spcBef>
                <a:spcPct val="50000"/>
              </a:spcBef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0" y="152400"/>
            <a:ext cx="36576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LECTURE NO </a:t>
            </a:r>
            <a:r>
              <a:rPr lang="en-US" b="1" dirty="0" smtClean="0"/>
              <a:t>(1)   </a:t>
            </a:r>
            <a:endParaRPr lang="ar-SA" b="1" dirty="0"/>
          </a:p>
        </p:txBody>
      </p:sp>
      <p:pic>
        <p:nvPicPr>
          <p:cNvPr id="9" name="Picture 4" descr="untitled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524000"/>
            <a:ext cx="4800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7" descr="MPj03858000000[1]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57200"/>
            <a:ext cx="6705600" cy="609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077200" cy="4267200"/>
          </a:xfrm>
        </p:spPr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What is respiration?</a:t>
            </a:r>
          </a:p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External respiration </a:t>
            </a:r>
            <a:r>
              <a:rPr lang="en-US" dirty="0" smtClean="0">
                <a:latin typeface="Centaur" pitchFamily="18" charset="0"/>
              </a:rPr>
              <a:t>- exchange of O2 &amp; CO2 between respiratory surfaces &amp; the blood [breathing].</a:t>
            </a:r>
          </a:p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Internal respiration </a:t>
            </a:r>
            <a:r>
              <a:rPr lang="en-US" dirty="0" smtClean="0">
                <a:latin typeface="Centaur" pitchFamily="18" charset="0"/>
              </a:rPr>
              <a:t>- exchange of O2 &amp; CO2 between the blood &amp; cells.</a:t>
            </a:r>
          </a:p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Cellular respiration </a:t>
            </a:r>
            <a:r>
              <a:rPr lang="en-US" dirty="0" smtClean="0">
                <a:latin typeface="Centaur" pitchFamily="18" charset="0"/>
              </a:rPr>
              <a:t>- process by which cells use O2 to produce ATP.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7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7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7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7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8" grpId="0" build="p" bldLvl="3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&amp; function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609600" y="1783560"/>
            <a:ext cx="8229600" cy="4572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Divisions :</a:t>
            </a:r>
          </a:p>
          <a:p>
            <a:r>
              <a:rPr lang="en-US" dirty="0" smtClean="0">
                <a:latin typeface="Centaur" pitchFamily="18" charset="0"/>
              </a:rPr>
              <a:t>The respiratory system is divided anatomically into: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Upper respiratory tract:</a:t>
            </a:r>
          </a:p>
          <a:p>
            <a:r>
              <a:rPr lang="en-US" dirty="0" smtClean="0">
                <a:latin typeface="Centaur" pitchFamily="18" charset="0"/>
              </a:rPr>
              <a:t>Include structures outside the thoracic cavity </a:t>
            </a:r>
          </a:p>
          <a:p>
            <a:r>
              <a:rPr lang="en-US" dirty="0" smtClean="0">
                <a:latin typeface="Centaur" pitchFamily="18" charset="0"/>
              </a:rPr>
              <a:t>The nasal cavity, larynx &amp; upper part of the trachea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357158" y="0"/>
          <a:ext cx="8501122" cy="6410348"/>
        </p:xfrm>
        <a:graphic>
          <a:graphicData uri="http://schemas.openxmlformats.org/presentationml/2006/ole">
            <p:oleObj spid="_x0000_s2051" name="Image" r:id="rId3" imgW="5324391" imgH="4777974" progId="">
              <p:embed/>
            </p:oleObj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57158" y="0"/>
            <a:ext cx="8358246" cy="12858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Lower respiratory tract:</a:t>
            </a:r>
          </a:p>
          <a:p>
            <a:r>
              <a:rPr lang="en-US" dirty="0" smtClean="0">
                <a:latin typeface="Centaur" pitchFamily="18" charset="0"/>
              </a:rPr>
              <a:t>Include structure inside the thoracic cavity.</a:t>
            </a:r>
          </a:p>
          <a:p>
            <a:r>
              <a:rPr lang="en-US" dirty="0" smtClean="0">
                <a:latin typeface="Centaur" pitchFamily="18" charset="0"/>
              </a:rPr>
              <a:t>The lower part of the trachea, bronchi, bronchioles, alveolar ducts &amp; alveoli.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9" name="Picture 7" descr="humanlungs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04800" y="228600"/>
            <a:ext cx="8839200" cy="66294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Respiratory system is divided physiologically into: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Conducting zone: </a:t>
            </a:r>
          </a:p>
          <a:p>
            <a:r>
              <a:rPr lang="en-US" dirty="0" smtClean="0">
                <a:latin typeface="Centaur" pitchFamily="18" charset="0"/>
              </a:rPr>
              <a:t>For conduction of air to the lower zone </a:t>
            </a:r>
          </a:p>
          <a:p>
            <a:r>
              <a:rPr lang="en-US" dirty="0" smtClean="0">
                <a:latin typeface="Centaur" pitchFamily="18" charset="0"/>
              </a:rPr>
              <a:t>Includes the nasal cavity, pharynx, larynx, trachea, bronchi &amp; bronchioles.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785794"/>
          </a:xfrm>
        </p:spPr>
        <p:txBody>
          <a:bodyPr/>
          <a:lstStyle/>
          <a:p>
            <a:r>
              <a:rPr lang="en-US" altLang="en-US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Conducting Zone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3" descr="16_05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2378" r="18353"/>
          <a:stretch>
            <a:fillRect/>
          </a:stretch>
        </p:blipFill>
        <p:spPr bwMode="auto">
          <a:xfrm>
            <a:off x="990600" y="642918"/>
            <a:ext cx="7391400" cy="59864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Respiratory zone: </a:t>
            </a:r>
          </a:p>
          <a:p>
            <a:r>
              <a:rPr lang="en-US" dirty="0" smtClean="0">
                <a:latin typeface="Centaur" pitchFamily="18" charset="0"/>
              </a:rPr>
              <a:t>For gas exchange. Includes the respiratory bronchioles, alveolar duct , alveolar sacs &amp; alveoli.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500034" y="285728"/>
          <a:ext cx="8286808" cy="5967434"/>
        </p:xfrm>
        <a:graphic>
          <a:graphicData uri="http://schemas.openxmlformats.org/presentationml/2006/ole">
            <p:oleObj spid="_x0000_s1027" name="Bitmap Image" r:id="rId3" imgW="3877216" imgH="3352381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001000" cy="4876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Path of air flow in external respiration:</a:t>
            </a:r>
          </a:p>
          <a:p>
            <a:pPr>
              <a:buFont typeface="Monotype Sorts" pitchFamily="2" charset="2"/>
              <a:buNone/>
            </a:pPr>
            <a:r>
              <a:rPr lang="en-US" sz="2800" dirty="0"/>
              <a:t>nose </a:t>
            </a:r>
            <a:r>
              <a:rPr lang="en-US" sz="2800" dirty="0">
                <a:sym typeface="Symbol" pitchFamily="18" charset="2"/>
              </a:rPr>
              <a:t></a:t>
            </a:r>
            <a:endParaRPr lang="en-US" sz="2800" dirty="0">
              <a:sym typeface="Monotype Sorts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sz="2800" dirty="0">
                <a:sym typeface="Monotype Sorts" pitchFamily="2" charset="2"/>
              </a:rPr>
              <a:t>      pharynx </a:t>
            </a:r>
            <a:r>
              <a:rPr lang="en-US" sz="2800" dirty="0">
                <a:sym typeface="Symbol" pitchFamily="18" charset="2"/>
              </a:rPr>
              <a:t></a:t>
            </a:r>
            <a:endParaRPr lang="en-US" sz="2800" dirty="0">
              <a:sym typeface="Monotype Sorts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sz="2800" dirty="0">
                <a:sym typeface="Monotype Sorts" pitchFamily="2" charset="2"/>
              </a:rPr>
              <a:t>            larynx </a:t>
            </a:r>
            <a:r>
              <a:rPr lang="en-US" sz="2800" dirty="0">
                <a:sym typeface="Symbol" pitchFamily="18" charset="2"/>
              </a:rPr>
              <a:t></a:t>
            </a:r>
            <a:endParaRPr lang="en-US" sz="2800" dirty="0">
              <a:sym typeface="Monotype Sorts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sz="2800" dirty="0">
                <a:sym typeface="Monotype Sorts" pitchFamily="2" charset="2"/>
              </a:rPr>
              <a:t>                  trachea </a:t>
            </a:r>
            <a:r>
              <a:rPr lang="en-US" sz="2800" dirty="0">
                <a:sym typeface="Symbol" pitchFamily="18" charset="2"/>
              </a:rPr>
              <a:t></a:t>
            </a:r>
            <a:endParaRPr lang="en-US" sz="2800" dirty="0">
              <a:sym typeface="Monotype Sorts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sz="2800" dirty="0">
                <a:sym typeface="Monotype Sorts" pitchFamily="2" charset="2"/>
              </a:rPr>
              <a:t>                        bronchi </a:t>
            </a:r>
            <a:r>
              <a:rPr lang="en-US" sz="2800" dirty="0">
                <a:sym typeface="Symbol" pitchFamily="18" charset="2"/>
              </a:rPr>
              <a:t></a:t>
            </a:r>
            <a:endParaRPr lang="en-US" sz="2800" dirty="0">
              <a:sym typeface="Monotype Sorts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sz="2800" dirty="0">
                <a:sym typeface="Monotype Sorts" pitchFamily="2" charset="2"/>
              </a:rPr>
              <a:t>                              bronchioles </a:t>
            </a:r>
            <a:r>
              <a:rPr lang="en-US" sz="2800" dirty="0">
                <a:sym typeface="Symbol" pitchFamily="18" charset="2"/>
              </a:rPr>
              <a:t></a:t>
            </a:r>
            <a:endParaRPr lang="en-US" sz="2800" dirty="0">
              <a:sym typeface="Monotype Sorts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sz="2800" dirty="0">
                <a:sym typeface="Monotype Sorts" pitchFamily="2" charset="2"/>
              </a:rPr>
              <a:t>                        			      alveoli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1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1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1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1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1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1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1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8" grpId="0" build="p" bldLvl="3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pleural cavity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783560"/>
            <a:ext cx="8001000" cy="4572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Each lung is covered by a membrane that is attached tightly to its outer surface (the visceral membrane).</a:t>
            </a:r>
          </a:p>
          <a:p>
            <a:r>
              <a:rPr lang="en-US" dirty="0" smtClean="0">
                <a:latin typeface="Centaur" pitchFamily="18" charset="0"/>
              </a:rPr>
              <a:t>The membrane continues to line the inner surface of the chest wall (parietal membrane).</a:t>
            </a:r>
          </a:p>
          <a:p>
            <a:r>
              <a:rPr lang="en-US" dirty="0" smtClean="0">
                <a:latin typeface="Centaur" pitchFamily="18" charset="0"/>
              </a:rPr>
              <a:t>The space which is found between the visceral &amp; parietal membranes called pleural cavity.</a:t>
            </a:r>
          </a:p>
          <a:p>
            <a:r>
              <a:rPr lang="en-US" dirty="0" smtClean="0">
                <a:latin typeface="Centaur" pitchFamily="18" charset="0"/>
              </a:rPr>
              <a:t> pleural cavity contains a few millimeters of fluid that act as a lubricant.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8130" name="Picture 2" descr="C:\Users\Napta\Desktop\الجامعات\Al-Fajr College\Physiotherapy\2.Respiratory system\1.Introduction\117795461-lung-pleural-and-pleural-cavity-medical-vector-illustration-on-white-backgroun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290"/>
            <a:ext cx="8480453" cy="63579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9154" name="Picture 2" descr="C:\Users\Napta\Desktop\الجامعات\Al-Fajr College\Physiotherapy\2.Respiratory system\1.Introduction\pleural-effusion-diagram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28604"/>
            <a:ext cx="8358246" cy="59293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7924800" cy="1045464"/>
          </a:xfrm>
        </p:spPr>
        <p:txBody>
          <a:bodyPr/>
          <a:lstStyle/>
          <a:p>
            <a:r>
              <a:rPr lang="en-US" dirty="0" smtClean="0"/>
              <a:t>Functions of the respiratory system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4831560"/>
          </a:xfrm>
        </p:spPr>
        <p:txBody>
          <a:bodyPr/>
          <a:lstStyle/>
          <a:p>
            <a:r>
              <a:rPr lang="en-US" dirty="0" smtClean="0">
                <a:latin typeface="Centaur" pitchFamily="18" charset="0"/>
              </a:rPr>
              <a:t>Provides O2 to the tissues.</a:t>
            </a:r>
          </a:p>
          <a:p>
            <a:r>
              <a:rPr lang="en-US" dirty="0" smtClean="0">
                <a:latin typeface="Centaur" pitchFamily="18" charset="0"/>
              </a:rPr>
              <a:t>Eliminate CO2 from the tissues.</a:t>
            </a:r>
          </a:p>
          <a:p>
            <a:r>
              <a:rPr lang="en-US" dirty="0" smtClean="0">
                <a:latin typeface="Centaur" pitchFamily="18" charset="0"/>
              </a:rPr>
              <a:t>Regulates pH of the blood.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Other functions:</a:t>
            </a:r>
          </a:p>
          <a:p>
            <a:r>
              <a:rPr lang="en-US" dirty="0" smtClean="0">
                <a:latin typeface="Centaur" pitchFamily="18" charset="0"/>
              </a:rPr>
              <a:t>Participates in the regulation of body temperature (e.g. by hyperventilation to lose heat).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685800" y="838200"/>
            <a:ext cx="7772400" cy="5334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Protection by:</a:t>
            </a:r>
          </a:p>
          <a:p>
            <a:r>
              <a:rPr lang="en-US" dirty="0" smtClean="0">
                <a:latin typeface="Centaur" pitchFamily="18" charset="0"/>
              </a:rPr>
              <a:t>Hairs within the nose for filtration of air.</a:t>
            </a:r>
          </a:p>
          <a:p>
            <a:r>
              <a:rPr lang="en-US" dirty="0" smtClean="0">
                <a:latin typeface="Centaur" pitchFamily="18" charset="0"/>
              </a:rPr>
              <a:t>Mucous on the airways for trapping of smaller particles.</a:t>
            </a:r>
          </a:p>
          <a:p>
            <a:r>
              <a:rPr lang="en-US" dirty="0" smtClean="0">
                <a:latin typeface="Centaur" pitchFamily="18" charset="0"/>
              </a:rPr>
              <a:t>Cilia on cells for transporting the trapped particles upwards to be coughed out.</a:t>
            </a:r>
          </a:p>
          <a:p>
            <a:r>
              <a:rPr lang="en-US" dirty="0" smtClean="0">
                <a:latin typeface="Centaur" pitchFamily="18" charset="0"/>
              </a:rPr>
              <a:t>Cough &amp; sneezing reflexes for ejecting unwanted substances through the mouth.</a:t>
            </a:r>
          </a:p>
          <a:p>
            <a:r>
              <a:rPr lang="en-US" dirty="0" smtClean="0">
                <a:latin typeface="Centaur" pitchFamily="18" charset="0"/>
              </a:rPr>
              <a:t>Antibodies within the respiratory secretion &amp; alveolar macrophage for ingestion of bacteria &amp; foreign particles. 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397" name="Picture 5" descr="0720l"/>
          <p:cNvPicPr>
            <a:picLocks noChangeAspect="1" noChangeArrowheads="1"/>
          </p:cNvPicPr>
          <p:nvPr/>
        </p:nvPicPr>
        <p:blipFill>
          <a:blip r:embed="rId3" cstate="print"/>
          <a:srcRect l="1125" t="4500" r="1125" b="10500"/>
          <a:stretch>
            <a:fillRect/>
          </a:stretch>
        </p:blipFill>
        <p:spPr bwMode="auto">
          <a:xfrm>
            <a:off x="838200" y="762000"/>
            <a:ext cx="7620000" cy="5837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09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914400" y="457200"/>
          <a:ext cx="7772400" cy="6019800"/>
        </p:xfrm>
        <a:graphic>
          <a:graphicData uri="http://schemas.openxmlformats.org/presentationml/2006/ole">
            <p:oleObj spid="_x0000_s4099" name="Image" r:id="rId3" imgW="5400635" imgH="4828803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 </a:t>
            </a:r>
            <a:endParaRPr lang="ar-SA" dirty="0"/>
          </a:p>
        </p:txBody>
      </p:sp>
      <p:pic>
        <p:nvPicPr>
          <p:cNvPr id="47106" name="Picture 2" descr="C:\Users\compaq\Pictures\Islamic\1913_1265563950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71414"/>
            <a:ext cx="8832283" cy="6643675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>
            <a:off x="1428728" y="1571612"/>
            <a:ext cx="3071834" cy="3429024"/>
          </a:xfrm>
          <a:prstGeom prst="ellipse">
            <a:avLst/>
          </a:prstGeom>
          <a:ln w="76200">
            <a:solidFill>
              <a:srgbClr val="CA9D4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6" name="Rounded Rectangle 5"/>
          <p:cNvSpPr/>
          <p:nvPr/>
        </p:nvSpPr>
        <p:spPr>
          <a:xfrm>
            <a:off x="5286380" y="1142984"/>
            <a:ext cx="3128978" cy="4500594"/>
          </a:xfrm>
          <a:prstGeom prst="roundRect">
            <a:avLst/>
          </a:prstGeom>
          <a:solidFill>
            <a:srgbClr val="CA9D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8" name="Rectangle 7"/>
          <p:cNvSpPr/>
          <p:nvPr/>
        </p:nvSpPr>
        <p:spPr>
          <a:xfrm>
            <a:off x="1787528" y="1857364"/>
            <a:ext cx="2498720" cy="261610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3000" b="1" cap="none" spc="0" dirty="0" smtClean="0">
                <a:ln/>
                <a:solidFill>
                  <a:srgbClr val="CA9D42"/>
                </a:solidFill>
                <a:effectLst/>
              </a:rPr>
              <a:t>   </a:t>
            </a:r>
            <a:endParaRPr lang="ar-OM" sz="3000" b="1" cap="none" spc="0" dirty="0" smtClean="0">
              <a:ln/>
              <a:solidFill>
                <a:srgbClr val="CA9D42"/>
              </a:solidFill>
              <a:effectLst/>
            </a:endParaRPr>
          </a:p>
          <a:p>
            <a:pPr algn="ctr"/>
            <a:r>
              <a:rPr lang="ar-SA" sz="3000" b="1" cap="none" spc="0" dirty="0" smtClean="0">
                <a:ln/>
                <a:solidFill>
                  <a:schemeClr val="bg1"/>
                </a:solidFill>
                <a:effectLst/>
              </a:rPr>
              <a:t>(لا إله إلا أنت سبحانك إني كنت من الظالمين</a:t>
            </a:r>
            <a:r>
              <a:rPr lang="ar-SA" sz="4400" b="1" cap="none" spc="0" dirty="0" smtClean="0">
                <a:ln/>
                <a:solidFill>
                  <a:schemeClr val="bg1"/>
                </a:solidFill>
                <a:effectLst/>
              </a:rPr>
              <a:t>)</a:t>
            </a:r>
            <a:endParaRPr lang="en-US" sz="4400" b="1" cap="none" spc="0" dirty="0">
              <a:ln/>
              <a:solidFill>
                <a:schemeClr val="bg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86380" y="1357298"/>
            <a:ext cx="30718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 rtl="0"/>
            <a:r>
              <a:rPr lang="en-US" sz="2800" b="1" dirty="0" smtClean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n-US" sz="2800" b="1" cap="none" spc="0" dirty="0">
              <a:ln w="11430"/>
              <a:solidFill>
                <a:srgbClr val="C0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47108" name="Picture 4" descr="C:\Users\compaq\Pictures\HEARTS\HeartThanks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8805" y="1371600"/>
            <a:ext cx="2847971" cy="3986226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حركة">
  <a:themeElements>
    <a:clrScheme name="حركة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حركة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حركة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انقلاب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انقلاب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انقلاب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275</TotalTime>
  <Words>491</Words>
  <Application>Microsoft Office PowerPoint</Application>
  <PresentationFormat>On-screen Show (4:3)</PresentationFormat>
  <Paragraphs>64</Paragraphs>
  <Slides>20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حركة</vt:lpstr>
      <vt:lpstr>انقلاب</vt:lpstr>
      <vt:lpstr>Image</vt:lpstr>
      <vt:lpstr>Bitmap Image</vt:lpstr>
      <vt:lpstr>Slide 1</vt:lpstr>
      <vt:lpstr>Slide 2</vt:lpstr>
      <vt:lpstr>Slide 3</vt:lpstr>
      <vt:lpstr>Structure &amp; function</vt:lpstr>
      <vt:lpstr>Slide 5</vt:lpstr>
      <vt:lpstr>Slide 6</vt:lpstr>
      <vt:lpstr>Slide 7</vt:lpstr>
      <vt:lpstr>Slide 8</vt:lpstr>
      <vt:lpstr>Conducting Zone</vt:lpstr>
      <vt:lpstr>Slide 10</vt:lpstr>
      <vt:lpstr>Slide 11</vt:lpstr>
      <vt:lpstr>Slide 12</vt:lpstr>
      <vt:lpstr>The pleural cavity</vt:lpstr>
      <vt:lpstr>Slide 14</vt:lpstr>
      <vt:lpstr>Slide 15</vt:lpstr>
      <vt:lpstr>Functions of the respiratory system</vt:lpstr>
      <vt:lpstr>Slide 17</vt:lpstr>
      <vt:lpstr>Slide 18</vt:lpstr>
      <vt:lpstr>Slide 19</vt:lpstr>
      <vt:lpstr>Slide 20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user</dc:creator>
  <cp:lastModifiedBy>Napta</cp:lastModifiedBy>
  <cp:revision>15</cp:revision>
  <dcterms:created xsi:type="dcterms:W3CDTF">2011-10-24T07:44:10Z</dcterms:created>
  <dcterms:modified xsi:type="dcterms:W3CDTF">2021-03-13T07:14:04Z</dcterms:modified>
</cp:coreProperties>
</file>