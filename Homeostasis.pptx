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6"/>
  </p:notesMasterIdLst>
  <p:sldIdLst>
    <p:sldId id="256" r:id="rId2"/>
    <p:sldId id="305" r:id="rId3"/>
    <p:sldId id="326" r:id="rId4"/>
    <p:sldId id="313" r:id="rId5"/>
    <p:sldId id="327" r:id="rId6"/>
    <p:sldId id="306" r:id="rId7"/>
    <p:sldId id="324" r:id="rId8"/>
    <p:sldId id="331" r:id="rId9"/>
    <p:sldId id="309" r:id="rId10"/>
    <p:sldId id="333" r:id="rId11"/>
    <p:sldId id="334" r:id="rId12"/>
    <p:sldId id="335" r:id="rId13"/>
    <p:sldId id="336" r:id="rId14"/>
    <p:sldId id="338" r:id="rId15"/>
    <p:sldId id="337" r:id="rId16"/>
    <p:sldId id="332" r:id="rId17"/>
    <p:sldId id="325" r:id="rId18"/>
    <p:sldId id="310" r:id="rId19"/>
    <p:sldId id="315" r:id="rId20"/>
    <p:sldId id="329" r:id="rId21"/>
    <p:sldId id="328" r:id="rId22"/>
    <p:sldId id="314" r:id="rId23"/>
    <p:sldId id="330" r:id="rId24"/>
    <p:sldId id="322" r:id="rId2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C9900"/>
    <a:srgbClr val="C0C0C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799" autoAdjust="0"/>
    <p:restoredTop sz="86408" autoAdjust="0"/>
  </p:normalViewPr>
  <p:slideViewPr>
    <p:cSldViewPr>
      <p:cViewPr>
        <p:scale>
          <a:sx n="53" d="100"/>
          <a:sy n="53" d="100"/>
        </p:scale>
        <p:origin x="-1085" y="-8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01EFBBC-DA4A-4BA7-893C-05BB6BCB07EF}" type="datetimeFigureOut">
              <a:rPr lang="en-US" smtClean="0"/>
              <a:t>11/10/2024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4EBB0E7-A13C-4954-B8DD-C8FF92BFB5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07087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4EBB0E7-A13C-4954-B8DD-C8FF92BFB54A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906709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/>
          <p:cNvSpPr>
            <a:spLocks noGrp="1"/>
          </p:cNvSpPr>
          <p:nvPr>
            <p:ph type="ctrTitle"/>
          </p:nvPr>
        </p:nvSpPr>
        <p:spPr>
          <a:xfrm>
            <a:off x="1432560" y="359898"/>
            <a:ext cx="7406640" cy="1472184"/>
          </a:xfrm>
        </p:spPr>
        <p:txBody>
          <a:bodyPr anchor="b"/>
          <a:lstStyle>
            <a:lvl1pPr algn="l">
              <a:defRPr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22" name="Subtitle 21"/>
          <p:cNvSpPr>
            <a:spLocks noGrp="1"/>
          </p:cNvSpPr>
          <p:nvPr>
            <p:ph type="subTitle" idx="1"/>
          </p:nvPr>
        </p:nvSpPr>
        <p:spPr>
          <a:xfrm>
            <a:off x="1432560" y="1850064"/>
            <a:ext cx="7406640" cy="1752600"/>
          </a:xfrm>
        </p:spPr>
        <p:txBody>
          <a:bodyPr tIns="0"/>
          <a:lstStyle>
            <a:lvl1pPr marL="27432" indent="0" algn="l">
              <a:buNone/>
              <a:defRPr sz="2600">
                <a:solidFill>
                  <a:schemeClr val="tx2">
                    <a:shade val="30000"/>
                    <a:satMod val="150000"/>
                  </a:schemeClr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D8BD707-D9CF-40AE-B4C6-C98DA3205C09}" type="datetimeFigureOut">
              <a:rPr lang="en-US" smtClean="0"/>
              <a:pPr/>
              <a:t>11/10/2024</a:t>
            </a:fld>
            <a:endParaRPr lang="en-US"/>
          </a:p>
        </p:txBody>
      </p:sp>
      <p:sp>
        <p:nvSpPr>
          <p:cNvPr id="20" name="Footer Placeholder 19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921433" y="1413802"/>
            <a:ext cx="210312" cy="210312"/>
          </a:xfrm>
          <a:prstGeom prst="ellipse">
            <a:avLst/>
          </a:prstGeom>
          <a:gradFill rotWithShape="1">
            <a:gsLst>
              <a:gs pos="0">
                <a:schemeClr val="accent1">
                  <a:tint val="20000"/>
                  <a:satMod val="450000"/>
                  <a:alpha val="95000"/>
                </a:schemeClr>
              </a:gs>
              <a:gs pos="50000">
                <a:schemeClr val="accent1">
                  <a:tint val="38000"/>
                  <a:satMod val="250000"/>
                  <a:alpha val="90000"/>
                </a:schemeClr>
              </a:gs>
              <a:gs pos="95000">
                <a:schemeClr val="accent1">
                  <a:tint val="75000"/>
                  <a:satMod val="255000"/>
                  <a:alpha val="88000"/>
                </a:schemeClr>
              </a:gs>
              <a:gs pos="100000">
                <a:schemeClr val="accent1">
                  <a:tint val="100000"/>
                  <a:shade val="90000"/>
                  <a:satMod val="255000"/>
                  <a:alpha val="85000"/>
                </a:schemeClr>
              </a:gs>
            </a:gsLst>
            <a:path path="circle">
              <a:fillToRect l="25000" t="12500" r="75000" b="87500"/>
            </a:path>
          </a:gradFill>
          <a:ln w="2000" cap="rnd" cmpd="sng" algn="ctr">
            <a:solidFill>
              <a:schemeClr val="accent1">
                <a:shade val="90000"/>
                <a:satMod val="110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Oval 8"/>
          <p:cNvSpPr/>
          <p:nvPr/>
        </p:nvSpPr>
        <p:spPr>
          <a:xfrm>
            <a:off x="1157176" y="1345016"/>
            <a:ext cx="64008" cy="64008"/>
          </a:xfrm>
          <a:prstGeom prst="ellipse">
            <a:avLst/>
          </a:prstGeom>
          <a:noFill/>
          <a:ln w="12700" cap="rnd" cmpd="sng" algn="ctr">
            <a:solidFill>
              <a:schemeClr val="accent1">
                <a:shade val="75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D8BD707-D9CF-40AE-B4C6-C98DA3205C09}" type="datetimeFigureOut">
              <a:rPr lang="en-US" smtClean="0"/>
              <a:pPr/>
              <a:t>11/10/2024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282890" y="-54"/>
            <a:ext cx="6858000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8392" y="2600325"/>
            <a:ext cx="6400800" cy="2286000"/>
          </a:xfrm>
        </p:spPr>
        <p:txBody>
          <a:bodyPr anchor="t"/>
          <a:lstStyle>
            <a:lvl1pPr algn="l">
              <a:lnSpc>
                <a:spcPts val="4500"/>
              </a:lnSpc>
              <a:buNone/>
              <a:defRPr sz="4000" b="1" cap="all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8392" y="1066800"/>
            <a:ext cx="6400800" cy="1509712"/>
          </a:xfrm>
        </p:spPr>
        <p:txBody>
          <a:bodyPr anchor="b"/>
          <a:lstStyle>
            <a:lvl1pPr marL="18288" indent="0">
              <a:lnSpc>
                <a:spcPts val="2300"/>
              </a:lnSpc>
              <a:spcBef>
                <a:spcPts val="0"/>
              </a:spcBef>
              <a:buNone/>
              <a:defRPr sz="2000">
                <a:solidFill>
                  <a:schemeClr val="tx2">
                    <a:shade val="30000"/>
                    <a:satMod val="150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D8BD707-D9CF-40AE-B4C6-C98DA3205C09}" type="datetimeFigureOut">
              <a:rPr lang="en-US" smtClean="0"/>
              <a:pPr/>
              <a:t>11/10/2024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Rectangle 9"/>
          <p:cNvSpPr/>
          <p:nvPr/>
        </p:nvSpPr>
        <p:spPr bwMode="invGray">
          <a:xfrm>
            <a:off x="2286000" y="0"/>
            <a:ext cx="76200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8" name="Oval 7"/>
          <p:cNvSpPr/>
          <p:nvPr/>
        </p:nvSpPr>
        <p:spPr>
          <a:xfrm>
            <a:off x="2172321" y="2814656"/>
            <a:ext cx="210312" cy="210312"/>
          </a:xfrm>
          <a:prstGeom prst="ellipse">
            <a:avLst/>
          </a:prstGeom>
          <a:gradFill rotWithShape="1">
            <a:gsLst>
              <a:gs pos="0">
                <a:schemeClr val="accent1">
                  <a:tint val="20000"/>
                  <a:satMod val="450000"/>
                  <a:alpha val="95000"/>
                </a:schemeClr>
              </a:gs>
              <a:gs pos="50000">
                <a:schemeClr val="accent1">
                  <a:tint val="38000"/>
                  <a:satMod val="250000"/>
                  <a:alpha val="90000"/>
                </a:schemeClr>
              </a:gs>
              <a:gs pos="95000">
                <a:schemeClr val="accent1">
                  <a:tint val="75000"/>
                  <a:satMod val="255000"/>
                  <a:alpha val="88000"/>
                </a:schemeClr>
              </a:gs>
              <a:gs pos="100000">
                <a:schemeClr val="accent1">
                  <a:tint val="100000"/>
                  <a:shade val="90000"/>
                  <a:satMod val="255000"/>
                  <a:alpha val="85000"/>
                </a:schemeClr>
              </a:gs>
            </a:gsLst>
            <a:path path="circle">
              <a:fillToRect l="25000" t="12500" r="75000" b="87500"/>
            </a:path>
          </a:gradFill>
          <a:ln w="2000" cap="rnd" cmpd="sng" algn="ctr">
            <a:solidFill>
              <a:schemeClr val="accent1">
                <a:shade val="90000"/>
                <a:satMod val="110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Oval 8"/>
          <p:cNvSpPr/>
          <p:nvPr/>
        </p:nvSpPr>
        <p:spPr>
          <a:xfrm>
            <a:off x="2408064" y="2745870"/>
            <a:ext cx="64008" cy="64008"/>
          </a:xfrm>
          <a:prstGeom prst="ellipse">
            <a:avLst/>
          </a:prstGeom>
          <a:noFill/>
          <a:ln w="12700" cap="rnd" cmpd="sng" algn="ctr">
            <a:solidFill>
              <a:schemeClr val="accent1">
                <a:shade val="75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5608" y="274320"/>
            <a:ext cx="7498080" cy="1143000"/>
          </a:xfrm>
        </p:spPr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35608" y="1524000"/>
            <a:ext cx="3657600" cy="466344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276088" y="1524000"/>
            <a:ext cx="3657600" cy="466344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D8BD707-D9CF-40AE-B4C6-C98DA3205C09}" type="datetimeFigureOut">
              <a:rPr lang="en-US" smtClean="0"/>
              <a:pPr/>
              <a:t>11/10/2024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160336"/>
            <a:ext cx="8229600" cy="1143000"/>
          </a:xfrm>
        </p:spPr>
        <p:txBody>
          <a:bodyPr anchor="ctr"/>
          <a:lstStyle>
            <a:lvl1pPr algn="ctr">
              <a:defRPr sz="4500" b="1" cap="none" baseline="0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328278"/>
            <a:ext cx="4023360" cy="640080"/>
          </a:xfrm>
          <a:solidFill>
            <a:schemeClr val="bg1"/>
          </a:solidFill>
          <a:ln w="10795">
            <a:solidFill>
              <a:schemeClr val="bg1"/>
            </a:solidFill>
            <a:miter lim="800000"/>
          </a:ln>
        </p:spPr>
        <p:txBody>
          <a:bodyPr anchor="ctr"/>
          <a:lstStyle>
            <a:lvl1pPr marL="64008" indent="0" algn="l">
              <a:lnSpc>
                <a:spcPct val="100000"/>
              </a:lnSpc>
              <a:spcBef>
                <a:spcPts val="100"/>
              </a:spcBef>
              <a:buNone/>
              <a:defRPr sz="19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63440" y="328278"/>
            <a:ext cx="4023360" cy="640080"/>
          </a:xfrm>
          <a:solidFill>
            <a:schemeClr val="bg1"/>
          </a:solidFill>
          <a:ln w="10795">
            <a:solidFill>
              <a:schemeClr val="bg1"/>
            </a:solidFill>
            <a:miter lim="800000"/>
          </a:ln>
        </p:spPr>
        <p:txBody>
          <a:bodyPr anchor="ctr"/>
          <a:lstStyle>
            <a:lvl1pPr marL="64008" indent="0" algn="l">
              <a:lnSpc>
                <a:spcPct val="100000"/>
              </a:lnSpc>
              <a:spcBef>
                <a:spcPts val="100"/>
              </a:spcBef>
              <a:buNone/>
              <a:defRPr sz="19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969336"/>
            <a:ext cx="4023360" cy="4114800"/>
          </a:xfrm>
          <a:ln w="10795">
            <a:solidFill>
              <a:schemeClr val="bg1"/>
            </a:solidFill>
            <a:prstDash val="dash"/>
            <a:miter lim="800000"/>
          </a:ln>
        </p:spPr>
        <p:txBody>
          <a:bodyPr/>
          <a:lstStyle>
            <a:lvl1pPr marL="393192" indent="-274320">
              <a:lnSpc>
                <a:spcPct val="100000"/>
              </a:lnSpc>
              <a:spcBef>
                <a:spcPts val="700"/>
              </a:spcBef>
              <a:defRPr sz="2400"/>
            </a:lvl1pPr>
            <a:lvl2pPr>
              <a:lnSpc>
                <a:spcPct val="100000"/>
              </a:lnSpc>
              <a:spcBef>
                <a:spcPts val="700"/>
              </a:spcBef>
              <a:defRPr sz="2000"/>
            </a:lvl2pPr>
            <a:lvl3pPr>
              <a:lnSpc>
                <a:spcPct val="100000"/>
              </a:lnSpc>
              <a:spcBef>
                <a:spcPts val="700"/>
              </a:spcBef>
              <a:defRPr sz="1800"/>
            </a:lvl3pPr>
            <a:lvl4pPr>
              <a:lnSpc>
                <a:spcPct val="100000"/>
              </a:lnSpc>
              <a:spcBef>
                <a:spcPts val="700"/>
              </a:spcBef>
              <a:defRPr sz="1600"/>
            </a:lvl4pPr>
            <a:lvl5pPr>
              <a:lnSpc>
                <a:spcPct val="100000"/>
              </a:lnSpc>
              <a:spcBef>
                <a:spcPts val="700"/>
              </a:spcBef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3440" y="969336"/>
            <a:ext cx="4023360" cy="4114800"/>
          </a:xfrm>
          <a:ln w="10795">
            <a:solidFill>
              <a:schemeClr val="bg1"/>
            </a:solidFill>
            <a:prstDash val="dash"/>
            <a:miter lim="800000"/>
          </a:ln>
        </p:spPr>
        <p:txBody>
          <a:bodyPr/>
          <a:lstStyle>
            <a:lvl1pPr marL="393192" indent="-274320">
              <a:lnSpc>
                <a:spcPct val="100000"/>
              </a:lnSpc>
              <a:spcBef>
                <a:spcPts val="700"/>
              </a:spcBef>
              <a:defRPr sz="2400"/>
            </a:lvl1pPr>
            <a:lvl2pPr>
              <a:lnSpc>
                <a:spcPct val="100000"/>
              </a:lnSpc>
              <a:spcBef>
                <a:spcPts val="700"/>
              </a:spcBef>
              <a:defRPr sz="2000"/>
            </a:lvl2pPr>
            <a:lvl3pPr>
              <a:lnSpc>
                <a:spcPct val="100000"/>
              </a:lnSpc>
              <a:spcBef>
                <a:spcPts val="700"/>
              </a:spcBef>
              <a:defRPr sz="1800"/>
            </a:lvl3pPr>
            <a:lvl4pPr>
              <a:lnSpc>
                <a:spcPct val="100000"/>
              </a:lnSpc>
              <a:spcBef>
                <a:spcPts val="700"/>
              </a:spcBef>
              <a:defRPr sz="1600"/>
            </a:lvl4pPr>
            <a:lvl5pPr>
              <a:lnSpc>
                <a:spcPct val="100000"/>
              </a:lnSpc>
              <a:spcBef>
                <a:spcPts val="700"/>
              </a:spcBef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D8BD707-D9CF-40AE-B4C6-C98DA3205C09}" type="datetimeFigureOut">
              <a:rPr lang="en-US" smtClean="0"/>
              <a:pPr/>
              <a:t>11/10/2024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5608" y="274320"/>
            <a:ext cx="7498080" cy="1143000"/>
          </a:xfrm>
        </p:spPr>
        <p:txBody>
          <a:bodyPr anchor="ctr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D8BD707-D9CF-40AE-B4C6-C98DA3205C09}" type="datetimeFigureOut">
              <a:rPr lang="en-US" smtClean="0"/>
              <a:pPr/>
              <a:t>11/10/2024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014984" y="0"/>
            <a:ext cx="8129016" cy="6858000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D8BD707-D9CF-40AE-B4C6-C98DA3205C09}" type="datetimeFigureOut">
              <a:rPr lang="en-US" smtClean="0"/>
              <a:pPr/>
              <a:t>11/10/2024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Rectangle 5"/>
          <p:cNvSpPr/>
          <p:nvPr/>
        </p:nvSpPr>
        <p:spPr bwMode="invGray">
          <a:xfrm>
            <a:off x="1014984" y="-54"/>
            <a:ext cx="73152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16778"/>
            <a:ext cx="3810000" cy="1162050"/>
          </a:xfrm>
          <a:ln>
            <a:noFill/>
          </a:ln>
        </p:spPr>
        <p:txBody>
          <a:bodyPr anchor="b"/>
          <a:lstStyle>
            <a:lvl1pPr algn="l">
              <a:lnSpc>
                <a:spcPts val="2000"/>
              </a:lnSpc>
              <a:buNone/>
              <a:defRPr sz="2200" b="1" cap="all" baseline="0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57200" y="1406964"/>
            <a:ext cx="3810000" cy="698500"/>
          </a:xfrm>
        </p:spPr>
        <p:txBody>
          <a:bodyPr/>
          <a:lstStyle>
            <a:lvl1pPr marL="45720" indent="0">
              <a:lnSpc>
                <a:spcPct val="100000"/>
              </a:lnSpc>
              <a:spcBef>
                <a:spcPts val="0"/>
              </a:spcBef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457200" y="2133600"/>
            <a:ext cx="8153400" cy="399256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D8BD707-D9CF-40AE-B4C6-C98DA3205C09}" type="datetimeFigureOut">
              <a:rPr lang="en-US" smtClean="0"/>
              <a:pPr/>
              <a:t>11/10/2024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86896" y="1066800"/>
            <a:ext cx="2743200" cy="1981200"/>
          </a:xfrm>
        </p:spPr>
        <p:txBody>
          <a:bodyPr anchor="b">
            <a:noAutofit/>
          </a:bodyPr>
          <a:lstStyle>
            <a:lvl1pPr algn="l">
              <a:buNone/>
              <a:defRPr sz="2100" b="1">
                <a:effectLst/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D8BD707-D9CF-40AE-B4C6-C98DA3205C09}" type="datetimeFigureOut">
              <a:rPr lang="en-US" smtClean="0"/>
              <a:pPr/>
              <a:t>11/10/2024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762000" y="1066800"/>
            <a:ext cx="4572000" cy="4572000"/>
          </a:xfrm>
          <a:prstGeom prst="rect">
            <a:avLst/>
          </a:prstGeom>
          <a:solidFill>
            <a:srgbClr val="FFFFFF"/>
          </a:solidFill>
          <a:ln w="88900" cap="sq">
            <a:solidFill>
              <a:srgbClr val="FFFFFF"/>
            </a:solidFill>
            <a:miter lim="800000"/>
          </a:ln>
          <a:effectLst>
            <a:outerShdw blurRad="55500" dist="18500" dir="5400000" algn="tl" rotWithShape="0">
              <a:srgbClr val="000000">
                <a:alpha val="3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 contourW="635">
            <a:bevelT w="25400" h="19050"/>
            <a:contourClr>
              <a:srgbClr val="969696"/>
            </a:contourClr>
          </a:sp3d>
        </p:spPr>
        <p:txBody>
          <a:bodyPr lIns="91440" tIns="274320" rtlCol="0" anchor="t">
            <a:normAutofit/>
          </a:bodyPr>
          <a:lstStyle>
            <a:extLst/>
          </a:lstStyle>
          <a:p>
            <a:pPr marL="0" indent="-283464" algn="l" rtl="0" eaLnBrk="1" latinLnBrk="0" hangingPunct="1">
              <a:lnSpc>
                <a:spcPts val="3000"/>
              </a:lnSpc>
              <a:spcBef>
                <a:spcPts val="600"/>
              </a:spcBef>
              <a:buClr>
                <a:schemeClr val="accent1"/>
              </a:buClr>
              <a:buSzPct val="80000"/>
              <a:buFont typeface="Wingdings 2"/>
              <a:buNone/>
            </a:pPr>
            <a:endParaRPr kumimoji="0" lang="en-US" sz="32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838200" y="1143003"/>
            <a:ext cx="4419600" cy="3514531"/>
          </a:xfrm>
          <a:prstGeom prst="roundRect">
            <a:avLst>
              <a:gd name="adj" fmla="val 783"/>
            </a:avLst>
          </a:prstGeom>
          <a:solidFill>
            <a:schemeClr val="bg2"/>
          </a:solidFill>
          <a:ln w="127000">
            <a:noFill/>
            <a:miter lim="800000"/>
          </a:ln>
          <a:effectLst/>
        </p:spPr>
        <p:txBody>
          <a:bodyPr lIns="91440" tIns="274320" anchor="t"/>
          <a:lstStyle>
            <a:lvl1pPr indent="0">
              <a:buNone/>
              <a:defRPr sz="3200"/>
            </a:lvl1pPr>
            <a:extLst/>
          </a:lstStyle>
          <a:p>
            <a:pPr marL="0" algn="l" eaLnBrk="1" latinLnBrk="0" hangingPunct="1"/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9" name="Flowchart: Process 8"/>
          <p:cNvSpPr/>
          <p:nvPr/>
        </p:nvSpPr>
        <p:spPr>
          <a:xfrm rot="19468671">
            <a:off x="396725" y="954341"/>
            <a:ext cx="685800" cy="204310"/>
          </a:xfrm>
          <a:prstGeom prst="flowChartProcess">
            <a:avLst/>
          </a:prstGeom>
          <a:solidFill>
            <a:srgbClr val="FBFBFB">
              <a:alpha val="45098"/>
            </a:srgbClr>
          </a:solidFill>
          <a:ln w="6350" cap="rnd" cmpd="sng" algn="ctr">
            <a:solidFill>
              <a:srgbClr val="FFFFFF">
                <a:alpha val="100000"/>
              </a:srgbClr>
            </a:solidFill>
            <a:prstDash val="solid"/>
          </a:ln>
          <a:effectLst>
            <a:outerShdw blurRad="25400" dist="25400" dir="3300000" sx="96000" sy="96000" algn="tl" rotWithShape="0">
              <a:schemeClr val="bg2">
                <a:shade val="90000"/>
                <a:satMod val="200000"/>
                <a:alpha val="40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0" name="Flowchart: Process 9"/>
          <p:cNvSpPr/>
          <p:nvPr/>
        </p:nvSpPr>
        <p:spPr>
          <a:xfrm rot="2103354" flipH="1">
            <a:off x="5003667" y="936786"/>
            <a:ext cx="649224" cy="204310"/>
          </a:xfrm>
          <a:prstGeom prst="flowChartProcess">
            <a:avLst/>
          </a:prstGeom>
          <a:solidFill>
            <a:srgbClr val="FBFBFB">
              <a:alpha val="45098"/>
            </a:srgbClr>
          </a:solidFill>
          <a:ln w="6350" cap="rnd" cmpd="sng" algn="ctr">
            <a:solidFill>
              <a:srgbClr val="FFFFFF">
                <a:alpha val="100000"/>
              </a:srgbClr>
            </a:solidFill>
            <a:prstDash val="solid"/>
          </a:ln>
          <a:effectLst>
            <a:outerShdw blurRad="25400" dist="25400" dir="3300000" sx="96000" sy="96000" algn="tl" rotWithShape="0">
              <a:schemeClr val="bg2">
                <a:alpha val="20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8200" y="4800600"/>
            <a:ext cx="4419600" cy="762000"/>
          </a:xfrm>
        </p:spPr>
        <p:txBody>
          <a:bodyPr anchor="ctr"/>
          <a:lstStyle>
            <a:lvl1pPr marL="0" indent="0" algn="l">
              <a:lnSpc>
                <a:spcPts val="1600"/>
              </a:lnSpc>
              <a:spcBef>
                <a:spcPts val="0"/>
              </a:spcBef>
              <a:buNone/>
              <a:defRPr sz="1400">
                <a:solidFill>
                  <a:srgbClr val="777777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D8BD707-D9CF-40AE-B4C6-C98DA3205C09}" type="datetimeFigureOut">
              <a:rPr lang="en-US" smtClean="0"/>
              <a:pPr/>
              <a:t>11/10/2024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58000" y="274639"/>
            <a:ext cx="1828800" cy="5851525"/>
          </a:xfrm>
        </p:spPr>
        <p:txBody>
          <a:bodyPr vert="eaVert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3000" y="274640"/>
            <a:ext cx="5562600" cy="5851525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D8BD707-D9CF-40AE-B4C6-C98DA3205C09}" type="datetimeFigureOut">
              <a:rPr lang="en-US" smtClean="0"/>
              <a:pPr/>
              <a:t>11/10/2024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e 6"/>
          <p:cNvSpPr/>
          <p:nvPr/>
        </p:nvSpPr>
        <p:spPr>
          <a:xfrm>
            <a:off x="-815927" y="-815922"/>
            <a:ext cx="1638887" cy="1638887"/>
          </a:xfrm>
          <a:prstGeom prst="pie">
            <a:avLst>
              <a:gd name="adj1" fmla="val 0"/>
              <a:gd name="adj2" fmla="val 5402120"/>
            </a:avLst>
          </a:prstGeom>
          <a:solidFill>
            <a:schemeClr val="bg2">
              <a:tint val="18000"/>
              <a:satMod val="220000"/>
              <a:alpha val="33000"/>
            </a:schemeClr>
          </a:solidFill>
          <a:ln w="3175" cap="rnd" cmpd="sng" algn="ctr">
            <a:solidFill>
              <a:schemeClr val="bg2">
                <a:shade val="70000"/>
                <a:satMod val="200000"/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8" name="Oval 7"/>
          <p:cNvSpPr/>
          <p:nvPr/>
        </p:nvSpPr>
        <p:spPr>
          <a:xfrm>
            <a:off x="168816" y="21102"/>
            <a:ext cx="1702191" cy="1702191"/>
          </a:xfrm>
          <a:prstGeom prst="ellipse">
            <a:avLst/>
          </a:prstGeom>
          <a:noFill/>
          <a:ln w="27305" cap="rnd" cmpd="sng" algn="ctr">
            <a:solidFill>
              <a:schemeClr val="bg2">
                <a:tint val="45000"/>
                <a:satMod val="325000"/>
                <a:alpha val="100000"/>
              </a:schemeClr>
            </a:solidFill>
            <a:prstDash val="solid"/>
          </a:ln>
          <a:effectLst>
            <a:outerShdw blurRad="25400" dist="25400" dir="5400000" algn="tl" rotWithShape="0">
              <a:schemeClr val="bg2">
                <a:shade val="50000"/>
                <a:satMod val="150000"/>
                <a:alpha val="8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1" name="Donut 10"/>
          <p:cNvSpPr/>
          <p:nvPr/>
        </p:nvSpPr>
        <p:spPr>
          <a:xfrm rot="2315675">
            <a:off x="182881" y="1055077"/>
            <a:ext cx="1125717" cy="1102624"/>
          </a:xfrm>
          <a:prstGeom prst="donut">
            <a:avLst>
              <a:gd name="adj" fmla="val 11833"/>
            </a:avLst>
          </a:prstGeom>
          <a:gradFill rotWithShape="1">
            <a:gsLst>
              <a:gs pos="0">
                <a:schemeClr val="bg2">
                  <a:tint val="10000"/>
                  <a:shade val="99000"/>
                  <a:satMod val="355000"/>
                  <a:alpha val="70000"/>
                </a:schemeClr>
              </a:gs>
              <a:gs pos="70000">
                <a:schemeClr val="bg2">
                  <a:tint val="6000"/>
                  <a:shade val="100000"/>
                  <a:satMod val="400000"/>
                  <a:alpha val="55000"/>
                </a:schemeClr>
              </a:gs>
              <a:gs pos="100000">
                <a:schemeClr val="bg2">
                  <a:tint val="100000"/>
                  <a:shade val="75000"/>
                  <a:satMod val="370000"/>
                  <a:alpha val="60000"/>
                </a:schemeClr>
              </a:gs>
            </a:gsLst>
            <a:path path="circle">
              <a:fillToRect l="-407500" t="-50000" r="507500" b="150000"/>
            </a:path>
          </a:gradFill>
          <a:ln w="7350" cap="rnd" cmpd="sng" algn="ctr">
            <a:solidFill>
              <a:schemeClr val="bg2">
                <a:shade val="60000"/>
                <a:satMod val="220000"/>
                <a:alpha val="100000"/>
              </a:schemeClr>
            </a:solidFill>
            <a:prstDash val="solid"/>
          </a:ln>
          <a:effectLst>
            <a:outerShdw blurRad="12700" dist="15000" dir="4500000" algn="tl" rotWithShape="0">
              <a:schemeClr val="bg2">
                <a:shade val="10000"/>
                <a:satMod val="200000"/>
                <a:alpha val="3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>
          <a:xfrm>
            <a:off x="1012873" y="-54"/>
            <a:ext cx="8131127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5" name="Title Placeholder 4"/>
          <p:cNvSpPr>
            <a:spLocks noGrp="1"/>
          </p:cNvSpPr>
          <p:nvPr>
            <p:ph type="title"/>
          </p:nvPr>
        </p:nvSpPr>
        <p:spPr>
          <a:xfrm>
            <a:off x="1435608" y="274638"/>
            <a:ext cx="7498080" cy="1143000"/>
          </a:xfrm>
          <a:prstGeom prst="rect">
            <a:avLst/>
          </a:prstGeom>
        </p:spPr>
        <p:txBody>
          <a:bodyPr anchor="ctr">
            <a:normAutofit/>
          </a:bodyPr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9" name="Text Placeholder 8"/>
          <p:cNvSpPr>
            <a:spLocks noGrp="1"/>
          </p:cNvSpPr>
          <p:nvPr>
            <p:ph type="body" idx="1"/>
          </p:nvPr>
        </p:nvSpPr>
        <p:spPr>
          <a:xfrm>
            <a:off x="1435608" y="1447800"/>
            <a:ext cx="7498080" cy="4800600"/>
          </a:xfrm>
          <a:prstGeom prst="rect">
            <a:avLst/>
          </a:prstGeom>
        </p:spPr>
        <p:txBody>
          <a:bodyPr>
            <a:normAutofit/>
          </a:bodyPr>
          <a:lstStyle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24" name="Date Placeholder 23"/>
          <p:cNvSpPr>
            <a:spLocks noGrp="1"/>
          </p:cNvSpPr>
          <p:nvPr>
            <p:ph type="dt" sz="half" idx="2"/>
          </p:nvPr>
        </p:nvSpPr>
        <p:spPr>
          <a:xfrm>
            <a:off x="3581400" y="6305550"/>
            <a:ext cx="2133600" cy="476250"/>
          </a:xfrm>
          <a:prstGeom prst="rect">
            <a:avLst/>
          </a:prstGeom>
        </p:spPr>
        <p:txBody>
          <a:bodyPr anchor="b"/>
          <a:lstStyle>
            <a:lvl1pPr algn="r"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</a:defRPr>
            </a:lvl1pPr>
            <a:extLst/>
          </a:lstStyle>
          <a:p>
            <a:fld id="{1D8BD707-D9CF-40AE-B4C6-C98DA3205C09}" type="datetimeFigureOut">
              <a:rPr lang="en-US" smtClean="0"/>
              <a:pPr/>
              <a:t>11/10/2024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3"/>
          </p:nvPr>
        </p:nvSpPr>
        <p:spPr>
          <a:xfrm>
            <a:off x="5715000" y="6305550"/>
            <a:ext cx="2895600" cy="476250"/>
          </a:xfrm>
          <a:prstGeom prst="rect">
            <a:avLst/>
          </a:prstGeom>
        </p:spPr>
        <p:txBody>
          <a:bodyPr anchor="b"/>
          <a:lstStyle>
            <a:lvl1pPr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  <a:effectLst/>
              </a:defRPr>
            </a:lvl1pPr>
            <a:extLst/>
          </a:lstStyle>
          <a:p>
            <a:endParaRPr lang="en-US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4"/>
          </p:nvPr>
        </p:nvSpPr>
        <p:spPr>
          <a:xfrm>
            <a:off x="8613648" y="6305550"/>
            <a:ext cx="457200" cy="476250"/>
          </a:xfrm>
          <a:prstGeom prst="rect">
            <a:avLst/>
          </a:prstGeom>
        </p:spPr>
        <p:txBody>
          <a:bodyPr anchor="b"/>
          <a:lstStyle>
            <a:lvl1pPr algn="ctr"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  <a:effectLst/>
              </a:defRPr>
            </a:lvl1pPr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5" name="Rectangle 14"/>
          <p:cNvSpPr/>
          <p:nvPr/>
        </p:nvSpPr>
        <p:spPr bwMode="invGray">
          <a:xfrm>
            <a:off x="1014984" y="-54"/>
            <a:ext cx="73152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4300" kern="1200">
          <a:solidFill>
            <a:schemeClr val="tx2">
              <a:satMod val="130000"/>
            </a:schemeClr>
          </a:solidFill>
          <a:effectLst>
            <a:outerShdw blurRad="50000" dist="30000" dir="5400000" algn="tl" rotWithShape="0">
              <a:srgbClr val="000000">
                <a:alpha val="30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83464" algn="l" rtl="0" eaLnBrk="1" latinLnBrk="0" hangingPunct="1">
        <a:lnSpc>
          <a:spcPct val="100000"/>
        </a:lnSpc>
        <a:spcBef>
          <a:spcPts val="600"/>
        </a:spcBef>
        <a:buClr>
          <a:schemeClr val="accent1"/>
        </a:buClr>
        <a:buSzPct val="80000"/>
        <a:buFont typeface="Wingdings 2"/>
        <a:buChar char=""/>
        <a:defRPr kumimoji="0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37744" algn="l" rtl="0" eaLnBrk="1" latinLnBrk="0" hangingPunct="1">
        <a:lnSpc>
          <a:spcPct val="100000"/>
        </a:lnSpc>
        <a:spcBef>
          <a:spcPts val="550"/>
        </a:spcBef>
        <a:buClr>
          <a:schemeClr val="accent1"/>
        </a:buClr>
        <a:buFont typeface="Verdana"/>
        <a:buChar char="◦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886968" indent="-228600" algn="l" rtl="0" eaLnBrk="1" latinLnBrk="0" hangingPunct="1">
        <a:lnSpc>
          <a:spcPct val="100000"/>
        </a:lnSpc>
        <a:spcBef>
          <a:spcPct val="20000"/>
        </a:spcBef>
        <a:buClr>
          <a:schemeClr val="accent2"/>
        </a:buClr>
        <a:buFont typeface="Wingdings 2"/>
        <a:buChar char="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173736" algn="l" rtl="0" eaLnBrk="1" latinLnBrk="0" hangingPunct="1">
        <a:lnSpc>
          <a:spcPct val="100000"/>
        </a:lnSpc>
        <a:spcBef>
          <a:spcPct val="20000"/>
        </a:spcBef>
        <a:buClr>
          <a:schemeClr val="accent3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298448" indent="-182880" algn="l" rtl="0" eaLnBrk="1" latinLnBrk="0" hangingPunct="1">
        <a:lnSpc>
          <a:spcPct val="100000"/>
        </a:lnSpc>
        <a:spcBef>
          <a:spcPct val="20000"/>
        </a:spcBef>
        <a:buClr>
          <a:schemeClr val="accent4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508760" indent="-182880" algn="l" rtl="0" eaLnBrk="1" latinLnBrk="0" hangingPunct="1">
        <a:lnSpc>
          <a:spcPct val="100000"/>
        </a:lnSpc>
        <a:spcBef>
          <a:spcPct val="20000"/>
        </a:spcBef>
        <a:buClr>
          <a:schemeClr val="accent5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1719072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1920240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2130552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62000" y="1524000"/>
            <a:ext cx="8610600" cy="1472184"/>
          </a:xfrm>
        </p:spPr>
        <p:txBody>
          <a:bodyPr>
            <a:noAutofit/>
          </a:bodyPr>
          <a:lstStyle/>
          <a:p>
            <a:pPr algn="ctr"/>
            <a:r>
              <a:rPr lang="en-US" sz="6000" b="1" dirty="0" smtClean="0">
                <a:solidFill>
                  <a:schemeClr val="accent1">
                    <a:lumMod val="75000"/>
                  </a:schemeClr>
                </a:solidFill>
                <a:latin typeface="Century" pitchFamily="18" charset="0"/>
              </a:rPr>
              <a:t>Homeostasis</a:t>
            </a:r>
            <a:endParaRPr lang="en-US" sz="6000" b="1" dirty="0">
              <a:solidFill>
                <a:schemeClr val="accent1">
                  <a:lumMod val="75000"/>
                </a:schemeClr>
              </a:solidFill>
              <a:latin typeface="Century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66800" y="4495800"/>
            <a:ext cx="7406640" cy="1752600"/>
          </a:xfrm>
        </p:spPr>
        <p:txBody>
          <a:bodyPr>
            <a:normAutofit/>
          </a:bodyPr>
          <a:lstStyle/>
          <a:p>
            <a:r>
              <a:rPr lang="en-US" sz="2400" dirty="0" smtClean="0"/>
              <a:t>Dr. </a:t>
            </a:r>
            <a:r>
              <a:rPr lang="en-US" sz="2400" dirty="0" err="1" smtClean="0"/>
              <a:t>Wafa</a:t>
            </a:r>
            <a:r>
              <a:rPr lang="en-US" sz="2400" dirty="0" smtClean="0"/>
              <a:t> Mubarak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4023962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0" y="457200"/>
            <a:ext cx="7943088" cy="5791200"/>
          </a:xfrm>
        </p:spPr>
        <p:txBody>
          <a:bodyPr>
            <a:normAutofit/>
          </a:bodyPr>
          <a:lstStyle/>
          <a:p>
            <a:r>
              <a:rPr lang="en-US" dirty="0"/>
              <a:t>Body fluids are </a:t>
            </a:r>
            <a:r>
              <a:rPr lang="en-US" dirty="0" smtClean="0"/>
              <a:t>not static, fluids </a:t>
            </a:r>
            <a:r>
              <a:rPr lang="en-US" dirty="0"/>
              <a:t>&amp; </a:t>
            </a:r>
            <a:r>
              <a:rPr lang="en-US" dirty="0" smtClean="0"/>
              <a:t>electrolytes shift from compartment to compartment.</a:t>
            </a:r>
          </a:p>
          <a:p>
            <a:pPr marL="82296" indent="0">
              <a:buNone/>
            </a:pPr>
            <a:r>
              <a:rPr lang="en-US" dirty="0" smtClean="0"/>
              <a:t>                           Why??</a:t>
            </a:r>
          </a:p>
          <a:p>
            <a:pPr marL="82296" indent="0">
              <a:buNone/>
            </a:pPr>
            <a:endParaRPr lang="en-US" dirty="0"/>
          </a:p>
          <a:p>
            <a:pPr marL="82296" indent="0">
              <a:buNone/>
            </a:pPr>
            <a:r>
              <a:rPr lang="en-US" dirty="0" smtClean="0"/>
              <a:t>    To maintain the body </a:t>
            </a:r>
            <a:r>
              <a:rPr lang="en-US" sz="3600" b="1" dirty="0" smtClean="0">
                <a:solidFill>
                  <a:schemeClr val="accent1">
                    <a:lumMod val="75000"/>
                  </a:schemeClr>
                </a:solidFill>
              </a:rPr>
              <a:t>homeostasis</a:t>
            </a:r>
          </a:p>
          <a:p>
            <a:pPr marL="82296" indent="0"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        (Homeo: same  ,   Stasis: state)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So homeostasis is the ability of the body to maintain a relatively stable internal environment (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i.e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u="sng" dirty="0" smtClean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ECF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).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151422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66800" y="838200"/>
            <a:ext cx="7866888" cy="4800600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Internal environment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is the surrounding of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cell. It is the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interstitial fluid in which cells of the body are living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marL="82296" indent="0">
              <a:buNone/>
            </a:pP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External </a:t>
            </a:r>
            <a:r>
              <a:rPr lang="en-US" dirty="0" smtClean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environment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All surroundings, Physical like heat and cold, chemicals like acid and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alkali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biological like bacteria, viruses and others. 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19081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0200" y="457200"/>
            <a:ext cx="7010399" cy="57410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3009900" y="533400"/>
            <a:ext cx="3810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smtClean="0">
                <a:latin typeface="Times New Roman" pitchFamily="18" charset="0"/>
                <a:cs typeface="Times New Roman" pitchFamily="18" charset="0"/>
              </a:rPr>
              <a:t>External environment</a:t>
            </a:r>
            <a:endParaRPr lang="en-US" sz="3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667000" y="2667000"/>
            <a:ext cx="3200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Internal environment</a:t>
            </a:r>
            <a:endParaRPr lang="en-US" sz="28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Arc 6"/>
          <p:cNvSpPr/>
          <p:nvPr/>
        </p:nvSpPr>
        <p:spPr>
          <a:xfrm rot="174331" flipH="1">
            <a:off x="1442368" y="3183970"/>
            <a:ext cx="533398" cy="1117606"/>
          </a:xfrm>
          <a:prstGeom prst="arc">
            <a:avLst>
              <a:gd name="adj1" fmla="val 17295049"/>
              <a:gd name="adj2" fmla="val 5117966"/>
            </a:avLst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26490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66800" y="1447800"/>
            <a:ext cx="7866888" cy="4800600"/>
          </a:xfrm>
        </p:spPr>
        <p:txBody>
          <a:bodyPr/>
          <a:lstStyle/>
          <a:p>
            <a:r>
              <a:rPr lang="en-US" dirty="0"/>
              <a:t>Normal cell function depends on the constancy  of  the internal environment </a:t>
            </a:r>
            <a:endParaRPr lang="en-US" dirty="0" smtClean="0"/>
          </a:p>
          <a:p>
            <a:pPr marL="82296" indent="0">
              <a:buNone/>
            </a:pPr>
            <a:r>
              <a:rPr lang="en-US" dirty="0" smtClean="0"/>
              <a:t> </a:t>
            </a:r>
            <a:r>
              <a:rPr lang="en-US" dirty="0"/>
              <a:t>i.e</a:t>
            </a:r>
            <a:r>
              <a:rPr lang="en-US" dirty="0" smtClean="0"/>
              <a:t>.</a:t>
            </a:r>
          </a:p>
          <a:p>
            <a:r>
              <a:rPr lang="en-US" dirty="0" smtClean="0"/>
              <a:t> </a:t>
            </a:r>
            <a:r>
              <a:rPr lang="en-US" dirty="0"/>
              <a:t>normal </a:t>
            </a:r>
            <a:r>
              <a:rPr lang="en-US" dirty="0" smtClean="0"/>
              <a:t>volume( Water levels)</a:t>
            </a:r>
          </a:p>
          <a:p>
            <a:r>
              <a:rPr lang="en-US" dirty="0" smtClean="0"/>
              <a:t>normal </a:t>
            </a:r>
            <a:r>
              <a:rPr lang="en-US" dirty="0"/>
              <a:t>chemical composition </a:t>
            </a:r>
          </a:p>
          <a:p>
            <a:r>
              <a:rPr lang="en-US" dirty="0" smtClean="0"/>
              <a:t>  </a:t>
            </a:r>
            <a:r>
              <a:rPr lang="en-US" dirty="0"/>
              <a:t>normal temperature of the tissue fluid (interstitial fluid ) 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46522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1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5400" y="576261"/>
            <a:ext cx="7277100" cy="50291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0575665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HOMEOSTATIC </a:t>
            </a:r>
            <a:r>
              <a:rPr lang="en-US" sz="3600" dirty="0" smtClean="0"/>
              <a:t>MECHANISMS</a:t>
            </a:r>
            <a:endParaRPr lang="en-US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43000" y="1371600"/>
            <a:ext cx="7498080" cy="4800600"/>
          </a:xfrm>
        </p:spPr>
        <p:txBody>
          <a:bodyPr/>
          <a:lstStyle/>
          <a:p>
            <a:r>
              <a:rPr lang="en-US" dirty="0" smtClean="0"/>
              <a:t>Are all   the   automatic   reactions   which   take place in  the  body  in  response  to  changes   in  external  and  internal  environments.</a:t>
            </a:r>
          </a:p>
          <a:p>
            <a:pPr marL="82296" indent="0">
              <a:buNone/>
            </a:pPr>
            <a:r>
              <a:rPr lang="en-US" dirty="0" smtClean="0"/>
              <a:t> </a:t>
            </a:r>
          </a:p>
          <a:p>
            <a:r>
              <a:rPr lang="en-US" dirty="0" smtClean="0"/>
              <a:t>It tend  to  correct  all   deviations  from  normal. </a:t>
            </a:r>
          </a:p>
          <a:p>
            <a:r>
              <a:rPr lang="en-US" dirty="0" smtClean="0"/>
              <a:t>It is a communication between neural and hormonal or local factors.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06676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95400" y="914400"/>
            <a:ext cx="7498080" cy="4800600"/>
          </a:xfrm>
        </p:spPr>
        <p:txBody>
          <a:bodyPr>
            <a:normAutofit/>
          </a:bodyPr>
          <a:lstStyle/>
          <a:p>
            <a:r>
              <a:rPr lang="en-US" dirty="0" smtClean="0"/>
              <a:t>Neural :   Reflex </a:t>
            </a:r>
            <a:r>
              <a:rPr lang="en-US" dirty="0"/>
              <a:t>arc </a:t>
            </a:r>
            <a:endParaRPr lang="ar-JO" dirty="0"/>
          </a:p>
          <a:p>
            <a:endParaRPr lang="ar-JO" dirty="0"/>
          </a:p>
          <a:p>
            <a:r>
              <a:rPr lang="en-US" dirty="0" smtClean="0"/>
              <a:t>Endocrine:  direct or indirect</a:t>
            </a:r>
          </a:p>
          <a:p>
            <a:pPr marL="82296" indent="0">
              <a:buNone/>
            </a:pPr>
            <a:endParaRPr lang="ar-JO" dirty="0"/>
          </a:p>
          <a:p>
            <a:r>
              <a:rPr lang="en-US" dirty="0"/>
              <a:t>Local </a:t>
            </a:r>
            <a:r>
              <a:rPr lang="en-US" dirty="0" smtClean="0"/>
              <a:t>regulation: -Autocrine</a:t>
            </a:r>
          </a:p>
          <a:p>
            <a:pPr marL="82296" indent="0">
              <a:buNone/>
            </a:pPr>
            <a:r>
              <a:rPr lang="en-US" dirty="0" smtClean="0"/>
              <a:t>                              -Paracrine</a:t>
            </a:r>
          </a:p>
          <a:p>
            <a:pPr marL="82296" indent="0">
              <a:buNone/>
            </a:pPr>
            <a:r>
              <a:rPr lang="en-US" dirty="0" smtClean="0"/>
              <a:t>                              -Gab junction</a:t>
            </a:r>
            <a:endParaRPr lang="ar-JO" dirty="0"/>
          </a:p>
          <a:p>
            <a:pPr marL="82296" indent="0">
              <a:buNone/>
            </a:pPr>
            <a:endParaRPr lang="ar-JO" dirty="0"/>
          </a:p>
        </p:txBody>
      </p:sp>
    </p:spTree>
    <p:extLst>
      <p:ext uri="{BB962C8B-B14F-4D97-AF65-F5344CB8AC3E}">
        <p14:creationId xmlns:p14="http://schemas.microsoft.com/office/powerpoint/2010/main" val="17526597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9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304800" y="5715000"/>
            <a:ext cx="37338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b="1" u="sng" dirty="0" smtClean="0">
                <a:latin typeface="Times New Roman" pitchFamily="18" charset="0"/>
                <a:cs typeface="Times New Roman" pitchFamily="18" charset="0"/>
              </a:rPr>
              <a:t>Reflex arc</a:t>
            </a:r>
            <a:endParaRPr lang="en-US" sz="4800" b="1" u="sng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987254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43000" y="685800"/>
            <a:ext cx="7498080" cy="4800600"/>
          </a:xfrm>
        </p:spPr>
        <p:txBody>
          <a:bodyPr>
            <a:normAutofit fontScale="92500"/>
          </a:bodyPr>
          <a:lstStyle/>
          <a:p>
            <a:r>
              <a:rPr lang="en-US" dirty="0"/>
              <a:t>Reflex arc is neural mechanism in homeostasis and has six(6) components</a:t>
            </a:r>
          </a:p>
          <a:p>
            <a:pPr marL="82296" indent="0">
              <a:buNone/>
            </a:pPr>
            <a:r>
              <a:rPr lang="en-US" dirty="0"/>
              <a:t> </a:t>
            </a:r>
          </a:p>
          <a:p>
            <a:pPr marL="82296" indent="0">
              <a:buNone/>
            </a:pPr>
            <a:r>
              <a:rPr lang="en-US" dirty="0"/>
              <a:t>1-Stimulus </a:t>
            </a:r>
            <a:endParaRPr lang="en-US" dirty="0" smtClean="0"/>
          </a:p>
          <a:p>
            <a:pPr marL="82296" indent="0">
              <a:buNone/>
            </a:pPr>
            <a:r>
              <a:rPr lang="ar-JO" dirty="0" smtClean="0"/>
              <a:t>2</a:t>
            </a:r>
            <a:r>
              <a:rPr lang="en-US" dirty="0" smtClean="0"/>
              <a:t>- Receptor </a:t>
            </a:r>
          </a:p>
          <a:p>
            <a:pPr marL="82296" indent="0">
              <a:buNone/>
            </a:pPr>
            <a:r>
              <a:rPr lang="ar-JO" dirty="0" smtClean="0"/>
              <a:t>3</a:t>
            </a:r>
            <a:r>
              <a:rPr lang="en-US" dirty="0" smtClean="0"/>
              <a:t>- Afferent </a:t>
            </a:r>
            <a:r>
              <a:rPr lang="en-US" dirty="0"/>
              <a:t>sensory </a:t>
            </a:r>
            <a:endParaRPr lang="en-US" dirty="0" smtClean="0"/>
          </a:p>
          <a:p>
            <a:pPr marL="82296" indent="0">
              <a:buNone/>
            </a:pPr>
            <a:r>
              <a:rPr lang="ar-JO" dirty="0" smtClean="0"/>
              <a:t>4</a:t>
            </a:r>
            <a:r>
              <a:rPr lang="en-US" dirty="0" smtClean="0"/>
              <a:t>- CNS</a:t>
            </a:r>
            <a:endParaRPr lang="ar-JO" dirty="0"/>
          </a:p>
          <a:p>
            <a:pPr marL="82296" indent="0">
              <a:buNone/>
            </a:pPr>
            <a:r>
              <a:rPr lang="ar-JO" dirty="0" smtClean="0"/>
              <a:t>5</a:t>
            </a:r>
            <a:r>
              <a:rPr lang="en-US" dirty="0" smtClean="0"/>
              <a:t>- Efferent </a:t>
            </a:r>
            <a:r>
              <a:rPr lang="en-US" dirty="0"/>
              <a:t>motor or </a:t>
            </a:r>
            <a:r>
              <a:rPr lang="en-US" dirty="0" smtClean="0"/>
              <a:t>Secretory</a:t>
            </a:r>
            <a:endParaRPr lang="ar-JO" dirty="0"/>
          </a:p>
          <a:p>
            <a:pPr marL="82296" indent="0">
              <a:buNone/>
            </a:pPr>
            <a:r>
              <a:rPr lang="ar-JO" dirty="0" smtClean="0"/>
              <a:t>6</a:t>
            </a:r>
            <a:r>
              <a:rPr lang="en-US" dirty="0" smtClean="0"/>
              <a:t>- </a:t>
            </a:r>
            <a:r>
              <a:rPr lang="ar-JO" dirty="0" smtClean="0"/>
              <a:t> </a:t>
            </a:r>
            <a:r>
              <a:rPr lang="en-US" dirty="0" smtClean="0"/>
              <a:t>Effectors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2984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0" y="685800"/>
            <a:ext cx="7866888" cy="4800600"/>
          </a:xfrm>
        </p:spPr>
        <p:txBody>
          <a:bodyPr>
            <a:normAutofit fontScale="85000" lnSpcReduction="20000"/>
          </a:bodyPr>
          <a:lstStyle/>
          <a:p>
            <a:pPr marL="82296" indent="0">
              <a:buNone/>
            </a:pPr>
            <a:r>
              <a:rPr lang="en-US" sz="3500" dirty="0">
                <a:latin typeface="Times New Roman" pitchFamily="18" charset="0"/>
                <a:cs typeface="Times New Roman" pitchFamily="18" charset="0"/>
              </a:rPr>
              <a:t>1-Stimulus</a:t>
            </a:r>
          </a:p>
          <a:p>
            <a:r>
              <a:rPr lang="en-US" sz="3500" dirty="0">
                <a:latin typeface="Times New Roman" pitchFamily="18" charset="0"/>
                <a:cs typeface="Times New Roman" pitchFamily="18" charset="0"/>
              </a:rPr>
              <a:t>    Any type of energy that stimulate the receptor physical energy </a:t>
            </a:r>
            <a:r>
              <a:rPr lang="en-US" sz="3500" dirty="0" smtClean="0">
                <a:latin typeface="Times New Roman" pitchFamily="18" charset="0"/>
                <a:cs typeface="Times New Roman" pitchFamily="18" charset="0"/>
              </a:rPr>
              <a:t>like </a:t>
            </a:r>
            <a:r>
              <a:rPr lang="en-US" sz="3500" dirty="0">
                <a:latin typeface="Times New Roman" pitchFamily="18" charset="0"/>
                <a:cs typeface="Times New Roman" pitchFamily="18" charset="0"/>
              </a:rPr>
              <a:t>heat and cold </a:t>
            </a:r>
            <a:r>
              <a:rPr lang="en-US" sz="3500" dirty="0" smtClean="0">
                <a:latin typeface="Times New Roman" pitchFamily="18" charset="0"/>
                <a:cs typeface="Times New Roman" pitchFamily="18" charset="0"/>
              </a:rPr>
              <a:t>,mechanical </a:t>
            </a:r>
            <a:r>
              <a:rPr lang="en-US" sz="3500" dirty="0">
                <a:latin typeface="Times New Roman" pitchFamily="18" charset="0"/>
                <a:cs typeface="Times New Roman" pitchFamily="18" charset="0"/>
              </a:rPr>
              <a:t>energy like touch and pressure , chemical energy like acid and alkaline electromagnetic energy like light .</a:t>
            </a:r>
          </a:p>
          <a:p>
            <a:endParaRPr lang="en-US" sz="3500" dirty="0">
              <a:latin typeface="Times New Roman" pitchFamily="18" charset="0"/>
              <a:cs typeface="Times New Roman" pitchFamily="18" charset="0"/>
            </a:endParaRPr>
          </a:p>
          <a:p>
            <a:pPr marL="82296" indent="0">
              <a:buNone/>
            </a:pPr>
            <a:r>
              <a:rPr lang="en-US" sz="3500" dirty="0">
                <a:latin typeface="Times New Roman" pitchFamily="18" charset="0"/>
                <a:cs typeface="Times New Roman" pitchFamily="18" charset="0"/>
              </a:rPr>
              <a:t>2- Receptor:</a:t>
            </a:r>
          </a:p>
          <a:p>
            <a:r>
              <a:rPr lang="en-US" sz="3500" dirty="0">
                <a:latin typeface="Times New Roman" pitchFamily="18" charset="0"/>
                <a:cs typeface="Times New Roman" pitchFamily="18" charset="0"/>
              </a:rPr>
              <a:t>Receptors translate different types of energy, physical, chemical and other  energies to electrical energy of the nervous system (Action potential).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74194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66800" y="838200"/>
            <a:ext cx="7955280" cy="4800600"/>
          </a:xfrm>
        </p:spPr>
        <p:txBody>
          <a:bodyPr>
            <a:normAutofit fontScale="85000" lnSpcReduction="10000"/>
          </a:bodyPr>
          <a:lstStyle/>
          <a:p>
            <a:pPr marL="82296" indent="0">
              <a:buNone/>
            </a:pPr>
            <a:r>
              <a:rPr lang="en-US" dirty="0"/>
              <a:t>3-Afferent sensory neuron </a:t>
            </a:r>
          </a:p>
          <a:p>
            <a:r>
              <a:rPr lang="en-US" dirty="0"/>
              <a:t>Conduct the action potential from the receptor to the central nervous system.</a:t>
            </a:r>
          </a:p>
          <a:p>
            <a:endParaRPr lang="en-US" dirty="0"/>
          </a:p>
          <a:p>
            <a:pPr marL="82296" indent="0">
              <a:buNone/>
            </a:pPr>
            <a:r>
              <a:rPr lang="en-US" dirty="0"/>
              <a:t>4-Central nervous system (CNS )</a:t>
            </a:r>
          </a:p>
          <a:p>
            <a:r>
              <a:rPr lang="en-US" dirty="0"/>
              <a:t>In the central nervous system: comparison between  the coming information with the set point range </a:t>
            </a:r>
            <a:r>
              <a:rPr lang="en-US" dirty="0" smtClean="0"/>
              <a:t>occurs. </a:t>
            </a:r>
          </a:p>
          <a:p>
            <a:r>
              <a:rPr lang="en-US" dirty="0" smtClean="0"/>
              <a:t> </a:t>
            </a:r>
            <a:r>
              <a:rPr lang="en-US" dirty="0"/>
              <a:t>then  correction </a:t>
            </a:r>
            <a:r>
              <a:rPr lang="en-US" dirty="0" smtClean="0"/>
              <a:t>program </a:t>
            </a:r>
            <a:r>
              <a:rPr lang="en-US" dirty="0"/>
              <a:t>is formed  and orders to perform the </a:t>
            </a:r>
            <a:r>
              <a:rPr lang="en-US" dirty="0" smtClean="0"/>
              <a:t>program </a:t>
            </a:r>
            <a:r>
              <a:rPr lang="en-US" dirty="0"/>
              <a:t>are sent  through the efferent neurons to the effectors .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735971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95400" y="533400"/>
            <a:ext cx="7498080" cy="4800600"/>
          </a:xfrm>
        </p:spPr>
        <p:txBody>
          <a:bodyPr>
            <a:normAutofit fontScale="85000" lnSpcReduction="10000"/>
          </a:bodyPr>
          <a:lstStyle/>
          <a:p>
            <a:pPr marL="82296" indent="0">
              <a:buNone/>
            </a:pPr>
            <a:r>
              <a:rPr lang="en-US" dirty="0"/>
              <a:t>5- Efferent motor or Secretory neurons: </a:t>
            </a:r>
          </a:p>
          <a:p>
            <a:r>
              <a:rPr lang="en-US" dirty="0"/>
              <a:t>Carry  the correction orders in the form of action potential from CNS to the effectors.</a:t>
            </a:r>
          </a:p>
          <a:p>
            <a:endParaRPr lang="en-US" dirty="0"/>
          </a:p>
          <a:p>
            <a:pPr marL="82296" indent="0">
              <a:buNone/>
            </a:pPr>
            <a:r>
              <a:rPr lang="en-US" dirty="0"/>
              <a:t>6- Effectors: </a:t>
            </a:r>
          </a:p>
          <a:p>
            <a:r>
              <a:rPr lang="en-US" dirty="0"/>
              <a:t>Organs that receives the correction orders and increase or decrease activity to correct the deviation. </a:t>
            </a:r>
            <a:endParaRPr lang="en-US" dirty="0" smtClean="0"/>
          </a:p>
          <a:p>
            <a:r>
              <a:rPr lang="en-US" dirty="0" smtClean="0"/>
              <a:t>Feedback </a:t>
            </a:r>
            <a:r>
              <a:rPr lang="en-US" dirty="0"/>
              <a:t>mechanism  operation of correction is continued till the normal set point range is achieved. 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27489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5000" y="1295400"/>
            <a:ext cx="5867400" cy="419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44920313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19200" y="533400"/>
            <a:ext cx="7498080" cy="4800600"/>
          </a:xfrm>
        </p:spPr>
        <p:txBody>
          <a:bodyPr>
            <a:normAutofit fontScale="92500"/>
          </a:bodyPr>
          <a:lstStyle/>
          <a:p>
            <a:pPr marL="82296" indent="0" algn="ctr">
              <a:buNone/>
            </a:pPr>
            <a:r>
              <a:rPr lang="en-US" dirty="0" smtClean="0">
                <a:solidFill>
                  <a:schemeClr val="accent1">
                    <a:lumMod val="75000"/>
                  </a:schemeClr>
                </a:solidFill>
              </a:rPr>
              <a:t>Endocrine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system </a:t>
            </a:r>
            <a:r>
              <a:rPr lang="en-US" dirty="0" smtClean="0">
                <a:solidFill>
                  <a:schemeClr val="accent1">
                    <a:lumMod val="75000"/>
                  </a:schemeClr>
                </a:solidFill>
              </a:rPr>
              <a:t> (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Hormonal - slow – long duration )</a:t>
            </a:r>
          </a:p>
          <a:p>
            <a:endParaRPr lang="en-US" dirty="0"/>
          </a:p>
          <a:p>
            <a:r>
              <a:rPr lang="en-US" dirty="0"/>
              <a:t>Endocrine system: Ductless glands secrets chemical substance known </a:t>
            </a:r>
          </a:p>
          <a:p>
            <a:pPr marL="82296" indent="0">
              <a:buNone/>
            </a:pPr>
            <a:r>
              <a:rPr lang="en-US" dirty="0" smtClean="0"/>
              <a:t>As </a:t>
            </a:r>
            <a:r>
              <a:rPr lang="en-US" dirty="0"/>
              <a:t>hormone into the blood circulation to change the activity of distant </a:t>
            </a:r>
          </a:p>
          <a:p>
            <a:endParaRPr lang="en-US" dirty="0"/>
          </a:p>
          <a:p>
            <a:r>
              <a:rPr lang="en-US" dirty="0"/>
              <a:t>Cells that have receptor for the hormone</a:t>
            </a:r>
            <a:r>
              <a:rPr lang="en-US" dirty="0" smtClean="0"/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781605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07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2096174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0600" y="274638"/>
            <a:ext cx="8153400" cy="1143000"/>
          </a:xfrm>
        </p:spPr>
        <p:txBody>
          <a:bodyPr>
            <a:normAutofit fontScale="90000"/>
          </a:bodyPr>
          <a:lstStyle/>
          <a:p>
            <a:r>
              <a:rPr lang="en-US" sz="4000" dirty="0" smtClean="0"/>
              <a:t>       </a:t>
            </a:r>
            <a:r>
              <a:rPr lang="en-US" sz="4000" dirty="0" smtClean="0">
                <a:solidFill>
                  <a:schemeClr val="accent1">
                    <a:lumMod val="75000"/>
                  </a:schemeClr>
                </a:solidFill>
              </a:rPr>
              <a:t>CONTROL MECHANISIM</a:t>
            </a: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82296" indent="0">
              <a:buNone/>
            </a:pPr>
            <a:r>
              <a:rPr lang="en-US" dirty="0" smtClean="0"/>
              <a:t>         Feedback </a:t>
            </a:r>
            <a:r>
              <a:rPr lang="en-US" dirty="0"/>
              <a:t>mechanisms</a:t>
            </a:r>
          </a:p>
          <a:p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43200" y="2590800"/>
            <a:ext cx="4176713" cy="365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76717" y="2057401"/>
            <a:ext cx="54046" cy="53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43200" y="2627313"/>
            <a:ext cx="36513" cy="3603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19913" y="2590800"/>
            <a:ext cx="36513" cy="3603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Rectangle 3"/>
          <p:cNvSpPr/>
          <p:nvPr/>
        </p:nvSpPr>
        <p:spPr>
          <a:xfrm>
            <a:off x="876300" y="3099281"/>
            <a:ext cx="3387466" cy="107721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3200" b="1" dirty="0">
                <a:latin typeface="Times New Roman" pitchFamily="18" charset="0"/>
                <a:cs typeface="Times New Roman" pitchFamily="18" charset="0"/>
              </a:rPr>
              <a:t>Negative </a:t>
            </a:r>
            <a:r>
              <a:rPr lang="en-US" sz="3200" b="1" dirty="0" smtClean="0">
                <a:latin typeface="Times New Roman" pitchFamily="18" charset="0"/>
                <a:cs typeface="Times New Roman" pitchFamily="18" charset="0"/>
              </a:rPr>
              <a:t>feedback</a:t>
            </a:r>
          </a:p>
          <a:p>
            <a:pPr algn="ctr"/>
            <a:r>
              <a:rPr lang="en-US" sz="3200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b="1" dirty="0">
                <a:latin typeface="Times New Roman" pitchFamily="18" charset="0"/>
                <a:cs typeface="Times New Roman" pitchFamily="18" charset="0"/>
              </a:rPr>
              <a:t>mechanisms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73863" y="3037699"/>
            <a:ext cx="3329758" cy="107721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3200" b="1" dirty="0">
                <a:latin typeface="Times New Roman" pitchFamily="18" charset="0"/>
                <a:cs typeface="Times New Roman" pitchFamily="18" charset="0"/>
              </a:rPr>
              <a:t>Positive  </a:t>
            </a:r>
            <a:r>
              <a:rPr lang="en-US" sz="3200" b="1" dirty="0" smtClean="0">
                <a:latin typeface="Times New Roman" pitchFamily="18" charset="0"/>
                <a:cs typeface="Times New Roman" pitchFamily="18" charset="0"/>
              </a:rPr>
              <a:t>feedback</a:t>
            </a:r>
          </a:p>
          <a:p>
            <a:pPr algn="ctr"/>
            <a:r>
              <a:rPr lang="en-US" sz="3200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b="1" dirty="0">
                <a:latin typeface="Times New Roman" pitchFamily="18" charset="0"/>
                <a:cs typeface="Times New Roman" pitchFamily="18" charset="0"/>
              </a:rPr>
              <a:t>mechanisms</a:t>
            </a:r>
          </a:p>
        </p:txBody>
      </p:sp>
    </p:spTree>
    <p:extLst>
      <p:ext uri="{BB962C8B-B14F-4D97-AF65-F5344CB8AC3E}">
        <p14:creationId xmlns:p14="http://schemas.microsoft.com/office/powerpoint/2010/main" val="19388616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Types of feedback mechanism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66800" y="1447800"/>
            <a:ext cx="7866888" cy="4800600"/>
          </a:xfrm>
        </p:spPr>
        <p:txBody>
          <a:bodyPr/>
          <a:lstStyle/>
          <a:p>
            <a:pPr marL="82296" indent="0">
              <a:buNone/>
            </a:pPr>
            <a:r>
              <a:rPr lang="en-US" dirty="0"/>
              <a:t>1. 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Negative feedback: </a:t>
            </a:r>
          </a:p>
          <a:p>
            <a:r>
              <a:rPr lang="en-US" dirty="0"/>
              <a:t>Effector is in opposite direction to </a:t>
            </a:r>
            <a:r>
              <a:rPr lang="en-US" dirty="0" smtClean="0"/>
              <a:t>stimulus.</a:t>
            </a:r>
          </a:p>
          <a:p>
            <a:r>
              <a:rPr lang="en-US" dirty="0" smtClean="0"/>
              <a:t>It is the mechanisms </a:t>
            </a:r>
            <a:r>
              <a:rPr lang="en-US" dirty="0"/>
              <a:t>that correct the deviations from the normal set point </a:t>
            </a:r>
          </a:p>
          <a:p>
            <a:pPr marL="82296" indent="0">
              <a:buNone/>
            </a:pPr>
            <a:r>
              <a:rPr lang="en-US" dirty="0" smtClean="0"/>
              <a:t> </a:t>
            </a:r>
            <a:r>
              <a:rPr lang="en-US" dirty="0"/>
              <a:t>range of the body. 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95274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2960897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762000"/>
            <a:ext cx="8247888" cy="4800600"/>
          </a:xfrm>
        </p:spPr>
        <p:txBody>
          <a:bodyPr>
            <a:normAutofit fontScale="92500" lnSpcReduction="10000"/>
          </a:bodyPr>
          <a:lstStyle/>
          <a:p>
            <a:pPr marL="82296" indent="0">
              <a:buNone/>
            </a:pPr>
            <a:r>
              <a:rPr lang="en-US" dirty="0" smtClean="0">
                <a:solidFill>
                  <a:schemeClr val="accent1">
                    <a:lumMod val="75000"/>
                  </a:schemeClr>
                </a:solidFill>
              </a:rPr>
              <a:t>            </a:t>
            </a:r>
            <a:r>
              <a:rPr lang="en-US" sz="3600" dirty="0" smtClean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Normal </a:t>
            </a:r>
            <a:r>
              <a:rPr lang="en-US" sz="3600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set point </a:t>
            </a:r>
            <a:r>
              <a:rPr lang="en-US" sz="3600" dirty="0" smtClean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range</a:t>
            </a:r>
          </a:p>
          <a:p>
            <a:pPr marL="82296" indent="0">
              <a:buNone/>
            </a:pPr>
            <a:endParaRPr lang="en-US" dirty="0">
              <a:solidFill>
                <a:schemeClr val="accent1">
                  <a:lumMod val="75000"/>
                </a:schemeClr>
              </a:solidFill>
            </a:endParaRP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There are normal set point range for the blood glucose level, blood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pressure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, electrolytes, pH and others. 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 marL="82296" indent="0">
              <a:buNone/>
            </a:pP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The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normal set point range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of the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arterial blood pressure for adult man is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100/60 – 140 /90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mmhg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body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temperature is 37-37.5 °C .. etc.</a:t>
            </a:r>
          </a:p>
          <a:p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571828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95400" y="762000"/>
            <a:ext cx="7498080" cy="4800600"/>
          </a:xfrm>
        </p:spPr>
        <p:txBody>
          <a:bodyPr>
            <a:normAutofit fontScale="85000" lnSpcReduction="20000"/>
          </a:bodyPr>
          <a:lstStyle/>
          <a:p>
            <a:pPr marL="82296" indent="0">
              <a:buNone/>
            </a:pPr>
            <a:r>
              <a:rPr lang="en-US" smtClean="0">
                <a:solidFill>
                  <a:schemeClr val="accent1">
                    <a:lumMod val="75000"/>
                  </a:schemeClr>
                </a:solidFill>
              </a:rPr>
              <a:t>Regulations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by negative feedback mechanism </a:t>
            </a:r>
            <a:r>
              <a:rPr lang="en-US" dirty="0" smtClean="0">
                <a:solidFill>
                  <a:schemeClr val="accent1">
                    <a:lumMod val="75000"/>
                  </a:schemeClr>
                </a:solidFill>
              </a:rPr>
              <a:t>:</a:t>
            </a:r>
            <a:endParaRPr lang="en-US" dirty="0">
              <a:solidFill>
                <a:schemeClr val="accent1">
                  <a:lumMod val="75000"/>
                </a:schemeClr>
              </a:solidFill>
            </a:endParaRPr>
          </a:p>
          <a:p>
            <a:endParaRPr lang="en-US" dirty="0"/>
          </a:p>
          <a:p>
            <a:r>
              <a:rPr lang="en-US" dirty="0"/>
              <a:t>1-Regulation of body temperature</a:t>
            </a:r>
          </a:p>
          <a:p>
            <a:endParaRPr lang="en-US" dirty="0"/>
          </a:p>
          <a:p>
            <a:r>
              <a:rPr lang="en-US" dirty="0"/>
              <a:t>2-Regulation of arterial blood pressure </a:t>
            </a:r>
          </a:p>
          <a:p>
            <a:endParaRPr lang="en-US" dirty="0"/>
          </a:p>
          <a:p>
            <a:r>
              <a:rPr lang="en-US" dirty="0"/>
              <a:t>4-Regulation of respiration </a:t>
            </a:r>
          </a:p>
          <a:p>
            <a:endParaRPr lang="en-US" dirty="0"/>
          </a:p>
          <a:p>
            <a:r>
              <a:rPr lang="en-US" dirty="0"/>
              <a:t>5-Regulation of blood glucose level </a:t>
            </a:r>
          </a:p>
          <a:p>
            <a:endParaRPr lang="en-US" dirty="0"/>
          </a:p>
          <a:p>
            <a:r>
              <a:rPr lang="en-US" dirty="0"/>
              <a:t>6- Many regulations </a:t>
            </a:r>
          </a:p>
        </p:txBody>
      </p:sp>
    </p:spTree>
    <p:extLst>
      <p:ext uri="{BB962C8B-B14F-4D97-AF65-F5344CB8AC3E}">
        <p14:creationId xmlns:p14="http://schemas.microsoft.com/office/powerpoint/2010/main" val="22313063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19200" y="228600"/>
            <a:ext cx="7467600" cy="4800600"/>
          </a:xfrm>
        </p:spPr>
        <p:txBody>
          <a:bodyPr/>
          <a:lstStyle/>
          <a:p>
            <a:pPr marL="82296" indent="0">
              <a:buNone/>
            </a:pPr>
            <a:r>
              <a:rPr lang="en-US" sz="3600" dirty="0" smtClean="0"/>
              <a:t> </a:t>
            </a:r>
            <a:r>
              <a:rPr lang="en-US" sz="3600" b="1" dirty="0" smtClean="0">
                <a:solidFill>
                  <a:schemeClr val="accent1">
                    <a:lumMod val="75000"/>
                  </a:schemeClr>
                </a:solidFill>
              </a:rPr>
              <a:t>2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</a:rPr>
              <a:t>. Positive feedback</a:t>
            </a:r>
            <a:r>
              <a:rPr lang="en-US" sz="3600" b="1" dirty="0" smtClean="0">
                <a:solidFill>
                  <a:schemeClr val="accent1">
                    <a:lumMod val="75000"/>
                  </a:schemeClr>
                </a:solidFill>
              </a:rPr>
              <a:t>:</a:t>
            </a:r>
          </a:p>
          <a:p>
            <a:pPr marL="82296" indent="0">
              <a:buNone/>
            </a:pPr>
            <a:endParaRPr lang="en-US" sz="2800" dirty="0"/>
          </a:p>
          <a:p>
            <a:r>
              <a:rPr lang="en-US" sz="2800" dirty="0" smtClean="0"/>
              <a:t> Effector </a:t>
            </a:r>
            <a:r>
              <a:rPr lang="en-US" sz="2800" dirty="0"/>
              <a:t>favors the same direction of the </a:t>
            </a:r>
            <a:r>
              <a:rPr lang="en-US" sz="2800" dirty="0" smtClean="0"/>
              <a:t>stimulus</a:t>
            </a:r>
            <a:r>
              <a:rPr lang="en-US" dirty="0" smtClean="0"/>
              <a:t>..</a:t>
            </a:r>
          </a:p>
          <a:p>
            <a:r>
              <a:rPr lang="en-US" dirty="0"/>
              <a:t>Example, during delivery uterine contractions increase more and more till delivery.</a:t>
            </a:r>
          </a:p>
          <a:p>
            <a:pPr marL="82296" indent="0">
              <a:buNone/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67083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1200" y="457200"/>
            <a:ext cx="5791707" cy="5791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9234613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8575" y="1143000"/>
            <a:ext cx="9144000" cy="4648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8387942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olstice">
  <a:themeElements>
    <a:clrScheme name="Verve">
      <a:dk1>
        <a:sysClr val="windowText" lastClr="000000"/>
      </a:dk1>
      <a:lt1>
        <a:sysClr val="window" lastClr="FFFFFF"/>
      </a:lt1>
      <a:dk2>
        <a:srgbClr val="666666"/>
      </a:dk2>
      <a:lt2>
        <a:srgbClr val="D2D2D2"/>
      </a:lt2>
      <a:accent1>
        <a:srgbClr val="FF388C"/>
      </a:accent1>
      <a:accent2>
        <a:srgbClr val="E40059"/>
      </a:accent2>
      <a:accent3>
        <a:srgbClr val="9C007F"/>
      </a:accent3>
      <a:accent4>
        <a:srgbClr val="68007F"/>
      </a:accent4>
      <a:accent5>
        <a:srgbClr val="005BD3"/>
      </a:accent5>
      <a:accent6>
        <a:srgbClr val="00349E"/>
      </a:accent6>
      <a:hlink>
        <a:srgbClr val="17BBFD"/>
      </a:hlink>
      <a:folHlink>
        <a:srgbClr val="FF79C2"/>
      </a:folHlink>
    </a:clrScheme>
    <a:fontScheme name="Solstice">
      <a:maj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HY엽서L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Solstice">
      <a:fillStyleLst>
        <a:solidFill>
          <a:schemeClr val="phClr"/>
        </a:solidFill>
        <a:gradFill rotWithShape="1">
          <a:gsLst>
            <a:gs pos="0">
              <a:schemeClr val="phClr">
                <a:tint val="35000"/>
                <a:satMod val="253000"/>
              </a:schemeClr>
            </a:gs>
            <a:gs pos="50000">
              <a:schemeClr val="phClr">
                <a:tint val="42000"/>
                <a:satMod val="255000"/>
              </a:schemeClr>
            </a:gs>
            <a:gs pos="97000">
              <a:schemeClr val="phClr">
                <a:tint val="53000"/>
                <a:satMod val="260000"/>
              </a:schemeClr>
            </a:gs>
            <a:gs pos="100000">
              <a:schemeClr val="phClr">
                <a:tint val="56000"/>
                <a:satMod val="275000"/>
              </a:schemeClr>
            </a:gs>
          </a:gsLst>
          <a:path path="circle">
            <a:fillToRect l="50000" t="50000" r="50000" b="50000"/>
          </a:path>
        </a:gradFill>
        <a:gradFill rotWithShape="1">
          <a:gsLst>
            <a:gs pos="0">
              <a:schemeClr val="phClr">
                <a:tint val="92000"/>
                <a:satMod val="170000"/>
              </a:schemeClr>
            </a:gs>
            <a:gs pos="15000">
              <a:schemeClr val="phClr">
                <a:tint val="92000"/>
                <a:shade val="99000"/>
                <a:satMod val="170000"/>
              </a:schemeClr>
            </a:gs>
            <a:gs pos="62000">
              <a:schemeClr val="phClr">
                <a:tint val="96000"/>
                <a:shade val="80000"/>
                <a:satMod val="170000"/>
              </a:schemeClr>
            </a:gs>
            <a:gs pos="97000">
              <a:schemeClr val="phClr">
                <a:tint val="98000"/>
                <a:shade val="63000"/>
                <a:satMod val="170000"/>
              </a:schemeClr>
            </a:gs>
            <a:gs pos="100000">
              <a:schemeClr val="phClr">
                <a:shade val="62000"/>
                <a:satMod val="170000"/>
              </a:schemeClr>
            </a:gs>
          </a:gsLst>
          <a:path path="circle">
            <a:fillToRect l="50000" t="50000" r="50000" b="5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</a:effectStyle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brightRoom" dir="tl">
              <a:rot lat="0" lon="0" rev="8700000"/>
            </a:lightRig>
          </a:scene3d>
          <a:sp3d contourW="12700">
            <a:bevelT w="0" h="0"/>
            <a:contourClr>
              <a:schemeClr val="phClr">
                <a:shade val="80000"/>
              </a:schemeClr>
            </a:contourClr>
          </a:sp3d>
        </a:effectStyle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brightRoom" dir="tl">
              <a:rot lat="0" lon="0" rev="5400000"/>
            </a:lightRig>
          </a:scene3d>
          <a:sp3d contourW="12700">
            <a:bevelT w="25400" h="50800" prst="angle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355000"/>
              </a:schemeClr>
            </a:gs>
            <a:gs pos="40000">
              <a:schemeClr val="phClr">
                <a:tint val="85000"/>
                <a:satMod val="320000"/>
              </a:schemeClr>
            </a:gs>
            <a:gs pos="100000">
              <a:schemeClr val="phClr">
                <a:shade val="55000"/>
                <a:satMod val="300000"/>
              </a:schemeClr>
            </a:gs>
          </a:gsLst>
          <a:path path="circle">
            <a:fillToRect l="-24500" t="-20000" r="124500" b="12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"/>
                <a:satMod val="300000"/>
              </a:schemeClr>
              <a:schemeClr val="phClr">
                <a:tint val="90000"/>
                <a:satMod val="225000"/>
              </a:schemeClr>
            </a:duotone>
          </a:blip>
          <a:tile tx="0" ty="0" sx="90000" sy="90000" flip="xy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Solstice</Template>
  <TotalTime>2070</TotalTime>
  <Words>628</Words>
  <Application>Microsoft Office PowerPoint</Application>
  <PresentationFormat>On-screen Show (4:3)</PresentationFormat>
  <Paragraphs>96</Paragraphs>
  <Slides>24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5" baseType="lpstr">
      <vt:lpstr>Solstice</vt:lpstr>
      <vt:lpstr>Homeostasis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HOMEOSTATIC MECHANISMS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       CONTROL MECHANISIM </vt:lpstr>
      <vt:lpstr>Types of feedback mechanism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physiology</dc:title>
  <dc:creator>Wafa</dc:creator>
  <cp:lastModifiedBy>Wafa</cp:lastModifiedBy>
  <cp:revision>208</cp:revision>
  <dcterms:created xsi:type="dcterms:W3CDTF">2006-08-16T00:00:00Z</dcterms:created>
  <dcterms:modified xsi:type="dcterms:W3CDTF">2024-11-10T06:48:19Z</dcterms:modified>
</cp:coreProperties>
</file>