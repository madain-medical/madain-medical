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7" r:id="rId22"/>
    <p:sldId id="276" r:id="rId23"/>
    <p:sldId id="278" r:id="rId24"/>
    <p:sldId id="279" r:id="rId25"/>
    <p:sldId id="282" r:id="rId26"/>
    <p:sldId id="281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905E5-1B91-4128-B67A-802138A53FCA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6A908-B6A1-469E-9879-B0072B114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68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E6A908-B6A1-469E-9879-B0072B1146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25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E6A908-B6A1-469E-9879-B0072B1146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6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9C6A-24DF-4FF1-A4D2-FCA580CE495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D9DB1-EDEE-4961-A426-EBC05D462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32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9C6A-24DF-4FF1-A4D2-FCA580CE495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D9DB1-EDEE-4961-A426-EBC05D462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6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9C6A-24DF-4FF1-A4D2-FCA580CE495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D9DB1-EDEE-4961-A426-EBC05D462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96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9C6A-24DF-4FF1-A4D2-FCA580CE495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D9DB1-EDEE-4961-A426-EBC05D462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2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9C6A-24DF-4FF1-A4D2-FCA580CE495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D9DB1-EDEE-4961-A426-EBC05D462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89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9C6A-24DF-4FF1-A4D2-FCA580CE495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D9DB1-EDEE-4961-A426-EBC05D462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32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9C6A-24DF-4FF1-A4D2-FCA580CE495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D9DB1-EDEE-4961-A426-EBC05D462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5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9C6A-24DF-4FF1-A4D2-FCA580CE495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D9DB1-EDEE-4961-A426-EBC05D462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641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9C6A-24DF-4FF1-A4D2-FCA580CE495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D9DB1-EDEE-4961-A426-EBC05D462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5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9C6A-24DF-4FF1-A4D2-FCA580CE495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D9DB1-EDEE-4961-A426-EBC05D462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25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9C6A-24DF-4FF1-A4D2-FCA580CE495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D9DB1-EDEE-4961-A426-EBC05D462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18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19C6A-24DF-4FF1-A4D2-FCA580CE495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D9DB1-EDEE-4961-A426-EBC05D462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06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Bernard MT Condensed" panose="02050806060905020404" pitchFamily="18" charset="0"/>
              </a:rPr>
              <a:t>FEMALE REPRODUCTIVE SYSTEM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4641273"/>
            <a:ext cx="9144000" cy="1309254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Blackadder ITC" panose="04020505051007020D02" pitchFamily="82" charset="0"/>
              </a:rPr>
              <a:t>M. G. HAMMAD</a:t>
            </a:r>
          </a:p>
        </p:txBody>
      </p:sp>
    </p:spTree>
    <p:extLst>
      <p:ext uri="{BB962C8B-B14F-4D97-AF65-F5344CB8AC3E}">
        <p14:creationId xmlns:p14="http://schemas.microsoft.com/office/powerpoint/2010/main" val="243884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9479"/>
            <a:ext cx="5799370" cy="4351338"/>
          </a:xfr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365126"/>
            <a:ext cx="10515600" cy="900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latin typeface="Forte" panose="03060902040502070203" pitchFamily="66" charset="0"/>
                <a:cs typeface="Akhbar MT" pitchFamily="2" charset="-78"/>
              </a:rPr>
              <a:t>ANATOMICAL ASPECTS:</a:t>
            </a:r>
            <a:endParaRPr lang="en-US" dirty="0">
              <a:latin typeface="Forte" panose="03060902040502070203" pitchFamily="66" charset="0"/>
              <a:cs typeface="Akhbar MT" pitchFamily="2" charset="-7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3"/>
          <a:stretch/>
        </p:blipFill>
        <p:spPr>
          <a:xfrm>
            <a:off x="6096000" y="2206049"/>
            <a:ext cx="5753662" cy="398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10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It includes: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u="sng" dirty="0">
                <a:latin typeface="Cambria" panose="02040503050406030204" pitchFamily="18" charset="0"/>
                <a:cs typeface="Akhbar MT" pitchFamily="2" charset="-78"/>
              </a:rPr>
              <a:t>PRIMARY SEX ORGANS</a:t>
            </a: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: TWO OVARIES.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u="sng" dirty="0">
                <a:latin typeface="Cambria" panose="02040503050406030204" pitchFamily="18" charset="0"/>
                <a:cs typeface="Akhbar MT" pitchFamily="2" charset="-78"/>
              </a:rPr>
              <a:t>ACCESSORY SEX ORGANS</a:t>
            </a: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: FALLOPIAN TUBES, UTERUS, VAGINA, EXTERNAL GENITALIA.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365126"/>
            <a:ext cx="10515600" cy="900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ANATOMICAL ASPECTS:</a:t>
            </a:r>
          </a:p>
        </p:txBody>
      </p:sp>
    </p:spTree>
    <p:extLst>
      <p:ext uri="{BB962C8B-B14F-4D97-AF65-F5344CB8AC3E}">
        <p14:creationId xmlns:p14="http://schemas.microsoft.com/office/powerpoint/2010/main" val="935576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HISTOLOGICAL ASPECTS: </a:t>
            </a:r>
            <a:r>
              <a:rPr lang="en-US" u="sng" dirty="0">
                <a:latin typeface="Forte" panose="03060902040502070203" pitchFamily="66" charset="0"/>
                <a:cs typeface="Akhbar MT" pitchFamily="2" charset="-78"/>
              </a:rPr>
              <a:t>OVARY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108" y="1155296"/>
            <a:ext cx="8783784" cy="5691996"/>
          </a:xfrm>
        </p:spPr>
      </p:pic>
    </p:spTree>
    <p:extLst>
      <p:ext uri="{BB962C8B-B14F-4D97-AF65-F5344CB8AC3E}">
        <p14:creationId xmlns:p14="http://schemas.microsoft.com/office/powerpoint/2010/main" val="4012526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HISTOLOGICAL ASPECTS: </a:t>
            </a:r>
            <a:r>
              <a:rPr lang="en-US" u="sng" dirty="0">
                <a:latin typeface="Forte" panose="03060902040502070203" pitchFamily="66" charset="0"/>
                <a:cs typeface="Akhbar MT" pitchFamily="2" charset="-78"/>
              </a:rPr>
              <a:t>OVARY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3673"/>
            <a:ext cx="10515600" cy="573578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Flattened almond-shaped body.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Covered by germinal epithelium.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And CT capsule.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GERMINAL EPI: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000" u="sng" dirty="0">
                <a:latin typeface="Cambria" panose="02040503050406030204" pitchFamily="18" charset="0"/>
                <a:cs typeface="Akhbar MT" pitchFamily="2" charset="-78"/>
              </a:rPr>
              <a:t>SIMPLE CUBOIDAL </a:t>
            </a: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:in young female.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000" u="sng" dirty="0">
                <a:latin typeface="Cambria" panose="02040503050406030204" pitchFamily="18" charset="0"/>
                <a:cs typeface="Akhbar MT" pitchFamily="2" charset="-78"/>
              </a:rPr>
              <a:t>SIMPLE SQUAMOUS</a:t>
            </a: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: in old woman.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THE CAPSULE: TUNICA ALBUGINEA.</a:t>
            </a:r>
          </a:p>
        </p:txBody>
      </p:sp>
    </p:spTree>
    <p:extLst>
      <p:ext uri="{BB962C8B-B14F-4D97-AF65-F5344CB8AC3E}">
        <p14:creationId xmlns:p14="http://schemas.microsoft.com/office/powerpoint/2010/main" val="2418193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STRUCTURES OF OVARY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970"/>
            <a:ext cx="5821999" cy="4351338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1316183"/>
            <a:ext cx="660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770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STRUCTURES OF OVARY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Ovary formed of: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sz="3000" u="sng" dirty="0">
                <a:latin typeface="Cambria" panose="02040503050406030204" pitchFamily="18" charset="0"/>
                <a:cs typeface="Akhbar MT" pitchFamily="2" charset="-78"/>
              </a:rPr>
              <a:t>STROMA: CT.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sz="3000" u="sng" dirty="0">
                <a:latin typeface="Cambria" panose="02040503050406030204" pitchFamily="18" charset="0"/>
                <a:cs typeface="Akhbar MT" pitchFamily="2" charset="-78"/>
              </a:rPr>
              <a:t>PARENCHYMA: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OVARIAN FOLLICLES.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INTERFOLLICULAR CELLS.</a:t>
            </a:r>
          </a:p>
        </p:txBody>
      </p:sp>
    </p:spTree>
    <p:extLst>
      <p:ext uri="{BB962C8B-B14F-4D97-AF65-F5344CB8AC3E}">
        <p14:creationId xmlns:p14="http://schemas.microsoft.com/office/powerpoint/2010/main" val="1953737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190" y="290945"/>
            <a:ext cx="10515600" cy="71553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OVARIAN STROMA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145" y="1302327"/>
            <a:ext cx="9649691" cy="494607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Composed of: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CORTEX.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MEDULLA.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000" u="sng" dirty="0">
                <a:latin typeface="Cambria" panose="02040503050406030204" pitchFamily="18" charset="0"/>
                <a:cs typeface="Akhbar MT" pitchFamily="2" charset="-78"/>
              </a:rPr>
              <a:t>CORTEX: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Broader.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Contains: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Ovarian follicles.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LcParenR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CT: fibroblast, stromal cells, collagenous fibers.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9"/>
          <a:stretch/>
        </p:blipFill>
        <p:spPr>
          <a:xfrm>
            <a:off x="4488874" y="1006475"/>
            <a:ext cx="7592290" cy="442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162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OVARIAN STROMA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455" y="156455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000" u="sng" dirty="0">
                <a:latin typeface="Cambria" panose="02040503050406030204" pitchFamily="18" charset="0"/>
                <a:cs typeface="Akhbar MT" pitchFamily="2" charset="-78"/>
              </a:rPr>
              <a:t>MEDULLA: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Small.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Composed of loose CT.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CT contains:</a:t>
            </a:r>
          </a:p>
          <a:p>
            <a:pPr>
              <a:lnSpc>
                <a:spcPct val="10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Elastic fibers.</a:t>
            </a:r>
          </a:p>
          <a:p>
            <a:pPr>
              <a:lnSpc>
                <a:spcPct val="10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Smooth muscles.</a:t>
            </a:r>
          </a:p>
          <a:p>
            <a:pPr>
              <a:lnSpc>
                <a:spcPct val="10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Many BLOOD VESSELS.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018" y="1391877"/>
            <a:ext cx="7564580" cy="469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261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709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OVARIAN PARENCHYMA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782" y="1302326"/>
            <a:ext cx="10952018" cy="534785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Consists of :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INTERFOLLICULAR CELLS.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OVARIAN FOLLICLES.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u="sng" dirty="0">
                <a:latin typeface="Cambria" panose="02040503050406030204" pitchFamily="18" charset="0"/>
                <a:cs typeface="Akhbar MT" pitchFamily="2" charset="-78"/>
              </a:rPr>
              <a:t>INTERFOLLICULAR CELLS: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Called interstitial cells.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Present between ovarian follicles.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Flat cells.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With round nuclei.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354" y="1122218"/>
            <a:ext cx="5195792" cy="30895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108" y="3510413"/>
            <a:ext cx="4294910" cy="3204136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8395854" y="2576946"/>
            <a:ext cx="1629571" cy="96704"/>
          </a:xfrm>
          <a:prstGeom prst="right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7255980" y="5029076"/>
            <a:ext cx="1629571" cy="96704"/>
          </a:xfrm>
          <a:prstGeom prst="right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79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709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OVARIAN PARENCHYMA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64" y="1122218"/>
            <a:ext cx="10515600" cy="5389418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u="sng" dirty="0">
                <a:latin typeface="Cambria" panose="02040503050406030204" pitchFamily="18" charset="0"/>
                <a:cs typeface="Akhbar MT" pitchFamily="2" charset="-78"/>
              </a:rPr>
              <a:t>OVARIAN FOLLICLES:</a:t>
            </a:r>
          </a:p>
          <a:p>
            <a:pPr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latin typeface="Cambria" panose="02040503050406030204" pitchFamily="18" charset="0"/>
                <a:cs typeface="Akhbar MT" pitchFamily="2" charset="-78"/>
              </a:rPr>
              <a:t>Present in CORTEX.</a:t>
            </a:r>
          </a:p>
          <a:p>
            <a:pPr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latin typeface="Cambria" panose="02040503050406030204" pitchFamily="18" charset="0"/>
                <a:cs typeface="Akhbar MT" pitchFamily="2" charset="-78"/>
              </a:rPr>
              <a:t>They include: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arenR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PRIMORDIAL FOLLICLES.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arenR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PRIMARY FOLLICLES.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arenR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SECONDARY{GROWING} FOLLICLES.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arenR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GRAAFIAN{MATURE} FOLLICLES.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r="3511"/>
          <a:stretch/>
        </p:blipFill>
        <p:spPr>
          <a:xfrm>
            <a:off x="6342069" y="1122218"/>
            <a:ext cx="5711386" cy="518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5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05" y="1039090"/>
            <a:ext cx="7120390" cy="5342516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HISTOLOGICAL ASPECTS: </a:t>
            </a:r>
            <a:r>
              <a:rPr lang="en-US" u="sng" dirty="0">
                <a:latin typeface="Forte" panose="03060902040502070203" pitchFamily="66" charset="0"/>
                <a:cs typeface="Akhbar MT" pitchFamily="2" charset="-78"/>
              </a:rPr>
              <a:t>FALLOPIAN TUBE</a:t>
            </a:r>
          </a:p>
        </p:txBody>
      </p:sp>
    </p:spTree>
    <p:extLst>
      <p:ext uri="{BB962C8B-B14F-4D97-AF65-F5344CB8AC3E}">
        <p14:creationId xmlns:p14="http://schemas.microsoft.com/office/powerpoint/2010/main" val="905362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3200" u="sng" dirty="0">
                <a:latin typeface="Cambria" panose="02040503050406030204" pitchFamily="18" charset="0"/>
                <a:cs typeface="Akhbar MT" pitchFamily="2" charset="-78"/>
              </a:rPr>
              <a:t>Its wall composed of: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MUCOSA.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MUSCULAR LAYER.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SEROSA.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HISTOLOGICAL ASPECTS: </a:t>
            </a:r>
            <a:r>
              <a:rPr lang="en-US" u="sng" dirty="0">
                <a:latin typeface="Forte" panose="03060902040502070203" pitchFamily="66" charset="0"/>
                <a:cs typeface="Akhbar MT" pitchFamily="2" charset="-78"/>
              </a:rPr>
              <a:t>FALLOPIAN TUBE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916" y="1607127"/>
            <a:ext cx="7146768" cy="478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3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54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Forte" panose="03060902040502070203" pitchFamily="66" charset="0"/>
                <a:cs typeface="Akhbar MT" pitchFamily="2" charset="-78"/>
              </a:rPr>
              <a:t>STRUCTURES OF FALLOPIAN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900546"/>
            <a:ext cx="10515600" cy="56803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u="sng" dirty="0">
                <a:latin typeface="Cambria" panose="02040503050406030204" pitchFamily="18" charset="0"/>
                <a:cs typeface="Akhbar MT" pitchFamily="2" charset="-78"/>
              </a:rPr>
              <a:t>MUCOSA: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Highly folded.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Lined by </a:t>
            </a:r>
            <a:r>
              <a:rPr lang="en-US" u="sng" dirty="0">
                <a:latin typeface="Cambria" panose="02040503050406030204" pitchFamily="18" charset="0"/>
                <a:cs typeface="Akhbar MT" pitchFamily="2" charset="-78"/>
              </a:rPr>
              <a:t>SIMPLE COLUMNAR EPI</a:t>
            </a: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EPI has 2 type: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CILIATED COLUMNAR EPI.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NONCILIATED COLUMNAR EPI.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EPI supported by lamina Propria(CORIUM).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491" y="1368379"/>
            <a:ext cx="6380018" cy="423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63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Forte" panose="03060902040502070203" pitchFamily="66" charset="0"/>
                <a:cs typeface="Akhbar MT" pitchFamily="2" charset="-78"/>
              </a:rPr>
              <a:t>UTERUS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127" y="927885"/>
            <a:ext cx="7453746" cy="5592636"/>
          </a:xfrm>
        </p:spPr>
      </p:pic>
    </p:spTree>
    <p:extLst>
      <p:ext uri="{BB962C8B-B14F-4D97-AF65-F5344CB8AC3E}">
        <p14:creationId xmlns:p14="http://schemas.microsoft.com/office/powerpoint/2010/main" val="280710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182" y="150697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Its wall composed of: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Inner layer: </a:t>
            </a:r>
            <a:r>
              <a:rPr lang="en-US" sz="3200" u="sng" dirty="0">
                <a:latin typeface="Cambria" panose="02040503050406030204" pitchFamily="18" charset="0"/>
                <a:cs typeface="Akhbar MT" pitchFamily="2" charset="-78"/>
              </a:rPr>
              <a:t>ENDOMETRIUM</a:t>
            </a: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Middle layer: </a:t>
            </a:r>
            <a:r>
              <a:rPr lang="en-US" sz="3200" u="sng" dirty="0">
                <a:latin typeface="Cambria" panose="02040503050406030204" pitchFamily="18" charset="0"/>
                <a:cs typeface="Akhbar MT" pitchFamily="2" charset="-78"/>
              </a:rPr>
              <a:t>MYOMETRIUM</a:t>
            </a: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Outer layer: </a:t>
            </a:r>
            <a:r>
              <a:rPr lang="en-US" sz="3200" u="sng" dirty="0">
                <a:latin typeface="Cambria" panose="02040503050406030204" pitchFamily="18" charset="0"/>
                <a:cs typeface="Akhbar MT" pitchFamily="2" charset="-78"/>
              </a:rPr>
              <a:t>PERIMETRIUM</a:t>
            </a: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HISTOLOGICAL ASPECTS: </a:t>
            </a:r>
            <a:r>
              <a:rPr lang="en-US" u="sng" dirty="0">
                <a:latin typeface="Forte" panose="03060902040502070203" pitchFamily="66" charset="0"/>
                <a:cs typeface="Akhbar MT" pitchFamily="2" charset="-78"/>
              </a:rPr>
              <a:t>UTERUS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330" y="2651560"/>
            <a:ext cx="5703670" cy="3206748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9725891" y="2466109"/>
            <a:ext cx="179831" cy="147717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7218218" y="2466109"/>
            <a:ext cx="179831" cy="147717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 rot="16200000">
            <a:off x="6118984" y="4936942"/>
            <a:ext cx="182201" cy="133653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1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182" y="182562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ENDOMETRIUM: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Uterine mucosa.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It divided into: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Superficial FUNCTIONAL ZONE.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Deep BASAL ZONE.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HISTOLOGICAL ASPECTS: </a:t>
            </a:r>
            <a:r>
              <a:rPr lang="en-US" u="sng" dirty="0">
                <a:latin typeface="Forte" panose="03060902040502070203" pitchFamily="66" charset="0"/>
                <a:cs typeface="Akhbar MT" pitchFamily="2" charset="-78"/>
              </a:rPr>
              <a:t>UTERUS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691" y="1316182"/>
            <a:ext cx="6047670" cy="537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60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578" y="1163782"/>
            <a:ext cx="7418918" cy="556418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HISTOLOGICAL ASPECTS: </a:t>
            </a:r>
            <a:r>
              <a:rPr lang="en-US" u="sng" dirty="0">
                <a:latin typeface="Forte" panose="03060902040502070203" pitchFamily="66" charset="0"/>
                <a:cs typeface="Akhbar MT" pitchFamily="2" charset="-78"/>
              </a:rPr>
              <a:t>UTERUS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29347" y="1819854"/>
            <a:ext cx="4455898" cy="14258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2729346" y="2230583"/>
            <a:ext cx="2848771" cy="11978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2729347" y="2761096"/>
            <a:ext cx="3610772" cy="1345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95840" y="846872"/>
            <a:ext cx="3208122" cy="6991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ENDOMETRIUM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9016" y="1563514"/>
            <a:ext cx="42511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3824" y="2001734"/>
            <a:ext cx="4203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3060" y="2546877"/>
            <a:ext cx="4010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518125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8472"/>
            <a:ext cx="10515600" cy="526472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Structures of </a:t>
            </a:r>
            <a:r>
              <a:rPr lang="en-US" sz="3000" u="sng" dirty="0">
                <a:latin typeface="Cambria" panose="02040503050406030204" pitchFamily="18" charset="0"/>
                <a:cs typeface="Akhbar MT" pitchFamily="2" charset="-78"/>
              </a:rPr>
              <a:t>ENDOMETRIUM</a:t>
            </a: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u="sng" dirty="0">
                <a:latin typeface="Cambria" panose="02040503050406030204" pitchFamily="18" charset="0"/>
                <a:cs typeface="Akhbar MT" pitchFamily="2" charset="-78"/>
              </a:rPr>
              <a:t>EPITHELIUM:</a:t>
            </a:r>
          </a:p>
          <a:p>
            <a:pPr>
              <a:lnSpc>
                <a:spcPct val="10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Simple columnar EPI {ciliated &amp; non ciliated}.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u="sng" dirty="0">
                <a:latin typeface="Cambria" panose="02040503050406030204" pitchFamily="18" charset="0"/>
                <a:cs typeface="Akhbar MT" pitchFamily="2" charset="-78"/>
              </a:rPr>
              <a:t>UTERINE GLANDS</a:t>
            </a: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Tubular or branched glands.</a:t>
            </a:r>
          </a:p>
          <a:p>
            <a:pPr>
              <a:lnSpc>
                <a:spcPct val="10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Lind by SIMPLE COLUMNAR EPI.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u="sng" dirty="0">
                <a:latin typeface="Cambria" panose="02040503050406030204" pitchFamily="18" charset="0"/>
                <a:cs typeface="Akhbar MT" pitchFamily="2" charset="-78"/>
              </a:rPr>
              <a:t>CORIUM OF CT</a:t>
            </a: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Between uterine glands.</a:t>
            </a:r>
          </a:p>
          <a:p>
            <a:pPr>
              <a:lnSpc>
                <a:spcPct val="10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Rich B V.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HISTOLOGICAL ASPECTS: </a:t>
            </a:r>
            <a:r>
              <a:rPr lang="en-US" u="sng" dirty="0">
                <a:latin typeface="Forte" panose="03060902040502070203" pitchFamily="66" charset="0"/>
                <a:cs typeface="Akhbar MT" pitchFamily="2" charset="-78"/>
              </a:rPr>
              <a:t>UTERUS</a:t>
            </a:r>
          </a:p>
        </p:txBody>
      </p:sp>
    </p:spTree>
    <p:extLst>
      <p:ext uri="{BB962C8B-B14F-4D97-AF65-F5344CB8AC3E}">
        <p14:creationId xmlns:p14="http://schemas.microsoft.com/office/powerpoint/2010/main" val="3384267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71" y="1163782"/>
            <a:ext cx="10093858" cy="5675024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HISTOLOGICAL ASPECTS: </a:t>
            </a:r>
            <a:r>
              <a:rPr lang="en-US" u="sng" dirty="0">
                <a:latin typeface="Forte" panose="03060902040502070203" pitchFamily="66" charset="0"/>
                <a:cs typeface="Akhbar MT" pitchFamily="2" charset="-78"/>
              </a:rPr>
              <a:t>UTERUS</a:t>
            </a:r>
          </a:p>
        </p:txBody>
      </p:sp>
    </p:spTree>
    <p:extLst>
      <p:ext uri="{BB962C8B-B14F-4D97-AF65-F5344CB8AC3E}">
        <p14:creationId xmlns:p14="http://schemas.microsoft.com/office/powerpoint/2010/main" val="73699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612" y="1163782"/>
            <a:ext cx="7492812" cy="5619608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HISTOLOGICAL ASPECTS: </a:t>
            </a:r>
            <a:r>
              <a:rPr lang="en-US" u="sng" dirty="0">
                <a:latin typeface="Forte" panose="03060902040502070203" pitchFamily="66" charset="0"/>
                <a:cs typeface="Akhbar MT" pitchFamily="2" charset="-78"/>
              </a:rPr>
              <a:t>UTERUS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840" y="846872"/>
            <a:ext cx="2989344" cy="6991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MYOMETRIUM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18509" y="3810001"/>
            <a:ext cx="3195136" cy="2328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2618509" y="5063837"/>
            <a:ext cx="3195136" cy="2328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2618509" y="5807184"/>
            <a:ext cx="3195136" cy="2328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3393" y="3649431"/>
            <a:ext cx="42511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3393" y="4903267"/>
            <a:ext cx="4203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629" y="5646614"/>
            <a:ext cx="4010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523200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5455"/>
            <a:ext cx="10515600" cy="5013181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MYOMETRIUM:</a:t>
            </a:r>
          </a:p>
          <a:p>
            <a:pPr>
              <a:lnSpc>
                <a:spcPct val="16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Thick smooth muscle layers.</a:t>
            </a:r>
          </a:p>
          <a:p>
            <a:pPr>
              <a:lnSpc>
                <a:spcPct val="160000"/>
              </a:lnSpc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3 layers:</a:t>
            </a:r>
          </a:p>
          <a:p>
            <a:pPr marL="514350" indent="-514350">
              <a:lnSpc>
                <a:spcPct val="160000"/>
              </a:lnSpc>
              <a:buFont typeface="+mj-lt"/>
              <a:buAutoNum type="alphaLcParenR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SUBMUCOSAL LAYER: longitudinal and oblique.</a:t>
            </a:r>
          </a:p>
          <a:p>
            <a:pPr marL="514350" indent="-514350">
              <a:lnSpc>
                <a:spcPct val="160000"/>
              </a:lnSpc>
              <a:buFont typeface="+mj-lt"/>
              <a:buAutoNum type="alphaLcParenR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VASCULAR LAYER: contains B V.</a:t>
            </a:r>
          </a:p>
          <a:p>
            <a:pPr marL="514350" indent="-514350">
              <a:lnSpc>
                <a:spcPct val="160000"/>
              </a:lnSpc>
              <a:buFont typeface="+mj-lt"/>
              <a:buAutoNum type="alphaLcParenR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SUBSEROSAL LAYER: longitudinal and oblique.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HISTOLOGICAL ASPECTS: </a:t>
            </a:r>
            <a:r>
              <a:rPr lang="en-US" u="sng" dirty="0">
                <a:latin typeface="Forte" panose="03060902040502070203" pitchFamily="66" charset="0"/>
                <a:cs typeface="Akhbar MT" pitchFamily="2" charset="-78"/>
              </a:rPr>
              <a:t>UTERUS</a:t>
            </a:r>
          </a:p>
        </p:txBody>
      </p:sp>
    </p:spTree>
    <p:extLst>
      <p:ext uri="{BB962C8B-B14F-4D97-AF65-F5344CB8AC3E}">
        <p14:creationId xmlns:p14="http://schemas.microsoft.com/office/powerpoint/2010/main" val="1108220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27" y="1548534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PERIMETRIUM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HISTOLOGICAL ASPECTS: </a:t>
            </a:r>
            <a:r>
              <a:rPr lang="en-US" u="sng" dirty="0">
                <a:latin typeface="Forte" panose="03060902040502070203" pitchFamily="66" charset="0"/>
                <a:cs typeface="Akhbar MT" pitchFamily="2" charset="-78"/>
              </a:rPr>
              <a:t>UTERUS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382" y="1052945"/>
            <a:ext cx="8839198" cy="5785856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274618" y="4973782"/>
            <a:ext cx="3195136" cy="2328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PERIMETRIUM:</a:t>
            </a:r>
          </a:p>
          <a:p>
            <a:pPr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Formed of areolar CT.</a:t>
            </a:r>
          </a:p>
          <a:p>
            <a:pPr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Contains blood vessels.</a:t>
            </a:r>
          </a:p>
          <a:p>
            <a:pPr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mbria" panose="02040503050406030204" pitchFamily="18" charset="0"/>
                <a:cs typeface="Akhbar MT" pitchFamily="2" charset="-78"/>
              </a:rPr>
              <a:t>Covered by SIMPLE SQUAMOUS EPI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HISTOLOGICAL ASPECTS: </a:t>
            </a:r>
            <a:r>
              <a:rPr lang="en-US" u="sng" dirty="0">
                <a:latin typeface="Forte" panose="03060902040502070203" pitchFamily="66" charset="0"/>
                <a:cs typeface="Akhbar MT" pitchFamily="2" charset="-78"/>
              </a:rPr>
              <a:t>UTERUS</a:t>
            </a:r>
          </a:p>
        </p:txBody>
      </p:sp>
    </p:spTree>
    <p:extLst>
      <p:ext uri="{BB962C8B-B14F-4D97-AF65-F5344CB8AC3E}">
        <p14:creationId xmlns:p14="http://schemas.microsoft.com/office/powerpoint/2010/main" val="2488120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1162"/>
            <a:ext cx="10515600" cy="74323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UTERINE CERVIX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5"/>
          <a:stretch/>
        </p:blipFill>
        <p:spPr>
          <a:xfrm>
            <a:off x="5110162" y="1222724"/>
            <a:ext cx="7012781" cy="510787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8"/>
          <a:stretch/>
        </p:blipFill>
        <p:spPr>
          <a:xfrm>
            <a:off x="838200" y="914401"/>
            <a:ext cx="4271962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3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3"/>
            <a:ext cx="10515600" cy="74323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UTERINE CERVIX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1057"/>
            <a:ext cx="10515600" cy="5712980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Its wall formed of.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Dens fibrous CT.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Few smooth muscle fibers.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With BRANCHED TUBULO-ACINAR GLANDS(CERVICAL GLANDS).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Lumen of cervix lined by: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SIMPLE COLUMNAR EPI: at lumen and internal OS.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STRATIFIED SQUAMOUS EPI: at external OS.</a:t>
            </a:r>
          </a:p>
        </p:txBody>
      </p:sp>
    </p:spTree>
    <p:extLst>
      <p:ext uri="{BB962C8B-B14F-4D97-AF65-F5344CB8AC3E}">
        <p14:creationId xmlns:p14="http://schemas.microsoft.com/office/powerpoint/2010/main" val="1023572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587"/>
          <a:stretch/>
        </p:blipFill>
        <p:spPr>
          <a:xfrm>
            <a:off x="4059382" y="804776"/>
            <a:ext cx="4073236" cy="591468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152403"/>
            <a:ext cx="10515600" cy="74323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UTERINE CERVIX</a:t>
            </a:r>
          </a:p>
        </p:txBody>
      </p:sp>
    </p:spTree>
    <p:extLst>
      <p:ext uri="{BB962C8B-B14F-4D97-AF65-F5344CB8AC3E}">
        <p14:creationId xmlns:p14="http://schemas.microsoft.com/office/powerpoint/2010/main" val="1457489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11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THE VAGINA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82" y="1149930"/>
            <a:ext cx="5038725" cy="4943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6" y="1017019"/>
            <a:ext cx="4156362" cy="554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426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11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THE VAGINA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1709"/>
            <a:ext cx="10515600" cy="4625254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Fibromuscular tube.</a:t>
            </a:r>
          </a:p>
          <a:p>
            <a:pPr>
              <a:lnSpc>
                <a:spcPct val="160000"/>
              </a:lnSpc>
            </a:pP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Its wall composed of: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MUCOSA.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MUSCULOSA.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Cambria" panose="02040503050406030204" pitchFamily="18" charset="0"/>
                <a:cs typeface="Akhbar MT" pitchFamily="2" charset="-78"/>
              </a:rPr>
              <a:t>ADVENTITIA.</a:t>
            </a:r>
          </a:p>
        </p:txBody>
      </p:sp>
    </p:spTree>
    <p:extLst>
      <p:ext uri="{BB962C8B-B14F-4D97-AF65-F5344CB8AC3E}">
        <p14:creationId xmlns:p14="http://schemas.microsoft.com/office/powerpoint/2010/main" val="12629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418" y="1013328"/>
            <a:ext cx="5985164" cy="5837382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11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THE VAGINA</a:t>
            </a:r>
          </a:p>
        </p:txBody>
      </p:sp>
    </p:spTree>
    <p:extLst>
      <p:ext uri="{BB962C8B-B14F-4D97-AF65-F5344CB8AC3E}">
        <p14:creationId xmlns:p14="http://schemas.microsoft.com/office/powerpoint/2010/main" val="15436283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0111"/>
            <a:ext cx="10515600" cy="605443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u="sng" dirty="0">
                <a:latin typeface="Cambria" panose="02040503050406030204" pitchFamily="18" charset="0"/>
                <a:cs typeface="Akhbar MT" pitchFamily="2" charset="-78"/>
              </a:rPr>
              <a:t>MUCOSA</a:t>
            </a:r>
            <a:r>
              <a:rPr lang="en-US" dirty="0">
                <a:latin typeface="Cambria" panose="02040503050406030204" pitchFamily="18" charset="0"/>
                <a:cs typeface="Akhbar MT" pitchFamily="2" charset="-78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cs typeface="Akhbar MT" pitchFamily="2" charset="-78"/>
              </a:rPr>
              <a:t>Lined by STRATIFIED SQUAMOUS NON-KERATINIZING.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cs typeface="Akhbar MT" pitchFamily="2" charset="-78"/>
              </a:rPr>
              <a:t>Supported by CT (CORIUM), rich in B V.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cs typeface="Akhbar MT" pitchFamily="2" charset="-78"/>
              </a:rPr>
              <a:t>No vaginal GLANDS here.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2400" u="sng" dirty="0">
                <a:latin typeface="Cambria" panose="02040503050406030204" pitchFamily="18" charset="0"/>
                <a:cs typeface="Akhbar MT" pitchFamily="2" charset="-78"/>
              </a:rPr>
              <a:t>MUSCULOSA</a:t>
            </a:r>
            <a:r>
              <a:rPr lang="en-US" sz="2400" dirty="0">
                <a:latin typeface="Cambria" panose="02040503050406030204" pitchFamily="18" charset="0"/>
                <a:cs typeface="Akhbar MT" pitchFamily="2" charset="-78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cs typeface="Akhbar MT" pitchFamily="2" charset="-78"/>
              </a:rPr>
              <a:t>Smooth muscle fibers {INNER CIRCULAR, OUTER LONGITUDINAL}.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2400" u="sng" dirty="0">
                <a:latin typeface="Cambria" panose="02040503050406030204" pitchFamily="18" charset="0"/>
                <a:cs typeface="Akhbar MT" pitchFamily="2" charset="-78"/>
              </a:rPr>
              <a:t>ADVENTITIA</a:t>
            </a:r>
            <a:r>
              <a:rPr lang="en-US" sz="2400" dirty="0">
                <a:latin typeface="Cambria" panose="02040503050406030204" pitchFamily="18" charset="0"/>
                <a:cs typeface="Akhbar MT" pitchFamily="2" charset="-78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cs typeface="Akhbar MT" pitchFamily="2" charset="-78"/>
              </a:rPr>
              <a:t>Fibrous CT.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cs typeface="Akhbar MT" pitchFamily="2" charset="-78"/>
              </a:rPr>
              <a:t>Rich in </a:t>
            </a:r>
            <a:r>
              <a:rPr lang="en-US" sz="2400">
                <a:latin typeface="Cambria" panose="02040503050406030204" pitchFamily="18" charset="0"/>
                <a:cs typeface="Akhbar MT" pitchFamily="2" charset="-78"/>
              </a:rPr>
              <a:t>B V, N.</a:t>
            </a:r>
            <a:endParaRPr lang="en-US" sz="2400" dirty="0">
              <a:latin typeface="Cambria" panose="02040503050406030204" pitchFamily="18" charset="0"/>
              <a:cs typeface="Akhbar MT" pitchFamily="2" charset="-78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10836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Forte" panose="03060902040502070203" pitchFamily="66" charset="0"/>
                <a:cs typeface="Akhbar MT" pitchFamily="2" charset="-78"/>
              </a:rPr>
              <a:t>THE VAGINA</a:t>
            </a:r>
          </a:p>
        </p:txBody>
      </p:sp>
    </p:spTree>
    <p:extLst>
      <p:ext uri="{BB962C8B-B14F-4D97-AF65-F5344CB8AC3E}">
        <p14:creationId xmlns:p14="http://schemas.microsoft.com/office/powerpoint/2010/main" val="9043295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prstTxWarp prst="textChevronInverted">
              <a:avLst/>
            </a:prstTxWarp>
          </a:bodyPr>
          <a:lstStyle/>
          <a:p>
            <a:pPr marL="0" indent="0" algn="ctr">
              <a:buNone/>
            </a:pPr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THAT IS ALL</a:t>
            </a:r>
          </a:p>
        </p:txBody>
      </p:sp>
    </p:spTree>
    <p:extLst>
      <p:ext uri="{BB962C8B-B14F-4D97-AF65-F5344CB8AC3E}">
        <p14:creationId xmlns:p14="http://schemas.microsoft.com/office/powerpoint/2010/main" val="193368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572</Words>
  <Application>Microsoft Office PowerPoint</Application>
  <PresentationFormat>Widescreen</PresentationFormat>
  <Paragraphs>149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Bernard MT Condensed</vt:lpstr>
      <vt:lpstr>Blackadder ITC</vt:lpstr>
      <vt:lpstr>Calibri</vt:lpstr>
      <vt:lpstr>Calibri Light</vt:lpstr>
      <vt:lpstr>Cambria</vt:lpstr>
      <vt:lpstr>Courier New</vt:lpstr>
      <vt:lpstr>Forte</vt:lpstr>
      <vt:lpstr>Wingdings</vt:lpstr>
      <vt:lpstr>Office Theme</vt:lpstr>
      <vt:lpstr>FEMALE REPRODUCTIVE SYSTEM</vt:lpstr>
      <vt:lpstr>PowerPoint Presentation</vt:lpstr>
      <vt:lpstr>PowerPoint Presentation</vt:lpstr>
      <vt:lpstr>HISTOLOGICAL ASPECTS: OVARY</vt:lpstr>
      <vt:lpstr>HISTOLOGICAL ASPECTS: OVARY</vt:lpstr>
      <vt:lpstr>STRUCTURES OF OVARY</vt:lpstr>
      <vt:lpstr>STRUCTURES OF OVARY</vt:lpstr>
      <vt:lpstr>OVARIAN STROMA</vt:lpstr>
      <vt:lpstr>OVARIAN STROMA</vt:lpstr>
      <vt:lpstr>OVARIAN PARENCHYMA</vt:lpstr>
      <vt:lpstr>OVARIAN PARENCHYMA</vt:lpstr>
      <vt:lpstr>HISTOLOGICAL ASPECTS: FALLOPIAN TUBE</vt:lpstr>
      <vt:lpstr>HISTOLOGICAL ASPECTS: FALLOPIAN TUBE</vt:lpstr>
      <vt:lpstr>STRUCTURES OF FALLOPIAN TUBE</vt:lpstr>
      <vt:lpstr>UTERUS</vt:lpstr>
      <vt:lpstr>HISTOLOGICAL ASPECTS: UTERUS</vt:lpstr>
      <vt:lpstr>HISTOLOGICAL ASPECTS: UTERUS</vt:lpstr>
      <vt:lpstr>HISTOLOGICAL ASPECTS: UTERUS</vt:lpstr>
      <vt:lpstr>HISTOLOGICAL ASPECTS: UTERUS</vt:lpstr>
      <vt:lpstr>HISTOLOGICAL ASPECTS: UTERUS</vt:lpstr>
      <vt:lpstr>HISTOLOGICAL ASPECTS: UTERUS</vt:lpstr>
      <vt:lpstr>HISTOLOGICAL ASPECTS: UTERUS</vt:lpstr>
      <vt:lpstr>HISTOLOGICAL ASPECTS: UTERUS</vt:lpstr>
      <vt:lpstr>HISTOLOGICAL ASPECTS: UTERUS</vt:lpstr>
      <vt:lpstr>UTERINE CERVIX</vt:lpstr>
      <vt:lpstr>UTERINE CERVIX</vt:lpstr>
      <vt:lpstr>UTERINE CERVIX</vt:lpstr>
      <vt:lpstr>THE VAGINA</vt:lpstr>
      <vt:lpstr>THE VAGINA</vt:lpstr>
      <vt:lpstr>THE VAGINA</vt:lpstr>
      <vt:lpstr>THE VAGINA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FEMALE REPRODUCTIVE SYSTEM</dc:title>
  <dc:creator>User</dc:creator>
  <cp:lastModifiedBy>Mohamed Hammad</cp:lastModifiedBy>
  <cp:revision>32</cp:revision>
  <dcterms:created xsi:type="dcterms:W3CDTF">2016-04-19T18:18:44Z</dcterms:created>
  <dcterms:modified xsi:type="dcterms:W3CDTF">2025-08-26T08:07:24Z</dcterms:modified>
</cp:coreProperties>
</file>