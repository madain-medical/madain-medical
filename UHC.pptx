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2">
  <p:sldMasterIdLst>
    <p:sldMasterId id="2147483648" r:id="rId1"/>
  </p:sldMasterIdLst>
  <p:sldIdLst>
    <p:sldId id="256" r:id="rId2"/>
    <p:sldId id="258" r:id="rId3"/>
    <p:sldId id="259" r:id="rId4"/>
    <p:sldId id="295" r:id="rId5"/>
    <p:sldId id="269" r:id="rId6"/>
    <p:sldId id="257" r:id="rId7"/>
    <p:sldId id="280" r:id="rId8"/>
    <p:sldId id="296" r:id="rId9"/>
    <p:sldId id="297" r:id="rId10"/>
    <p:sldId id="288" r:id="rId11"/>
    <p:sldId id="286" r:id="rId12"/>
    <p:sldId id="298" r:id="rId13"/>
    <p:sldId id="283" r:id="rId14"/>
    <p:sldId id="2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3408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4" y="-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0073" y="2336800"/>
            <a:ext cx="6847993" cy="2119086"/>
          </a:xfrm>
        </p:spPr>
        <p:txBody>
          <a:bodyPr/>
          <a:lstStyle/>
          <a:p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36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en-US" sz="40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4000" b="1" dirty="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6" y="1596572"/>
            <a:ext cx="6966759" cy="3658008"/>
          </a:xfrm>
        </p:spPr>
        <p:txBody>
          <a:bodyPr>
            <a:normAutofit/>
          </a:bodyPr>
          <a:lstStyle/>
          <a:p>
            <a:r>
              <a:rPr lang="en-US" sz="6000" b="1" i="1" dirty="0" smtClean="0"/>
              <a:t>Universal Health Coverage</a:t>
            </a:r>
          </a:p>
          <a:p>
            <a:endParaRPr lang="en-US" sz="2400" b="1" i="1" dirty="0" smtClean="0"/>
          </a:p>
          <a:p>
            <a:pPr algn="l"/>
            <a:r>
              <a:rPr lang="en-US" sz="2400" b="1" i="1" dirty="0" err="1" smtClean="0"/>
              <a:t>By:Ibtisam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Merghani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Osman</a:t>
            </a:r>
            <a:endParaRPr lang="en-US" sz="2400" b="1" i="1" dirty="0" smtClean="0"/>
          </a:p>
          <a:p>
            <a:pPr algn="l"/>
            <a:r>
              <a:rPr lang="en-US" sz="2400" b="1" i="1" dirty="0" smtClean="0"/>
              <a:t>MBBS, DPH, MPH, MD</a:t>
            </a:r>
          </a:p>
        </p:txBody>
      </p:sp>
    </p:spTree>
    <p:extLst>
      <p:ext uri="{BB962C8B-B14F-4D97-AF65-F5344CB8AC3E}">
        <p14:creationId xmlns="" xmlns:p14="http://schemas.microsoft.com/office/powerpoint/2010/main" val="52206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Objectives</a:t>
            </a:r>
            <a:endParaRPr lang="en-US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By the end of this session every student should be able to:</a:t>
            </a:r>
          </a:p>
          <a:p>
            <a:pPr marL="742950" indent="-742950">
              <a:buAutoNum type="arabicPeriod"/>
            </a:pPr>
            <a:r>
              <a:rPr lang="en-US" sz="3600" dirty="0" smtClean="0">
                <a:solidFill>
                  <a:schemeClr val="tx1"/>
                </a:solidFill>
              </a:rPr>
              <a:t>Define universal health coverage</a:t>
            </a:r>
          </a:p>
          <a:p>
            <a:pPr marL="742950" indent="-742950">
              <a:buAutoNum type="arabicPeriod"/>
            </a:pPr>
            <a:r>
              <a:rPr lang="en-US" sz="3600" dirty="0" smtClean="0">
                <a:solidFill>
                  <a:schemeClr val="tx1"/>
                </a:solidFill>
              </a:rPr>
              <a:t>Outline the objectives of the UHC</a:t>
            </a:r>
            <a:endParaRPr lang="en-US" sz="3600" dirty="0" smtClean="0">
              <a:solidFill>
                <a:schemeClr val="tx1"/>
              </a:solidFill>
            </a:endParaRPr>
          </a:p>
          <a:p>
            <a:pPr marL="742950" indent="-742950">
              <a:buAutoNum type="arabicPeriod"/>
            </a:pPr>
            <a:r>
              <a:rPr lang="en-US" sz="3600" dirty="0" smtClean="0">
                <a:solidFill>
                  <a:schemeClr val="tx1"/>
                </a:solidFill>
              </a:rPr>
              <a:t>Outline the UHC dimensions</a:t>
            </a:r>
            <a:endParaRPr lang="en-US" sz="3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9459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Does UHC Means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10690"/>
            <a:ext cx="9601196" cy="3796145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means, that all individuals and communities receive the health services they need without suffering 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financial</a:t>
            </a: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hardship. It includes the full spectrum of essential, quality health services, from health promotion to prevention, treatment, rehabilitation, and palliative care across the life course.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4176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Does UHC Means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Ensuring </a:t>
            </a:r>
            <a:r>
              <a:rPr lang="en-US" sz="2800" dirty="0" smtClean="0">
                <a:solidFill>
                  <a:srgbClr val="FF0000"/>
                </a:solidFill>
                <a:latin typeface="Arial Narrow" pitchFamily="34" charset="0"/>
              </a:rPr>
              <a:t>equitable</a:t>
            </a: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access for all resident in any part of the country, regardless of income level, social status, gender or religion, to </a:t>
            </a:r>
            <a:r>
              <a:rPr lang="en-US" sz="2800" dirty="0" smtClean="0">
                <a:solidFill>
                  <a:srgbClr val="0070C0"/>
                </a:solidFill>
                <a:latin typeface="Arial Narrow" pitchFamily="34" charset="0"/>
              </a:rPr>
              <a:t>affordable</a:t>
            </a: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, </a:t>
            </a:r>
            <a:r>
              <a:rPr lang="en-US" sz="2800" dirty="0" smtClean="0">
                <a:solidFill>
                  <a:srgbClr val="00B050"/>
                </a:solidFill>
                <a:latin typeface="Arial Narrow" pitchFamily="34" charset="0"/>
              </a:rPr>
              <a:t>appropriate</a:t>
            </a: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, high </a:t>
            </a:r>
            <a:r>
              <a:rPr lang="en-US" sz="2800" dirty="0" smtClean="0">
                <a:solidFill>
                  <a:srgbClr val="FF0000"/>
                </a:solidFill>
                <a:latin typeface="Arial Narrow" pitchFamily="34" charset="0"/>
              </a:rPr>
              <a:t>quality</a:t>
            </a: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and </a:t>
            </a:r>
            <a:r>
              <a:rPr lang="en-US" sz="2800" dirty="0" smtClean="0">
                <a:solidFill>
                  <a:srgbClr val="FFC000"/>
                </a:solidFill>
                <a:latin typeface="Arial Narrow" pitchFamily="34" charset="0"/>
              </a:rPr>
              <a:t>comprehensive</a:t>
            </a: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health services( promotive, preventive, curative and  rehabilitative).</a:t>
            </a:r>
            <a:endParaRPr lang="en-US" sz="2800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Universal Health Coverage</a:t>
            </a:r>
            <a:endParaRPr lang="en-US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2" y="2293257"/>
            <a:ext cx="10624458" cy="413657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3600" b="1" dirty="0" smtClean="0">
                <a:solidFill>
                  <a:schemeClr val="tx1"/>
                </a:solidFill>
                <a:latin typeface="Arial Narrow" pitchFamily="34" charset="0"/>
              </a:rPr>
              <a:t>Key Facts:</a:t>
            </a:r>
          </a:p>
          <a:p>
            <a:pPr algn="just">
              <a:buClr>
                <a:schemeClr val="accent5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At  least half of the worlds population don’t have full coverage of essential health services.</a:t>
            </a:r>
          </a:p>
          <a:p>
            <a:pPr algn="just">
              <a:buClr>
                <a:schemeClr val="accent5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About 100 million people are still pushed into extreme poverty , because they have to pay to for health care.</a:t>
            </a:r>
          </a:p>
          <a:p>
            <a:pPr algn="just">
              <a:buClr>
                <a:schemeClr val="accent5"/>
              </a:buClr>
              <a:buNone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</a:p>
          <a:p>
            <a:pPr algn="just">
              <a:buClr>
                <a:schemeClr val="accent5"/>
              </a:buClr>
              <a:buFont typeface="Wingdings" pitchFamily="2" charset="2"/>
              <a:buChar char="q"/>
            </a:pPr>
            <a:endParaRPr lang="en-US" sz="2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 algn="just">
              <a:buNone/>
            </a:pPr>
            <a:endParaRPr lang="en-US" sz="3600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664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117600"/>
            <a:ext cx="9601196" cy="1168399"/>
          </a:xfrm>
        </p:spPr>
        <p:txBody>
          <a:bodyPr>
            <a:normAutofit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Universal Health Coverage</a:t>
            </a:r>
            <a:endParaRPr lang="en-US" sz="4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4" name="عنصر نائب للمحتوى 3"/>
          <p:cNvSpPr>
            <a:spLocks noGrp="1"/>
          </p:cNvSpPr>
          <p:nvPr>
            <p:ph idx="1"/>
          </p:nvPr>
        </p:nvSpPr>
        <p:spPr>
          <a:xfrm>
            <a:off x="1295401" y="2322286"/>
            <a:ext cx="9601196" cy="355358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Arial Narrow" pitchFamily="34" charset="0"/>
              </a:rPr>
              <a:t>Key Facts:</a:t>
            </a:r>
          </a:p>
          <a:p>
            <a:pPr>
              <a:buNone/>
            </a:pPr>
            <a:endParaRPr lang="en-US" sz="2800" b="1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 marL="514350" indent="-514350">
              <a:buClr>
                <a:schemeClr val="accent5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Over 800 million people ( almost 12% of the worlds population) spent at least 10% of their household budgets to pay for health care.</a:t>
            </a:r>
          </a:p>
          <a:p>
            <a:pPr>
              <a:buNone/>
            </a:pPr>
            <a:endParaRPr lang="en-US" sz="2800" b="1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buClr>
                <a:schemeClr val="accent5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UHC planed to be achieved  by 2030,  as a part of the Sustainable          Developmental Goals(SDGs).</a:t>
            </a:r>
          </a:p>
          <a:p>
            <a:pPr>
              <a:buNone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7012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295402" y="1074057"/>
            <a:ext cx="9601196" cy="667657"/>
          </a:xfrm>
        </p:spPr>
        <p:txBody>
          <a:bodyPr>
            <a:noAutofit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SDG3 Target3.8</a:t>
            </a:r>
            <a:endParaRPr lang="en-US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64424" y="2700337"/>
            <a:ext cx="234315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مستطيل مستدير الزوايا 4"/>
          <p:cNvSpPr/>
          <p:nvPr/>
        </p:nvSpPr>
        <p:spPr>
          <a:xfrm>
            <a:off x="1582057" y="2075544"/>
            <a:ext cx="4775200" cy="41946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Achieve universal health coverage, including financial risk protection, access to quality essential health-care services and access to safe, effective, quality and affordable essential medicines and vaccines for all. 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rial Narrow" pitchFamily="34" charset="0"/>
              </a:rPr>
              <a:t>Objective of Universal Health Coverage</a:t>
            </a:r>
            <a:endParaRPr lang="en-US" i="1" dirty="0">
              <a:latin typeface="Arial Narrow" pitchFamily="34" charset="0"/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295401" y="2888342"/>
            <a:ext cx="9601196" cy="29875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dirty="0" smtClean="0">
                <a:latin typeface="Arial Narrow" pitchFamily="34" charset="0"/>
              </a:rPr>
              <a:t>    </a:t>
            </a:r>
            <a:r>
              <a:rPr lang="en-US" sz="3200" b="1" i="1" dirty="0" smtClean="0">
                <a:solidFill>
                  <a:schemeClr val="tx1"/>
                </a:solidFill>
                <a:latin typeface="Arial Narrow" pitchFamily="34" charset="0"/>
              </a:rPr>
              <a:t>All people have access to needed services without the risk of financial hardship, by applying ruin linked to paying for health care. </a:t>
            </a:r>
            <a:endParaRPr lang="en-US" sz="32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rial Narrow" pitchFamily="34" charset="0"/>
              </a:rPr>
              <a:t>Dimensions Of Universal Health Coverage</a:t>
            </a:r>
            <a:endParaRPr lang="en-US" b="1" i="1" dirty="0">
              <a:latin typeface="Arial Narrow" pitchFamily="34" charset="0"/>
            </a:endParaRPr>
          </a:p>
        </p:txBody>
      </p:sp>
      <p:pic>
        <p:nvPicPr>
          <p:cNvPr id="5" name="عنصر نائب للمحتوى 4" descr="uhc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1558" y="2388358"/>
            <a:ext cx="6346209" cy="3541571"/>
          </a:xfrm>
        </p:spPr>
      </p:pic>
      <p:sp>
        <p:nvSpPr>
          <p:cNvPr id="4" name="مستطيل مستدير الزوايا 3"/>
          <p:cNvSpPr/>
          <p:nvPr/>
        </p:nvSpPr>
        <p:spPr>
          <a:xfrm>
            <a:off x="1580605" y="2442754"/>
            <a:ext cx="3043645" cy="337021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population coverage(equity)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Service coverage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>
                <a:solidFill>
                  <a:schemeClr val="tx1"/>
                </a:solidFill>
                <a:latin typeface="Arial Narrow" pitchFamily="34" charset="0"/>
              </a:rPr>
              <a:t>Financial risk protection</a:t>
            </a:r>
          </a:p>
          <a:p>
            <a:pPr marL="342900" indent="-342900" algn="ctr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population coverage(equity)</a:t>
            </a:r>
            <a:b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</a:br>
            <a:endParaRPr lang="en-US" b="1" i="1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600" dirty="0" smtClean="0">
                <a:solidFill>
                  <a:schemeClr val="tx1"/>
                </a:solidFill>
              </a:rPr>
              <a:t>Situation analysis ( uncovered population).</a:t>
            </a:r>
          </a:p>
          <a:p>
            <a:pPr algn="just"/>
            <a:r>
              <a:rPr lang="en-US" sz="3600" dirty="0" smtClean="0">
                <a:solidFill>
                  <a:schemeClr val="tx1"/>
                </a:solidFill>
              </a:rPr>
              <a:t>Determine the number of PHCs, or hospitals needed to be constructed.</a:t>
            </a:r>
          </a:p>
          <a:p>
            <a:pPr algn="just"/>
            <a:r>
              <a:rPr lang="en-US" sz="3600" dirty="0" smtClean="0">
                <a:solidFill>
                  <a:schemeClr val="tx1"/>
                </a:solidFill>
              </a:rPr>
              <a:t>The needed budget should be calculated.</a:t>
            </a:r>
          </a:p>
          <a:p>
            <a:pPr algn="just"/>
            <a:r>
              <a:rPr lang="en-US" sz="3600" dirty="0" smtClean="0">
                <a:solidFill>
                  <a:schemeClr val="tx1"/>
                </a:solidFill>
              </a:rPr>
              <a:t>Time frame.</a:t>
            </a:r>
            <a:endParaRPr lang="en-US" sz="3600" dirty="0" smtClean="0">
              <a:solidFill>
                <a:schemeClr val="tx1"/>
              </a:solidFill>
            </a:endParaRPr>
          </a:p>
          <a:p>
            <a:pPr algn="just"/>
            <a:endParaRPr 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Service coverage</a:t>
            </a:r>
            <a:b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</a:br>
            <a:endParaRPr lang="en-US" b="1" i="1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295401" y="2556932"/>
            <a:ext cx="9909628" cy="3318936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</a:rPr>
              <a:t>Comprehensive ( </a:t>
            </a:r>
            <a:r>
              <a:rPr lang="en-US" sz="3600" dirty="0" err="1" smtClean="0">
                <a:solidFill>
                  <a:schemeClr val="tx1"/>
                </a:solidFill>
              </a:rPr>
              <a:t>promotive</a:t>
            </a:r>
            <a:r>
              <a:rPr lang="en-US" sz="3600" dirty="0" smtClean="0">
                <a:solidFill>
                  <a:schemeClr val="tx1"/>
                </a:solidFill>
              </a:rPr>
              <a:t>, preventive , curative and rehabilitative).</a:t>
            </a:r>
          </a:p>
          <a:p>
            <a:r>
              <a:rPr lang="en-US" sz="3600" dirty="0" smtClean="0">
                <a:solidFill>
                  <a:schemeClr val="tx1"/>
                </a:solidFill>
              </a:rPr>
              <a:t>Complete the package of the services provided.</a:t>
            </a:r>
            <a:endParaRPr lang="en-US" sz="3600" dirty="0" smtClean="0">
              <a:solidFill>
                <a:schemeClr val="tx1"/>
              </a:solidFill>
            </a:endParaRPr>
          </a:p>
          <a:p>
            <a:r>
              <a:rPr lang="en-US" sz="3600" dirty="0" smtClean="0">
                <a:solidFill>
                  <a:schemeClr val="tx1"/>
                </a:solidFill>
              </a:rPr>
              <a:t>High quality patient centered- services.</a:t>
            </a:r>
            <a:r>
              <a:rPr lang="en-US" sz="3600" dirty="0" smtClean="0">
                <a:solidFill>
                  <a:schemeClr val="tx1"/>
                </a:solidFill>
              </a:rPr>
              <a:t> 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  <a:t>Financial risk protection</a:t>
            </a:r>
            <a:br>
              <a:rPr lang="en-US" b="1" i="1" dirty="0" smtClean="0">
                <a:solidFill>
                  <a:schemeClr val="tx1"/>
                </a:solidFill>
                <a:latin typeface="Arial Narrow" pitchFamily="34" charset="0"/>
              </a:rPr>
            </a:br>
            <a:endParaRPr lang="en-US" b="1" i="1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4000" dirty="0" smtClean="0">
                <a:solidFill>
                  <a:schemeClr val="tx1"/>
                </a:solidFill>
              </a:rPr>
              <a:t>Health insurance is a type of insurance that covers medical expenses that arise due to an illness. These expenses could be related to </a:t>
            </a:r>
            <a:r>
              <a:rPr lang="en-US" sz="4000" dirty="0" smtClean="0">
                <a:solidFill>
                  <a:schemeClr val="tx1"/>
                </a:solidFill>
              </a:rPr>
              <a:t>hospitalization </a:t>
            </a:r>
            <a:r>
              <a:rPr lang="en-US" sz="4000" dirty="0" smtClean="0">
                <a:solidFill>
                  <a:schemeClr val="tx1"/>
                </a:solidFill>
              </a:rPr>
              <a:t>costs, cost of medicines or doctor consultation fees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344229" y="2888344"/>
            <a:ext cx="3744685" cy="2336800"/>
          </a:xfrm>
        </p:spPr>
        <p:txBody>
          <a:bodyPr>
            <a:normAutofit/>
          </a:bodyPr>
          <a:lstStyle/>
          <a:p>
            <a:r>
              <a:rPr lang="en-US" sz="4800" b="1" i="1" dirty="0" smtClean="0">
                <a:solidFill>
                  <a:srgbClr val="FF0000"/>
                </a:solidFill>
                <a:latin typeface="Algerian" pitchFamily="82" charset="0"/>
              </a:rPr>
              <a:t>Comments</a:t>
            </a:r>
            <a:endParaRPr lang="en-US" sz="4800" b="1" i="1" dirty="0">
              <a:solidFill>
                <a:srgbClr val="FF0000"/>
              </a:solidFill>
              <a:latin typeface="Algerian" pitchFamily="82" charset="0"/>
            </a:endParaRPr>
          </a:p>
        </p:txBody>
      </p:sp>
      <p:pic>
        <p:nvPicPr>
          <p:cNvPr id="4" name="Content Placeholder 3" descr="0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75543" y="2757714"/>
            <a:ext cx="5297714" cy="2714172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 descr="Flag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486" y="914401"/>
            <a:ext cx="10174514" cy="4296228"/>
          </a:xfrm>
        </p:spPr>
      </p:pic>
      <p:sp>
        <p:nvSpPr>
          <p:cNvPr id="5" name="مستطيل 4"/>
          <p:cNvSpPr/>
          <p:nvPr/>
        </p:nvSpPr>
        <p:spPr>
          <a:xfrm>
            <a:off x="1219201" y="5036457"/>
            <a:ext cx="9477828" cy="1324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None/>
            </a:pPr>
            <a:r>
              <a:rPr lang="en-US" sz="9600" dirty="0" smtClean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423</TotalTime>
  <Words>412</Words>
  <Application>Microsoft Office PowerPoint</Application>
  <PresentationFormat>مخصص</PresentationFormat>
  <Paragraphs>47</Paragraphs>
  <Slides>14</Slides>
  <Notes>0</Notes>
  <HiddenSlides>0</HiddenSlides>
  <MMClips>0</MMClips>
  <ScaleCrop>false</ScaleCrop>
  <HeadingPairs>
    <vt:vector size="4" baseType="variant">
      <vt:variant>
        <vt:lpstr>سمة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Organic</vt:lpstr>
      <vt:lpstr>          </vt:lpstr>
      <vt:lpstr>Objectives</vt:lpstr>
      <vt:lpstr>   What Does UHC Means  </vt:lpstr>
      <vt:lpstr>What Does UHC Means</vt:lpstr>
      <vt:lpstr>Universal Health Coverage</vt:lpstr>
      <vt:lpstr>Universal Health Coverage</vt:lpstr>
      <vt:lpstr>SDG3 Target3.8</vt:lpstr>
      <vt:lpstr>Objective of Universal Health Coverage</vt:lpstr>
      <vt:lpstr>Dimensions Of Universal Health Coverage</vt:lpstr>
      <vt:lpstr>population coverage(equity) </vt:lpstr>
      <vt:lpstr>Service coverage </vt:lpstr>
      <vt:lpstr>Financial risk protection </vt:lpstr>
      <vt:lpstr>Comments</vt:lpstr>
      <vt:lpstr>الشريحة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assessment</dc:title>
  <dc:creator>DELL</dc:creator>
  <cp:lastModifiedBy>hp</cp:lastModifiedBy>
  <cp:revision>79</cp:revision>
  <dcterms:created xsi:type="dcterms:W3CDTF">2021-07-18T01:47:15Z</dcterms:created>
  <dcterms:modified xsi:type="dcterms:W3CDTF">2022-10-13T06:52:30Z</dcterms:modified>
</cp:coreProperties>
</file>