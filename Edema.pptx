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84" r:id="rId2"/>
    <p:sldId id="290" r:id="rId3"/>
    <p:sldId id="311" r:id="rId4"/>
    <p:sldId id="285" r:id="rId5"/>
    <p:sldId id="312" r:id="rId6"/>
    <p:sldId id="287" r:id="rId7"/>
    <p:sldId id="302" r:id="rId8"/>
    <p:sldId id="288" r:id="rId9"/>
    <p:sldId id="286" r:id="rId10"/>
    <p:sldId id="289" r:id="rId11"/>
    <p:sldId id="295" r:id="rId12"/>
    <p:sldId id="304" r:id="rId13"/>
    <p:sldId id="291" r:id="rId14"/>
    <p:sldId id="292" r:id="rId15"/>
    <p:sldId id="294" r:id="rId16"/>
    <p:sldId id="305" r:id="rId17"/>
    <p:sldId id="306" r:id="rId18"/>
    <p:sldId id="307" r:id="rId19"/>
    <p:sldId id="308" r:id="rId20"/>
    <p:sldId id="29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1B91B4F-0416-469D-BADC-DCFEAA76AA91}" type="datetimeFigureOut">
              <a:rPr lang="ar-SA" smtClean="0"/>
              <a:t>15/04/1446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0030F9A-1656-47AE-B74A-F4AD29D57D4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3727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</a:t>
            </a:fld>
            <a:endParaRPr lang="ar-S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</a:t>
            </a:fld>
            <a:endParaRPr lang="ar-S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4</a:t>
            </a:fld>
            <a:endParaRPr lang="ar-S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6</a:t>
            </a:fld>
            <a:endParaRPr lang="ar-S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8</a:t>
            </a:fld>
            <a:endParaRPr lang="ar-S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9</a:t>
            </a:fld>
            <a:endParaRPr lang="ar-S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10</a:t>
            </a:fld>
            <a:endParaRPr lang="ar-S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11</a:t>
            </a:fld>
            <a:endParaRPr lang="ar-S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13</a:t>
            </a:fld>
            <a:endParaRPr lang="ar-S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14</a:t>
            </a:fld>
            <a:endParaRPr lang="ar-S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15</a:t>
            </a:fld>
            <a:endParaRPr lang="ar-S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20</a:t>
            </a:fld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Combinpedal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TNnSEKq4l7A/T6FAj0bdwAI/AAAAAAAAJ8c/2HRQbzTqN1k/s1600/Wuchereria_bancrofti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718" y="457200"/>
            <a:ext cx="8229600" cy="533400"/>
          </a:xfrm>
        </p:spPr>
        <p:txBody>
          <a:bodyPr>
            <a:noAutofit/>
          </a:bodyPr>
          <a:lstStyle/>
          <a:p>
            <a:pPr algn="ctr"/>
            <a:r>
              <a:rPr lang="en-GB" sz="4000" dirty="0" smtClean="0">
                <a:solidFill>
                  <a:schemeClr val="accent1">
                    <a:lumMod val="75000"/>
                  </a:schemeClr>
                </a:solidFill>
              </a:rPr>
              <a:t>Oedema ( Edema) </a:t>
            </a:r>
            <a:endParaRPr lang="en-GB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143000"/>
            <a:ext cx="8077200" cy="4724400"/>
          </a:xfrm>
        </p:spPr>
        <p:txBody>
          <a:bodyPr>
            <a:normAutofit/>
          </a:bodyPr>
          <a:lstStyle/>
          <a:p>
            <a:pPr marL="514350" indent="-514350">
              <a:buFont typeface="Wingdings" pitchFamily="2" charset="2"/>
              <a:buChar char="v"/>
            </a:pPr>
            <a:endParaRPr lang="en-GB" b="1" dirty="0" smtClean="0"/>
          </a:p>
          <a:p>
            <a:pPr marL="514350" indent="-514350">
              <a:buFont typeface="Wingdings" pitchFamily="2" charset="2"/>
              <a:buChar char="v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is the abnormal accumulation of fluid in the interstitial space</a:t>
            </a:r>
            <a:endParaRPr lang="ar-JO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is an abnormal increase in the ISF volume</a:t>
            </a:r>
          </a:p>
          <a:p>
            <a:pPr marL="514350" indent="-514350">
              <a:buNone/>
            </a:pPr>
            <a:endParaRPr lang="en-GB" dirty="0"/>
          </a:p>
        </p:txBody>
      </p:sp>
      <p:sp>
        <p:nvSpPr>
          <p:cNvPr id="6146" name="AutoShape 2" descr="data:image/jpeg;base64,/9j/4AAQSkZJRgABAQAAAQABAAD/2wCEAAkGBxQTEhUUExQUFhUXFxgXFxcXFxcYGhcXFxQYFxgXGBgcHCggHB0lHBQXITEiJSkrLi4uFx8zODMsNygtLiwBCgoKDg0OGhAQFywcHCQsLCwsLCwsLCwsLCwsLCwsLCwsLCwsLCwsLCwsLCwsLCwsLCwsLCwsLCwsLCwsLCwsLP/AABEIAN4A4wMBIgACEQEDEQH/xAAbAAACAwEBAQAAAAAAAAAAAAADBAIFBgABB//EADgQAAIBAgMFBgUDAwQDAAAAAAABAgMRBCExBRJBUWFxgZGhsfAGIjLB4RNy0SNS8RQzQmIVFkP/xAAZAQADAQEBAAAAAAAAAAAAAAABAgQAAwX/xAAgEQEBAAIDAQADAQEAAAAAAAAAAQIRAyExEhMyQWFR/9oADAMBAAIRAxEAPwDVSiytx9PNFnvpaie0bWTuNa0ZvaH1AYhdpfX4AIMmy9dsfBYL34BP1dxXfvU6ml799QrpJ2TzBB0jObdmlqePkGRFuzNWBlEFuZjUUQlTFEKVM0Wyv9qPYUEkX2xnemul15nXivbnmdsUO118z7C/sUu2I/N3Heki7w8fkj+2PoiFaGQSi8le+i9CTaejMDP4hWT7ymi+Bd4/6ZZlFHU4cldcRUglOIOmxmkvfM5yn09hic3G2ZCL6aOwWNKKd+PE56GDQTTsBnEZb0R5KOQol4Ux7YsbVe5+qFoxG9kf7q7H78hsL2GXi/FdpL+mxywttFfIypxZuaz4nE5I4UzU3zAY+CsshmnHMBtLgNSsltSfzP3wF6UxnaUfmYtQJcvXeeGaVx2nLISpy5BoriCG0YTXmQlHMHGWZKEw7KYsBmgsZXI1AVgpRLXYMspLk0/Ffgqmyx+Hc5TWei4X4/kfj/Yufi6KjbMc12FzudfJoq9sR0+2ZTXKLFSyXd6HqinmRUcl3B2vlYrM3tRJRl74lA6mZfbUV4v3xKBrM4cnrtgPCVxvDisLB4q+RyOblJZEZJA2vfU9jwzGBOmj2aOg0eyYGBQTBO1SH7reOX3IMjvWlF9V6mnVCtYL45fJLsG/0nyF8YvkfYWODNSjmcFcTwQzVwy4CG1LZe0WUpdPQrdqR0GpYzO01nkIRdiz2lErETZ+qMPDNInN8Lg6T8D2rDMSHDnVtxJUqwjip2B0KzuDbaX1OqFkK4XS4xKQxdBVGP8Aw5L+pL9v3RWVJFh8Of7r/a/VDYftC5+NPFv/AAJbWzjnwY+hTaUbwKnAxCOnE9rtbr4BYtWXYgWIfyvUDM5j18r7igms3yL/ABUMnpkijqLMn5HbB1OQzTFY8w8Ve5yjqnKXUgqxGpkhF1HczaW9KYVO4nhXfIc0CCMgDlmu37hKjF97NdpgsbhJcl4L7HVknFrpzZKmro6osmWJ2bdNHpOcc3kzhDLLZW1oV7qN01qna/3yCbRg7e9TCYSrKjNTpuzXmuKZtaO0I1qO9o1lJPg/4Fw5Pqavp+Xj+bueKPaEcimky8xVaO689SpcVq33HPksdOPGvaAaqmIV6zWhBY/LM47dvx/0VSUX165+QWrjIyTT03b58GuRQYvHZ6lnsbCVKlnK8YXTtxly7gyU91Iu6FN7qJVRtUhetkMnJzRY/Da/qNlbWZa/D1PPNXux+P8AZzz8aiwtj4/I9RrPqDxMbxaKnBKN0ss9CNWLsw8I6dn2JSWQGZfFxvqUOIVmaXEr5miix0fmZx5J064UlHUbpRYtDUZpxvkTu8gGIpOTsn4A6ezdW+PtZFrTpbrzQSfCw00JTC0bR5vrxCyQwoe+0HVMUpMHSV5xXVBKrPMCr1F0zBPQy8bemskSmtSOH+nW4TgWpmfqRzf8nBKtPN5cTgGZTjYkqiu0JPE5ti2Jxrz6tEGl86WFfEpIq62P1zFcRiXJ2V23kratjdTYsoRUqrtdX3Vw7X/A+OF9C5yEa+N6i0MRKT3Y+IKtG7stC12NhM10H1IX6q92J8NqKU55yaur8maF2hBtZ7q4FdTrOwxQxLQLYTVEjirwTatfgKVZ3C1q1xOtKyb1FtZ5UkX2w4Way4FBSe811NRsWGZ14o48i53uf2OkSsc0vf8ABS4jKJGfYFnG3LwAVb8QMotoK0vsUmPhx5l9tN3adytxtL5X0t+TnlOnTFRqFhijKwKazORJVMXFJprMIorhyK2FSyCUqtnzGlbQkcXFtxWq16A6ssict27aSu9WKzNWQqMY2VD5riTmne3Mt9kQ0G4+655+NTTtZE7HJcOh277zK06vr4b5mcNzou/4X8nGZ8hnWSFoyc5KMVeTyXvgAjeTsrts1Gx8CqKu/razfTkiXDDazPPUG2Ts6FBpytKo9ZcF0j/JP4qlalFpZXa8vwDrVrTWo3tlKeFmuKSku539Lnf+aT773WEpwuzRbOhZFLgqeZocMtCfN3iwpIPAFhxmMBBActQTDTjZgpoxalgad5o1ex6eRQ7Koau18vU1ez6NoLIq4p04Z3sWx5KHu4V04kf0eT8jq5iVqlmKSlfl6f5OxMXvSz4shTpN8PfiBgMfBW0WXIrsRD5JZcH6F7Xw3yibpJJ37xbDSsXUIxYXEwtJrk2DiiLKKpTFIKo55g6CzGNzPIBg6zQCbD1lxATQQoDp55Gm2RS+ZLkl6FHgqW9Ncrms2RQ1dzvwz+uHJT55YK6TIuMlwuUOQfh4HEt7ocZnxrZSUfm48OhcQrNieFwfgW1GgkJI6ZZbpd0bnscVluvqn6FhCCKLar3ZmvRYSjTSk7aJlrhmUtOpeTLXBO3En5HfG9LehFh0xejIaizlsyEgFw02AQZ2FXOzJ2subNZSrKxisDffVuXK5f0q/d5FuHibL1db6PJJCNLFLncYhWTHKJOnm9dX6hKcQUp5t9WerEx4sDGJK6KbGO2RYyxcea8Sp2nVz4eIKMZza1G0m/7s+8QiWW1pprLgVEG76kvLNV3wpqnqMxkL058hhO5x26oylcXmMTYrN5m2Cw2TZO75GwwCiorzMThpaLm0afDYjJa9l7lnH4nz9XCijtzkxSlVDxkdSJXfXxOPUcZnzajSGIxCQgF3X1MwcIlL8QUdGX1m/f4E9p4dyiCjGQoUWpXLLCuw9UwaVNvoVUE+BPzR2wq8pTuMwkyvwVPs9RxwJHQRtg3qSzR7TzlHtXqNh6GTQ7PoJt9MtRqpg3fIPsqjFJvqWDsj0olZ+eEqcANSdaOe6zSyAzXPzNptk51G+LTPISel392FrfW+16crhKUXzZgdTp9W/UBtNLd0HVfp77hfF0W1/LNWjMYqjdSdlknaxTWzNhUgknf/ADkYutdPIm5507cZuEkGjUEcPB+2OOLXEj27pymBmyV2up5N37Q43tqtdnYXeUOy+hZ1aLX4/wAHbEwuj/6r0uXf6KR6WM6SW9s7OrKPPzZ7Ha1vz5l/KlHkLVcLB6peAdNsgtsdvkcFlsik3p6HB03SjUfeR40T7zwJUFwGo0Lp3B0I5ltTjZX6GZldqy3YtdCghrkWe2a15W9+8xbD0Cbmd+PwXDU3xb7h6NJHuHpKw5CxL8uuyUodpGm7NMsGkxKvStmtAydltaLZtae7bhy7ywVNsBsh3pR9R/dPRniaoWlzZJN8TxvtOCCU4/M+ObJxR07XfAlF9TM65KWaPUeyllw8DMzW16+6mu3l7/wZavLPLUtNu4jeqW68PH7CEKRLzf8AHfjgVKMudvMbVLLOT99wSjQQzCCJNOuyUo24gmizlBMRxFG2aDMW20OycY0tNePYiz/Vkyu+H4p007Z3Zb7p6OPiW+o/ry6d5L9S/Q8v2HX5pDA6/TyZxHvPTMzafUjc9TByQQWOBphdp1tym/Q7BRskU3xBi75GrRn6mcm3rcZpAHDnrr4k3ck5PVGPh2Fa3Un+q+ArGSCxkcNnGhcM1dWBxdiM5jSte2l2N9CS4IsN5lLsCrdNXz+xdJl2N3E16rt5nSl2nm/0R5fsGKZk83wzJQkiMtX2njZgHiJbTxO7B5h3Ky95GY+I8Zla+XqCjFD9VSUnw+/tjEAVKFo3esncnvciXk9UYGFO38HksR0AKXPxO3ie100L+owiIQOnU8QytYv9gLdp26v1yLVT6FB8PYhtyj3l92l3Hd4xNl1XX6HOfYeXXU896DleO3tnHb3uxxmZts9pRuyO6mGw1PO4Sn6k92GvAy+Oqb0rcy52nVytd9lypwULycvPj1BRhLEP52uWXgiW8kI16t5N8234slTk2SZ3tTjOjO9d8RuikIqfWwajW6ruORlgxd6g3XJ02gbYbCYmVOSlHhw4NcmavBYqFVXWT4rin74mQD4TEOElJd65rijtx8lxv+Ezxla9o5sDGd0nfJq67z3eyLE5ypNXeZyfu55J5sG7ckYEcZW3Yt3Mbj6znJIvNsV8rZrpcpcDC8nLMWmiOLlZpckD30B2jVvOVudvBWAQbJOTLt3xnRlzuFppCn6nWx7Cvna6ONdFmgFXUC8ScpX1BthaNaUJKUXmjV7Pxsaqurp8Y8vwZJhMNWcJKUXZr3bsO3HyXG/4TLD6bJnXF8Nit+KkuK8OaCKZbLtOImjgbl2nBZQbozh1YX07As52TCVX7SqXdrkab/TpN8lfyBVHeffn7sLbWxD+hLgmznllqbNjN3SuhmsiVOMm3HX7B8JhrpNuy95kaDzaTsm9Vm32EnzVUgE6NpW4vnwHKWGVubF69NRkm29OOuozQrJ5IWzTaBr1N1+gWjK/ErsXJuru/wBqv46eg9QYLGNpnimeKouIPezDIFrX7LqXpQ/aNoT2YrU4ftXmNtl+PkS301V1egCpKy5E67s3bnoIYytZMIKbatW7te/u5LBR3Y8RSo96fTrcljqrUUlrLLusJbqbPJvpWSqucpWyzbu+oO0lJJO/PsDYeF/qds87cyE2lUyeSSu3wI7Le1EgOJo7uer0zD0aMeOYHHU1ZPeeq1458jqOI4WFs0bQmIluq/A6jVuK7XbtGK/5Pwtn9gtCSQLix5M7fIRrLieSlnkaQK03w/UvTa5Sdu9ItEVHw6v6b6yfoi3bL+P9Ymy9c5nEJTPBiqiJHEyyPKbA4mQQLUfqK3bFRxqNPJOK9C2wscxP4gwTklNLRWf2Eym4fC6qs/1dovPsJYeefQqtySduHUNSlKN7+Rx+VE5Is6FpTba45J+BYzpZ6JLjoVODrq1+lg9bF7ytHTj1EynQ72hDDqU5S56diGp4NW1aZPBLK9j3E1UCMrvmTt7Y5TjdZ5X8jqct5J9bLrz+x2Jn/wAVrohpj/SWtbQqWSS0Ssu4lKbert6iuHlZIlWq5cCuJ1jWlmysx9UarTzZU42ZqBWhnIU+IKrhuPo9O4ewsAG3sLvwus7a9nPyEynR8bqs7DHcbnlHFOS6tu5W1aTTy7+w9hGUX01OPyo/IuFWTlHkvNss97eS0RnMHitVxv79B2GKcrrhx5sS49aH62dnTU5J8Fp1b4jTwsbZoDgbvinbqHxFVrVC+MQr0Wnlp6B8PHmdSnfevkvV8gtWqopdUNJPS2tJsdqFKPj45/juGqlZvTLqVux8qUb62b8W2g1eqVY+RPfXkqj/ALj0UlWOCwthasrjUgM0NSo4eI3ukKMRpRMytxGx6U+G6+ccvLQQqfDT4VFbrHP1NJGASNNC/MHdZFfDdv8A6PuX5EcVRdGe7e61T5+2bOtRzEsbs2FRfN3NaoFwhsc7KoKe0Gla+XcyFXaCf/FDz+GuVR26r8haPw9BZybl5I5/j3/HS8kUyxEpNKK7Ei22dhrS355y4Ll+R3/SxirRSVuRFUUPMNOdz2tKLTWgLE01wBUMrDE3dDlHxEiqr8ffEssUs2V8ldo1BGhEYcWRpxCtAFX4rZlKd96KvzWT8isrfDP9tTL/ALRu/FP7GkigkaaYPmDusd/6tZ51O35fyL7Q2Z+hHejJyTeeWhrqtNXA1sKmmmk09UwXGDMrKxlPE+2M/wDkZaXZbz+HaTeW9Hon/ISjsCkrXvLteXkJ8V0/JFKsTKTss+iLbZuz22pVXppH+f4Hlhor6VbsPVR6jTCEudq0UE1xEq0XzC0Klsme4yncchFrqcQcGeAZ/9k="/>
          <p:cNvSpPr>
            <a:spLocks noChangeAspect="1" noChangeArrowheads="1"/>
          </p:cNvSpPr>
          <p:nvPr/>
        </p:nvSpPr>
        <p:spPr bwMode="auto">
          <a:xfrm>
            <a:off x="1174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2" descr="data:image/jpeg;base64,/9j/4AAQSkZJRgABAQAAAQABAAD/2wCEAAkGBxQTEhUUExQUFhUXFxgXFxcXFxcYGhcXFxQYFxgXGBgcHCggHB0lHBQXITEiJSkrLi4uFx8zODMsNygtLiwBCgoKDg0OGhAQFywcHCQsLCwsLCwsLCwsLCwsLCwsLCwsLCwsLCwsLCwsLCwsLCwsLCwsLCwsLCwsLCwsLCwsLP/AABEIAN4A4wMBIgACEQEDEQH/xAAbAAACAwEBAQAAAAAAAAAAAAADBAIFBgABB//EADgQAAIBAgMFBgUDAwQDAAAAAAABAgMRBCExBRJBUWFxgZGhsfAGIjLB4RNy0SNS8RQzQmIVFkP/xAAZAQADAQEBAAAAAAAAAAAAAAABAgQAAwX/xAAgEQEBAAIDAQADAQEAAAAAAAAAAQIRAyExEhMyQWFR/9oADAMBAAIRAxEAPwDVSiytx9PNFnvpaie0bWTuNa0ZvaH1AYhdpfX4AIMmy9dsfBYL34BP1dxXfvU6ml799QrpJ2TzBB0jObdmlqePkGRFuzNWBlEFuZjUUQlTFEKVM0Wyv9qPYUEkX2xnemul15nXivbnmdsUO118z7C/sUu2I/N3Heki7w8fkj+2PoiFaGQSi8le+i9CTaejMDP4hWT7ymi+Bd4/6ZZlFHU4cldcRUglOIOmxmkvfM5yn09hic3G2ZCL6aOwWNKKd+PE56GDQTTsBnEZb0R5KOQol4Ux7YsbVe5+qFoxG9kf7q7H78hsL2GXi/FdpL+mxywttFfIypxZuaz4nE5I4UzU3zAY+CsshmnHMBtLgNSsltSfzP3wF6UxnaUfmYtQJcvXeeGaVx2nLISpy5BoriCG0YTXmQlHMHGWZKEw7KYsBmgsZXI1AVgpRLXYMspLk0/Ffgqmyx+Hc5TWei4X4/kfj/Yufi6KjbMc12FzudfJoq9sR0+2ZTXKLFSyXd6HqinmRUcl3B2vlYrM3tRJRl74lA6mZfbUV4v3xKBrM4cnrtgPCVxvDisLB4q+RyOblJZEZJA2vfU9jwzGBOmj2aOg0eyYGBQTBO1SH7reOX3IMjvWlF9V6mnVCtYL45fJLsG/0nyF8YvkfYWODNSjmcFcTwQzVwy4CG1LZe0WUpdPQrdqR0GpYzO01nkIRdiz2lErETZ+qMPDNInN8Lg6T8D2rDMSHDnVtxJUqwjip2B0KzuDbaX1OqFkK4XS4xKQxdBVGP8Aw5L+pL9v3RWVJFh8Of7r/a/VDYftC5+NPFv/AAJbWzjnwY+hTaUbwKnAxCOnE9rtbr4BYtWXYgWIfyvUDM5j18r7igms3yL/ABUMnpkijqLMn5HbB1OQzTFY8w8Ve5yjqnKXUgqxGpkhF1HczaW9KYVO4nhXfIc0CCMgDlmu37hKjF97NdpgsbhJcl4L7HVknFrpzZKmro6osmWJ2bdNHpOcc3kzhDLLZW1oV7qN01qna/3yCbRg7e9TCYSrKjNTpuzXmuKZtaO0I1qO9o1lJPg/4Fw5Pqavp+Xj+bueKPaEcimky8xVaO689SpcVq33HPksdOPGvaAaqmIV6zWhBY/LM47dvx/0VSUX165+QWrjIyTT03b58GuRQYvHZ6lnsbCVKlnK8YXTtxly7gyU91Iu6FN7qJVRtUhetkMnJzRY/Da/qNlbWZa/D1PPNXux+P8AZzz8aiwtj4/I9RrPqDxMbxaKnBKN0ss9CNWLsw8I6dn2JSWQGZfFxvqUOIVmaXEr5miix0fmZx5J064UlHUbpRYtDUZpxvkTu8gGIpOTsn4A6ezdW+PtZFrTpbrzQSfCw00JTC0bR5vrxCyQwoe+0HVMUpMHSV5xXVBKrPMCr1F0zBPQy8bemskSmtSOH+nW4TgWpmfqRzf8nBKtPN5cTgGZTjYkqiu0JPE5ti2Jxrz6tEGl86WFfEpIq62P1zFcRiXJ2V23kratjdTYsoRUqrtdX3Vw7X/A+OF9C5yEa+N6i0MRKT3Y+IKtG7stC12NhM10H1IX6q92J8NqKU55yaur8maF2hBtZ7q4FdTrOwxQxLQLYTVEjirwTatfgKVZ3C1q1xOtKyb1FtZ5UkX2w4Way4FBSe811NRsWGZ14o48i53uf2OkSsc0vf8ABS4jKJGfYFnG3LwAVb8QMotoK0vsUmPhx5l9tN3adytxtL5X0t+TnlOnTFRqFhijKwKazORJVMXFJprMIorhyK2FSyCUqtnzGlbQkcXFtxWq16A6ssict27aSu9WKzNWQqMY2VD5riTmne3Mt9kQ0G4+655+NTTtZE7HJcOh277zK06vr4b5mcNzou/4X8nGZ8hnWSFoyc5KMVeTyXvgAjeTsrts1Gx8CqKu/razfTkiXDDazPPUG2Ts6FBpytKo9ZcF0j/JP4qlalFpZXa8vwDrVrTWo3tlKeFmuKSku539Lnf+aT773WEpwuzRbOhZFLgqeZocMtCfN3iwpIPAFhxmMBBActQTDTjZgpoxalgad5o1ex6eRQ7Koau18vU1ez6NoLIq4p04Z3sWx5KHu4V04kf0eT8jq5iVqlmKSlfl6f5OxMXvSz4shTpN8PfiBgMfBW0WXIrsRD5JZcH6F7Xw3yibpJJ37xbDSsXUIxYXEwtJrk2DiiLKKpTFIKo55g6CzGNzPIBg6zQCbD1lxATQQoDp55Gm2RS+ZLkl6FHgqW9Ncrms2RQ1dzvwz+uHJT55YK6TIuMlwuUOQfh4HEt7ocZnxrZSUfm48OhcQrNieFwfgW1GgkJI6ZZbpd0bnscVluvqn6FhCCKLar3ZmvRYSjTSk7aJlrhmUtOpeTLXBO3En5HfG9LehFh0xejIaizlsyEgFw02AQZ2FXOzJ2subNZSrKxisDffVuXK5f0q/d5FuHibL1db6PJJCNLFLncYhWTHKJOnm9dX6hKcQUp5t9WerEx4sDGJK6KbGO2RYyxcea8Sp2nVz4eIKMZza1G0m/7s+8QiWW1pprLgVEG76kvLNV3wpqnqMxkL058hhO5x26oylcXmMTYrN5m2Cw2TZO75GwwCiorzMThpaLm0afDYjJa9l7lnH4nz9XCijtzkxSlVDxkdSJXfXxOPUcZnzajSGIxCQgF3X1MwcIlL8QUdGX1m/f4E9p4dyiCjGQoUWpXLLCuw9UwaVNvoVUE+BPzR2wq8pTuMwkyvwVPs9RxwJHQRtg3qSzR7TzlHtXqNh6GTQ7PoJt9MtRqpg3fIPsqjFJvqWDsj0olZ+eEqcANSdaOe6zSyAzXPzNptk51G+LTPISel392FrfW+16crhKUXzZgdTp9W/UBtNLd0HVfp77hfF0W1/LNWjMYqjdSdlknaxTWzNhUgknf/ADkYutdPIm5507cZuEkGjUEcPB+2OOLXEj27pymBmyV2up5N37Q43tqtdnYXeUOy+hZ1aLX4/wAHbEwuj/6r0uXf6KR6WM6SW9s7OrKPPzZ7Ha1vz5l/KlHkLVcLB6peAdNsgtsdvkcFlsik3p6HB03SjUfeR40T7zwJUFwGo0Lp3B0I5ltTjZX6GZldqy3YtdCghrkWe2a15W9+8xbD0Cbmd+PwXDU3xb7h6NJHuHpKw5CxL8uuyUodpGm7NMsGkxKvStmtAydltaLZtae7bhy7ywVNsBsh3pR9R/dPRniaoWlzZJN8TxvtOCCU4/M+ObJxR07XfAlF9TM65KWaPUeyllw8DMzW16+6mu3l7/wZavLPLUtNu4jeqW68PH7CEKRLzf8AHfjgVKMudvMbVLLOT99wSjQQzCCJNOuyUo24gmizlBMRxFG2aDMW20OycY0tNePYiz/Vkyu+H4p007Z3Zb7p6OPiW+o/ry6d5L9S/Q8v2HX5pDA6/TyZxHvPTMzafUjc9TByQQWOBphdp1tym/Q7BRskU3xBi75GrRn6mcm3rcZpAHDnrr4k3ck5PVGPh2Fa3Un+q+ArGSCxkcNnGhcM1dWBxdiM5jSte2l2N9CS4IsN5lLsCrdNXz+xdJl2N3E16rt5nSl2nm/0R5fsGKZk83wzJQkiMtX2njZgHiJbTxO7B5h3Ky95GY+I8Zla+XqCjFD9VSUnw+/tjEAVKFo3esncnvciXk9UYGFO38HksR0AKXPxO3ie100L+owiIQOnU8QytYv9gLdp26v1yLVT6FB8PYhtyj3l92l3Hd4xNl1XX6HOfYeXXU896DleO3tnHb3uxxmZts9pRuyO6mGw1PO4Sn6k92GvAy+Oqb0rcy52nVytd9lypwULycvPj1BRhLEP52uWXgiW8kI16t5N8234slTk2SZ3tTjOjO9d8RuikIqfWwajW6ruORlgxd6g3XJ02gbYbCYmVOSlHhw4NcmavBYqFVXWT4rin74mQD4TEOElJd65rijtx8lxv+Ezxla9o5sDGd0nfJq67z3eyLE5ypNXeZyfu55J5sG7ckYEcZW3Yt3Mbj6znJIvNsV8rZrpcpcDC8nLMWmiOLlZpckD30B2jVvOVudvBWAQbJOTLt3xnRlzuFppCn6nWx7Cvna6ONdFmgFXUC8ScpX1BthaNaUJKUXmjV7Pxsaqurp8Y8vwZJhMNWcJKUXZr3bsO3HyXG/4TLD6bJnXF8Nit+KkuK8OaCKZbLtOImjgbl2nBZQbozh1YX07As52TCVX7SqXdrkab/TpN8lfyBVHeffn7sLbWxD+hLgmznllqbNjN3SuhmsiVOMm3HX7B8JhrpNuy95kaDzaTsm9Vm32EnzVUgE6NpW4vnwHKWGVubF69NRkm29OOuozQrJ5IWzTaBr1N1+gWjK/ErsXJuru/wBqv46eg9QYLGNpnimeKouIPezDIFrX7LqXpQ/aNoT2YrU4ftXmNtl+PkS301V1egCpKy5E67s3bnoIYytZMIKbatW7te/u5LBR3Y8RSo96fTrcljqrUUlrLLusJbqbPJvpWSqucpWyzbu+oO0lJJO/PsDYeF/qds87cyE2lUyeSSu3wI7Le1EgOJo7uer0zD0aMeOYHHU1ZPeeq1458jqOI4WFs0bQmIluq/A6jVuK7XbtGK/5Pwtn9gtCSQLix5M7fIRrLieSlnkaQK03w/UvTa5Sdu9ItEVHw6v6b6yfoi3bL+P9Ymy9c5nEJTPBiqiJHEyyPKbA4mQQLUfqK3bFRxqNPJOK9C2wscxP4gwTklNLRWf2Eym4fC6qs/1dovPsJYeefQqtySduHUNSlKN7+Rx+VE5Is6FpTba45J+BYzpZ6JLjoVODrq1+lg9bF7ytHTj1EynQ72hDDqU5S56diGp4NW1aZPBLK9j3E1UCMrvmTt7Y5TjdZ5X8jqct5J9bLrz+x2Jn/wAVrohpj/SWtbQqWSS0Ssu4lKbert6iuHlZIlWq5cCuJ1jWlmysx9UarTzZU42ZqBWhnIU+IKrhuPo9O4ewsAG3sLvwus7a9nPyEynR8bqs7DHcbnlHFOS6tu5W1aTTy7+w9hGUX01OPyo/IuFWTlHkvNss97eS0RnMHitVxv79B2GKcrrhx5sS49aH62dnTU5J8Fp1b4jTwsbZoDgbvinbqHxFVrVC+MQr0Wnlp6B8PHmdSnfevkvV8gtWqopdUNJPS2tJsdqFKPj45/juGqlZvTLqVux8qUb62b8W2g1eqVY+RPfXkqj/ALj0UlWOCwthasrjUgM0NSo4eI3ukKMRpRMytxGx6U+G6+ccvLQQqfDT4VFbrHP1NJGASNNC/MHdZFfDdv8A6PuX5EcVRdGe7e61T5+2bOtRzEsbs2FRfN3NaoFwhsc7KoKe0Gla+XcyFXaCf/FDz+GuVR26r8haPw9BZybl5I5/j3/HS8kUyxEpNKK7Ei22dhrS355y4Ll+R3/SxirRSVuRFUUPMNOdz2tKLTWgLE01wBUMrDE3dDlHxEiqr8ffEssUs2V8ldo1BGhEYcWRpxCtAFX4rZlKd96KvzWT8isrfDP9tTL/ALRu/FP7GkigkaaYPmDusd/6tZ51O35fyL7Q2Z+hHejJyTeeWhrqtNXA1sKmmmk09UwXGDMrKxlPE+2M/wDkZaXZbz+HaTeW9Hon/ISjsCkrXvLteXkJ8V0/JFKsTKTss+iLbZuz22pVXppH+f4Hlhor6VbsPVR6jTCEudq0UE1xEq0XzC0Klsme4yncchFrqcQcGeAZ/9k="/>
          <p:cNvSpPr>
            <a:spLocks noChangeAspect="1" noChangeArrowheads="1"/>
          </p:cNvSpPr>
          <p:nvPr/>
        </p:nvSpPr>
        <p:spPr bwMode="auto">
          <a:xfrm>
            <a:off x="1174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4038" name="AutoShape 6" descr="Combinpedal.jpg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155575" y="-982663"/>
            <a:ext cx="2095500" cy="20574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81000" y="4953000"/>
            <a:ext cx="472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Pitting oedema (Pitting test)</a:t>
            </a:r>
            <a:endParaRPr lang="en-GB" sz="2000" b="1" dirty="0"/>
          </a:p>
        </p:txBody>
      </p:sp>
      <p:pic>
        <p:nvPicPr>
          <p:cNvPr id="44040" name="Picture 8" descr="http://upload.wikimedia.org/wikipedia/commons/thumb/8/84/Combinpedal.jpg/800px-Combinpeda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0999" y="1066800"/>
            <a:ext cx="3239131" cy="3733800"/>
          </a:xfrm>
          <a:prstGeom prst="rect">
            <a:avLst/>
          </a:prstGeom>
          <a:noFill/>
        </p:spPr>
      </p:pic>
      <p:pic>
        <p:nvPicPr>
          <p:cNvPr id="44042" name="Picture 10" descr="http://upload.wikimedia.org/wikipedia/commons/6/6c/MyParonychi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1066800"/>
            <a:ext cx="4705350" cy="165735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038600" y="2895600"/>
            <a:ext cx="472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local oedema due to inflammation</a:t>
            </a:r>
            <a:endParaRPr lang="en-GB" sz="2000" b="1" dirty="0"/>
          </a:p>
        </p:txBody>
      </p:sp>
      <p:pic>
        <p:nvPicPr>
          <p:cNvPr id="44044" name="Picture 12" descr="http://upload.wikimedia.org/wikipedia/commons/thumb/a/ad/Gezichtsoedeem.jpg/1024px-Gezichtsoedeem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58420" y="3505200"/>
            <a:ext cx="3797058" cy="259080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686300" y="6291612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Patient with renal disease</a:t>
            </a:r>
            <a:endParaRPr lang="en-GB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82648"/>
            <a:ext cx="5638800" cy="6019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857013" y="0"/>
            <a:ext cx="35092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Causes of </a:t>
            </a:r>
            <a:r>
              <a:rPr lang="en-US" sz="3200" dirty="0" smtClean="0">
                <a:solidFill>
                  <a:srgbClr val="FF0000"/>
                </a:solidFill>
              </a:rPr>
              <a:t>edema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04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"/>
            <a:ext cx="8153400" cy="6477000"/>
          </a:xfrm>
        </p:spPr>
        <p:txBody>
          <a:bodyPr>
            <a:normAutofit fontScale="85000" lnSpcReduction="20000"/>
          </a:bodyPr>
          <a:lstStyle/>
          <a:p>
            <a:pPr marL="514350" indent="-514350" algn="ctr">
              <a:buNone/>
            </a:pPr>
            <a:endParaRPr lang="en-GB" b="1" dirty="0" smtClean="0"/>
          </a:p>
          <a:p>
            <a:pPr marL="514350" indent="-514350"/>
            <a:r>
              <a:rPr lang="en-GB" sz="38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Causes of </a:t>
            </a:r>
            <a:r>
              <a:rPr lang="en-GB" sz="3800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edema</a:t>
            </a:r>
            <a:r>
              <a:rPr lang="en-GB" sz="38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can be Classified into four main categories: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1- </a:t>
            </a:r>
            <a:r>
              <a:rPr lang="en-GB" sz="4100" dirty="0" smtClean="0">
                <a:latin typeface="Times New Roman" pitchFamily="18" charset="0"/>
                <a:cs typeface="Times New Roman" pitchFamily="18" charset="0"/>
              </a:rPr>
              <a:t>Increased capillary hydrostatic pressure</a:t>
            </a:r>
            <a:endParaRPr lang="ar-JO" sz="4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4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sz="4100" dirty="0" smtClean="0">
                <a:latin typeface="Times New Roman" pitchFamily="18" charset="0"/>
                <a:cs typeface="Times New Roman" pitchFamily="18" charset="0"/>
              </a:rPr>
              <a:t>2- Decreased capillary Oncotic pressure</a:t>
            </a:r>
            <a:endParaRPr lang="ar-JO" sz="4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ar-JO" sz="4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3- Increased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capillary permeability or surface area</a:t>
            </a:r>
          </a:p>
          <a:p>
            <a:pPr marL="0" indent="0">
              <a:buNone/>
            </a:pPr>
            <a:endParaRPr lang="ar-JO" sz="4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4- Decreased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lymphatic drainage</a:t>
            </a:r>
          </a:p>
          <a:p>
            <a:pPr marL="514350" indent="-514350">
              <a:buFont typeface="+mj-lt"/>
              <a:buAutoNum type="alphaUcPeriod"/>
            </a:pPr>
            <a:endParaRPr lang="en-GB" b="1" dirty="0" smtClean="0"/>
          </a:p>
          <a:p>
            <a:pPr marL="514350" indent="-514350">
              <a:buNone/>
            </a:pPr>
            <a:r>
              <a:rPr lang="en-GB" dirty="0" smtClean="0"/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803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80772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u="sng" dirty="0" smtClean="0"/>
              <a:t>A- Causes of Increased capillary hydrostatic pressure:</a:t>
            </a:r>
          </a:p>
          <a:p>
            <a:pPr marL="0" indent="0">
              <a:buNone/>
            </a:pPr>
            <a:endParaRPr lang="en-GB" sz="3000" b="1" u="sng" dirty="0" smtClean="0"/>
          </a:p>
          <a:p>
            <a:pPr marL="0" indent="0">
              <a:buNone/>
            </a:pPr>
            <a:r>
              <a:rPr lang="en-GB" b="1" dirty="0" smtClean="0"/>
              <a:t>1- Increased capillary blood flow</a:t>
            </a:r>
          </a:p>
          <a:p>
            <a:pPr marL="457200" indent="-457200"/>
            <a:r>
              <a:rPr lang="en-GB" dirty="0" smtClean="0"/>
              <a:t>Increased ECF  (volume Na</a:t>
            </a:r>
            <a:r>
              <a:rPr lang="en-GB" dirty="0" smtClean="0">
                <a:latin typeface="Calibri"/>
                <a:cs typeface="Calibri"/>
              </a:rPr>
              <a:t>⁺</a:t>
            </a:r>
            <a:r>
              <a:rPr lang="en-GB" dirty="0" smtClean="0"/>
              <a:t> and water retention  </a:t>
            </a:r>
            <a:r>
              <a:rPr lang="en-GB" dirty="0" err="1" smtClean="0"/>
              <a:t>e.g</a:t>
            </a:r>
            <a:r>
              <a:rPr lang="en-GB" dirty="0" smtClean="0"/>
              <a:t> heart </a:t>
            </a:r>
            <a:r>
              <a:rPr lang="en-GB" dirty="0" err="1" smtClean="0"/>
              <a:t>faliure</a:t>
            </a:r>
            <a:r>
              <a:rPr lang="en-GB" dirty="0" smtClean="0"/>
              <a:t>).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b="1" dirty="0" smtClean="0"/>
          </a:p>
          <a:p>
            <a:pPr marL="571500" indent="-571500">
              <a:buFont typeface="+mj-lt"/>
              <a:buAutoNum type="alphaLcPeriod"/>
            </a:pP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632" y="762000"/>
            <a:ext cx="7866888" cy="4800600"/>
          </a:xfrm>
        </p:spPr>
        <p:txBody>
          <a:bodyPr/>
          <a:lstStyle/>
          <a:p>
            <a:pPr marL="82296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2- Increased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venous pressure: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standing or sitting without moving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a long time)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Venous obstruction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(thrombosis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Varicose veins (veins are dilated because the valves are damaged)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8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52400"/>
            <a:ext cx="81534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u="sng" dirty="0" smtClean="0"/>
              <a:t>B- Decreased capillary Oncotic pressure:</a:t>
            </a:r>
          </a:p>
          <a:p>
            <a:pPr marL="0" indent="0">
              <a:buNone/>
            </a:pPr>
            <a:endParaRPr lang="en-GB" sz="2800" b="1" u="sng" dirty="0" smtClean="0"/>
          </a:p>
          <a:p>
            <a:pPr marL="0" indent="0" algn="ctr">
              <a:buNone/>
            </a:pPr>
            <a:r>
              <a:rPr lang="en-GB" dirty="0" smtClean="0"/>
              <a:t>1-Decreased production of plasma proteins:     (Liver disease)</a:t>
            </a:r>
          </a:p>
          <a:p>
            <a:pPr marL="0" indent="0">
              <a:buNone/>
            </a:pPr>
            <a:r>
              <a:rPr lang="en-GB" dirty="0" smtClean="0"/>
              <a:t>2-</a:t>
            </a:r>
            <a:r>
              <a:rPr lang="en-US" dirty="0" smtClean="0"/>
              <a:t>(poor </a:t>
            </a:r>
            <a:r>
              <a:rPr lang="en-US" dirty="0"/>
              <a:t>protein intake in </a:t>
            </a:r>
            <a:r>
              <a:rPr lang="en-US" dirty="0" smtClean="0"/>
              <a:t>food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(</a:t>
            </a:r>
            <a:r>
              <a:rPr lang="en-GB" dirty="0" smtClean="0"/>
              <a:t>malnutrition )</a:t>
            </a:r>
          </a:p>
          <a:p>
            <a:pPr marL="0" indent="0">
              <a:buNone/>
            </a:pPr>
            <a:r>
              <a:rPr lang="en-GB" dirty="0" smtClean="0"/>
              <a:t>3- </a:t>
            </a:r>
            <a:r>
              <a:rPr lang="en-US" dirty="0"/>
              <a:t>Poor absorption of plasma protein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(malabsorption)</a:t>
            </a:r>
          </a:p>
          <a:p>
            <a:pPr marL="0" indent="0">
              <a:buNone/>
            </a:pPr>
            <a:r>
              <a:rPr lang="en-US" dirty="0" smtClean="0"/>
              <a:t>4-</a:t>
            </a:r>
            <a:r>
              <a:rPr lang="en-GB" dirty="0" smtClean="0"/>
              <a:t>Increased loss of plasma proteins:</a:t>
            </a:r>
          </a:p>
          <a:p>
            <a:pPr marL="0" indent="0">
              <a:buNone/>
            </a:pPr>
            <a:r>
              <a:rPr lang="en-GB" dirty="0" smtClean="0"/>
              <a:t>                         (kidney disease)</a:t>
            </a:r>
          </a:p>
          <a:p>
            <a:pPr marL="514350" indent="-514350">
              <a:buNone/>
            </a:pPr>
            <a:r>
              <a:rPr lang="en-GB" dirty="0" smtClean="0"/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8077200" cy="4724400"/>
          </a:xfrm>
        </p:spPr>
        <p:txBody>
          <a:bodyPr>
            <a:normAutofit/>
          </a:bodyPr>
          <a:lstStyle/>
          <a:p>
            <a:pPr marL="514350" indent="-514350" algn="ctr">
              <a:buNone/>
            </a:pPr>
            <a:endParaRPr lang="en-GB" b="1" dirty="0" smtClean="0"/>
          </a:p>
          <a:p>
            <a:pPr marL="0" indent="0">
              <a:buNone/>
            </a:pPr>
            <a:r>
              <a:rPr lang="en-GB" sz="2800" b="1" u="sng" dirty="0" smtClean="0"/>
              <a:t>C- Increased capillary permeability or surface area: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en-GB" dirty="0" smtClean="0"/>
              <a:t>Inflammation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en-GB" dirty="0" err="1" smtClean="0"/>
              <a:t>Burne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81000"/>
            <a:ext cx="8077200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 smtClean="0"/>
              <a:t>D- Decreased lymphatic drainage: </a:t>
            </a:r>
          </a:p>
          <a:p>
            <a:pPr marL="0" indent="0">
              <a:buNone/>
            </a:pPr>
            <a:endParaRPr lang="en-GB" b="1" u="sng" dirty="0" smtClean="0"/>
          </a:p>
          <a:p>
            <a:pPr marL="0" indent="0">
              <a:buNone/>
            </a:pPr>
            <a:r>
              <a:rPr lang="en-GB" dirty="0" smtClean="0"/>
              <a:t>1-lymphatic obstructions (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lymphedema</a:t>
            </a:r>
            <a:r>
              <a:rPr lang="en-GB" dirty="0" smtClean="0"/>
              <a:t>):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en-GB" dirty="0" smtClean="0"/>
              <a:t>Malignancy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en-GB" dirty="0" smtClean="0"/>
              <a:t>Surgical</a:t>
            </a:r>
          </a:p>
          <a:p>
            <a:pPr marL="514350" indent="-514350">
              <a:buFont typeface="Wingdings" pitchFamily="2" charset="2"/>
              <a:buChar char="ü"/>
            </a:pPr>
            <a:r>
              <a:rPr lang="en-GB" dirty="0" smtClean="0"/>
              <a:t>Infections (</a:t>
            </a:r>
            <a:r>
              <a:rPr lang="en-GB" dirty="0" err="1" smtClean="0"/>
              <a:t>filariasis</a:t>
            </a:r>
            <a:r>
              <a:rPr lang="en-GB" dirty="0" smtClean="0"/>
              <a:t>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3" descr="http://3.bp.blogspot.com/-TNnSEKq4l7A/T6FAj0bdwAI/AAAAAAAAJ8c/2HRQbzTqN1k/s400/Wuchereria_bancrofti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0"/>
            <a:ext cx="3200399" cy="2286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57200" y="2362200"/>
            <a:ext cx="30267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i="1" dirty="0" err="1" smtClean="0"/>
              <a:t>Wuchereria</a:t>
            </a:r>
            <a:r>
              <a:rPr lang="en-GB" sz="2400" i="1" dirty="0" smtClean="0"/>
              <a:t> </a:t>
            </a:r>
            <a:r>
              <a:rPr lang="en-GB" sz="2400" i="1" dirty="0" err="1" smtClean="0"/>
              <a:t>bancrofti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381000" y="6396335"/>
            <a:ext cx="3667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err="1" smtClean="0"/>
              <a:t>Lymphedema</a:t>
            </a:r>
            <a:r>
              <a:rPr lang="en-GB" sz="2400" dirty="0" smtClean="0"/>
              <a:t> in </a:t>
            </a:r>
            <a:r>
              <a:rPr lang="en-GB" sz="2400" dirty="0" err="1" smtClean="0"/>
              <a:t>Filariasis</a:t>
            </a:r>
            <a:endParaRPr lang="en-GB" sz="2400" dirty="0"/>
          </a:p>
        </p:txBody>
      </p:sp>
      <p:pic>
        <p:nvPicPr>
          <p:cNvPr id="46085" name="Picture 5" descr="http://1.bp.blogspot.com/-0IbEHKjUn1k/T6qM1ijGP5I/AAAAAAAAKAk/iHGpFl8IHYQ/s1600/filariasis+non-pitting+edema+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2819400"/>
            <a:ext cx="3276600" cy="3669268"/>
          </a:xfrm>
          <a:prstGeom prst="rect">
            <a:avLst/>
          </a:prstGeom>
          <a:noFill/>
        </p:spPr>
      </p:pic>
      <p:pic>
        <p:nvPicPr>
          <p:cNvPr id="46087" name="Picture 7" descr="venous ulcer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86200" y="609600"/>
            <a:ext cx="5131566" cy="3814661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4800600" y="4643110"/>
            <a:ext cx="3891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err="1" smtClean="0"/>
              <a:t>Lymphedema</a:t>
            </a:r>
            <a:r>
              <a:rPr lang="en-GB" sz="2800" dirty="0" smtClean="0"/>
              <a:t> in left leg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3600"/>
            <a:ext cx="7498080" cy="114300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Types of edema</a:t>
            </a:r>
            <a:endParaRPr lang="en-US" sz="7200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0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27214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Pitting and None pitting oedema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7802880" cy="4800600"/>
          </a:xfrm>
        </p:spPr>
        <p:txBody>
          <a:bodyPr/>
          <a:lstStyle/>
          <a:p>
            <a:r>
              <a:rPr lang="en-GB" dirty="0" smtClean="0"/>
              <a:t> after applying sustained pressure by a finger in a bony prominent area:</a:t>
            </a:r>
          </a:p>
          <a:p>
            <a:pPr marL="514350" indent="-514350">
              <a:buFont typeface="+mj-lt"/>
              <a:buAutoNum type="alphaLcParenR"/>
            </a:pPr>
            <a:r>
              <a:rPr lang="en-GB" dirty="0" smtClean="0"/>
              <a:t> the skin is depressed and the depression is sustained for some time = Pitting </a:t>
            </a:r>
            <a:r>
              <a:rPr lang="en-GB" dirty="0" err="1" smtClean="0"/>
              <a:t>odema</a:t>
            </a:r>
            <a:endParaRPr lang="en-GB" dirty="0" smtClean="0"/>
          </a:p>
          <a:p>
            <a:pPr marL="514350" indent="-514350">
              <a:buFont typeface="+mj-lt"/>
              <a:buAutoNum type="alphaLcParenR"/>
            </a:pPr>
            <a:r>
              <a:rPr lang="en-GB" dirty="0" smtClean="0"/>
              <a:t>If the skin is not depressed = none pitting </a:t>
            </a:r>
            <a:r>
              <a:rPr lang="en-GB" dirty="0" err="1" smtClean="0"/>
              <a:t>odema</a:t>
            </a:r>
            <a:endParaRPr lang="en-GB" dirty="0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/>
          <a:srcRect l="32936" t="16766" r="60538" b="64583"/>
          <a:stretch>
            <a:fillRect/>
          </a:stretch>
        </p:blipFill>
        <p:spPr bwMode="auto">
          <a:xfrm>
            <a:off x="6934200" y="4262176"/>
            <a:ext cx="2057400" cy="258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 l="56809" t="18474" r="36563" b="64583"/>
          <a:stretch>
            <a:fillRect/>
          </a:stretch>
        </p:blipFill>
        <p:spPr bwMode="auto">
          <a:xfrm>
            <a:off x="4152900" y="4127726"/>
            <a:ext cx="2209800" cy="271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657600" y="6162175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a)</a:t>
            </a:r>
            <a:endParaRPr lang="en-GB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591300" y="6159787"/>
            <a:ext cx="68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/>
              <a:t>b)</a:t>
            </a:r>
            <a:endParaRPr lang="en-GB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90600"/>
            <a:ext cx="7848600" cy="4800600"/>
          </a:xfrm>
        </p:spPr>
        <p:txBody>
          <a:bodyPr/>
          <a:lstStyle/>
          <a:p>
            <a:r>
              <a:rPr lang="en-GB" dirty="0" smtClean="0"/>
              <a:t>None pitting </a:t>
            </a:r>
            <a:r>
              <a:rPr lang="en-GB" dirty="0" err="1"/>
              <a:t>e</a:t>
            </a:r>
            <a:r>
              <a:rPr lang="en-GB" dirty="0" err="1" smtClean="0"/>
              <a:t>dema</a:t>
            </a:r>
            <a:r>
              <a:rPr lang="en-GB" dirty="0" smtClean="0"/>
              <a:t> include all kind of oedema associated with high proteins in the ISF and Lymphatic obstruction .</a:t>
            </a:r>
          </a:p>
          <a:p>
            <a:endParaRPr lang="en-GB" dirty="0"/>
          </a:p>
          <a:p>
            <a:r>
              <a:rPr lang="en-US" dirty="0" smtClean="0"/>
              <a:t>Edema </a:t>
            </a:r>
            <a:r>
              <a:rPr lang="en-US" dirty="0"/>
              <a:t>in all the other causes is pitting </a:t>
            </a:r>
            <a:r>
              <a:rPr lang="en-US" dirty="0" smtClean="0"/>
              <a:t>edema</a:t>
            </a:r>
            <a:endParaRPr lang="en-US" dirty="0"/>
          </a:p>
          <a:p>
            <a:pPr marL="82296" indent="0">
              <a:buNone/>
            </a:pPr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6962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Generalized or localized oedema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848600" cy="4389120"/>
          </a:xfrm>
        </p:spPr>
        <p:txBody>
          <a:bodyPr>
            <a:normAutofit/>
          </a:bodyPr>
          <a:lstStyle/>
          <a:p>
            <a:r>
              <a:rPr lang="en-GB" b="1" dirty="0" smtClean="0"/>
              <a:t>Localized oedema</a:t>
            </a:r>
            <a:r>
              <a:rPr lang="en-GB" dirty="0" smtClean="0"/>
              <a:t>: when the cause is restricted to certain areas ; ex; venous obstruction, inflammation, lymphatic obstruction</a:t>
            </a:r>
          </a:p>
          <a:p>
            <a:r>
              <a:rPr lang="en-GB" b="1" dirty="0" smtClean="0"/>
              <a:t>Generalized oedema</a:t>
            </a:r>
            <a:r>
              <a:rPr lang="en-GB" dirty="0" smtClean="0"/>
              <a:t>: when the cause is affecting many systems: decreased Oncotic pressure , heart failure, renal failure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0"/>
            <a:ext cx="5181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05200"/>
            <a:ext cx="5535613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407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64770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518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400"/>
            <a:ext cx="58674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27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85800"/>
            <a:ext cx="6884868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5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67512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 smtClean="0"/>
              <a:t> Revision Quiz :</a:t>
            </a:r>
            <a:br>
              <a:rPr lang="en-GB" sz="2400" b="1" dirty="0" smtClean="0"/>
            </a:br>
            <a:endParaRPr lang="en-GB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153400" cy="5562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GB" dirty="0" smtClean="0"/>
              <a:t>A: Define Edema</a:t>
            </a:r>
          </a:p>
          <a:p>
            <a:r>
              <a:rPr lang="en-GB" dirty="0" smtClean="0"/>
              <a:t>..............................................................................................</a:t>
            </a:r>
          </a:p>
          <a:p>
            <a:pPr>
              <a:buNone/>
            </a:pPr>
            <a:r>
              <a:rPr lang="en-GB" dirty="0" smtClean="0"/>
              <a:t>B: List the starling forces that controls filtration at capillary beds and for each force mention if it favours filtration or reabsorption</a:t>
            </a:r>
          </a:p>
          <a:p>
            <a:pPr>
              <a:buNone/>
            </a:pPr>
            <a:r>
              <a:rPr lang="en-GB" dirty="0" smtClean="0"/>
              <a:t>1 ............................................ Favours ...............................</a:t>
            </a:r>
          </a:p>
          <a:p>
            <a:pPr>
              <a:buNone/>
            </a:pPr>
            <a:r>
              <a:rPr lang="en-GB" dirty="0" smtClean="0"/>
              <a:t>2............................................  Favours ...............................</a:t>
            </a:r>
          </a:p>
          <a:p>
            <a:pPr>
              <a:buNone/>
            </a:pPr>
            <a:r>
              <a:rPr lang="en-GB" dirty="0" smtClean="0"/>
              <a:t>3............................................  Favours ...............................</a:t>
            </a:r>
          </a:p>
          <a:p>
            <a:pPr>
              <a:buNone/>
            </a:pPr>
            <a:r>
              <a:rPr lang="en-GB" dirty="0" smtClean="0"/>
              <a:t>4............................................  Favours ...............................</a:t>
            </a:r>
          </a:p>
          <a:p>
            <a:pPr>
              <a:buNone/>
            </a:pPr>
            <a:r>
              <a:rPr lang="en-GB" dirty="0" smtClean="0"/>
              <a:t>C: list 2 causes of generalized </a:t>
            </a:r>
            <a:r>
              <a:rPr lang="en-GB" dirty="0" err="1" smtClean="0"/>
              <a:t>edema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1................................................................</a:t>
            </a:r>
          </a:p>
          <a:p>
            <a:pPr>
              <a:buNone/>
            </a:pPr>
            <a:r>
              <a:rPr lang="en-GB" dirty="0" smtClean="0"/>
              <a:t>2................................................................</a:t>
            </a:r>
          </a:p>
          <a:p>
            <a:pPr>
              <a:buNone/>
            </a:pPr>
            <a:r>
              <a:rPr lang="en-GB" dirty="0" smtClean="0"/>
              <a:t>D: </a:t>
            </a:r>
            <a:r>
              <a:rPr lang="en-GB" smtClean="0"/>
              <a:t>list </a:t>
            </a:r>
            <a:r>
              <a:rPr lang="en-GB"/>
              <a:t>2</a:t>
            </a:r>
            <a:r>
              <a:rPr lang="en-GB" smtClean="0"/>
              <a:t> </a:t>
            </a:r>
            <a:r>
              <a:rPr lang="en-GB" dirty="0" smtClean="0"/>
              <a:t>causes for localized </a:t>
            </a:r>
            <a:r>
              <a:rPr lang="en-GB" dirty="0" err="1" smtClean="0"/>
              <a:t>edema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1 ...............................................................</a:t>
            </a:r>
          </a:p>
          <a:p>
            <a:pPr>
              <a:buNone/>
            </a:pPr>
            <a:r>
              <a:rPr lang="en-GB" dirty="0" smtClean="0"/>
              <a:t>2................................................................</a:t>
            </a:r>
          </a:p>
          <a:p>
            <a:pPr>
              <a:buNone/>
            </a:pPr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839</TotalTime>
  <Words>430</Words>
  <Application>Microsoft Office PowerPoint</Application>
  <PresentationFormat>On-screen Show (4:3)</PresentationFormat>
  <Paragraphs>95</Paragraphs>
  <Slides>20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Solstice</vt:lpstr>
      <vt:lpstr>Oedema ( Edema)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edema</vt:lpstr>
      <vt:lpstr>Pitting and None pitting oedema</vt:lpstr>
      <vt:lpstr>PowerPoint Presentation</vt:lpstr>
      <vt:lpstr> Generalized or localized oedema</vt:lpstr>
      <vt:lpstr>PowerPoint Presentation</vt:lpstr>
      <vt:lpstr>PowerPoint Presentation</vt:lpstr>
      <vt:lpstr>PowerPoint Presentation</vt:lpstr>
      <vt:lpstr>PowerPoint Presentation</vt:lpstr>
      <vt:lpstr> Revision Quiz :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Volumes and Compositions of Body Fluid Compartments</dc:title>
  <dc:creator>Rehab</dc:creator>
  <cp:lastModifiedBy>Wafa</cp:lastModifiedBy>
  <cp:revision>115</cp:revision>
  <dcterms:created xsi:type="dcterms:W3CDTF">2006-08-16T00:00:00Z</dcterms:created>
  <dcterms:modified xsi:type="dcterms:W3CDTF">2024-10-18T05:29:33Z</dcterms:modified>
</cp:coreProperties>
</file>