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64" r:id="rId6"/>
    <p:sldId id="266" r:id="rId7"/>
    <p:sldId id="268" r:id="rId8"/>
    <p:sldId id="269" r:id="rId9"/>
    <p:sldId id="270" r:id="rId10"/>
    <p:sldId id="273" r:id="rId11"/>
    <p:sldId id="276" r:id="rId12"/>
    <p:sldId id="261" r:id="rId13"/>
    <p:sldId id="277" r:id="rId14"/>
    <p:sldId id="263" r:id="rId15"/>
    <p:sldId id="265" r:id="rId16"/>
    <p:sldId id="275" r:id="rId17"/>
    <p:sldId id="278" r:id="rId18"/>
    <p:sldId id="279" r:id="rId19"/>
    <p:sldId id="280" r:id="rId20"/>
    <p:sldId id="272" r:id="rId21"/>
    <p:sldId id="274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CCDD-99CD-4B93-8F78-D4F5385C011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57A7D-47E6-4FB8-AD4A-31B251468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08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CCDD-99CD-4B93-8F78-D4F5385C011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57A7D-47E6-4FB8-AD4A-31B251468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38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CCDD-99CD-4B93-8F78-D4F5385C011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57A7D-47E6-4FB8-AD4A-31B251468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771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CCDD-99CD-4B93-8F78-D4F5385C011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57A7D-47E6-4FB8-AD4A-31B251468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791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CCDD-99CD-4B93-8F78-D4F5385C011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57A7D-47E6-4FB8-AD4A-31B251468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8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CCDD-99CD-4B93-8F78-D4F5385C011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57A7D-47E6-4FB8-AD4A-31B251468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59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CCDD-99CD-4B93-8F78-D4F5385C011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57A7D-47E6-4FB8-AD4A-31B251468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900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CCDD-99CD-4B93-8F78-D4F5385C011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57A7D-47E6-4FB8-AD4A-31B251468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85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CCDD-99CD-4B93-8F78-D4F5385C011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57A7D-47E6-4FB8-AD4A-31B251468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306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CCDD-99CD-4B93-8F78-D4F5385C011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57A7D-47E6-4FB8-AD4A-31B251468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4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CCDD-99CD-4B93-8F78-D4F5385C011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57A7D-47E6-4FB8-AD4A-31B251468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09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4CCDD-99CD-4B93-8F78-D4F5385C011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57A7D-47E6-4FB8-AD4A-31B251468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99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microsoft.com/office/2007/relationships/hdphoto" Target="../media/hdphoto7.wdp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Bernard MT Condensed" panose="02050806060905020404" pitchFamily="18" charset="0"/>
              </a:rPr>
              <a:t>MALE REPRODUCTIVE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60984"/>
            <a:ext cx="9144000" cy="896815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Blackadder ITC" panose="04020505051007020D02" pitchFamily="82" charset="0"/>
              </a:rPr>
              <a:t>M. G. HAMMAD</a:t>
            </a:r>
          </a:p>
        </p:txBody>
      </p:sp>
    </p:spTree>
    <p:extLst>
      <p:ext uri="{BB962C8B-B14F-4D97-AF65-F5344CB8AC3E}">
        <p14:creationId xmlns:p14="http://schemas.microsoft.com/office/powerpoint/2010/main" val="3329967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0966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ANATOMICAL ASPECTS: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0022" y="1266092"/>
            <a:ext cx="8991956" cy="556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417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TESTIS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4297" y="1494503"/>
            <a:ext cx="5685503" cy="499837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2000" dirty="0">
                <a:latin typeface="Candara" panose="020E0502030303020204" pitchFamily="34" charset="0"/>
                <a:cs typeface="Akhbar MT" pitchFamily="2" charset="-78"/>
              </a:rPr>
              <a:t>Testis (Testicles) surrounded by dens CT capsule{TONICA ALBUGINEA}.</a:t>
            </a:r>
          </a:p>
          <a:p>
            <a:pPr>
              <a:lnSpc>
                <a:spcPct val="110000"/>
              </a:lnSpc>
            </a:pPr>
            <a:r>
              <a:rPr lang="en-US" sz="2000" dirty="0">
                <a:latin typeface="Candara" panose="020E0502030303020204" pitchFamily="34" charset="0"/>
                <a:cs typeface="Akhbar MT" pitchFamily="2" charset="-78"/>
              </a:rPr>
              <a:t>The </a:t>
            </a:r>
            <a:r>
              <a:rPr lang="en-US" sz="2000" u="sng" dirty="0">
                <a:latin typeface="Candara" panose="020E0502030303020204" pitchFamily="34" charset="0"/>
                <a:cs typeface="Akhbar MT" pitchFamily="2" charset="-78"/>
              </a:rPr>
              <a:t>ALBUGINEA</a:t>
            </a:r>
            <a:r>
              <a:rPr lang="en-US" sz="2000" dirty="0">
                <a:latin typeface="Candara" panose="020E0502030303020204" pitchFamily="34" charset="0"/>
                <a:cs typeface="Akhbar MT" pitchFamily="2" charset="-78"/>
              </a:rPr>
              <a:t> thickened at back to form MEDIASTINUM TESTIS.</a:t>
            </a:r>
          </a:p>
          <a:p>
            <a:pPr>
              <a:lnSpc>
                <a:spcPct val="110000"/>
              </a:lnSpc>
            </a:pPr>
            <a:r>
              <a:rPr lang="en-US" sz="2000" dirty="0">
                <a:latin typeface="Candara" panose="020E0502030303020204" pitchFamily="34" charset="0"/>
                <a:cs typeface="Akhbar MT" pitchFamily="2" charset="-78"/>
              </a:rPr>
              <a:t>Fibrous septa from her subdivide testis into 250 lobules.</a:t>
            </a:r>
          </a:p>
          <a:p>
            <a:pPr>
              <a:lnSpc>
                <a:spcPct val="110000"/>
              </a:lnSpc>
            </a:pPr>
            <a:r>
              <a:rPr lang="en-US" sz="2000" dirty="0">
                <a:latin typeface="Candara" panose="020E0502030303020204" pitchFamily="34" charset="0"/>
                <a:cs typeface="Akhbar MT" pitchFamily="2" charset="-78"/>
              </a:rPr>
              <a:t>Lobules called </a:t>
            </a:r>
            <a:r>
              <a:rPr lang="en-US" sz="2000" u="sng" dirty="0">
                <a:latin typeface="Candara" panose="020E0502030303020204" pitchFamily="34" charset="0"/>
                <a:cs typeface="Akhbar MT" pitchFamily="2" charset="-78"/>
              </a:rPr>
              <a:t>TESTICULAR LOBULES</a:t>
            </a:r>
            <a:r>
              <a:rPr lang="en-US" sz="2000" dirty="0">
                <a:latin typeface="Candara" panose="020E0502030303020204" pitchFamily="34" charset="0"/>
                <a:cs typeface="Akhbar MT" pitchFamily="2" charset="-78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sz="2000" dirty="0">
                <a:latin typeface="Candara" panose="020E0502030303020204" pitchFamily="34" charset="0"/>
                <a:cs typeface="Akhbar MT" pitchFamily="2" charset="-78"/>
              </a:rPr>
              <a:t>Each lobule contains:</a:t>
            </a:r>
          </a:p>
          <a:p>
            <a:pPr marL="514350" indent="-514350">
              <a:lnSpc>
                <a:spcPct val="110000"/>
              </a:lnSpc>
              <a:buFont typeface="+mj-lt"/>
              <a:buAutoNum type="alphaLcPeriod"/>
            </a:pPr>
            <a:r>
              <a:rPr lang="en-US" sz="2000" dirty="0">
                <a:latin typeface="Candara" panose="020E0502030303020204" pitchFamily="34" charset="0"/>
                <a:cs typeface="Akhbar MT" pitchFamily="2" charset="-78"/>
              </a:rPr>
              <a:t>INTERSTITIAL CT</a:t>
            </a:r>
          </a:p>
          <a:p>
            <a:pPr marL="514350" indent="-514350">
              <a:lnSpc>
                <a:spcPct val="110000"/>
              </a:lnSpc>
              <a:buFont typeface="+mj-lt"/>
              <a:buAutoNum type="alphaLcPeriod"/>
            </a:pPr>
            <a:r>
              <a:rPr lang="en-US" sz="2000" dirty="0">
                <a:latin typeface="Candara" panose="020E0502030303020204" pitchFamily="34" charset="0"/>
                <a:cs typeface="Akhbar MT" pitchFamily="2" charset="-78"/>
              </a:rPr>
              <a:t>Endocrine cells(INTERSTITIAL or LEYDIG CELLS): secret </a:t>
            </a:r>
            <a:r>
              <a:rPr lang="en-US" sz="2000" u="sng" dirty="0">
                <a:latin typeface="Candara" panose="020E0502030303020204" pitchFamily="34" charset="0"/>
                <a:cs typeface="Akhbar MT" pitchFamily="2" charset="-78"/>
              </a:rPr>
              <a:t>TESTOSTERONE</a:t>
            </a:r>
            <a:r>
              <a:rPr lang="en-US" sz="2000" dirty="0">
                <a:latin typeface="Candara" panose="020E0502030303020204" pitchFamily="34" charset="0"/>
                <a:cs typeface="Akhbar MT" pitchFamily="2" charset="-78"/>
              </a:rPr>
              <a:t>. </a:t>
            </a:r>
          </a:p>
          <a:p>
            <a:pPr marL="514350" indent="-514350">
              <a:lnSpc>
                <a:spcPct val="110000"/>
              </a:lnSpc>
              <a:buFont typeface="+mj-lt"/>
              <a:buAutoNum type="alphaLcPeriod"/>
            </a:pPr>
            <a:r>
              <a:rPr lang="en-US" sz="2000" dirty="0">
                <a:latin typeface="Candara" panose="020E0502030303020204" pitchFamily="34" charset="0"/>
                <a:cs typeface="Akhbar MT" pitchFamily="2" charset="-78"/>
              </a:rPr>
              <a:t>SEMINIFEROUS TUBULS: </a:t>
            </a:r>
            <a:r>
              <a:rPr lang="en-AU" sz="2000" dirty="0">
                <a:latin typeface="Candara" panose="020E0502030303020204" pitchFamily="34" charset="0"/>
                <a:cs typeface="Akhbar MT" pitchFamily="2" charset="-78"/>
              </a:rPr>
              <a:t>in which sperm production occurs.</a:t>
            </a:r>
            <a:endParaRPr lang="en-US" sz="2000" dirty="0">
              <a:latin typeface="Candara" panose="020E0502030303020204" pitchFamily="34" charset="0"/>
              <a:cs typeface="Akhbar MT" pitchFamily="2" charset="-78"/>
            </a:endParaRPr>
          </a:p>
        </p:txBody>
      </p:sp>
      <p:pic>
        <p:nvPicPr>
          <p:cNvPr id="5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72200" y="2251951"/>
            <a:ext cx="5181600" cy="349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274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ndalus" panose="02020603050405020304" pitchFamily="18" charset="-78"/>
                <a:cs typeface="Andalus" panose="02020603050405020304" pitchFamily="18" charset="-78"/>
              </a:rPr>
              <a:t>INTERSTITIAL 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4968" y="1825625"/>
            <a:ext cx="5724832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3200" dirty="0">
                <a:latin typeface="Candara" panose="020E0502030303020204" pitchFamily="34" charset="0"/>
                <a:cs typeface="Akhbar MT" pitchFamily="2" charset="-78"/>
              </a:rPr>
              <a:t>Between seminiferous tubules.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latin typeface="Candara" panose="020E0502030303020204" pitchFamily="34" charset="0"/>
                <a:cs typeface="Akhbar MT" pitchFamily="2" charset="-78"/>
              </a:rPr>
              <a:t>Composed of CT.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latin typeface="Candara" panose="020E0502030303020204" pitchFamily="34" charset="0"/>
                <a:cs typeface="Akhbar MT" pitchFamily="2" charset="-78"/>
              </a:rPr>
              <a:t>Contains:</a:t>
            </a:r>
          </a:p>
          <a:p>
            <a:pPr marL="571500" indent="-571500">
              <a:lnSpc>
                <a:spcPct val="100000"/>
              </a:lnSpc>
              <a:buFont typeface="+mj-lt"/>
              <a:buAutoNum type="romanLcPeriod"/>
            </a:pPr>
            <a:r>
              <a:rPr lang="en-US" sz="3200" dirty="0">
                <a:latin typeface="Candara" panose="020E0502030303020204" pitchFamily="34" charset="0"/>
                <a:cs typeface="Akhbar MT" pitchFamily="2" charset="-78"/>
              </a:rPr>
              <a:t>Fibroblast cells.</a:t>
            </a:r>
          </a:p>
          <a:p>
            <a:pPr marL="571500" indent="-571500">
              <a:lnSpc>
                <a:spcPct val="100000"/>
              </a:lnSpc>
              <a:buFont typeface="+mj-lt"/>
              <a:buAutoNum type="romanLcPeriod"/>
            </a:pPr>
            <a:r>
              <a:rPr lang="en-US" sz="3200" dirty="0">
                <a:latin typeface="Candara" panose="020E0502030303020204" pitchFamily="34" charset="0"/>
                <a:cs typeface="Akhbar MT" pitchFamily="2" charset="-78"/>
              </a:rPr>
              <a:t>Lymphatics.</a:t>
            </a:r>
          </a:p>
          <a:p>
            <a:pPr marL="571500" indent="-571500">
              <a:lnSpc>
                <a:spcPct val="100000"/>
              </a:lnSpc>
              <a:buFont typeface="+mj-lt"/>
              <a:buAutoNum type="romanLcPeriod"/>
            </a:pPr>
            <a:r>
              <a:rPr lang="en-US" sz="3200" dirty="0">
                <a:latin typeface="Candara" panose="020E0502030303020204" pitchFamily="34" charset="0"/>
                <a:cs typeface="Akhbar MT" pitchFamily="2" charset="-78"/>
              </a:rPr>
              <a:t>Blood vessels {fenestrated capillaries}.</a:t>
            </a:r>
          </a:p>
        </p:txBody>
      </p:sp>
      <p:pic>
        <p:nvPicPr>
          <p:cNvPr id="5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20714" y="1504335"/>
            <a:ext cx="6471286" cy="499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994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Andalus" panose="02020603050405020304" pitchFamily="18" charset="-78"/>
                <a:cs typeface="Andalus" panose="02020603050405020304" pitchFamily="18" charset="-78"/>
              </a:rPr>
              <a:t>INTERSTITIAL {LEYDIG} CELLS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1277" y="1825625"/>
            <a:ext cx="5508523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>
                <a:latin typeface="Candara" panose="020E0502030303020204" pitchFamily="34" charset="0"/>
                <a:cs typeface="Akhbar MT" pitchFamily="2" charset="-78"/>
              </a:rPr>
              <a:t>Large rounded or polygonal cells.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latin typeface="Candara" panose="020E0502030303020204" pitchFamily="34" charset="0"/>
                <a:cs typeface="Akhbar MT" pitchFamily="2" charset="-78"/>
              </a:rPr>
              <a:t>Have central nuclei.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latin typeface="Candara" panose="020E0502030303020204" pitchFamily="34" charset="0"/>
                <a:cs typeface="Akhbar MT" pitchFamily="2" charset="-78"/>
              </a:rPr>
              <a:t>Eosinophilic cytoplasm </a:t>
            </a:r>
            <a:r>
              <a:rPr lang="en-AU" sz="3200" dirty="0">
                <a:latin typeface="Candara" panose="020E0502030303020204" pitchFamily="34" charset="0"/>
                <a:cs typeface="Akhbar MT" pitchFamily="2" charset="-78"/>
              </a:rPr>
              <a:t>rich in small lipid droplets.</a:t>
            </a:r>
          </a:p>
          <a:p>
            <a:pPr>
              <a:lnSpc>
                <a:spcPct val="100000"/>
              </a:lnSpc>
            </a:pPr>
            <a:r>
              <a:rPr lang="en-AU" sz="3200" dirty="0">
                <a:latin typeface="Candara" panose="020E0502030303020204" pitchFamily="34" charset="0"/>
                <a:cs typeface="Akhbar MT" pitchFamily="2" charset="-78"/>
              </a:rPr>
              <a:t>These cells concerning with secretion of </a:t>
            </a:r>
            <a:r>
              <a:rPr lang="en-AU" sz="3200" u="sng" dirty="0">
                <a:latin typeface="Candara" panose="020E0502030303020204" pitchFamily="34" charset="0"/>
                <a:cs typeface="Akhbar MT" pitchFamily="2" charset="-78"/>
              </a:rPr>
              <a:t>TESTOSTERONE</a:t>
            </a:r>
            <a:r>
              <a:rPr lang="en-AU" sz="3200" dirty="0">
                <a:latin typeface="Candara" panose="020E0502030303020204" pitchFamily="34" charset="0"/>
                <a:cs typeface="Akhbar MT" pitchFamily="2" charset="-78"/>
              </a:rPr>
              <a:t>. </a:t>
            </a:r>
          </a:p>
        </p:txBody>
      </p:sp>
      <p:pic>
        <p:nvPicPr>
          <p:cNvPr id="5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620" y="1946788"/>
            <a:ext cx="5478684" cy="4109012"/>
          </a:xfrm>
        </p:spPr>
      </p:pic>
    </p:spTree>
    <p:extLst>
      <p:ext uri="{BB962C8B-B14F-4D97-AF65-F5344CB8AC3E}">
        <p14:creationId xmlns:p14="http://schemas.microsoft.com/office/powerpoint/2010/main" val="2401330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Andalus" panose="02020603050405020304" pitchFamily="18" charset="-78"/>
                <a:cs typeface="Andalus" panose="02020603050405020304" pitchFamily="18" charset="-78"/>
              </a:rPr>
              <a:t>SEMINIFEROUS TUBULES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645" y="1825625"/>
            <a:ext cx="6400800" cy="453584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>
                <a:latin typeface="Candara" panose="020E0502030303020204" pitchFamily="34" charset="0"/>
                <a:cs typeface="Akhbar MT" pitchFamily="2" charset="-78"/>
              </a:rPr>
              <a:t>Within the testis lobules.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latin typeface="Candara" panose="020E0502030303020204" pitchFamily="34" charset="0"/>
                <a:cs typeface="Akhbar MT" pitchFamily="2" charset="-78"/>
              </a:rPr>
              <a:t>Each testis contains from 250-1000 tubule.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latin typeface="Candara" panose="020E0502030303020204" pitchFamily="34" charset="0"/>
                <a:cs typeface="Akhbar MT" pitchFamily="2" charset="-78"/>
              </a:rPr>
              <a:t>Each tubule measures about 150-250 micron in diameter, 30-70 cm in length.</a:t>
            </a:r>
          </a:p>
          <a:p>
            <a:endParaRPr lang="en-US" dirty="0"/>
          </a:p>
        </p:txBody>
      </p:sp>
      <p:pic>
        <p:nvPicPr>
          <p:cNvPr id="5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971" y="1690688"/>
            <a:ext cx="4718936" cy="4351338"/>
          </a:xfrm>
        </p:spPr>
      </p:pic>
    </p:spTree>
    <p:extLst>
      <p:ext uri="{BB962C8B-B14F-4D97-AF65-F5344CB8AC3E}">
        <p14:creationId xmlns:p14="http://schemas.microsoft.com/office/powerpoint/2010/main" val="626905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Andalus" panose="02020603050405020304" pitchFamily="18" charset="-78"/>
                <a:cs typeface="Andalus" panose="02020603050405020304" pitchFamily="18" charset="-78"/>
              </a:rPr>
              <a:t>SEMINIFEROUS TUBULES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6981" y="1825625"/>
            <a:ext cx="6744929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>
                <a:latin typeface="Candara" panose="020E0502030303020204" pitchFamily="34" charset="0"/>
                <a:cs typeface="Akhbar MT" pitchFamily="2" charset="-78"/>
              </a:rPr>
              <a:t>Each tubule linked to RETE TESTIS through STRAIGHT TUBULE.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latin typeface="Candara" panose="020E0502030303020204" pitchFamily="34" charset="0"/>
                <a:cs typeface="Akhbar MT" pitchFamily="2" charset="-78"/>
              </a:rPr>
              <a:t>RETE TESTIS is epithelial – lined canals embedded in MEDIASTINUM TESTIS.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latin typeface="Candara" panose="020E0502030303020204" pitchFamily="34" charset="0"/>
                <a:cs typeface="Akhbar MT" pitchFamily="2" charset="-78"/>
              </a:rPr>
              <a:t>RETE TESTIS connected to head of EPIDIDYMIS through EFFERENT DUCTULES.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2904" y="1267489"/>
            <a:ext cx="4360606" cy="2576922"/>
          </a:xfrm>
          <a:prstGeom prst="rect">
            <a:avLst/>
          </a:prstGeom>
        </p:spPr>
      </p:pic>
      <p:pic>
        <p:nvPicPr>
          <p:cNvPr id="6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490" y="4119715"/>
            <a:ext cx="4095058" cy="263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188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584"/>
            <a:ext cx="10515600" cy="68995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ndalus" panose="02020603050405020304" pitchFamily="18" charset="-78"/>
                <a:cs typeface="Andalus" panose="02020603050405020304" pitchFamily="18" charset="-78"/>
              </a:rPr>
              <a:t>SEMINIFEROUS TUBULES: STRUCTURES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838" y="1308418"/>
            <a:ext cx="6745646" cy="472581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61848" y="1744394"/>
            <a:ext cx="3591952" cy="385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184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584"/>
            <a:ext cx="10515600" cy="68995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ndalus" panose="02020603050405020304" pitchFamily="18" charset="-78"/>
                <a:cs typeface="Andalus" panose="02020603050405020304" pitchFamily="18" charset="-78"/>
              </a:rPr>
              <a:t>SEMINIFEROUS TUBULES: STRUCTURES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280" y="1223889"/>
            <a:ext cx="11521440" cy="499403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400">
                <a:latin typeface="+mj-lt"/>
                <a:cs typeface="Akhbar MT" pitchFamily="2" charset="-78"/>
              </a:rPr>
              <a:t>Each tubule </a:t>
            </a:r>
            <a:r>
              <a:rPr lang="en-US" sz="3400" dirty="0">
                <a:latin typeface="+mj-lt"/>
                <a:cs typeface="Akhbar MT" pitchFamily="2" charset="-78"/>
              </a:rPr>
              <a:t>lined by complex stratified epithelium{SPERMATOGENIC EPI}.</a:t>
            </a:r>
          </a:p>
          <a:p>
            <a:pPr>
              <a:lnSpc>
                <a:spcPct val="100000"/>
              </a:lnSpc>
            </a:pPr>
            <a:r>
              <a:rPr lang="en-US" sz="3400" dirty="0">
                <a:latin typeface="+mj-lt"/>
                <a:cs typeface="Akhbar MT" pitchFamily="2" charset="-78"/>
              </a:rPr>
              <a:t>Epithelium rests on basement membrane.</a:t>
            </a:r>
          </a:p>
          <a:p>
            <a:pPr>
              <a:lnSpc>
                <a:spcPct val="100000"/>
              </a:lnSpc>
            </a:pPr>
            <a:r>
              <a:rPr lang="en-US" sz="3400" dirty="0">
                <a:latin typeface="+mj-lt"/>
                <a:cs typeface="Akhbar MT" pitchFamily="2" charset="-78"/>
              </a:rPr>
              <a:t>The membrane contains smooth muscle-like cells {MYOID CELLS}.</a:t>
            </a:r>
          </a:p>
          <a:p>
            <a:pPr>
              <a:lnSpc>
                <a:spcPct val="100000"/>
              </a:lnSpc>
            </a:pPr>
            <a:r>
              <a:rPr lang="en-US" sz="3400" dirty="0">
                <a:latin typeface="+mj-lt"/>
                <a:cs typeface="Akhbar MT" pitchFamily="2" charset="-78"/>
              </a:rPr>
              <a:t>Germinal epithelium (spermatogenic EPI) consists of: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LcPeriod"/>
            </a:pPr>
            <a:r>
              <a:rPr lang="en-US" sz="3400" u="sng" dirty="0">
                <a:latin typeface="+mj-lt"/>
                <a:cs typeface="Akhbar MT" pitchFamily="2" charset="-78"/>
              </a:rPr>
              <a:t>SERTOLI CELLS</a:t>
            </a:r>
            <a:r>
              <a:rPr lang="en-US" sz="3400" dirty="0">
                <a:latin typeface="+mj-lt"/>
                <a:cs typeface="Akhbar MT" pitchFamily="2" charset="-78"/>
              </a:rPr>
              <a:t>: non dividing cells, support developing sperms.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LcPeriod"/>
            </a:pPr>
            <a:r>
              <a:rPr lang="en-US" sz="3400" u="sng" dirty="0">
                <a:latin typeface="+mj-lt"/>
                <a:cs typeface="Akhbar MT" pitchFamily="2" charset="-78"/>
              </a:rPr>
              <a:t>SPERMATOGENIC LINEAGE CELLS</a:t>
            </a:r>
            <a:r>
              <a:rPr lang="en-US" sz="3400" dirty="0">
                <a:latin typeface="+mj-lt"/>
                <a:cs typeface="Akhbar MT" pitchFamily="2" charset="-78"/>
              </a:rPr>
              <a:t>: dividing cells.</a:t>
            </a:r>
          </a:p>
        </p:txBody>
      </p:sp>
    </p:spTree>
    <p:extLst>
      <p:ext uri="{BB962C8B-B14F-4D97-AF65-F5344CB8AC3E}">
        <p14:creationId xmlns:p14="http://schemas.microsoft.com/office/powerpoint/2010/main" val="132133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u="sng" dirty="0">
                <a:latin typeface="Andalus" panose="02020603050405020304" pitchFamily="18" charset="-78"/>
                <a:cs typeface="Andalus" panose="02020603050405020304" pitchFamily="18" charset="-78"/>
              </a:rPr>
              <a:t>SERTOLI CELLS</a:t>
            </a:r>
            <a:r>
              <a:rPr lang="en-US" sz="4000" dirty="0">
                <a:latin typeface="Andalus" panose="02020603050405020304" pitchFamily="18" charset="-78"/>
                <a:cs typeface="Andalus" panose="02020603050405020304" pitchFamily="18" charset="-78"/>
              </a:rPr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632" y="1825625"/>
            <a:ext cx="5705168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+mj-lt"/>
                <a:cs typeface="Akhbar MT" pitchFamily="2" charset="-78"/>
              </a:rPr>
              <a:t>Tall columnar or pyramidal EPI cells.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+mj-lt"/>
                <a:cs typeface="Akhbar MT" pitchFamily="2" charset="-78"/>
              </a:rPr>
              <a:t>Forming the basal lamina of ST.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+mj-lt"/>
                <a:cs typeface="Akhbar MT" pitchFamily="2" charset="-78"/>
              </a:rPr>
              <a:t>These cells make a BLOOD – TESTIS BARRIER.</a:t>
            </a:r>
          </a:p>
          <a:p>
            <a:pPr>
              <a:lnSpc>
                <a:spcPct val="100000"/>
              </a:lnSpc>
            </a:pPr>
            <a:r>
              <a:rPr lang="en-US" sz="2400" i="1" u="sng" dirty="0">
                <a:latin typeface="+mj-lt"/>
                <a:cs typeface="Akhbar MT" pitchFamily="2" charset="-78"/>
              </a:rPr>
              <a:t>FUNCTIONS: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latin typeface="+mj-lt"/>
                <a:cs typeface="Akhbar MT" pitchFamily="2" charset="-78"/>
              </a:rPr>
              <a:t>Support, Protection, Nutrition of Spermatogenic.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latin typeface="+mj-lt"/>
                <a:cs typeface="Akhbar MT" pitchFamily="2" charset="-78"/>
              </a:rPr>
              <a:t>Exocrine&amp; Endocrine.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latin typeface="+mj-lt"/>
                <a:cs typeface="Akhbar MT" pitchFamily="2" charset="-78"/>
              </a:rPr>
              <a:t>Phagocytosis.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175" y="1483364"/>
            <a:ext cx="4734232" cy="2517930"/>
          </a:xfrm>
          <a:prstGeom prst="rect">
            <a:avLst/>
          </a:prstGeom>
        </p:spPr>
      </p:pic>
      <p:pic>
        <p:nvPicPr>
          <p:cNvPr id="6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6041" y="4095856"/>
            <a:ext cx="4717366" cy="276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676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Andalus" panose="02020603050405020304" pitchFamily="18" charset="-78"/>
                <a:cs typeface="Andalus" panose="02020603050405020304" pitchFamily="18" charset="-78"/>
              </a:rPr>
              <a:t>INTRATESTICULAR 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2555" y="1825625"/>
            <a:ext cx="5637245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+mj-lt"/>
                <a:cs typeface="Akhbar MT" pitchFamily="2" charset="-78"/>
              </a:rPr>
              <a:t>Intra-testicular ducts include: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j-lt"/>
                <a:cs typeface="Akhbar MT" pitchFamily="2" charset="-78"/>
              </a:rPr>
              <a:t>STRAIGHT TUBULES (tubuli recti).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j-lt"/>
                <a:cs typeface="Akhbar MT" pitchFamily="2" charset="-78"/>
              </a:rPr>
              <a:t>RETE TESTIS.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j-lt"/>
                <a:cs typeface="Akhbar MT" pitchFamily="2" charset="-78"/>
              </a:rPr>
              <a:t>EFFERENT DUCTULES.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j-lt"/>
                <a:cs typeface="Akhbar MT" pitchFamily="2" charset="-78"/>
              </a:rPr>
              <a:t>They carry spermatozoa and liquid to EPIDIDYMIS.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411" y="1231641"/>
            <a:ext cx="3333750" cy="2516188"/>
          </a:xfrm>
          <a:prstGeom prst="rect">
            <a:avLst/>
          </a:prstGeom>
        </p:spPr>
      </p:pic>
      <p:pic>
        <p:nvPicPr>
          <p:cNvPr id="6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5892" y="4001294"/>
            <a:ext cx="3309120" cy="28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085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Andalus" panose="02020603050405020304" pitchFamily="18" charset="-78"/>
                <a:cs typeface="Andalus" panose="02020603050405020304" pitchFamily="18" charset="-78"/>
              </a:rPr>
              <a:t>Straight Tubules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400" dirty="0">
                <a:latin typeface="+mj-lt"/>
                <a:cs typeface="Akhbar MT" pitchFamily="2" charset="-78"/>
              </a:rPr>
              <a:t>Join seminiferous tubules with rete testis.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400" dirty="0">
                <a:latin typeface="+mj-lt"/>
                <a:cs typeface="Akhbar MT" pitchFamily="2" charset="-78"/>
              </a:rPr>
              <a:t>Lined by SERTOLI CELLS.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18938"/>
            <a:ext cx="5181600" cy="4164711"/>
          </a:xfrm>
        </p:spPr>
      </p:pic>
    </p:spTree>
    <p:extLst>
      <p:ext uri="{BB962C8B-B14F-4D97-AF65-F5344CB8AC3E}">
        <p14:creationId xmlns:p14="http://schemas.microsoft.com/office/powerpoint/2010/main" val="1887678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301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Andalus" panose="02020603050405020304" pitchFamily="18" charset="-78"/>
                <a:cs typeface="Andalus" panose="02020603050405020304" pitchFamily="18" charset="-78"/>
              </a:rPr>
              <a:t>Rete Testis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5287" y="1825625"/>
            <a:ext cx="621527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400" dirty="0">
                <a:latin typeface="+mj-lt"/>
                <a:cs typeface="Akhbar MT" pitchFamily="2" charset="-78"/>
              </a:rPr>
              <a:t>Interconnected network of channels.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400" dirty="0">
                <a:latin typeface="+mj-lt"/>
                <a:cs typeface="Akhbar MT" pitchFamily="2" charset="-78"/>
              </a:rPr>
              <a:t>Lined by SIMPLE CUBOIDAL EPI.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016" y="1825625"/>
            <a:ext cx="5845604" cy="3894414"/>
          </a:xfrm>
        </p:spPr>
      </p:pic>
    </p:spTree>
    <p:extLst>
      <p:ext uri="{BB962C8B-B14F-4D97-AF65-F5344CB8AC3E}">
        <p14:creationId xmlns:p14="http://schemas.microsoft.com/office/powerpoint/2010/main" val="1981014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687" y="260489"/>
            <a:ext cx="10515600" cy="50951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ndalus" panose="02020603050405020304" pitchFamily="18" charset="-78"/>
                <a:cs typeface="Andalus" panose="02020603050405020304" pitchFamily="18" charset="-78"/>
              </a:rPr>
              <a:t>Rete Testis</a:t>
            </a:r>
            <a:endParaRPr lang="en-US" dirty="0"/>
          </a:p>
        </p:txBody>
      </p:sp>
      <p:pic>
        <p:nvPicPr>
          <p:cNvPr id="3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5" y="1427051"/>
            <a:ext cx="5539410" cy="520149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65"/>
          <a:stretch/>
        </p:blipFill>
        <p:spPr>
          <a:xfrm>
            <a:off x="4639733" y="809763"/>
            <a:ext cx="7552267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518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Andalus" panose="02020603050405020304" pitchFamily="18" charset="-78"/>
                <a:cs typeface="Andalus" panose="02020603050405020304" pitchFamily="18" charset="-78"/>
              </a:rPr>
              <a:t>Efferent Ductules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400" dirty="0">
                <a:latin typeface="+mj-lt"/>
                <a:cs typeface="Akhbar MT" pitchFamily="2" charset="-78"/>
              </a:rPr>
              <a:t>Connect RETE with head of EPIDIDYMIS.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400" dirty="0">
                <a:latin typeface="+mj-lt"/>
                <a:cs typeface="Akhbar MT" pitchFamily="2" charset="-78"/>
              </a:rPr>
              <a:t>Lined by:</a:t>
            </a:r>
          </a:p>
          <a:p>
            <a:pPr marL="571500" indent="-571500">
              <a:lnSpc>
                <a:spcPct val="100000"/>
              </a:lnSpc>
              <a:buFont typeface="+mj-lt"/>
              <a:buAutoNum type="romanLcPeriod"/>
            </a:pPr>
            <a:r>
              <a:rPr lang="en-US" sz="3400" dirty="0">
                <a:latin typeface="+mj-lt"/>
                <a:cs typeface="Akhbar MT" pitchFamily="2" charset="-78"/>
              </a:rPr>
              <a:t>NON-CILIATED CUBOIDAL EPI.</a:t>
            </a:r>
          </a:p>
          <a:p>
            <a:pPr marL="571500" indent="-571500">
              <a:lnSpc>
                <a:spcPct val="100000"/>
              </a:lnSpc>
              <a:buFont typeface="+mj-lt"/>
              <a:buAutoNum type="romanLcPeriod"/>
            </a:pPr>
            <a:r>
              <a:rPr lang="en-US" sz="3400" dirty="0">
                <a:latin typeface="+mj-lt"/>
                <a:cs typeface="Akhbar MT" pitchFamily="2" charset="-78"/>
              </a:rPr>
              <a:t>TALL CUBOIDAL CILIATED EPI.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400" dirty="0">
                <a:latin typeface="+mj-lt"/>
                <a:cs typeface="Akhbar MT" pitchFamily="2" charset="-78"/>
              </a:rPr>
              <a:t>The epithelial layer supported by thin smooth muscle layer.</a:t>
            </a:r>
          </a:p>
        </p:txBody>
      </p:sp>
      <p:pic>
        <p:nvPicPr>
          <p:cNvPr id="5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731" y="1700019"/>
            <a:ext cx="5181600" cy="3886200"/>
          </a:xfrm>
        </p:spPr>
      </p:pic>
    </p:spTree>
    <p:extLst>
      <p:ext uri="{BB962C8B-B14F-4D97-AF65-F5344CB8AC3E}">
        <p14:creationId xmlns:p14="http://schemas.microsoft.com/office/powerpoint/2010/main" val="2056131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2944" y="320382"/>
            <a:ext cx="10515600" cy="4351338"/>
          </a:xfrm>
        </p:spPr>
        <p:txBody>
          <a:bodyPr>
            <a:prstTxWarp prst="textPlain">
              <a:avLst/>
            </a:prstTxWarp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ln w="0">
                  <a:solidFill>
                    <a:schemeClr val="tx1"/>
                  </a:solidFill>
                </a:ln>
                <a:solidFill>
                  <a:srgbClr val="C0000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  <a:reflection blurRad="6350" stA="60000" endA="900" endPos="58000" dir="5400000" sy="-100000" algn="bl" rotWithShape="0"/>
                </a:effectLst>
              </a:rPr>
              <a:t>TO BE CON…..</a:t>
            </a:r>
          </a:p>
        </p:txBody>
      </p:sp>
    </p:spTree>
    <p:extLst>
      <p:ext uri="{BB962C8B-B14F-4D97-AF65-F5344CB8AC3E}">
        <p14:creationId xmlns:p14="http://schemas.microsoft.com/office/powerpoint/2010/main" val="2725118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529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Andalus" panose="02020603050405020304" pitchFamily="18" charset="-78"/>
                <a:cs typeface="Andalus" panose="02020603050405020304" pitchFamily="18" charset="-78"/>
              </a:rPr>
              <a:t>EXCRETORY GENITAL 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8056" y="1878633"/>
            <a:ext cx="8835887" cy="27596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400" dirty="0">
                <a:latin typeface="+mj-lt"/>
                <a:cs typeface="Akhbar MT" pitchFamily="2" charset="-78"/>
              </a:rPr>
              <a:t>Include: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LcPeriod"/>
            </a:pPr>
            <a:r>
              <a:rPr lang="en-US" sz="3400" dirty="0">
                <a:latin typeface="+mj-lt"/>
                <a:cs typeface="Akhbar MT" pitchFamily="2" charset="-78"/>
              </a:rPr>
              <a:t>EPIDIDYMIS.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LcPeriod"/>
            </a:pPr>
            <a:r>
              <a:rPr lang="en-US" sz="3400" dirty="0">
                <a:latin typeface="+mj-lt"/>
                <a:cs typeface="Akhbar MT" pitchFamily="2" charset="-78"/>
              </a:rPr>
              <a:t>DUCTUS {VAS} DEFERENS.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LcPeriod"/>
            </a:pPr>
            <a:r>
              <a:rPr lang="en-US" sz="3400" dirty="0">
                <a:latin typeface="+mj-lt"/>
                <a:cs typeface="Akhbar MT" pitchFamily="2" charset="-78"/>
              </a:rPr>
              <a:t>URETHRA.</a:t>
            </a:r>
          </a:p>
        </p:txBody>
      </p:sp>
    </p:spTree>
    <p:extLst>
      <p:ext uri="{BB962C8B-B14F-4D97-AF65-F5344CB8AC3E}">
        <p14:creationId xmlns:p14="http://schemas.microsoft.com/office/powerpoint/2010/main" val="3855244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ndalus" panose="02020603050405020304" pitchFamily="18" charset="-78"/>
                <a:cs typeface="Andalus" panose="02020603050405020304" pitchFamily="18" charset="-78"/>
              </a:rPr>
              <a:t>Epididymis: Structures.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5902" y="1825625"/>
            <a:ext cx="5683898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400" dirty="0">
                <a:latin typeface="+mj-lt"/>
                <a:cs typeface="Akhbar MT" pitchFamily="2" charset="-78"/>
              </a:rPr>
              <a:t>Lined by </a:t>
            </a:r>
            <a:r>
              <a:rPr lang="en-US" sz="3400" u="sng" dirty="0">
                <a:latin typeface="+mj-lt"/>
                <a:cs typeface="Akhbar MT" pitchFamily="2" charset="-78"/>
              </a:rPr>
              <a:t>PSEUDOSTRATIFIED COLUMNAR EPI</a:t>
            </a:r>
            <a:r>
              <a:rPr lang="en-US" sz="3400" dirty="0">
                <a:latin typeface="+mj-lt"/>
                <a:cs typeface="Akhbar MT" pitchFamily="2" charset="-78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400" dirty="0">
                <a:latin typeface="+mj-lt"/>
                <a:cs typeface="Akhbar MT" pitchFamily="2" charset="-78"/>
              </a:rPr>
              <a:t>This includes: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u="sng" dirty="0">
                <a:solidFill>
                  <a:srgbClr val="FF0000"/>
                </a:solidFill>
                <a:latin typeface="+mj-lt"/>
                <a:cs typeface="Akhbar MT" pitchFamily="2" charset="-78"/>
              </a:rPr>
              <a:t>PRINCIPAL CELLS</a:t>
            </a:r>
            <a:r>
              <a:rPr lang="en-US" sz="3400" dirty="0">
                <a:latin typeface="+mj-lt"/>
                <a:cs typeface="Akhbar MT" pitchFamily="2" charset="-78"/>
              </a:rPr>
              <a:t>: Columnar cells with long stereocilia.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u="sng" dirty="0">
                <a:solidFill>
                  <a:srgbClr val="FF0000"/>
                </a:solidFill>
                <a:latin typeface="+mj-lt"/>
                <a:cs typeface="Akhbar MT" pitchFamily="2" charset="-78"/>
              </a:rPr>
              <a:t>STEM CELLS</a:t>
            </a:r>
            <a:r>
              <a:rPr lang="en-US" sz="3400" dirty="0">
                <a:latin typeface="+mj-lt"/>
                <a:cs typeface="Akhbar MT" pitchFamily="2" charset="-78"/>
              </a:rPr>
              <a:t>: Small rounded cells.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400" dirty="0">
                <a:latin typeface="+mj-lt"/>
                <a:cs typeface="Akhbar MT" pitchFamily="2" charset="-78"/>
              </a:rPr>
              <a:t>Externally: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400" dirty="0">
                <a:latin typeface="+mj-lt"/>
                <a:cs typeface="Akhbar MT" pitchFamily="2" charset="-78"/>
              </a:rPr>
              <a:t>Surrounded by smooth muscle layers:</a:t>
            </a:r>
          </a:p>
          <a:p>
            <a:pPr>
              <a:lnSpc>
                <a:spcPct val="100000"/>
              </a:lnSpc>
              <a:buFont typeface="Calibri Light" panose="020F0302020204030204" pitchFamily="34" charset="0"/>
              <a:buChar char="*"/>
            </a:pPr>
            <a:r>
              <a:rPr lang="en-US" sz="3400" dirty="0">
                <a:latin typeface="+mj-lt"/>
                <a:cs typeface="Akhbar MT" pitchFamily="2" charset="-78"/>
              </a:rPr>
              <a:t>Inner CIRCULAR.</a:t>
            </a:r>
          </a:p>
          <a:p>
            <a:pPr>
              <a:lnSpc>
                <a:spcPct val="100000"/>
              </a:lnSpc>
              <a:buFont typeface="Calibri Light" panose="020F0302020204030204" pitchFamily="34" charset="0"/>
              <a:buChar char="*"/>
            </a:pPr>
            <a:r>
              <a:rPr lang="en-US" sz="3400" dirty="0">
                <a:latin typeface="+mj-lt"/>
                <a:cs typeface="Akhbar MT" pitchFamily="2" charset="-78"/>
              </a:rPr>
              <a:t>Outer LONGITUDINAL.</a:t>
            </a:r>
          </a:p>
        </p:txBody>
      </p:sp>
      <p:pic>
        <p:nvPicPr>
          <p:cNvPr id="5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25" y="2021649"/>
            <a:ext cx="2857500" cy="3810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928215"/>
            <a:ext cx="3111564" cy="390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727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9595"/>
            <a:ext cx="10515600" cy="854075"/>
          </a:xfrm>
        </p:spPr>
        <p:txBody>
          <a:bodyPr/>
          <a:lstStyle/>
          <a:p>
            <a:pPr algn="ctr"/>
            <a:r>
              <a:rPr lang="en-US" dirty="0">
                <a:latin typeface="Andalus" panose="02020603050405020304" pitchFamily="18" charset="-78"/>
                <a:cs typeface="Andalus" panose="02020603050405020304" pitchFamily="18" charset="-78"/>
              </a:rPr>
              <a:t>Epididymis: Structures.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843" y="854764"/>
            <a:ext cx="8004314" cy="600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196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57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ndalus" panose="02020603050405020304" pitchFamily="18" charset="-78"/>
                <a:cs typeface="Andalus" panose="02020603050405020304" pitchFamily="18" charset="-78"/>
              </a:rPr>
              <a:t>Ductus or Vas Deferens: Structures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9009"/>
            <a:ext cx="5992230" cy="46482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39009"/>
            <a:ext cx="6191250" cy="4648200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6796741" y="4007058"/>
            <a:ext cx="1097678" cy="1268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 rot="16200000">
            <a:off x="7944679" y="5135217"/>
            <a:ext cx="1097678" cy="1268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 rot="16200000">
            <a:off x="7724395" y="4820708"/>
            <a:ext cx="2087283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 rot="16200000">
            <a:off x="9117497" y="5433391"/>
            <a:ext cx="1097678" cy="1268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207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171"/>
            <a:ext cx="10515600" cy="5757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ndalus" panose="02020603050405020304" pitchFamily="18" charset="-78"/>
                <a:cs typeface="Andalus" panose="02020603050405020304" pitchFamily="18" charset="-78"/>
              </a:rPr>
              <a:t>Ductus or Vas Deferens: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7408" y="477078"/>
            <a:ext cx="10257183" cy="629250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400" u="sng" dirty="0">
                <a:solidFill>
                  <a:srgbClr val="FF0000"/>
                </a:solidFill>
                <a:latin typeface="+mj-lt"/>
                <a:cs typeface="Akhbar MT" pitchFamily="2" charset="-78"/>
              </a:rPr>
              <a:t>Mucosa: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3400" dirty="0">
                <a:latin typeface="+mj-lt"/>
                <a:cs typeface="Akhbar MT" pitchFamily="2" charset="-78"/>
              </a:rPr>
              <a:t>Lined by PSEUDOSTRATIFIED EPI with few stereocilia.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400" u="sng" dirty="0">
                <a:solidFill>
                  <a:srgbClr val="FF0000"/>
                </a:solidFill>
                <a:latin typeface="+mj-lt"/>
                <a:cs typeface="Akhbar MT" pitchFamily="2" charset="-78"/>
              </a:rPr>
              <a:t>Submucosa: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3400" dirty="0">
                <a:latin typeface="+mj-lt"/>
                <a:cs typeface="Akhbar MT" pitchFamily="2" charset="-78"/>
              </a:rPr>
              <a:t>CT (many elastic fibers).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400" u="sng" dirty="0">
                <a:solidFill>
                  <a:srgbClr val="FF0000"/>
                </a:solidFill>
                <a:latin typeface="+mj-lt"/>
                <a:cs typeface="Akhbar MT" pitchFamily="2" charset="-78"/>
              </a:rPr>
              <a:t>Muscularis: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3400" dirty="0">
                <a:latin typeface="+mj-lt"/>
                <a:cs typeface="Akhbar MT" pitchFamily="2" charset="-78"/>
              </a:rPr>
              <a:t>Inner LONGITUDINAL.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3400" dirty="0">
                <a:latin typeface="+mj-lt"/>
                <a:cs typeface="Akhbar MT" pitchFamily="2" charset="-78"/>
              </a:rPr>
              <a:t>Middle CIRCULAR.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3400" dirty="0">
                <a:latin typeface="+mj-lt"/>
                <a:cs typeface="Akhbar MT" pitchFamily="2" charset="-78"/>
              </a:rPr>
              <a:t>Outer LONGITUDINAL.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400" u="sng" dirty="0">
                <a:solidFill>
                  <a:srgbClr val="FF0000"/>
                </a:solidFill>
                <a:latin typeface="+mj-lt"/>
                <a:cs typeface="Akhbar MT" pitchFamily="2" charset="-78"/>
              </a:rPr>
              <a:t>Adventitia: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3400" dirty="0">
                <a:latin typeface="+mj-lt"/>
                <a:cs typeface="Akhbar MT" pitchFamily="2" charset="-78"/>
              </a:rPr>
              <a:t>Thin CT</a:t>
            </a:r>
          </a:p>
        </p:txBody>
      </p:sp>
    </p:spTree>
    <p:extLst>
      <p:ext uri="{BB962C8B-B14F-4D97-AF65-F5344CB8AC3E}">
        <p14:creationId xmlns:p14="http://schemas.microsoft.com/office/powerpoint/2010/main" val="689973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951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Andalus" panose="02020603050405020304" pitchFamily="18" charset="-78"/>
                <a:cs typeface="Andalus" panose="02020603050405020304" pitchFamily="18" charset="-78"/>
              </a:rPr>
              <a:t>ACCESSORY GLANDS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49217" y="740510"/>
            <a:ext cx="6493566" cy="593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203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951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Andalus" panose="02020603050405020304" pitchFamily="18" charset="-78"/>
                <a:cs typeface="Andalus" panose="02020603050405020304" pitchFamily="18" charset="-78"/>
              </a:rPr>
              <a:t>ACCESSORY GLANDS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81262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400" dirty="0">
                <a:latin typeface="+mj-lt"/>
                <a:cs typeface="Akhbar MT" pitchFamily="2" charset="-78"/>
              </a:rPr>
              <a:t>Produce secretion mixed with sperm{SEMEN}.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400" dirty="0">
                <a:latin typeface="+mj-lt"/>
                <a:cs typeface="Akhbar MT" pitchFamily="2" charset="-78"/>
              </a:rPr>
              <a:t>Include: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LcParenR"/>
            </a:pPr>
            <a:r>
              <a:rPr lang="en-US" sz="3400" dirty="0">
                <a:latin typeface="+mj-lt"/>
                <a:cs typeface="Akhbar MT" pitchFamily="2" charset="-78"/>
              </a:rPr>
              <a:t>SEMINAL VESICLES.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LcParenR"/>
            </a:pPr>
            <a:r>
              <a:rPr lang="en-US" sz="3400" dirty="0">
                <a:latin typeface="+mj-lt"/>
                <a:cs typeface="Akhbar MT" pitchFamily="2" charset="-78"/>
              </a:rPr>
              <a:t>PROSTATE GLAND.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LcParenR"/>
            </a:pPr>
            <a:r>
              <a:rPr lang="en-US" sz="3400" dirty="0">
                <a:latin typeface="+mj-lt"/>
                <a:cs typeface="Akhbar MT" pitchFamily="2" charset="-78"/>
              </a:rPr>
              <a:t>BULBOURETHRAL GLAND.</a:t>
            </a:r>
          </a:p>
        </p:txBody>
      </p:sp>
    </p:spTree>
    <p:extLst>
      <p:ext uri="{BB962C8B-B14F-4D97-AF65-F5344CB8AC3E}">
        <p14:creationId xmlns:p14="http://schemas.microsoft.com/office/powerpoint/2010/main" val="2141820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179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ndalus" panose="02020603050405020304" pitchFamily="18" charset="-78"/>
                <a:cs typeface="Andalus" panose="02020603050405020304" pitchFamily="18" charset="-78"/>
              </a:rPr>
              <a:t>Seminal Vesicles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34617" y="1335293"/>
            <a:ext cx="10515600" cy="435133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cs typeface="Akhbar MT" pitchFamily="2" charset="-78"/>
              </a:rPr>
              <a:t>Consist of highly tortuous tubes.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cs typeface="Akhbar MT" pitchFamily="2" charset="-78"/>
              </a:rPr>
              <a:t>Surrounded by thin CT CAPSULE.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92417" y="919528"/>
            <a:ext cx="6493566" cy="5938472"/>
          </a:xfrm>
          <a:prstGeom prst="rect">
            <a:avLst/>
          </a:prstGeom>
        </p:spPr>
      </p:pic>
      <p:pic>
        <p:nvPicPr>
          <p:cNvPr id="7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85" y="2326237"/>
            <a:ext cx="3392558" cy="452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2417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179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ndalus" panose="02020603050405020304" pitchFamily="18" charset="-78"/>
                <a:cs typeface="Andalus" panose="02020603050405020304" pitchFamily="18" charset="-78"/>
              </a:rPr>
              <a:t>Seminal Vesicles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339" y="1046922"/>
            <a:ext cx="11184835" cy="5499652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700" u="sng" dirty="0">
                <a:solidFill>
                  <a:srgbClr val="FF0000"/>
                </a:solidFill>
                <a:latin typeface="+mj-lt"/>
                <a:cs typeface="Akhbar MT" pitchFamily="2" charset="-78"/>
              </a:rPr>
              <a:t>Mucosa: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3700" dirty="0">
                <a:latin typeface="+mj-lt"/>
                <a:cs typeface="Akhbar MT" pitchFamily="2" charset="-78"/>
              </a:rPr>
              <a:t>Folded, with SIMPLE or PSEUDOSTRATIFIED COLUMNAR EPI.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700" u="sng" dirty="0">
                <a:solidFill>
                  <a:srgbClr val="FF0000"/>
                </a:solidFill>
                <a:latin typeface="+mj-lt"/>
                <a:cs typeface="Akhbar MT" pitchFamily="2" charset="-78"/>
              </a:rPr>
              <a:t>Lamina Propria: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3700" dirty="0">
                <a:latin typeface="+mj-lt"/>
                <a:cs typeface="Akhbar MT" pitchFamily="2" charset="-78"/>
              </a:rPr>
              <a:t>Contains elastic fibers.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700" u="sng" dirty="0">
                <a:solidFill>
                  <a:srgbClr val="FF0000"/>
                </a:solidFill>
                <a:latin typeface="+mj-lt"/>
                <a:cs typeface="Akhbar MT" pitchFamily="2" charset="-78"/>
              </a:rPr>
              <a:t>Muscularis: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3700" dirty="0">
                <a:latin typeface="+mj-lt"/>
                <a:cs typeface="Akhbar MT" pitchFamily="2" charset="-78"/>
              </a:rPr>
              <a:t>Smooth muscle fibers{ Outer longitudinal &amp; Inner circular}.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700" u="sng" dirty="0">
                <a:solidFill>
                  <a:srgbClr val="FF0000"/>
                </a:solidFill>
                <a:latin typeface="+mj-lt"/>
                <a:cs typeface="Akhbar MT" pitchFamily="2" charset="-78"/>
              </a:rPr>
              <a:t>Adventitia: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3700" dirty="0">
                <a:latin typeface="+mj-lt"/>
                <a:cs typeface="Akhbar MT" pitchFamily="2" charset="-78"/>
              </a:rPr>
              <a:t>CT</a:t>
            </a:r>
          </a:p>
        </p:txBody>
      </p:sp>
    </p:spTree>
    <p:extLst>
      <p:ext uri="{BB962C8B-B14F-4D97-AF65-F5344CB8AC3E}">
        <p14:creationId xmlns:p14="http://schemas.microsoft.com/office/powerpoint/2010/main" val="4874296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9032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Andalus" panose="02020603050405020304" pitchFamily="18" charset="-78"/>
                <a:cs typeface="Andalus" panose="02020603050405020304" pitchFamily="18" charset="-78"/>
              </a:rPr>
              <a:t>Seminal Vesicles</a:t>
            </a:r>
            <a:endParaRPr lang="en-US" sz="3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7" y="1977466"/>
            <a:ext cx="5433390" cy="42652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922" y="2001982"/>
            <a:ext cx="6361044" cy="4240696"/>
          </a:xfrm>
          <a:prstGeom prst="rect">
            <a:avLst/>
          </a:prstGeom>
        </p:spPr>
      </p:pic>
      <p:sp>
        <p:nvSpPr>
          <p:cNvPr id="8" name="Down Arrow 7"/>
          <p:cNvSpPr/>
          <p:nvPr/>
        </p:nvSpPr>
        <p:spPr>
          <a:xfrm>
            <a:off x="7991061" y="1690688"/>
            <a:ext cx="119269" cy="116952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36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Andalus" panose="02020603050405020304" pitchFamily="18" charset="-78"/>
                <a:cs typeface="Andalus" panose="02020603050405020304" pitchFamily="18" charset="-78"/>
              </a:rPr>
              <a:t>Prostate Gland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927" y="1825625"/>
            <a:ext cx="5767873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cs typeface="Akhbar MT" pitchFamily="2" charset="-78"/>
              </a:rPr>
              <a:t>It is collection of TUBULOACINAR GLANDS{30-50}.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cs typeface="Akhbar MT" pitchFamily="2" charset="-78"/>
              </a:rPr>
              <a:t>Embedded in dens fibromuscular stroma.</a:t>
            </a:r>
          </a:p>
        </p:txBody>
      </p:sp>
      <p:pic>
        <p:nvPicPr>
          <p:cNvPr id="5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83758" y="1825625"/>
            <a:ext cx="4758076" cy="43513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01503" y="3563456"/>
            <a:ext cx="4750276" cy="329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7577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131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ndalus" panose="02020603050405020304" pitchFamily="18" charset="-78"/>
                <a:cs typeface="Andalus" panose="02020603050405020304" pitchFamily="18" charset="-78"/>
              </a:rPr>
              <a:t>Prostate Gland: structures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70"/>
          <a:stretch/>
        </p:blipFill>
        <p:spPr>
          <a:xfrm>
            <a:off x="375424" y="1797913"/>
            <a:ext cx="5362768" cy="435133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68"/>
          <a:stretch/>
        </p:blipFill>
        <p:spPr>
          <a:xfrm>
            <a:off x="5897217" y="1281320"/>
            <a:ext cx="5804452" cy="538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9425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04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ndalus" panose="02020603050405020304" pitchFamily="18" charset="-78"/>
                <a:cs typeface="Andalus" panose="02020603050405020304" pitchFamily="18" charset="-78"/>
              </a:rPr>
              <a:t>Prostate Gland : structures</a:t>
            </a:r>
            <a:endParaRPr lang="en-US" sz="36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0219"/>
            <a:ext cx="7341704" cy="491662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816" y="1144211"/>
            <a:ext cx="6540184" cy="552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4918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131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ndalus" panose="02020603050405020304" pitchFamily="18" charset="-78"/>
                <a:cs typeface="Andalus" panose="02020603050405020304" pitchFamily="18" charset="-78"/>
              </a:rPr>
              <a:t>Prostate Gland: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6896" y="1852130"/>
            <a:ext cx="10515600" cy="380654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cs typeface="Akhbar MT" pitchFamily="2" charset="-78"/>
              </a:rPr>
              <a:t>Structures of gland arranged into: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3200" u="sng" dirty="0">
                <a:solidFill>
                  <a:srgbClr val="FF0000"/>
                </a:solidFill>
                <a:cs typeface="Akhbar MT" pitchFamily="2" charset="-78"/>
              </a:rPr>
              <a:t>TRANSITINAL zone</a:t>
            </a:r>
            <a:r>
              <a:rPr lang="en-US" sz="3200" dirty="0">
                <a:cs typeface="Akhbar MT" pitchFamily="2" charset="-78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cs typeface="Akhbar MT" pitchFamily="2" charset="-78"/>
              </a:rPr>
              <a:t>Occupies about 5%.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cs typeface="Akhbar MT" pitchFamily="2" charset="-78"/>
              </a:rPr>
              <a:t>Surround urethra.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cs typeface="Akhbar MT" pitchFamily="2" charset="-78"/>
              </a:rPr>
              <a:t>Contains PERIURETHRAL MUCOSAL glands.</a:t>
            </a:r>
          </a:p>
        </p:txBody>
      </p:sp>
    </p:spTree>
    <p:extLst>
      <p:ext uri="{BB962C8B-B14F-4D97-AF65-F5344CB8AC3E}">
        <p14:creationId xmlns:p14="http://schemas.microsoft.com/office/powerpoint/2010/main" val="24947709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04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ndalus" panose="02020603050405020304" pitchFamily="18" charset="-78"/>
                <a:cs typeface="Andalus" panose="02020603050405020304" pitchFamily="18" charset="-78"/>
              </a:rPr>
              <a:t>Prostate Gland : structures</a:t>
            </a:r>
            <a:endParaRPr lang="en-US" sz="36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0219"/>
            <a:ext cx="7341704" cy="491662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55"/>
          <a:stretch/>
        </p:blipFill>
        <p:spPr>
          <a:xfrm>
            <a:off x="6526932" y="1144211"/>
            <a:ext cx="5665068" cy="552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1983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131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ndalus" panose="02020603050405020304" pitchFamily="18" charset="-78"/>
                <a:cs typeface="Andalus" panose="02020603050405020304" pitchFamily="18" charset="-78"/>
              </a:rPr>
              <a:t>Prostate Gland: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6896" y="1852130"/>
            <a:ext cx="10515600" cy="380654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3200" u="sng" dirty="0">
                <a:solidFill>
                  <a:srgbClr val="FF0000"/>
                </a:solidFill>
                <a:cs typeface="Akhbar MT" pitchFamily="2" charset="-78"/>
              </a:rPr>
              <a:t>CENTARL zone</a:t>
            </a:r>
            <a:r>
              <a:rPr lang="en-US" sz="3200" dirty="0">
                <a:cs typeface="Akhbar MT" pitchFamily="2" charset="-78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cs typeface="Akhbar MT" pitchFamily="2" charset="-78"/>
              </a:rPr>
              <a:t>Occupies about 25%.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cs typeface="Akhbar MT" pitchFamily="2" charset="-78"/>
              </a:rPr>
              <a:t>Contains PERIURETHRAL SUBMUCOSAL glands.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cs typeface="Akhbar MT" pitchFamily="2" charset="-78"/>
              </a:rPr>
              <a:t>These glands have long ducts.</a:t>
            </a:r>
          </a:p>
        </p:txBody>
      </p:sp>
    </p:spTree>
    <p:extLst>
      <p:ext uri="{BB962C8B-B14F-4D97-AF65-F5344CB8AC3E}">
        <p14:creationId xmlns:p14="http://schemas.microsoft.com/office/powerpoint/2010/main" val="9769184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04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ndalus" panose="02020603050405020304" pitchFamily="18" charset="-78"/>
                <a:cs typeface="Andalus" panose="02020603050405020304" pitchFamily="18" charset="-78"/>
              </a:rPr>
              <a:t>Prostate Gland : structures</a:t>
            </a:r>
            <a:endParaRPr lang="en-US" sz="36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0219"/>
            <a:ext cx="7341704" cy="491662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55"/>
          <a:stretch/>
        </p:blipFill>
        <p:spPr>
          <a:xfrm>
            <a:off x="6526932" y="1144211"/>
            <a:ext cx="5665068" cy="552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1671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131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ndalus" panose="02020603050405020304" pitchFamily="18" charset="-78"/>
                <a:cs typeface="Andalus" panose="02020603050405020304" pitchFamily="18" charset="-78"/>
              </a:rPr>
              <a:t>Prostate Gland: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6896" y="1852130"/>
            <a:ext cx="10515600" cy="380654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3200" u="sng" dirty="0">
                <a:solidFill>
                  <a:srgbClr val="FF0000"/>
                </a:solidFill>
                <a:cs typeface="Akhbar MT" pitchFamily="2" charset="-78"/>
              </a:rPr>
              <a:t>PERIPHERAL zone</a:t>
            </a:r>
            <a:r>
              <a:rPr lang="en-US" sz="3200" dirty="0">
                <a:cs typeface="Akhbar MT" pitchFamily="2" charset="-78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cs typeface="Akhbar MT" pitchFamily="2" charset="-78"/>
              </a:rPr>
              <a:t>Occupies about 70%.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cs typeface="Akhbar MT" pitchFamily="2" charset="-78"/>
              </a:rPr>
              <a:t>Contains MAIN PROSTATE’S glands.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cs typeface="Akhbar MT" pitchFamily="2" charset="-78"/>
              </a:rPr>
              <a:t>These glands have very long ducts.</a:t>
            </a:r>
          </a:p>
        </p:txBody>
      </p:sp>
    </p:spTree>
    <p:extLst>
      <p:ext uri="{BB962C8B-B14F-4D97-AF65-F5344CB8AC3E}">
        <p14:creationId xmlns:p14="http://schemas.microsoft.com/office/powerpoint/2010/main" val="773945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131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ndalus" panose="02020603050405020304" pitchFamily="18" charset="-78"/>
                <a:cs typeface="Andalus" panose="02020603050405020304" pitchFamily="18" charset="-78"/>
              </a:rPr>
              <a:t>Prostate Gland: structures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6435"/>
            <a:ext cx="5558324" cy="5587706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79"/>
          <a:stretch/>
        </p:blipFill>
        <p:spPr>
          <a:xfrm>
            <a:off x="5558324" y="1126434"/>
            <a:ext cx="6660180" cy="531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124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131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ndalus" panose="02020603050405020304" pitchFamily="18" charset="-78"/>
                <a:cs typeface="Andalus" panose="02020603050405020304" pitchFamily="18" charset="-78"/>
              </a:rPr>
              <a:t>Prostate Gland: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6896" y="1126435"/>
            <a:ext cx="10515600" cy="531412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cs typeface="Akhbar MT" pitchFamily="2" charset="-78"/>
              </a:rPr>
              <a:t>Tubulo-acinar prostatic glands lined by: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cs typeface="Akhbar MT" pitchFamily="2" charset="-78"/>
              </a:rPr>
              <a:t>SIMPLE or PSEUDOSTRATIFIED COLUMNAR EPI.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200" u="sng" dirty="0">
                <a:solidFill>
                  <a:srgbClr val="FF0000"/>
                </a:solidFill>
                <a:cs typeface="Akhbar MT" pitchFamily="2" charset="-78"/>
              </a:rPr>
              <a:t>CORPORA AMYLACEA: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cs typeface="Akhbar MT" pitchFamily="2" charset="-78"/>
              </a:rPr>
              <a:t>Small spherical concretions.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AU" sz="3200" dirty="0">
                <a:cs typeface="Akhbar MT" pitchFamily="2" charset="-78"/>
              </a:rPr>
              <a:t>Present in the lumens of many prostatic tubulo-acinar glands.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cs typeface="Akhbar MT" pitchFamily="2" charset="-78"/>
              </a:rPr>
              <a:t>Partially calcified.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cs typeface="Akhbar MT" pitchFamily="2" charset="-78"/>
              </a:rPr>
              <a:t>Contain glycoproteins and keratan sulfate.</a:t>
            </a:r>
          </a:p>
        </p:txBody>
      </p:sp>
    </p:spTree>
    <p:extLst>
      <p:ext uri="{BB962C8B-B14F-4D97-AF65-F5344CB8AC3E}">
        <p14:creationId xmlns:p14="http://schemas.microsoft.com/office/powerpoint/2010/main" val="42164524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ndalus" panose="02020603050405020304" pitchFamily="18" charset="-78"/>
                <a:cs typeface="Andalus" panose="02020603050405020304" pitchFamily="18" charset="-78"/>
              </a:rPr>
              <a:t>Bulbourethral Glands(COWPER’S GLANDS)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7573"/>
            <a:ext cx="6527007" cy="435133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007" y="2321408"/>
            <a:ext cx="5539410" cy="3381375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19181333">
            <a:off x="1594282" y="5797303"/>
            <a:ext cx="1353443" cy="123216"/>
          </a:xfrm>
          <a:prstGeom prst="right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 rot="19181333">
            <a:off x="717363" y="3286016"/>
            <a:ext cx="1353443" cy="123216"/>
          </a:xfrm>
          <a:prstGeom prst="right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 rot="19181333">
            <a:off x="9364387" y="5719239"/>
            <a:ext cx="1353443" cy="123216"/>
          </a:xfrm>
          <a:prstGeom prst="right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 rot="19181333">
            <a:off x="9543212" y="4842454"/>
            <a:ext cx="1353443" cy="123216"/>
          </a:xfrm>
          <a:prstGeom prst="right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0295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ndalus" panose="02020603050405020304" pitchFamily="18" charset="-78"/>
                <a:cs typeface="Andalus" panose="02020603050405020304" pitchFamily="18" charset="-78"/>
              </a:rPr>
              <a:t>Bulbourethral Glands(COWPER’S GLANDS)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15001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cs typeface="Akhbar MT" pitchFamily="2" charset="-78"/>
              </a:rPr>
              <a:t>Located in the urogenital diaphragm.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AU" sz="3200" dirty="0">
                <a:cs typeface="Akhbar MT" pitchFamily="2" charset="-78"/>
              </a:rPr>
              <a:t>Empty into the proximal part of the penile urethra.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AU" sz="3200" dirty="0">
                <a:cs typeface="Akhbar MT" pitchFamily="2" charset="-78"/>
              </a:rPr>
              <a:t>Composed of TUBULO-ACINAR glands.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AU" sz="3200" dirty="0">
                <a:cs typeface="Akhbar MT" pitchFamily="2" charset="-78"/>
              </a:rPr>
              <a:t>Lined by SIMPLE COLUMNAR EPI.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AU" sz="3200" dirty="0">
                <a:cs typeface="Akhbar MT" pitchFamily="2" charset="-78"/>
              </a:rPr>
              <a:t>Surrounded by SMOOTH MUSCLE CELLS.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2099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1066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Andalus" panose="02020603050405020304" pitchFamily="18" charset="-78"/>
                <a:cs typeface="Andalus" panose="02020603050405020304" pitchFamily="18" charset="-78"/>
              </a:rPr>
              <a:t>PENIS: Structures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991" y="1431235"/>
            <a:ext cx="7707828" cy="49015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313" y="1718028"/>
            <a:ext cx="3790122" cy="432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014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1066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Andalus" panose="02020603050405020304" pitchFamily="18" charset="-78"/>
                <a:cs typeface="Andalus" panose="02020603050405020304" pitchFamily="18" charset="-78"/>
              </a:rPr>
              <a:t>PENIS: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21" y="940904"/>
            <a:ext cx="11396869" cy="561892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200" u="sng" dirty="0">
                <a:solidFill>
                  <a:srgbClr val="FF0000"/>
                </a:solidFill>
                <a:cs typeface="Akhbar MT" pitchFamily="2" charset="-78"/>
              </a:rPr>
              <a:t>Penile urethra: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cs typeface="Akhbar MT" pitchFamily="2" charset="-78"/>
              </a:rPr>
              <a:t>Lined by </a:t>
            </a:r>
            <a:r>
              <a:rPr lang="en-US" sz="3200" u="sng" dirty="0">
                <a:cs typeface="Akhbar MT" pitchFamily="2" charset="-78"/>
              </a:rPr>
              <a:t>PSEUDOSTRATIFIED COLUMNAR EPI</a:t>
            </a:r>
            <a:r>
              <a:rPr lang="en-US" sz="3200" dirty="0">
                <a:cs typeface="Akhbar MT" pitchFamily="2" charset="-78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cs typeface="Akhbar MT" pitchFamily="2" charset="-78"/>
              </a:rPr>
              <a:t>At glans: lined by </a:t>
            </a:r>
            <a:r>
              <a:rPr lang="en-US" sz="3200" u="sng" dirty="0">
                <a:cs typeface="Akhbar MT" pitchFamily="2" charset="-78"/>
              </a:rPr>
              <a:t>STRATIFIED SQUAMOUS NON-KERATINIZED</a:t>
            </a:r>
            <a:r>
              <a:rPr lang="en-US" sz="3200" dirty="0">
                <a:cs typeface="Akhbar MT" pitchFamily="2" charset="-78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200" u="sng" dirty="0">
                <a:solidFill>
                  <a:srgbClr val="FF0000"/>
                </a:solidFill>
                <a:cs typeface="Akhbar MT" pitchFamily="2" charset="-78"/>
              </a:rPr>
              <a:t>Corpora: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cs typeface="Akhbar MT" pitchFamily="2" charset="-78"/>
              </a:rPr>
              <a:t>Composed of </a:t>
            </a:r>
            <a:r>
              <a:rPr lang="en-US" sz="3200" u="sng" dirty="0">
                <a:cs typeface="Akhbar MT" pitchFamily="2" charset="-78"/>
              </a:rPr>
              <a:t>VENOUS CAVERNOUS SPACES</a:t>
            </a:r>
            <a:r>
              <a:rPr lang="en-US" sz="3200" dirty="0">
                <a:cs typeface="Akhbar MT" pitchFamily="2" charset="-78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cs typeface="Akhbar MT" pitchFamily="2" charset="-78"/>
              </a:rPr>
              <a:t>Lined by </a:t>
            </a:r>
            <a:r>
              <a:rPr lang="en-US" sz="3200" u="sng" dirty="0">
                <a:cs typeface="Akhbar MT" pitchFamily="2" charset="-78"/>
              </a:rPr>
              <a:t>ENDOTHELIUM</a:t>
            </a:r>
            <a:r>
              <a:rPr lang="en-US" sz="3200" dirty="0">
                <a:cs typeface="Akhbar MT" pitchFamily="2" charset="-78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cs typeface="Akhbar MT" pitchFamily="2" charset="-78"/>
              </a:rPr>
              <a:t>Separated by </a:t>
            </a:r>
            <a:r>
              <a:rPr lang="en-US" sz="3200" u="sng" dirty="0">
                <a:cs typeface="Akhbar MT" pitchFamily="2" charset="-78"/>
              </a:rPr>
              <a:t>TRABICULAE, SMOOTH MUSCLES, and CT</a:t>
            </a:r>
            <a:r>
              <a:rPr lang="en-US" sz="3200" dirty="0">
                <a:cs typeface="Akhbar MT" pitchFamily="2" charset="-78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200" u="sng" dirty="0">
                <a:solidFill>
                  <a:srgbClr val="FF0000"/>
                </a:solidFill>
                <a:cs typeface="Akhbar MT" pitchFamily="2" charset="-78"/>
              </a:rPr>
              <a:t>CORPORA CAVERNOSA </a:t>
            </a:r>
            <a:r>
              <a:rPr lang="en-US" sz="3200" dirty="0">
                <a:cs typeface="Akhbar MT" pitchFamily="2" charset="-78"/>
              </a:rPr>
              <a:t>surrounded by: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cs typeface="Akhbar MT" pitchFamily="2" charset="-78"/>
              </a:rPr>
              <a:t>Dens fibro elastic membrane {TONICA ALBUGINEA}.</a:t>
            </a:r>
          </a:p>
        </p:txBody>
      </p:sp>
    </p:spTree>
    <p:extLst>
      <p:ext uri="{BB962C8B-B14F-4D97-AF65-F5344CB8AC3E}">
        <p14:creationId xmlns:p14="http://schemas.microsoft.com/office/powerpoint/2010/main" val="28832487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:\khooolio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179" y="0"/>
            <a:ext cx="12271180" cy="67531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0634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821</Words>
  <Application>Microsoft Office PowerPoint</Application>
  <PresentationFormat>Widescreen</PresentationFormat>
  <Paragraphs>165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4" baseType="lpstr">
      <vt:lpstr>Akhbar MT</vt:lpstr>
      <vt:lpstr>Andalus</vt:lpstr>
      <vt:lpstr>Arial</vt:lpstr>
      <vt:lpstr>Berlin Sans FB</vt:lpstr>
      <vt:lpstr>Bernard MT Condensed</vt:lpstr>
      <vt:lpstr>Blackadder ITC</vt:lpstr>
      <vt:lpstr>Calibri</vt:lpstr>
      <vt:lpstr>Calibri Light</vt:lpstr>
      <vt:lpstr>Candara</vt:lpstr>
      <vt:lpstr>Courier New</vt:lpstr>
      <vt:lpstr>Forte</vt:lpstr>
      <vt:lpstr>Wingdings</vt:lpstr>
      <vt:lpstr>Office Theme</vt:lpstr>
      <vt:lpstr>MALE REPRODUCTIVE SYSTEM</vt:lpstr>
      <vt:lpstr>ANATOMICAL ASPECTS:</vt:lpstr>
      <vt:lpstr>TESTIS</vt:lpstr>
      <vt:lpstr>INTERSTITIAL CT</vt:lpstr>
      <vt:lpstr>INTERSTITIAL {LEYDIG} CELLS</vt:lpstr>
      <vt:lpstr>SEMINIFEROUS TUBULES</vt:lpstr>
      <vt:lpstr>SEMINIFEROUS TUBULES</vt:lpstr>
      <vt:lpstr>SEMINIFEROUS TUBULES: STRUCTURES</vt:lpstr>
      <vt:lpstr>SEMINIFEROUS TUBULES: STRUCTURES</vt:lpstr>
      <vt:lpstr>SERTOLI CELLS:</vt:lpstr>
      <vt:lpstr>INTRATESTICULAR DUCTS</vt:lpstr>
      <vt:lpstr>Straight Tubules</vt:lpstr>
      <vt:lpstr>Rete Testis</vt:lpstr>
      <vt:lpstr>Rete Testis</vt:lpstr>
      <vt:lpstr>Efferent Ductules</vt:lpstr>
      <vt:lpstr>PowerPoint Presentation</vt:lpstr>
      <vt:lpstr>EXCRETORY GENITAL DUCTS</vt:lpstr>
      <vt:lpstr>Epididymis: Structures.</vt:lpstr>
      <vt:lpstr>Epididymis: Structures.</vt:lpstr>
      <vt:lpstr>Ductus or Vas Deferens: Structures</vt:lpstr>
      <vt:lpstr>Ductus or Vas Deferens: Structures</vt:lpstr>
      <vt:lpstr>ACCESSORY GLANDS</vt:lpstr>
      <vt:lpstr>ACCESSORY GLANDS</vt:lpstr>
      <vt:lpstr>Seminal Vesicles</vt:lpstr>
      <vt:lpstr>Seminal Vesicles</vt:lpstr>
      <vt:lpstr>Seminal Vesicles</vt:lpstr>
      <vt:lpstr>Prostate Gland</vt:lpstr>
      <vt:lpstr>Prostate Gland: structures</vt:lpstr>
      <vt:lpstr>Prostate Gland : structures</vt:lpstr>
      <vt:lpstr>Prostate Gland: structures</vt:lpstr>
      <vt:lpstr>Prostate Gland : structures</vt:lpstr>
      <vt:lpstr>Prostate Gland: structures</vt:lpstr>
      <vt:lpstr>Prostate Gland : structures</vt:lpstr>
      <vt:lpstr>Prostate Gland: structures</vt:lpstr>
      <vt:lpstr>Prostate Gland: structures</vt:lpstr>
      <vt:lpstr>Prostate Gland: structures</vt:lpstr>
      <vt:lpstr>Bulbourethral Glands(COWPER’S GLANDS)</vt:lpstr>
      <vt:lpstr>Bulbourethral Glands(COWPER’S GLANDS)</vt:lpstr>
      <vt:lpstr>PENIS: Structures</vt:lpstr>
      <vt:lpstr>PENIS: Structures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MALE REPRODUCTIVE SYSTEM</dc:title>
  <dc:creator>User</dc:creator>
  <cp:lastModifiedBy>Mohamed Hammad</cp:lastModifiedBy>
  <cp:revision>34</cp:revision>
  <dcterms:created xsi:type="dcterms:W3CDTF">2016-03-29T15:32:07Z</dcterms:created>
  <dcterms:modified xsi:type="dcterms:W3CDTF">2025-10-24T19:00:15Z</dcterms:modified>
</cp:coreProperties>
</file>