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1" r:id="rId4"/>
    <p:sldId id="258" r:id="rId5"/>
    <p:sldId id="287" r:id="rId6"/>
    <p:sldId id="282" r:id="rId7"/>
    <p:sldId id="283" r:id="rId8"/>
    <p:sldId id="259" r:id="rId9"/>
    <p:sldId id="288" r:id="rId10"/>
    <p:sldId id="289" r:id="rId11"/>
    <p:sldId id="260" r:id="rId12"/>
    <p:sldId id="267" r:id="rId13"/>
    <p:sldId id="290" r:id="rId14"/>
    <p:sldId id="291" r:id="rId15"/>
    <p:sldId id="292" r:id="rId16"/>
    <p:sldId id="268" r:id="rId17"/>
    <p:sldId id="270" r:id="rId18"/>
    <p:sldId id="271" r:id="rId19"/>
    <p:sldId id="272" r:id="rId20"/>
    <p:sldId id="273" r:id="rId21"/>
    <p:sldId id="274" r:id="rId22"/>
    <p:sldId id="293" r:id="rId23"/>
    <p:sldId id="275" r:id="rId24"/>
    <p:sldId id="277" r:id="rId25"/>
    <p:sldId id="284" r:id="rId26"/>
    <p:sldId id="285" r:id="rId27"/>
    <p:sldId id="278" r:id="rId28"/>
    <p:sldId id="295" r:id="rId29"/>
    <p:sldId id="286" r:id="rId30"/>
    <p:sldId id="294" r:id="rId31"/>
    <p:sldId id="276" r:id="rId32"/>
    <p:sldId id="279" r:id="rId33"/>
    <p:sldId id="28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676400"/>
            <a:ext cx="7406640" cy="147218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Acid-Base Balance</a:t>
            </a:r>
          </a:p>
        </p:txBody>
      </p:sp>
    </p:spTree>
    <p:extLst>
      <p:ext uri="{BB962C8B-B14F-4D97-AF65-F5344CB8AC3E}">
        <p14:creationId xmlns:p14="http://schemas.microsoft.com/office/powerpoint/2010/main" val="267034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Objectives: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749808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 </a:t>
            </a:r>
            <a:r>
              <a:rPr lang="en-US" dirty="0"/>
              <a:t>to the acid-base </a:t>
            </a:r>
            <a:r>
              <a:rPr lang="en-US" dirty="0" smtClean="0"/>
              <a:t>balance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Systems responsible for the maintenance of the acid-base </a:t>
            </a:r>
            <a:r>
              <a:rPr lang="en-US" dirty="0" smtClean="0"/>
              <a:t>balance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Basic disorders of the acid-base balance and means of compensation</a:t>
            </a:r>
          </a:p>
          <a:p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51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410" y="936567"/>
            <a:ext cx="8019288" cy="5943600"/>
          </a:xfrm>
        </p:spPr>
        <p:txBody>
          <a:bodyPr/>
          <a:lstStyle/>
          <a:p>
            <a:r>
              <a:rPr lang="en-US" dirty="0"/>
              <a:t>Acid-base balance is very important for the </a:t>
            </a:r>
            <a:r>
              <a:rPr lang="en-US" dirty="0" smtClean="0"/>
              <a:t>homeostasis of </a:t>
            </a:r>
            <a:r>
              <a:rPr lang="en-US" dirty="0"/>
              <a:t>the </a:t>
            </a:r>
            <a:r>
              <a:rPr lang="en-US" dirty="0" smtClean="0"/>
              <a:t>body</a:t>
            </a:r>
          </a:p>
          <a:p>
            <a:pPr marL="82296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r>
              <a:rPr lang="en-US" dirty="0" smtClean="0"/>
              <a:t>almost </a:t>
            </a:r>
            <a:r>
              <a:rPr lang="en-US" dirty="0"/>
              <a:t>all the physiological </a:t>
            </a:r>
            <a:r>
              <a:rPr lang="en-US" dirty="0" smtClean="0"/>
              <a:t>activities depend </a:t>
            </a:r>
            <a:r>
              <a:rPr lang="en-US" dirty="0"/>
              <a:t>upon the acid-base status of the body.</a:t>
            </a:r>
          </a:p>
        </p:txBody>
      </p:sp>
    </p:spTree>
    <p:extLst>
      <p:ext uri="{BB962C8B-B14F-4D97-AF65-F5344CB8AC3E}">
        <p14:creationId xmlns:p14="http://schemas.microsoft.com/office/powerpoint/2010/main" val="213800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7943088" cy="58674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Acid</a:t>
            </a:r>
          </a:p>
          <a:p>
            <a:r>
              <a:rPr lang="en-US" dirty="0"/>
              <a:t>Any compound which forms H⁺ ions in</a:t>
            </a:r>
          </a:p>
          <a:p>
            <a:pPr marL="82296" indent="0">
              <a:buNone/>
            </a:pPr>
            <a:r>
              <a:rPr lang="en-US" dirty="0"/>
              <a:t>solution (proton donors)</a:t>
            </a:r>
          </a:p>
          <a:p>
            <a:r>
              <a:rPr lang="en-US" dirty="0" err="1"/>
              <a:t>eg</a:t>
            </a:r>
            <a:r>
              <a:rPr lang="en-US" dirty="0"/>
              <a:t>: Carbonic acid releases H⁺ ions</a:t>
            </a:r>
          </a:p>
          <a:p>
            <a:pPr marL="82296" indent="0">
              <a:buNone/>
            </a:pPr>
            <a:r>
              <a:rPr lang="en-US" sz="3600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</a:t>
            </a:r>
          </a:p>
          <a:p>
            <a:r>
              <a:rPr lang="en-US" dirty="0"/>
              <a:t>Any compound which combines </a:t>
            </a:r>
            <a:r>
              <a:rPr lang="en-US" dirty="0" smtClean="0"/>
              <a:t>with H</a:t>
            </a:r>
            <a:r>
              <a:rPr lang="en-US" dirty="0"/>
              <a:t>⁺ ions in solution (proton acceptors)</a:t>
            </a:r>
          </a:p>
          <a:p>
            <a:r>
              <a:rPr lang="en-US" dirty="0" err="1"/>
              <a:t>eg</a:t>
            </a:r>
            <a:r>
              <a:rPr lang="en-US" dirty="0" smtClean="0"/>
              <a:t>: Bicarbonate(HCO3</a:t>
            </a:r>
            <a:r>
              <a:rPr lang="en-US" dirty="0"/>
              <a:t>⁻) accepts H+ </a:t>
            </a:r>
            <a:r>
              <a:rPr lang="en-US" dirty="0" smtClean="0"/>
              <a:t>ions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2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066800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Acids and bases can be:</a:t>
            </a:r>
          </a:p>
          <a:p>
            <a:r>
              <a:rPr lang="en-US" dirty="0"/>
              <a:t>Strong : dissociate </a:t>
            </a:r>
            <a:r>
              <a:rPr lang="en-US" b="1" u="sng" dirty="0"/>
              <a:t>completely</a:t>
            </a:r>
            <a:r>
              <a:rPr lang="en-US" dirty="0"/>
              <a:t> in solution </a:t>
            </a:r>
            <a:r>
              <a:rPr lang="en-US" dirty="0" smtClean="0"/>
              <a:t> </a:t>
            </a:r>
            <a:r>
              <a:rPr lang="en-US" dirty="0" err="1" smtClean="0"/>
              <a:t>HCl</a:t>
            </a:r>
            <a:r>
              <a:rPr lang="en-US" dirty="0"/>
              <a:t>, </a:t>
            </a:r>
            <a:r>
              <a:rPr lang="en-US" dirty="0" err="1" smtClean="0"/>
              <a:t>NaOH</a:t>
            </a:r>
            <a:endParaRPr lang="en-US" dirty="0" smtClean="0"/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Weak : </a:t>
            </a:r>
            <a:r>
              <a:rPr lang="en-US" dirty="0" smtClean="0"/>
              <a:t>dissociate</a:t>
            </a:r>
            <a:r>
              <a:rPr lang="en-US" b="1" u="sng" dirty="0" smtClean="0"/>
              <a:t> </a:t>
            </a:r>
            <a:r>
              <a:rPr lang="en-US" b="1" u="sng" dirty="0"/>
              <a:t>partially </a:t>
            </a:r>
            <a:r>
              <a:rPr lang="en-US" dirty="0"/>
              <a:t>in </a:t>
            </a:r>
            <a:r>
              <a:rPr lang="en-US" dirty="0" smtClean="0"/>
              <a:t>solution Lactic </a:t>
            </a:r>
            <a:r>
              <a:rPr lang="en-US" dirty="0"/>
              <a:t>acid, carbonic acid</a:t>
            </a:r>
          </a:p>
        </p:txBody>
      </p:sp>
    </p:spTree>
    <p:extLst>
      <p:ext uri="{BB962C8B-B14F-4D97-AF65-F5344CB8AC3E}">
        <p14:creationId xmlns:p14="http://schemas.microsoft.com/office/powerpoint/2010/main" val="23420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Acid–Base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pH </a:t>
            </a:r>
            <a:r>
              <a:rPr lang="en-US" dirty="0" smtClean="0"/>
              <a:t>is term used for H</a:t>
            </a:r>
            <a:r>
              <a:rPr lang="en-US" dirty="0" smtClean="0">
                <a:latin typeface="Calibri"/>
              </a:rPr>
              <a:t>⁺ </a:t>
            </a:r>
            <a:r>
              <a:rPr lang="en-US" dirty="0" smtClean="0"/>
              <a:t>concentration</a:t>
            </a:r>
          </a:p>
          <a:p>
            <a:r>
              <a:rPr lang="en-US" dirty="0"/>
              <a:t>Negative logarithm of </a:t>
            </a:r>
            <a:r>
              <a:rPr lang="en-US" dirty="0" smtClean="0"/>
              <a:t>H</a:t>
            </a:r>
            <a:r>
              <a:rPr lang="en-US" dirty="0" smtClean="0">
                <a:latin typeface="Calibri"/>
              </a:rPr>
              <a:t>⁺</a:t>
            </a:r>
            <a:r>
              <a:rPr lang="en-US" dirty="0" smtClean="0"/>
              <a:t> </a:t>
            </a:r>
            <a:r>
              <a:rPr lang="en-US" dirty="0"/>
              <a:t>concentration is taken </a:t>
            </a:r>
            <a:r>
              <a:rPr lang="en-US" dirty="0" smtClean="0"/>
              <a:t>for calculating </a:t>
            </a:r>
            <a:r>
              <a:rPr lang="en-US" dirty="0"/>
              <a:t>the pH as given below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495800"/>
            <a:ext cx="4050507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55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7866888" cy="4800600"/>
          </a:xfrm>
        </p:spPr>
        <p:txBody>
          <a:bodyPr/>
          <a:lstStyle/>
          <a:p>
            <a:r>
              <a:rPr lang="en-US" dirty="0"/>
              <a:t>An increase in </a:t>
            </a:r>
            <a:r>
              <a:rPr lang="en-US" dirty="0" smtClean="0"/>
              <a:t>H</a:t>
            </a:r>
            <a:r>
              <a:rPr lang="en-US" dirty="0" smtClean="0">
                <a:latin typeface="Calibri"/>
              </a:rPr>
              <a:t>⁺</a:t>
            </a:r>
            <a:r>
              <a:rPr lang="en-US" dirty="0" smtClean="0"/>
              <a:t> </a:t>
            </a:r>
            <a:r>
              <a:rPr lang="en-US" dirty="0"/>
              <a:t>ion concentration </a:t>
            </a:r>
            <a:r>
              <a:rPr lang="en-US" dirty="0" smtClean="0"/>
              <a:t>decreases the pH </a:t>
            </a:r>
            <a:r>
              <a:rPr lang="en-US" dirty="0"/>
              <a:t>and a reduction in </a:t>
            </a:r>
            <a:r>
              <a:rPr lang="en-US" dirty="0" smtClean="0"/>
              <a:t>H</a:t>
            </a:r>
            <a:r>
              <a:rPr lang="en-US" dirty="0" smtClean="0">
                <a:latin typeface="Calibri"/>
              </a:rPr>
              <a:t>⁺</a:t>
            </a:r>
            <a:r>
              <a:rPr lang="en-US" dirty="0" smtClean="0"/>
              <a:t> concentration increases </a:t>
            </a:r>
            <a:r>
              <a:rPr lang="en-US" dirty="0"/>
              <a:t>the pH </a:t>
            </a:r>
            <a:r>
              <a:rPr lang="en-US" dirty="0" smtClean="0"/>
              <a:t>. </a:t>
            </a:r>
          </a:p>
          <a:p>
            <a:pPr marL="82296" indent="0">
              <a:buNone/>
            </a:pP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increase in pH </a:t>
            </a:r>
            <a:r>
              <a:rPr lang="en-US"/>
              <a:t>by </a:t>
            </a:r>
            <a:r>
              <a:rPr lang="en-US" smtClean="0"/>
              <a:t>one fold </a:t>
            </a:r>
            <a:r>
              <a:rPr lang="en-US" dirty="0" smtClean="0"/>
              <a:t>requires </a:t>
            </a:r>
            <a:r>
              <a:rPr lang="en-US" dirty="0"/>
              <a:t>a tenfold decrease in </a:t>
            </a:r>
            <a:r>
              <a:rPr lang="en-US" dirty="0" smtClean="0"/>
              <a:t>H</a:t>
            </a:r>
            <a:r>
              <a:rPr lang="en-US" dirty="0" smtClean="0">
                <a:latin typeface="Calibri"/>
              </a:rPr>
              <a:t>⁺</a:t>
            </a:r>
            <a:r>
              <a:rPr lang="en-US" dirty="0" smtClean="0"/>
              <a:t> concentration</a:t>
            </a:r>
          </a:p>
          <a:p>
            <a:pPr marL="82296" indent="0">
              <a:buNone/>
            </a:pPr>
            <a:endParaRPr lang="en-US" dirty="0" smtClean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90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Acid–Base </a:t>
            </a:r>
            <a:r>
              <a:rPr lang="en-US" dirty="0" smtClean="0"/>
              <a:t>Balance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62000"/>
            <a:ext cx="8458200" cy="56388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Normal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pH :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7.38-7.42 , Average (7.4)</a:t>
            </a:r>
          </a:p>
          <a:p>
            <a:pPr marL="82296" indent="0">
              <a:buNone/>
            </a:pPr>
            <a:r>
              <a:rPr lang="en-US" b="1" u="sng" dirty="0" smtClean="0"/>
              <a:t>Acidosis</a:t>
            </a:r>
            <a:endParaRPr lang="en-US" b="1" u="sng" dirty="0"/>
          </a:p>
          <a:p>
            <a:pPr marL="82296" indent="0">
              <a:buNone/>
            </a:pPr>
            <a:r>
              <a:rPr lang="en-US" dirty="0"/>
              <a:t>Physiological state resulting </a:t>
            </a:r>
            <a:r>
              <a:rPr lang="en-US" dirty="0" smtClean="0"/>
              <a:t>from abnormally </a:t>
            </a:r>
            <a:r>
              <a:rPr lang="en-US" dirty="0"/>
              <a:t>low plasma </a:t>
            </a:r>
            <a:r>
              <a:rPr lang="en-US" dirty="0" smtClean="0"/>
              <a:t>pH  (pH &lt; 7.35= </a:t>
            </a:r>
            <a:r>
              <a:rPr lang="en-US" dirty="0" err="1" smtClean="0"/>
              <a:t>acedemia</a:t>
            </a:r>
            <a:r>
              <a:rPr lang="en-US" dirty="0" smtClean="0"/>
              <a:t>)</a:t>
            </a:r>
          </a:p>
          <a:p>
            <a:pPr marL="82296" indent="0">
              <a:buNone/>
            </a:pPr>
            <a:r>
              <a:rPr lang="en-US" b="1" u="sng" dirty="0" smtClean="0"/>
              <a:t>Alkalosis</a:t>
            </a:r>
            <a:endParaRPr lang="en-US" b="1" u="sng" dirty="0"/>
          </a:p>
          <a:p>
            <a:pPr marL="82296" indent="0">
              <a:buNone/>
            </a:pPr>
            <a:r>
              <a:rPr lang="en-US" dirty="0"/>
              <a:t>Physiological state resulting from abnormally high plasma </a:t>
            </a:r>
            <a:r>
              <a:rPr lang="en-US" dirty="0" smtClean="0"/>
              <a:t>pH ( pH &gt; 7.45= </a:t>
            </a:r>
            <a:r>
              <a:rPr lang="en-US" dirty="0" err="1" smtClean="0"/>
              <a:t>alkalemia</a:t>
            </a:r>
            <a:r>
              <a:rPr lang="en-US" dirty="0" smtClean="0"/>
              <a:t>)</a:t>
            </a:r>
          </a:p>
          <a:p>
            <a:pPr marL="82296" indent="0">
              <a:buNone/>
            </a:pPr>
            <a:endParaRPr lang="en-US" dirty="0" smtClean="0"/>
          </a:p>
          <a:p>
            <a:r>
              <a:rPr lang="en-US" dirty="0" smtClean="0"/>
              <a:t>pH &lt; </a:t>
            </a:r>
            <a:r>
              <a:rPr lang="en-US" dirty="0"/>
              <a:t>6.8 or &gt; 8.0 </a:t>
            </a:r>
            <a:r>
              <a:rPr lang="en-US" dirty="0" smtClean="0"/>
              <a:t>lead to death </a:t>
            </a: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236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916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839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dirty="0"/>
              <a:t>Extensive deviations of pH value can </a:t>
            </a:r>
            <a:r>
              <a:rPr lang="en-US" dirty="0" smtClean="0"/>
              <a:t>affect:</a:t>
            </a:r>
          </a:p>
          <a:p>
            <a:r>
              <a:rPr lang="en-US" dirty="0" smtClean="0"/>
              <a:t> enzymes</a:t>
            </a:r>
          </a:p>
          <a:p>
            <a:pPr marL="82296" indent="0">
              <a:buNone/>
            </a:pPr>
            <a:r>
              <a:rPr lang="en-US" dirty="0" smtClean="0"/>
              <a:t> ( </a:t>
            </a:r>
            <a:r>
              <a:rPr lang="en-US" dirty="0"/>
              <a:t>change of protein structure </a:t>
            </a:r>
            <a:r>
              <a:rPr lang="en-US" dirty="0" smtClean="0"/>
              <a:t>)</a:t>
            </a:r>
          </a:p>
          <a:p>
            <a:r>
              <a:rPr lang="en-US" dirty="0" smtClean="0"/>
              <a:t>membranes permeability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electrolyte </a:t>
            </a:r>
            <a:r>
              <a:rPr lang="en-US" dirty="0"/>
              <a:t>distribution.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7943088" cy="5791200"/>
          </a:xfrm>
        </p:spPr>
        <p:txBody>
          <a:bodyPr>
            <a:normAutofit/>
          </a:bodyPr>
          <a:lstStyle/>
          <a:p>
            <a:r>
              <a:rPr lang="en-US" dirty="0"/>
              <a:t>The body produces more acids than </a:t>
            </a:r>
            <a:r>
              <a:rPr lang="en-US" dirty="0" smtClean="0"/>
              <a:t>bases.</a:t>
            </a:r>
          </a:p>
          <a:p>
            <a:pPr marL="82296" indent="0">
              <a:buNone/>
            </a:pPr>
            <a:r>
              <a:rPr lang="en-US" u="sng" dirty="0"/>
              <a:t>Sources of acids in body:</a:t>
            </a:r>
          </a:p>
          <a:p>
            <a:r>
              <a:rPr lang="en-US" dirty="0"/>
              <a:t>Ingestion of acidifying salt with foods </a:t>
            </a:r>
          </a:p>
          <a:p>
            <a:r>
              <a:rPr lang="en-US" dirty="0"/>
              <a:t>Fixed acid e.g. H₂SO₄ </a:t>
            </a:r>
            <a:endParaRPr lang="en-US" dirty="0" smtClean="0"/>
          </a:p>
          <a:p>
            <a:r>
              <a:rPr lang="en-US" dirty="0" smtClean="0"/>
              <a:t>Organic </a:t>
            </a:r>
            <a:r>
              <a:rPr lang="en-US" dirty="0"/>
              <a:t>acid (Lactic acid ) </a:t>
            </a:r>
          </a:p>
          <a:p>
            <a:r>
              <a:rPr lang="en-US" dirty="0"/>
              <a:t>Cellular metabolism produces CO2. </a:t>
            </a:r>
          </a:p>
          <a:p>
            <a:endParaRPr lang="en-US" dirty="0" smtClean="0"/>
          </a:p>
          <a:p>
            <a:pPr marL="82296" indent="0">
              <a:buNone/>
            </a:pPr>
            <a:r>
              <a:rPr lang="en-US" sz="2800" b="1" dirty="0" smtClean="0"/>
              <a:t>CO2  </a:t>
            </a:r>
            <a:r>
              <a:rPr lang="en-US" sz="2800" b="1" dirty="0"/>
              <a:t>+  H20  ↔ H2CO3  ↔    </a:t>
            </a:r>
            <a:r>
              <a:rPr lang="en-US" sz="2800" b="1" dirty="0" smtClean="0"/>
              <a:t>H</a:t>
            </a:r>
            <a:r>
              <a:rPr lang="en-US" sz="2800" b="1" dirty="0" smtClean="0">
                <a:latin typeface="Calibri"/>
              </a:rPr>
              <a:t>⁺</a:t>
            </a:r>
            <a:r>
              <a:rPr lang="en-US" sz="2800" b="1" dirty="0" smtClean="0"/>
              <a:t>  </a:t>
            </a:r>
            <a:r>
              <a:rPr lang="en-US" sz="2800" b="1" dirty="0"/>
              <a:t>+ </a:t>
            </a:r>
            <a:r>
              <a:rPr lang="en-US" sz="2800" b="1" dirty="0" smtClean="0"/>
              <a:t>HCO3</a:t>
            </a:r>
            <a:r>
              <a:rPr lang="en-US" sz="2800" b="1" dirty="0" smtClean="0">
                <a:latin typeface="Calibri"/>
              </a:rPr>
              <a:t>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64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u="sng" dirty="0"/>
              <a:t>Sources of Alkali in the body</a:t>
            </a:r>
            <a:r>
              <a:rPr lang="en-US" u="sng" dirty="0" smtClean="0"/>
              <a:t>:</a:t>
            </a:r>
          </a:p>
          <a:p>
            <a:pPr marL="82296" indent="0">
              <a:buNone/>
            </a:pPr>
            <a:endParaRPr lang="en-US" u="sng" dirty="0"/>
          </a:p>
          <a:p>
            <a:r>
              <a:rPr lang="en-US" dirty="0"/>
              <a:t>Loss of gastric acid</a:t>
            </a:r>
          </a:p>
          <a:p>
            <a:r>
              <a:rPr lang="en-US" dirty="0"/>
              <a:t>Ingestion of alkalinizing salt </a:t>
            </a:r>
            <a:endParaRPr lang="en-US" dirty="0" smtClean="0"/>
          </a:p>
          <a:p>
            <a:r>
              <a:rPr lang="en-US" dirty="0" smtClean="0"/>
              <a:t>Ingestion </a:t>
            </a:r>
            <a:r>
              <a:rPr lang="en-US" dirty="0"/>
              <a:t>of fruits rich in </a:t>
            </a:r>
            <a:r>
              <a:rPr lang="en-US" dirty="0" smtClean="0"/>
              <a:t>alkaline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Mechanisms of regulation </a:t>
            </a:r>
            <a:r>
              <a:rPr lang="en-US" dirty="0" smtClean="0"/>
              <a:t>of acid </a:t>
            </a:r>
            <a:r>
              <a:rPr lang="en-US" dirty="0"/>
              <a:t>base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52600"/>
            <a:ext cx="8342930" cy="4800600"/>
          </a:xfrm>
        </p:spPr>
        <p:txBody>
          <a:bodyPr/>
          <a:lstStyle/>
          <a:p>
            <a:pPr marL="82296" indent="0">
              <a:buNone/>
            </a:pPr>
            <a:r>
              <a:rPr lang="en-US" dirty="0"/>
              <a:t>Include three lines of </a:t>
            </a:r>
            <a:r>
              <a:rPr lang="en-US" dirty="0" smtClean="0"/>
              <a:t>defense mechanisms: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Buffer system</a:t>
            </a:r>
          </a:p>
          <a:p>
            <a:r>
              <a:rPr lang="en-US" dirty="0"/>
              <a:t>Respiratory system</a:t>
            </a:r>
          </a:p>
          <a:p>
            <a:r>
              <a:rPr lang="en-US" dirty="0" smtClean="0"/>
              <a:t>Renal system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5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1-Buffer systems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7943088" cy="4800600"/>
          </a:xfrm>
        </p:spPr>
        <p:txBody>
          <a:bodyPr>
            <a:normAutofit/>
          </a:bodyPr>
          <a:lstStyle/>
          <a:p>
            <a:r>
              <a:rPr lang="en-US" dirty="0"/>
              <a:t>Buffer is a chemical substance formed of weak acid and alkali act to resist changes in </a:t>
            </a:r>
            <a:r>
              <a:rPr lang="en-US" dirty="0" err="1"/>
              <a:t>pH.</a:t>
            </a:r>
            <a:endParaRPr lang="en-US" dirty="0"/>
          </a:p>
          <a:p>
            <a:endParaRPr lang="en-US" dirty="0"/>
          </a:p>
          <a:p>
            <a:r>
              <a:rPr lang="en-US" dirty="0"/>
              <a:t>buffer is a substance that has the ability to bind or release </a:t>
            </a:r>
            <a:r>
              <a:rPr lang="en-US" dirty="0" smtClean="0"/>
              <a:t>hydrogen ions  </a:t>
            </a:r>
            <a:r>
              <a:rPr lang="en-US" dirty="0"/>
              <a:t>in solution , thus keeping the pH relatively constant despite the addition of considerable quantities of acid or base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41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86542"/>
            <a:ext cx="8382000" cy="6465916"/>
          </a:xfrm>
        </p:spPr>
        <p:txBody>
          <a:bodyPr>
            <a:normAutofit/>
          </a:bodyPr>
          <a:lstStyle/>
          <a:p>
            <a:r>
              <a:rPr lang="en-US" dirty="0" smtClean="0"/>
              <a:t>Types of buffers:</a:t>
            </a:r>
          </a:p>
          <a:p>
            <a:pPr marL="82296" indent="0">
              <a:buNone/>
            </a:pPr>
            <a:r>
              <a:rPr lang="en-US" u="sng" dirty="0"/>
              <a:t>A-Bicarbonate </a:t>
            </a:r>
            <a:r>
              <a:rPr lang="en-US" u="sng" dirty="0" smtClean="0"/>
              <a:t>buffer</a:t>
            </a:r>
          </a:p>
          <a:p>
            <a:pPr marL="82296" indent="0">
              <a:buNone/>
            </a:pPr>
            <a:r>
              <a:rPr lang="pt-BR" dirty="0" smtClean="0"/>
              <a:t>HCl + NaHCO3  ↔ H2CO3  + NaCl</a:t>
            </a:r>
          </a:p>
          <a:p>
            <a:pPr marL="82296" indent="0">
              <a:buNone/>
            </a:pPr>
            <a:r>
              <a:rPr lang="pt-BR" dirty="0" smtClean="0"/>
              <a:t>NaOH + H2CO3  ↔ NaHCO3  + H2O</a:t>
            </a:r>
          </a:p>
          <a:p>
            <a:pPr marL="82296" indent="0">
              <a:buNone/>
            </a:pPr>
            <a:r>
              <a:rPr lang="pt-BR" dirty="0" smtClean="0"/>
              <a:t>B</a:t>
            </a:r>
            <a:r>
              <a:rPr lang="pt-BR" u="sng" dirty="0" smtClean="0"/>
              <a:t>- Phosphate buffer</a:t>
            </a:r>
          </a:p>
          <a:p>
            <a:pPr marL="82296" indent="0">
              <a:buNone/>
            </a:pPr>
            <a:r>
              <a:rPr lang="pt-BR" dirty="0" smtClean="0"/>
              <a:t>Major intracellular buffer</a:t>
            </a:r>
          </a:p>
          <a:p>
            <a:pPr marL="82296" indent="0">
              <a:buNone/>
            </a:pPr>
            <a:r>
              <a:rPr lang="pt-BR" dirty="0" smtClean="0"/>
              <a:t>H+ + HPO42- ↔  H2PO4-</a:t>
            </a:r>
          </a:p>
          <a:p>
            <a:pPr marL="82296" indent="0">
              <a:buNone/>
            </a:pPr>
            <a:r>
              <a:rPr lang="pt-BR" dirty="0" smtClean="0"/>
              <a:t>OH- + H2PO4-  ↔ H2O + H2PO42-</a:t>
            </a:r>
          </a:p>
          <a:p>
            <a:pPr marL="82296" indent="0">
              <a:buNone/>
            </a:pPr>
            <a:r>
              <a:rPr lang="pt-BR" u="sng" dirty="0" smtClean="0"/>
              <a:t>C-Protein Buffers</a:t>
            </a:r>
          </a:p>
          <a:p>
            <a:pPr marL="82296" indent="0">
              <a:buNone/>
            </a:pPr>
            <a:r>
              <a:rPr lang="pt-BR" dirty="0" smtClean="0"/>
              <a:t>Includes hemoglobin</a:t>
            </a:r>
          </a:p>
          <a:p>
            <a:pPr marL="82296" indent="0">
              <a:buNone/>
            </a:pPr>
            <a:endParaRPr lang="pt-BR" sz="2800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49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2. Respiratory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mechanisms</a:t>
            </a:r>
          </a:p>
          <a:p>
            <a:r>
              <a:rPr lang="en-US" dirty="0"/>
              <a:t>Exhalation of carbon </a:t>
            </a:r>
            <a:r>
              <a:rPr lang="en-US" dirty="0" smtClean="0"/>
              <a:t>dioxide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 smtClean="0"/>
              <a:t>Body </a:t>
            </a:r>
            <a:r>
              <a:rPr lang="en-US" dirty="0"/>
              <a:t>pH can be adjusted by changing rate and depth of breathing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13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741" y="609600"/>
            <a:ext cx="8095488" cy="4800600"/>
          </a:xfrm>
        </p:spPr>
        <p:txBody>
          <a:bodyPr/>
          <a:lstStyle/>
          <a:p>
            <a:pPr marL="82296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3. Kidney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excretion</a:t>
            </a:r>
          </a:p>
          <a:p>
            <a:r>
              <a:rPr lang="en-US" dirty="0"/>
              <a:t>Can eliminate large amounts of acid</a:t>
            </a:r>
          </a:p>
          <a:p>
            <a:pPr marL="82296" indent="0">
              <a:buNone/>
            </a:pPr>
            <a:r>
              <a:rPr lang="en-US" dirty="0" smtClean="0"/>
              <a:t>and </a:t>
            </a:r>
            <a:r>
              <a:rPr lang="en-US" dirty="0"/>
              <a:t>excrete base</a:t>
            </a:r>
          </a:p>
          <a:p>
            <a:r>
              <a:rPr lang="en-US" dirty="0"/>
              <a:t>Can conserve and produce </a:t>
            </a:r>
            <a:r>
              <a:rPr lang="en-US" dirty="0" smtClean="0"/>
              <a:t>bicarbonate  </a:t>
            </a:r>
            <a:r>
              <a:rPr lang="en-US" dirty="0"/>
              <a:t>ions</a:t>
            </a:r>
          </a:p>
          <a:p>
            <a:r>
              <a:rPr lang="en-US" dirty="0"/>
              <a:t>Most effective regulator of pH</a:t>
            </a:r>
          </a:p>
          <a:p>
            <a:r>
              <a:rPr lang="en-US" dirty="0"/>
              <a:t>If kidneys fail, pH balance fails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3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Correction of PH 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Buffers function almost </a:t>
            </a:r>
            <a:r>
              <a:rPr lang="en-US" dirty="0" smtClean="0"/>
              <a:t>immediately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Respiratory mechanisms take several </a:t>
            </a:r>
            <a:r>
              <a:rPr lang="en-US" u="sng" dirty="0"/>
              <a:t>minutes</a:t>
            </a:r>
            <a:r>
              <a:rPr lang="en-US" dirty="0"/>
              <a:t> to </a:t>
            </a:r>
            <a:r>
              <a:rPr lang="en-US" u="sng" dirty="0" smtClean="0"/>
              <a:t>hours</a:t>
            </a:r>
          </a:p>
          <a:p>
            <a:pPr marL="82296" indent="0">
              <a:buNone/>
            </a:pPr>
            <a:endParaRPr lang="en-US" u="sng" dirty="0"/>
          </a:p>
          <a:p>
            <a:r>
              <a:rPr lang="en-US" dirty="0"/>
              <a:t>Renal mechanisms may take several </a:t>
            </a:r>
            <a:r>
              <a:rPr lang="en-US" u="sng" dirty="0"/>
              <a:t>hours</a:t>
            </a:r>
            <a:r>
              <a:rPr lang="en-US" dirty="0"/>
              <a:t> to </a:t>
            </a:r>
            <a:r>
              <a:rPr lang="en-US" u="sng" dirty="0"/>
              <a:t>days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5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69612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-152400"/>
            <a:ext cx="7498080" cy="1143000"/>
          </a:xfrm>
        </p:spPr>
        <p:txBody>
          <a:bodyPr/>
          <a:lstStyle/>
          <a:p>
            <a:r>
              <a:rPr lang="en-US" dirty="0"/>
              <a:t>Acid-Base Imbalances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838200"/>
            <a:ext cx="7498080" cy="4800600"/>
          </a:xfrm>
        </p:spPr>
        <p:txBody>
          <a:bodyPr/>
          <a:lstStyle/>
          <a:p>
            <a:pPr marL="82296" indent="0" algn="ctr">
              <a:buNone/>
            </a:pPr>
            <a:r>
              <a:rPr lang="en-US" dirty="0"/>
              <a:t>pH&lt; 7.35 </a:t>
            </a:r>
            <a:r>
              <a:rPr lang="en-US" dirty="0" smtClean="0"/>
              <a:t>acidosis</a:t>
            </a:r>
          </a:p>
          <a:p>
            <a:pPr marL="82296" indent="0" algn="ctr">
              <a:buNone/>
            </a:pPr>
            <a:r>
              <a:rPr lang="en-US" dirty="0" smtClean="0"/>
              <a:t>pH </a:t>
            </a:r>
            <a:r>
              <a:rPr lang="en-US" dirty="0"/>
              <a:t>&gt; 7.45 </a:t>
            </a:r>
            <a:r>
              <a:rPr lang="en-US" dirty="0" smtClean="0"/>
              <a:t>alkalosis</a:t>
            </a:r>
            <a:endParaRPr lang="en-US" dirty="0"/>
          </a:p>
          <a:p>
            <a:r>
              <a:rPr lang="en-US" dirty="0"/>
              <a:t>The body response to acid-base imbalance is called </a:t>
            </a:r>
            <a:r>
              <a:rPr lang="en-US" b="1" dirty="0"/>
              <a:t>compensation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7848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240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5800" y="5867400"/>
            <a:ext cx="8229600" cy="609600"/>
          </a:xfrm>
          <a:prstGeom prst="rect">
            <a:avLst/>
          </a:prstGeom>
          <a:solidFill>
            <a:srgbClr val="FFFFCC"/>
          </a:soli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C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42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154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008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en-US" dirty="0"/>
              <a:t>Four Basic Types of Imbalance</a:t>
            </a:r>
          </a:p>
          <a:p>
            <a:r>
              <a:rPr lang="en-US" dirty="0"/>
              <a:t>• Metabolic Acidosis</a:t>
            </a:r>
          </a:p>
          <a:p>
            <a:r>
              <a:rPr lang="en-US" dirty="0"/>
              <a:t>• Metabolic Alkalosis</a:t>
            </a:r>
          </a:p>
          <a:p>
            <a:r>
              <a:rPr lang="en-US" dirty="0"/>
              <a:t>• Respiratory Acidosis</a:t>
            </a:r>
          </a:p>
          <a:p>
            <a:r>
              <a:rPr lang="en-US" dirty="0"/>
              <a:t>• Respiratory Alkalosis</a:t>
            </a:r>
          </a:p>
        </p:txBody>
      </p:sp>
    </p:spTree>
    <p:extLst>
      <p:ext uri="{BB962C8B-B14F-4D97-AF65-F5344CB8AC3E}">
        <p14:creationId xmlns:p14="http://schemas.microsoft.com/office/powerpoint/2010/main" val="399514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1" y="685801"/>
            <a:ext cx="9067799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857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14261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913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2131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71" y="990600"/>
            <a:ext cx="91440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157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24007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498080" cy="1143000"/>
          </a:xfrm>
        </p:spPr>
        <p:txBody>
          <a:bodyPr/>
          <a:lstStyle/>
          <a:p>
            <a:r>
              <a:rPr lang="en-US" dirty="0"/>
              <a:t>Anion gap: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7790688" cy="48006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endParaRPr lang="en-US" dirty="0"/>
          </a:p>
          <a:p>
            <a:r>
              <a:rPr lang="en-US" dirty="0"/>
              <a:t> is the difference between the sum of anions and </a:t>
            </a:r>
            <a:r>
              <a:rPr lang="en-US" dirty="0" err="1"/>
              <a:t>cations</a:t>
            </a:r>
            <a:r>
              <a:rPr lang="en-US" dirty="0"/>
              <a:t> in ECF</a:t>
            </a:r>
          </a:p>
          <a:p>
            <a:r>
              <a:rPr lang="en-US" dirty="0"/>
              <a:t>calculated as : {[Na+] + [K+ ]} _ {[</a:t>
            </a:r>
            <a:r>
              <a:rPr lang="en-US" dirty="0" err="1"/>
              <a:t>Cl</a:t>
            </a:r>
            <a:r>
              <a:rPr lang="en-US" dirty="0"/>
              <a:t>- ] + [HCO3-]}</a:t>
            </a:r>
          </a:p>
          <a:p>
            <a:r>
              <a:rPr lang="en-US" dirty="0"/>
              <a:t>normal value = 8 - 16 </a:t>
            </a:r>
            <a:r>
              <a:rPr lang="en-US" dirty="0" err="1" smtClean="0"/>
              <a:t>mEq</a:t>
            </a:r>
            <a:endParaRPr lang="en-US" dirty="0" smtClean="0"/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Used to distinguish between the type of metabolic  acidosis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15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patient is in intensive care because he suffered a severe myocardial infarction 3 days ago. The lab reports the following values from an arterial blood sample:</a:t>
            </a:r>
          </a:p>
          <a:p>
            <a:r>
              <a:rPr lang="en-US" dirty="0"/>
              <a:t>pH 7.3</a:t>
            </a:r>
          </a:p>
          <a:p>
            <a:r>
              <a:rPr lang="en-US" dirty="0"/>
              <a:t>HCO3- = 20 </a:t>
            </a:r>
            <a:r>
              <a:rPr lang="en-US" dirty="0" err="1"/>
              <a:t>mEq</a:t>
            </a:r>
            <a:r>
              <a:rPr lang="en-US" dirty="0"/>
              <a:t> / L ( 22 - 26)</a:t>
            </a:r>
          </a:p>
          <a:p>
            <a:r>
              <a:rPr lang="en-US" dirty="0"/>
              <a:t>pCO2 = 32 mm Hg  (35 - 45)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6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498080" cy="1143000"/>
          </a:xfrm>
        </p:spPr>
        <p:txBody>
          <a:bodyPr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038004"/>
            <a:ext cx="7498080" cy="4800600"/>
          </a:xfrm>
        </p:spPr>
        <p:txBody>
          <a:bodyPr/>
          <a:lstStyle/>
          <a:p>
            <a:pPr marL="82296" indent="0" algn="ctr">
              <a:buNone/>
            </a:pPr>
            <a:r>
              <a:rPr lang="en-US" dirty="0"/>
              <a:t>Metabolic </a:t>
            </a:r>
            <a:r>
              <a:rPr lang="en-US" dirty="0" smtClean="0"/>
              <a:t>acidosis With </a:t>
            </a:r>
            <a:r>
              <a:rPr lang="en-US" dirty="0"/>
              <a:t>compensation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53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41851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536</TotalTime>
  <Words>650</Words>
  <Application>Microsoft Office PowerPoint</Application>
  <PresentationFormat>On-screen Show (4:3)</PresentationFormat>
  <Paragraphs>112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Solstice</vt:lpstr>
      <vt:lpstr>Acid-Base Balance</vt:lpstr>
      <vt:lpstr>Objectives: </vt:lpstr>
      <vt:lpstr>PowerPoint Presentation</vt:lpstr>
      <vt:lpstr>PowerPoint Presentation</vt:lpstr>
      <vt:lpstr>PowerPoint Presentation</vt:lpstr>
      <vt:lpstr>Acid–Base Balance</vt:lpstr>
      <vt:lpstr>PowerPoint Presentation</vt:lpstr>
      <vt:lpstr>Acid–Base Balance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Mechanisms of regulation of acid base balance</vt:lpstr>
      <vt:lpstr>1-Buffer systems </vt:lpstr>
      <vt:lpstr>PowerPoint Presentation</vt:lpstr>
      <vt:lpstr>PowerPoint Presentation</vt:lpstr>
      <vt:lpstr>PowerPoint Presentation</vt:lpstr>
      <vt:lpstr>Correction of PH changes</vt:lpstr>
      <vt:lpstr>PowerPoint Presentation</vt:lpstr>
      <vt:lpstr>Acid-Base Imbalances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Anion gap:</vt:lpstr>
      <vt:lpstr>problem</vt:lpstr>
      <vt:lpstr>Diagnosis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Acid-Base Balance</dc:title>
  <dc:creator>Wafa</dc:creator>
  <cp:lastModifiedBy>Wafa</cp:lastModifiedBy>
  <cp:revision>83</cp:revision>
  <dcterms:created xsi:type="dcterms:W3CDTF">2006-08-16T00:00:00Z</dcterms:created>
  <dcterms:modified xsi:type="dcterms:W3CDTF">2024-12-22T07:35:36Z</dcterms:modified>
</cp:coreProperties>
</file>