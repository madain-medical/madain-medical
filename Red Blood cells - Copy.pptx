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32"/>
  </p:notesMasterIdLst>
  <p:sldIdLst>
    <p:sldId id="257" r:id="rId3"/>
    <p:sldId id="277" r:id="rId4"/>
    <p:sldId id="262" r:id="rId5"/>
    <p:sldId id="265" r:id="rId6"/>
    <p:sldId id="278" r:id="rId7"/>
    <p:sldId id="279" r:id="rId8"/>
    <p:sldId id="285" r:id="rId9"/>
    <p:sldId id="282" r:id="rId10"/>
    <p:sldId id="283" r:id="rId11"/>
    <p:sldId id="284" r:id="rId12"/>
    <p:sldId id="270" r:id="rId13"/>
    <p:sldId id="271" r:id="rId14"/>
    <p:sldId id="272" r:id="rId15"/>
    <p:sldId id="273" r:id="rId16"/>
    <p:sldId id="268" r:id="rId17"/>
    <p:sldId id="309" r:id="rId18"/>
    <p:sldId id="310" r:id="rId19"/>
    <p:sldId id="280" r:id="rId20"/>
    <p:sldId id="281" r:id="rId21"/>
    <p:sldId id="288" r:id="rId22"/>
    <p:sldId id="266" r:id="rId23"/>
    <p:sldId id="267" r:id="rId24"/>
    <p:sldId id="289" r:id="rId25"/>
    <p:sldId id="274" r:id="rId26"/>
    <p:sldId id="275" r:id="rId27"/>
    <p:sldId id="276" r:id="rId28"/>
    <p:sldId id="291" r:id="rId29"/>
    <p:sldId id="292" r:id="rId30"/>
    <p:sldId id="311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BB2D8-917D-4A2C-914A-A64D3460209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4C027-9005-4DEA-8FA1-97715E24C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0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62713F-38FC-4D6B-A0AF-63174887F3DB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488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Cell division until late </a:t>
            </a:r>
            <a:r>
              <a:rPr lang="en-US" dirty="0" err="1" smtClean="0"/>
              <a:t>ery</a:t>
            </a:r>
            <a:r>
              <a:rPr lang="en-US" dirty="0" smtClean="0"/>
              <a:t> then rest matures</a:t>
            </a:r>
          </a:p>
          <a:p>
            <a:r>
              <a:rPr lang="en-US" dirty="0" smtClean="0"/>
              <a:t>important effect of erythropoietin is to stimulate the production of </a:t>
            </a:r>
            <a:r>
              <a:rPr lang="en-US" dirty="0" err="1" smtClean="0"/>
              <a:t>proerythroblasts</a:t>
            </a:r>
            <a:r>
              <a:rPr lang="en-US" dirty="0" smtClean="0"/>
              <a:t> from hematopoietic stem cells in the bone marrow. In addition, once the </a:t>
            </a:r>
            <a:r>
              <a:rPr lang="en-US" dirty="0" err="1" smtClean="0"/>
              <a:t>proerythroblasts</a:t>
            </a:r>
            <a:r>
              <a:rPr lang="en-US" dirty="0" smtClean="0"/>
              <a:t> are formed, the erythropoietin causes these cells to pass more rapidly through the different </a:t>
            </a:r>
            <a:r>
              <a:rPr lang="en-US" dirty="0" err="1" smtClean="0"/>
              <a:t>erythroblastic</a:t>
            </a:r>
            <a:r>
              <a:rPr lang="en-US" dirty="0" smtClean="0"/>
              <a:t> stages than they normally do, further speeding up the production of new red blood cells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4C027-9005-4DEA-8FA1-97715E24C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86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Synthesis of hemoglobin begins in the </a:t>
            </a:r>
            <a:r>
              <a:rPr lang="en-US" dirty="0" err="1" smtClean="0"/>
              <a:t>proerythroblasts</a:t>
            </a:r>
            <a:r>
              <a:rPr lang="en-US" dirty="0" smtClean="0"/>
              <a:t> and continues even into the reticulocyte stage of the red blood cells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4C027-9005-4DEA-8FA1-97715E24C2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4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 </a:t>
            </a:r>
            <a:r>
              <a:rPr lang="en-US" dirty="0" err="1" smtClean="0"/>
              <a:t>ncl</a:t>
            </a:r>
            <a:r>
              <a:rPr lang="en-US" dirty="0" smtClean="0"/>
              <a:t> no </a:t>
            </a:r>
            <a:r>
              <a:rPr lang="en-US" dirty="0" err="1" smtClean="0"/>
              <a:t>ptn</a:t>
            </a:r>
            <a:r>
              <a:rPr lang="en-US" dirty="0" smtClean="0"/>
              <a:t> no </a:t>
            </a:r>
            <a:r>
              <a:rPr lang="en-US" dirty="0" err="1" smtClean="0"/>
              <a:t>mitc</a:t>
            </a:r>
            <a:r>
              <a:rPr lang="en-US" dirty="0" smtClean="0"/>
              <a:t> ribs use </a:t>
            </a:r>
            <a:r>
              <a:rPr lang="en-US" dirty="0" err="1" smtClean="0"/>
              <a:t>glycolsis</a:t>
            </a:r>
            <a:r>
              <a:rPr lang="en-US" dirty="0" smtClean="0"/>
              <a:t> </a:t>
            </a:r>
            <a:r>
              <a:rPr lang="en-US" dirty="0" err="1" smtClean="0"/>
              <a:t>synt</a:t>
            </a:r>
            <a:r>
              <a:rPr lang="en-US" dirty="0" smtClean="0"/>
              <a:t> </a:t>
            </a:r>
            <a:r>
              <a:rPr lang="en-US" dirty="0" err="1" smtClean="0"/>
              <a:t>rpar</a:t>
            </a:r>
            <a:r>
              <a:rPr lang="en-US" baseline="0" dirty="0" smtClean="0"/>
              <a:t> lifespan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4C027-9005-4DEA-8FA1-97715E24C20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75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 descr="redcell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14288"/>
            <a:ext cx="9182100" cy="688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5275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2C02E33-E74F-4C31-919E-67D7AB429B7D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84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1D19F0-56BD-43AB-AA36-9AB3EFC77081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137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EAA767-51F3-4CBB-938D-0A11DBD2D5E7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86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38DF92-ACA0-4A76-823F-980EBC6A3210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595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720D25-2490-4949-8836-812B1DC69104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79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AAB443-7D81-48A3-8554-43F0FDA6D111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815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AF2D84-0AE4-4D17-A1E8-12C27E1CB62D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693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7CE193-AFE2-4D7D-82FB-1969CC44D73C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08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7D27C8-1A9E-462C-9254-B3B632368B05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64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08C562-E5A7-47B1-B7F2-436386E2845E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74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026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0260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6B6986-BA05-40E5-ABCB-7E0D35F05053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008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37004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52653CB-B806-4A4F-B59E-7EF46DCE7AC8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69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33152DE-A404-4AF4-8FD2-AE804CC98187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708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 descr="redcell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14288"/>
            <a:ext cx="9182100" cy="688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5275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2C02E33-E74F-4C31-919E-67D7AB429B7D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450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1D19F0-56BD-43AB-AA36-9AB3EFC77081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97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EAA767-51F3-4CBB-938D-0A11DBD2D5E7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155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38DF92-ACA0-4A76-823F-980EBC6A3210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328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720D25-2490-4949-8836-812B1DC69104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617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AAB443-7D81-48A3-8554-43F0FDA6D111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367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AF2D84-0AE4-4D17-A1E8-12C27E1CB62D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680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7CE193-AFE2-4D7D-82FB-1969CC44D73C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183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7D27C8-1A9E-462C-9254-B3B632368B05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719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08C562-E5A7-47B1-B7F2-436386E2845E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419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026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0260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6B6986-BA05-40E5-ABCB-7E0D35F05053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0168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37004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52653CB-B806-4A4F-B59E-7EF46DCE7AC8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0610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CCCCC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33152DE-A404-4AF4-8FD2-AE804CC98187}" type="slidenum">
              <a:rPr lang="en-US">
                <a:solidFill>
                  <a:srgbClr val="CCCCCC"/>
                </a:solidFill>
              </a:rPr>
              <a:pPr/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404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8" descr="redcellsinside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" r="2438" b="263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0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CCCCCC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CCCCCC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40D5E24-8C7B-4555-AC82-2353AEED2B37}" type="slidenum">
              <a:rPr lang="en-US">
                <a:solidFill>
                  <a:srgbClr val="CCCC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90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8" descr="redcellsinside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" r="2438" b="263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0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CCCCCC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CCCCCC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40D5E24-8C7B-4555-AC82-2353AEED2B37}" type="slidenum">
              <a:rPr lang="en-US">
                <a:solidFill>
                  <a:srgbClr val="CCCCC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CCCC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00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2667000"/>
            <a:ext cx="7772400" cy="14700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alpha val="34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8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sz="6800">
                <a:solidFill>
                  <a:srgbClr val="FF6FCF"/>
                </a:solidFill>
              </a:rPr>
              <a:t>Blood cells</a:t>
            </a:r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3870325" y="171926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CCCCCC"/>
              </a:solidFill>
            </a:endParaRPr>
          </a:p>
        </p:txBody>
      </p:sp>
      <p:sp>
        <p:nvSpPr>
          <p:cNvPr id="2099" name="Text Box 51"/>
          <p:cNvSpPr txBox="1">
            <a:spLocks noChangeArrowheads="1"/>
          </p:cNvSpPr>
          <p:nvPr/>
        </p:nvSpPr>
        <p:spPr bwMode="auto">
          <a:xfrm>
            <a:off x="2438400" y="914400"/>
            <a:ext cx="50292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6000" b="1" dirty="0">
                <a:solidFill>
                  <a:srgbClr val="FF6FCF"/>
                </a:solidFill>
              </a:rPr>
              <a:t>RED</a:t>
            </a:r>
            <a:endParaRPr lang="en-US" b="1" dirty="0">
              <a:solidFill>
                <a:srgbClr val="CCCCCC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51873" y="0"/>
            <a:ext cx="729398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Hematology</a:t>
            </a:r>
            <a:endParaRPr lang="en-US" sz="9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60180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7337"/>
            <a:ext cx="8229600" cy="3700463"/>
          </a:xfrm>
        </p:spPr>
        <p:txBody>
          <a:bodyPr/>
          <a:lstStyle/>
          <a:p>
            <a:r>
              <a:rPr lang="en-US" dirty="0" smtClean="0"/>
              <a:t>Blood consists of: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Cells :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RBC (erythrocytes)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WBC (leukocytes)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Platelets (thrombocytes)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Plasma.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609600"/>
            <a:ext cx="942975" cy="566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Brace 3"/>
          <p:cNvSpPr/>
          <p:nvPr/>
        </p:nvSpPr>
        <p:spPr bwMode="auto">
          <a:xfrm>
            <a:off x="6781800" y="1752600"/>
            <a:ext cx="381000" cy="24384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ight Brace 5"/>
          <p:cNvSpPr/>
          <p:nvPr/>
        </p:nvSpPr>
        <p:spPr bwMode="auto">
          <a:xfrm>
            <a:off x="6715396" y="4260912"/>
            <a:ext cx="190500" cy="188925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ight Brace 7"/>
          <p:cNvSpPr/>
          <p:nvPr/>
        </p:nvSpPr>
        <p:spPr bwMode="auto">
          <a:xfrm>
            <a:off x="6781800" y="4495800"/>
            <a:ext cx="381000" cy="1752600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2787134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Plasma 55%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79652" y="41264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WBC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02137" y="5187434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Hematocrit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5%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564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8" grpId="0" animBg="1"/>
      <p:bldP spid="7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362200"/>
            <a:ext cx="7772400" cy="1362075"/>
          </a:xfrm>
        </p:spPr>
        <p:txBody>
          <a:bodyPr/>
          <a:lstStyle/>
          <a:p>
            <a:pPr algn="ctr"/>
            <a:r>
              <a:rPr lang="en-US" dirty="0" smtClean="0"/>
              <a:t>Synthesis of red blood cells –RBCs-</a:t>
            </a:r>
            <a:br>
              <a:rPr lang="en-US" dirty="0" smtClean="0"/>
            </a:br>
            <a:r>
              <a:rPr lang="en-US" dirty="0" smtClean="0"/>
              <a:t>(Erythropoiesis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27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2590800" y="76200"/>
            <a:ext cx="3505200" cy="609600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Pluripotent 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Hemopoietic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stem cell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606040" y="990600"/>
            <a:ext cx="3505200" cy="609600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Committed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proginator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cell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590800" y="2042160"/>
            <a:ext cx="3505200" cy="6096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Proerythroblast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606040" y="2819400"/>
            <a:ext cx="3505200" cy="6096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Early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normoblast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590800" y="3657600"/>
            <a:ext cx="3505200" cy="6096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Intermediate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normoblast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579914" y="4419600"/>
            <a:ext cx="3505200" cy="6096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Late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normoblast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590800" y="5181600"/>
            <a:ext cx="3505200" cy="6096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Reticulocyte 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2590800" y="5943600"/>
            <a:ext cx="3505200" cy="609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Erythrocyte </a:t>
            </a:r>
          </a:p>
        </p:txBody>
      </p:sp>
      <p:sp>
        <p:nvSpPr>
          <p:cNvPr id="12" name="Down Arrow 11"/>
          <p:cNvSpPr/>
          <p:nvPr/>
        </p:nvSpPr>
        <p:spPr bwMode="auto">
          <a:xfrm>
            <a:off x="4038600" y="685800"/>
            <a:ext cx="391886" cy="3048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4038600" y="1600200"/>
            <a:ext cx="391886" cy="44196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457200" y="381000"/>
            <a:ext cx="1600200" cy="838200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Growth Factors</a:t>
            </a:r>
          </a:p>
        </p:txBody>
      </p:sp>
      <p:sp>
        <p:nvSpPr>
          <p:cNvPr id="16" name="Left Brace 15"/>
          <p:cNvSpPr/>
          <p:nvPr/>
        </p:nvSpPr>
        <p:spPr bwMode="auto">
          <a:xfrm>
            <a:off x="2057400" y="193766"/>
            <a:ext cx="370114" cy="1219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AutoShape 5"/>
          <p:cNvSpPr>
            <a:spLocks/>
          </p:cNvSpPr>
          <p:nvPr/>
        </p:nvSpPr>
        <p:spPr bwMode="auto">
          <a:xfrm>
            <a:off x="6477000" y="243840"/>
            <a:ext cx="457200" cy="4480560"/>
          </a:xfrm>
          <a:prstGeom prst="rightBrace">
            <a:avLst>
              <a:gd name="adj1" fmla="val 69444"/>
              <a:gd name="adj2" fmla="val 50000"/>
            </a:avLst>
          </a:prstGeom>
          <a:noFill/>
          <a:ln w="666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34200" y="2042160"/>
            <a:ext cx="1659429" cy="10341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>
                <a:solidFill>
                  <a:schemeClr val="bg1"/>
                </a:solidFill>
              </a:rPr>
              <a:t>Bone marrow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="1" dirty="0" smtClean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b="1" dirty="0" smtClean="0">
                <a:solidFill>
                  <a:schemeClr val="bg1"/>
                </a:solidFill>
              </a:rPr>
              <a:t>    4-5 days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AutoShape 6"/>
          <p:cNvSpPr>
            <a:spLocks/>
          </p:cNvSpPr>
          <p:nvPr/>
        </p:nvSpPr>
        <p:spPr bwMode="auto">
          <a:xfrm>
            <a:off x="6477000" y="5181600"/>
            <a:ext cx="381000" cy="1371600"/>
          </a:xfrm>
          <a:prstGeom prst="rightBrace">
            <a:avLst>
              <a:gd name="adj1" fmla="val 26667"/>
              <a:gd name="adj2" fmla="val 51171"/>
            </a:avLst>
          </a:prstGeom>
          <a:noFill/>
          <a:ln w="34925">
            <a:solidFill>
              <a:srgbClr val="99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086600" y="5508171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Blood   </a:t>
            </a:r>
          </a:p>
          <a:p>
            <a:r>
              <a:rPr lang="en-US" b="1" dirty="0" smtClean="0"/>
              <a:t> 1-2 days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 bwMode="auto">
          <a:xfrm>
            <a:off x="304800" y="1412966"/>
            <a:ext cx="1752600" cy="62919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Erythropoietin</a:t>
            </a:r>
          </a:p>
        </p:txBody>
      </p:sp>
    </p:spTree>
    <p:extLst>
      <p:ext uri="{BB962C8B-B14F-4D97-AF65-F5344CB8AC3E}">
        <p14:creationId xmlns:p14="http://schemas.microsoft.com/office/powerpoint/2010/main" val="144648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20" grpId="0" animBg="1"/>
      <p:bldP spid="21" grpId="0"/>
      <p:bldP spid="22" grpId="0" animBg="1"/>
      <p:bldP spid="23" grpId="0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Erthropoietin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a hormone secreted from</a:t>
            </a:r>
            <a:r>
              <a:rPr lang="en-US" dirty="0" smtClean="0"/>
              <a:t> </a:t>
            </a:r>
            <a:r>
              <a:rPr lang="en-US" dirty="0"/>
              <a:t>Kidneys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(&gt; </a:t>
            </a:r>
            <a:r>
              <a:rPr lang="en-US" dirty="0"/>
              <a:t>90% </a:t>
            </a:r>
            <a:r>
              <a:rPr lang="en-US" dirty="0" smtClean="0"/>
              <a:t>)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stimulates </a:t>
            </a:r>
            <a:r>
              <a:rPr lang="en-US" dirty="0" smtClean="0"/>
              <a:t>self replication and proliferation of erythrocyte stem cells.</a:t>
            </a:r>
          </a:p>
          <a:p>
            <a:r>
              <a:rPr lang="en-US" dirty="0" smtClean="0"/>
              <a:t>Secretion is stimulated by </a:t>
            </a:r>
            <a:r>
              <a:rPr lang="en-US" dirty="0" smtClean="0">
                <a:solidFill>
                  <a:srgbClr val="FF0000"/>
                </a:solidFill>
              </a:rPr>
              <a:t>hypoxia.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57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Nutritional requirements for red cell production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Amino acids.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Iron.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Vitamins:</a:t>
            </a:r>
          </a:p>
          <a:p>
            <a:pPr marL="1371600" lvl="2" indent="-571500">
              <a:buFont typeface="+mj-lt"/>
              <a:buAutoNum type="romanLcPeriod"/>
            </a:pPr>
            <a:r>
              <a:rPr lang="en-US" dirty="0" err="1" smtClean="0"/>
              <a:t>Vit</a:t>
            </a:r>
            <a:r>
              <a:rPr lang="en-US" dirty="0" smtClean="0"/>
              <a:t> B12</a:t>
            </a:r>
          </a:p>
          <a:p>
            <a:pPr marL="1371600" lvl="2" indent="-571500">
              <a:buFont typeface="+mj-lt"/>
              <a:buAutoNum type="romanLcPeriod"/>
            </a:pPr>
            <a:r>
              <a:rPr lang="en-US" dirty="0" smtClean="0"/>
              <a:t>Folic acid</a:t>
            </a:r>
          </a:p>
          <a:p>
            <a:pPr marL="1371600" lvl="2" indent="-571500">
              <a:buFont typeface="+mj-lt"/>
              <a:buAutoNum type="romanLcPeriod"/>
            </a:pPr>
            <a:r>
              <a:rPr lang="en-US" dirty="0" err="1" smtClean="0"/>
              <a:t>Vit</a:t>
            </a:r>
            <a:r>
              <a:rPr lang="en-US" dirty="0" smtClean="0"/>
              <a:t> B6</a:t>
            </a:r>
          </a:p>
          <a:p>
            <a:pPr marL="1371600" lvl="2" indent="-571500">
              <a:buFont typeface="+mj-lt"/>
              <a:buAutoNum type="romanLcPeriod"/>
            </a:pPr>
            <a:r>
              <a:rPr lang="en-US" dirty="0" err="1" smtClean="0"/>
              <a:t>Vit</a:t>
            </a:r>
            <a:r>
              <a:rPr lang="en-US" dirty="0" smtClean="0"/>
              <a:t> C</a:t>
            </a:r>
          </a:p>
          <a:p>
            <a:pPr marL="1371600" lvl="2" indent="-571500">
              <a:buFont typeface="+mj-lt"/>
              <a:buAutoNum type="romanLcPeriod"/>
            </a:pPr>
            <a:r>
              <a:rPr lang="en-US" dirty="0" err="1" smtClean="0"/>
              <a:t>Vit</a:t>
            </a:r>
            <a:r>
              <a:rPr lang="en-US" dirty="0" smtClean="0"/>
              <a:t> E</a:t>
            </a:r>
          </a:p>
          <a:p>
            <a:pPr marL="571500" indent="-571500">
              <a:buFont typeface="+mj-lt"/>
              <a:buAutoNum type="arabicPeriod"/>
            </a:pPr>
            <a:r>
              <a:rPr lang="en-US" dirty="0" smtClean="0"/>
              <a:t>Trace elements: Zn, Cu, Co,,,</a:t>
            </a:r>
          </a:p>
          <a:p>
            <a:pPr marL="1371600" lvl="2" indent="-571500">
              <a:buFont typeface="+mj-lt"/>
              <a:buAutoNum type="roman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59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Iron Distribution: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67200" y="601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2416465" y="2209800"/>
            <a:ext cx="3886200" cy="94666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2800" dirty="0" smtClean="0"/>
              <a:t>Total amount in the body 3-5 g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95400" y="3461657"/>
            <a:ext cx="27254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/>
              <a:t>Hb</a:t>
            </a:r>
            <a:r>
              <a:rPr lang="en-US" sz="2800" dirty="0" smtClean="0"/>
              <a:t> 65-75% (3g)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1295400" y="4343400"/>
            <a:ext cx="3004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Storage 20% (1g)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295400" y="5029200"/>
            <a:ext cx="3466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Cellular 3% (150mg)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1295400" y="5681246"/>
            <a:ext cx="36915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Transport 1% (3-4mg)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0448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en-GB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Sources:</a:t>
            </a:r>
          </a:p>
          <a:p>
            <a:pPr>
              <a:defRPr/>
            </a:pPr>
            <a:r>
              <a:rPr lang="en-GB" dirty="0" smtClean="0"/>
              <a:t>Animal </a:t>
            </a:r>
            <a:r>
              <a:rPr lang="en-GB" dirty="0"/>
              <a:t>products: </a:t>
            </a:r>
            <a:r>
              <a:rPr lang="en-GB" dirty="0" smtClean="0"/>
              <a:t>meat, </a:t>
            </a:r>
            <a:r>
              <a:rPr lang="en-GB" dirty="0"/>
              <a:t>liver,</a:t>
            </a:r>
            <a:r>
              <a:rPr lang="en-GB" dirty="0" smtClean="0"/>
              <a:t> eggs .</a:t>
            </a:r>
            <a:endParaRPr lang="en-GB" dirty="0"/>
          </a:p>
          <a:p>
            <a:pPr>
              <a:defRPr/>
            </a:pPr>
            <a:r>
              <a:rPr lang="en-GB" dirty="0" smtClean="0"/>
              <a:t> </a:t>
            </a:r>
            <a:r>
              <a:rPr lang="en-GB" dirty="0"/>
              <a:t>Plant </a:t>
            </a:r>
            <a:r>
              <a:rPr lang="en-GB" dirty="0" smtClean="0"/>
              <a:t>products: leafy </a:t>
            </a:r>
            <a:r>
              <a:rPr lang="en-GB" dirty="0"/>
              <a:t>vegetables</a:t>
            </a:r>
            <a:r>
              <a:rPr lang="en-GB" dirty="0" smtClean="0"/>
              <a:t>, cereals.</a:t>
            </a:r>
          </a:p>
          <a:p>
            <a:pPr marL="0" indent="0">
              <a:buNone/>
              <a:defRPr/>
            </a:pPr>
            <a:endParaRPr lang="en-GB" dirty="0" smtClean="0"/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524000" y="3648891"/>
            <a:ext cx="5029200" cy="1219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Note: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milk &amp; milk products does not contain any iron.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905000" y="304800"/>
            <a:ext cx="5029200" cy="1143000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3200" dirty="0" smtClean="0"/>
              <a:t>The average diet provides 10-20 mg/day.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96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700463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Daily requirements: </a:t>
            </a:r>
            <a:endParaRPr lang="en-US" dirty="0" smtClean="0"/>
          </a:p>
          <a:p>
            <a:r>
              <a:rPr lang="en-GB" dirty="0" smtClean="0"/>
              <a:t>1mg/day in an adult male</a:t>
            </a:r>
          </a:p>
          <a:p>
            <a:r>
              <a:rPr lang="en-GB" dirty="0" smtClean="0"/>
              <a:t>2mg/day in an adult female</a:t>
            </a:r>
          </a:p>
          <a:p>
            <a:pPr marL="0" indent="0">
              <a:buNone/>
            </a:pPr>
            <a:r>
              <a:rPr lang="en-GB" u="sng" dirty="0" smtClean="0"/>
              <a:t>Increase during :</a:t>
            </a:r>
          </a:p>
          <a:p>
            <a:pPr eaLnBrk="1" hangingPunct="1">
              <a:buFontTx/>
              <a:buChar char="-"/>
              <a:defRPr/>
            </a:pPr>
            <a:r>
              <a:rPr lang="en-GB" dirty="0"/>
              <a:t>Pregnancy </a:t>
            </a:r>
          </a:p>
          <a:p>
            <a:pPr eaLnBrk="1" hangingPunct="1">
              <a:buFontTx/>
              <a:buChar char="-"/>
              <a:defRPr/>
            </a:pPr>
            <a:r>
              <a:rPr lang="en-GB" dirty="0"/>
              <a:t>Lactation</a:t>
            </a:r>
          </a:p>
          <a:p>
            <a:pPr eaLnBrk="1" hangingPunct="1">
              <a:buFontTx/>
              <a:buChar char="-"/>
              <a:defRPr/>
            </a:pPr>
            <a:r>
              <a:rPr lang="en-GB" dirty="0"/>
              <a:t>Infancy 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2990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Absorption:</a:t>
            </a:r>
            <a:endParaRPr lang="en-US" dirty="0" smtClean="0"/>
          </a:p>
          <a:p>
            <a:r>
              <a:rPr lang="en-US" dirty="0" smtClean="0"/>
              <a:t>Site: duodenum &amp; upper jejunum.</a:t>
            </a:r>
          </a:p>
          <a:p>
            <a:r>
              <a:rPr lang="en-US" dirty="0" smtClean="0"/>
              <a:t>Converted from ferric to ferrous by </a:t>
            </a:r>
            <a:r>
              <a:rPr lang="en-US" dirty="0" err="1" smtClean="0"/>
              <a:t>Vit</a:t>
            </a:r>
            <a:r>
              <a:rPr lang="en-US" dirty="0" smtClean="0"/>
              <a:t>. C.</a:t>
            </a:r>
          </a:p>
          <a:p>
            <a:r>
              <a:rPr lang="en-US" dirty="0" smtClean="0"/>
              <a:t>Only 10 – 20% is absorbed. 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76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Factors affecting iron absorption:</a:t>
            </a:r>
          </a:p>
          <a:p>
            <a:pPr marL="0" indent="0"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Increase:</a:t>
            </a:r>
          </a:p>
          <a:p>
            <a:pPr eaLnBrk="1" hangingPunct="1">
              <a:buFont typeface="Arial" pitchFamily="34" charset="0"/>
              <a:buChar char="►"/>
              <a:defRPr/>
            </a:pPr>
            <a:r>
              <a:rPr lang="en-GB" dirty="0"/>
              <a:t>Ferrous state (Fe </a:t>
            </a:r>
            <a:r>
              <a:rPr lang="en-GB" baseline="30000" dirty="0"/>
              <a:t>+2</a:t>
            </a:r>
            <a:r>
              <a:rPr lang="en-GB" dirty="0"/>
              <a:t> )</a:t>
            </a:r>
          </a:p>
          <a:p>
            <a:pPr eaLnBrk="1" hangingPunct="1">
              <a:buFont typeface="Arial" pitchFamily="34" charset="0"/>
              <a:buChar char="►"/>
              <a:defRPr/>
            </a:pPr>
            <a:r>
              <a:rPr lang="en-GB" dirty="0"/>
              <a:t>Gastric acidity ( </a:t>
            </a:r>
            <a:r>
              <a:rPr lang="en-GB" dirty="0" err="1"/>
              <a:t>HCl</a:t>
            </a:r>
            <a:r>
              <a:rPr lang="en-GB" dirty="0"/>
              <a:t> ) , maintains iron in the ferrous state ,</a:t>
            </a:r>
          </a:p>
          <a:p>
            <a:pPr eaLnBrk="1" hangingPunct="1">
              <a:buFont typeface="Arial" pitchFamily="34" charset="0"/>
              <a:buChar char="►"/>
              <a:defRPr/>
            </a:pPr>
            <a:r>
              <a:rPr lang="en-GB" dirty="0"/>
              <a:t>Vitamin </a:t>
            </a:r>
            <a:r>
              <a:rPr lang="en-GB" dirty="0" smtClean="0"/>
              <a:t>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13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Decrease:</a:t>
            </a:r>
          </a:p>
          <a:p>
            <a:r>
              <a:rPr lang="en-GB" dirty="0" smtClean="0"/>
              <a:t>Presence of </a:t>
            </a:r>
            <a:r>
              <a:rPr lang="en-GB" dirty="0" err="1" smtClean="0"/>
              <a:t>thalates</a:t>
            </a:r>
            <a:r>
              <a:rPr lang="en-GB" dirty="0"/>
              <a:t>,</a:t>
            </a:r>
            <a:r>
              <a:rPr lang="en-GB" dirty="0" smtClean="0"/>
              <a:t> phosphates or oxalates in the diet.</a:t>
            </a:r>
          </a:p>
          <a:p>
            <a:pPr>
              <a:lnSpc>
                <a:spcPct val="90000"/>
              </a:lnSpc>
              <a:defRPr/>
            </a:pPr>
            <a:r>
              <a:rPr lang="en-GB" dirty="0" err="1"/>
              <a:t>Achlorohydria</a:t>
            </a:r>
            <a:r>
              <a:rPr lang="en-GB" dirty="0"/>
              <a:t> </a:t>
            </a:r>
          </a:p>
          <a:p>
            <a:pPr>
              <a:lnSpc>
                <a:spcPct val="90000"/>
              </a:lnSpc>
              <a:defRPr/>
            </a:pPr>
            <a:r>
              <a:rPr lang="en-GB" dirty="0"/>
              <a:t>Diarrhoea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4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Transport:</a:t>
            </a:r>
          </a:p>
          <a:p>
            <a:r>
              <a:rPr lang="en-US" dirty="0" smtClean="0"/>
              <a:t>By transferrin in the ferric state.</a:t>
            </a:r>
          </a:p>
          <a:p>
            <a:pPr marL="0" indent="0"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Storage:</a:t>
            </a:r>
          </a:p>
          <a:p>
            <a:r>
              <a:rPr lang="en-US" dirty="0" smtClean="0"/>
              <a:t>In the </a:t>
            </a:r>
            <a:r>
              <a:rPr lang="en-US" dirty="0" err="1" smtClean="0"/>
              <a:t>reticuloendothelial</a:t>
            </a:r>
            <a:r>
              <a:rPr lang="en-US" dirty="0" smtClean="0"/>
              <a:t> cells.</a:t>
            </a:r>
          </a:p>
          <a:p>
            <a:r>
              <a:rPr lang="en-US" dirty="0" smtClean="0"/>
              <a:t>In 2 forms: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2/3 as ferritin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1/3 as hemosiderin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7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Excretion:</a:t>
            </a:r>
          </a:p>
          <a:p>
            <a:r>
              <a:rPr lang="en-US" dirty="0" smtClean="0"/>
              <a:t>Is shed in: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Intestinal cells in feces.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Hair.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Nails.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Skin cells.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Sweat.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06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71" y="0"/>
            <a:ext cx="8229600" cy="1143000"/>
          </a:xfrm>
        </p:spPr>
        <p:txBody>
          <a:bodyPr/>
          <a:lstStyle/>
          <a:p>
            <a:r>
              <a:rPr lang="en-US" dirty="0" smtClean="0"/>
              <a:t>Hemoglobin synthesis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914400" y="1676400"/>
            <a:ext cx="1676400" cy="762000"/>
          </a:xfrm>
          <a:prstGeom prst="roundRect">
            <a:avLst/>
          </a:prstGeom>
          <a:solidFill>
            <a:schemeClr val="accent2">
              <a:lumMod val="1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Iron (</a:t>
            </a:r>
            <a:r>
              <a:rPr kumimoji="0" lang="en-US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Fe 2+)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3124200" y="1702526"/>
            <a:ext cx="1676400" cy="7620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Porphyrin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" name="Straight Connector 6"/>
          <p:cNvCxnSpPr>
            <a:stCxn id="4" idx="2"/>
          </p:cNvCxnSpPr>
          <p:nvPr/>
        </p:nvCxnSpPr>
        <p:spPr bwMode="auto">
          <a:xfrm>
            <a:off x="1752600" y="2438400"/>
            <a:ext cx="838200" cy="1295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Rectangle 7"/>
          <p:cNvSpPr/>
          <p:nvPr/>
        </p:nvSpPr>
        <p:spPr bwMode="auto">
          <a:xfrm>
            <a:off x="1485900" y="3733800"/>
            <a:ext cx="2209800" cy="7620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HEME</a:t>
            </a:r>
          </a:p>
        </p:txBody>
      </p:sp>
      <p:cxnSp>
        <p:nvCxnSpPr>
          <p:cNvPr id="10" name="Straight Connector 9"/>
          <p:cNvCxnSpPr>
            <a:stCxn id="5" idx="2"/>
            <a:endCxn id="8" idx="0"/>
          </p:cNvCxnSpPr>
          <p:nvPr/>
        </p:nvCxnSpPr>
        <p:spPr bwMode="auto">
          <a:xfrm flipH="1">
            <a:off x="2590800" y="2464526"/>
            <a:ext cx="1371600" cy="12692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ounded Rectangle 11"/>
          <p:cNvSpPr/>
          <p:nvPr/>
        </p:nvSpPr>
        <p:spPr bwMode="auto">
          <a:xfrm>
            <a:off x="5638800" y="1702526"/>
            <a:ext cx="1905000" cy="762000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Amino acids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5562600" y="3733800"/>
            <a:ext cx="2057400" cy="762000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Globins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" name="Straight Connector 14"/>
          <p:cNvCxnSpPr>
            <a:stCxn id="12" idx="2"/>
            <a:endCxn id="13" idx="0"/>
          </p:cNvCxnSpPr>
          <p:nvPr/>
        </p:nvCxnSpPr>
        <p:spPr bwMode="auto">
          <a:xfrm>
            <a:off x="6591300" y="2464526"/>
            <a:ext cx="0" cy="12692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Connector 17"/>
          <p:cNvCxnSpPr>
            <a:stCxn id="8" idx="3"/>
            <a:endCxn id="13" idx="1"/>
          </p:cNvCxnSpPr>
          <p:nvPr/>
        </p:nvCxnSpPr>
        <p:spPr bwMode="auto">
          <a:xfrm>
            <a:off x="3695700" y="4114800"/>
            <a:ext cx="18669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>
            <a:off x="4629150" y="4114800"/>
            <a:ext cx="0" cy="1219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20"/>
          <p:cNvSpPr/>
          <p:nvPr/>
        </p:nvSpPr>
        <p:spPr bwMode="auto">
          <a:xfrm>
            <a:off x="2993571" y="5334000"/>
            <a:ext cx="3124200" cy="533400"/>
          </a:xfrm>
          <a:prstGeom prst="rect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HEMOGLOBIN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800" y="3733800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4</a:t>
            </a:r>
            <a:endParaRPr lang="en-US" sz="3600" dirty="0"/>
          </a:p>
        </p:txBody>
      </p:sp>
      <p:sp>
        <p:nvSpPr>
          <p:cNvPr id="23" name="TextBox 22"/>
          <p:cNvSpPr txBox="1"/>
          <p:nvPr/>
        </p:nvSpPr>
        <p:spPr>
          <a:xfrm>
            <a:off x="693827" y="3791634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4</a:t>
            </a:r>
            <a:endParaRPr lang="en-US" sz="3600" dirty="0"/>
          </a:p>
        </p:txBody>
      </p:sp>
      <p:sp>
        <p:nvSpPr>
          <p:cNvPr id="24" name="Oval 23"/>
          <p:cNvSpPr/>
          <p:nvPr/>
        </p:nvSpPr>
        <p:spPr bwMode="auto">
          <a:xfrm>
            <a:off x="2993571" y="1066800"/>
            <a:ext cx="816429" cy="457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Gly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4152900" y="952500"/>
            <a:ext cx="1295400" cy="685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Succinyl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Co A</a:t>
            </a:r>
          </a:p>
        </p:txBody>
      </p:sp>
      <p:cxnSp>
        <p:nvCxnSpPr>
          <p:cNvPr id="27" name="Straight Connector 26"/>
          <p:cNvCxnSpPr>
            <a:stCxn id="24" idx="4"/>
          </p:cNvCxnSpPr>
          <p:nvPr/>
        </p:nvCxnSpPr>
        <p:spPr bwMode="auto">
          <a:xfrm>
            <a:off x="3401786" y="1524000"/>
            <a:ext cx="103414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>
            <a:stCxn id="25" idx="3"/>
          </p:cNvCxnSpPr>
          <p:nvPr/>
        </p:nvCxnSpPr>
        <p:spPr bwMode="auto">
          <a:xfrm flipH="1">
            <a:off x="4152900" y="1537867"/>
            <a:ext cx="189707" cy="1385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3725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2" grpId="0" animBg="1"/>
      <p:bldP spid="13" grpId="0" animBg="1"/>
      <p:bldP spid="21" grpId="0" animBg="1"/>
      <p:bldP spid="22" grpId="0"/>
      <p:bldP spid="23" grpId="0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0772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7956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1000"/>
            <a:ext cx="70104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7554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dirty="0" err="1" smtClean="0"/>
              <a:t>Hb</a:t>
            </a:r>
            <a:r>
              <a:rPr lang="en-US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Hb</a:t>
            </a:r>
            <a:r>
              <a:rPr lang="en-US" dirty="0" smtClean="0"/>
              <a:t> A = 2</a:t>
            </a:r>
            <a:r>
              <a:rPr lang="el-GR" dirty="0" smtClean="0"/>
              <a:t>α</a:t>
            </a:r>
            <a:r>
              <a:rPr lang="en-US" dirty="0"/>
              <a:t> </a:t>
            </a:r>
            <a:r>
              <a:rPr lang="en-US" dirty="0" smtClean="0"/>
              <a:t>2</a:t>
            </a:r>
            <a:r>
              <a:rPr lang="el-GR" dirty="0" smtClean="0">
                <a:latin typeface="Calibri"/>
                <a:cs typeface="Calibri"/>
              </a:rPr>
              <a:t>β</a:t>
            </a:r>
            <a:endParaRPr lang="en-US" dirty="0" smtClean="0">
              <a:latin typeface="Calibri"/>
              <a:cs typeface="Calibri"/>
            </a:endParaRPr>
          </a:p>
          <a:p>
            <a:pPr>
              <a:buFont typeface="Wingdings" pitchFamily="2" charset="2"/>
              <a:buChar char="Ø"/>
            </a:pPr>
            <a:r>
              <a:rPr lang="en-US" dirty="0" err="1" smtClean="0">
                <a:latin typeface="Calibri"/>
                <a:cs typeface="Calibri"/>
              </a:rPr>
              <a:t>Hb</a:t>
            </a:r>
            <a:r>
              <a:rPr lang="en-US" dirty="0" smtClean="0">
                <a:latin typeface="Calibri"/>
                <a:cs typeface="Calibri"/>
              </a:rPr>
              <a:t> A2 = </a:t>
            </a:r>
            <a:r>
              <a:rPr lang="en-US" dirty="0" smtClean="0"/>
              <a:t>2</a:t>
            </a:r>
            <a:r>
              <a:rPr lang="el-GR" dirty="0" smtClean="0"/>
              <a:t>α</a:t>
            </a:r>
            <a:r>
              <a:rPr lang="en-US" dirty="0" smtClean="0"/>
              <a:t> 2</a:t>
            </a:r>
            <a:r>
              <a:rPr lang="el-GR" dirty="0" smtClean="0">
                <a:latin typeface="Calibri"/>
                <a:cs typeface="Calibri"/>
              </a:rPr>
              <a:t>δ</a:t>
            </a:r>
            <a:endParaRPr lang="en-US" dirty="0" smtClean="0">
              <a:latin typeface="Calibri"/>
              <a:cs typeface="Calibri"/>
            </a:endParaRPr>
          </a:p>
          <a:p>
            <a:pPr>
              <a:buFont typeface="Wingdings" pitchFamily="2" charset="2"/>
              <a:buChar char="Ø"/>
            </a:pPr>
            <a:r>
              <a:rPr lang="en-US" dirty="0" err="1" smtClean="0">
                <a:latin typeface="Calibri"/>
                <a:cs typeface="Calibri"/>
              </a:rPr>
              <a:t>Hb</a:t>
            </a:r>
            <a:r>
              <a:rPr lang="en-US" dirty="0" smtClean="0">
                <a:latin typeface="Calibri"/>
                <a:cs typeface="Calibri"/>
              </a:rPr>
              <a:t> F = </a:t>
            </a:r>
            <a:r>
              <a:rPr lang="en-US" dirty="0" smtClean="0"/>
              <a:t>2</a:t>
            </a:r>
            <a:r>
              <a:rPr lang="el-GR" dirty="0" smtClean="0"/>
              <a:t>α</a:t>
            </a:r>
            <a:r>
              <a:rPr lang="en-US" dirty="0" smtClean="0"/>
              <a:t> 2</a:t>
            </a:r>
            <a:r>
              <a:rPr lang="el-GR" dirty="0" smtClean="0">
                <a:latin typeface="Calibri"/>
                <a:cs typeface="Calibri"/>
              </a:rPr>
              <a:t>ϒ</a:t>
            </a:r>
            <a:endParaRPr lang="en-US" dirty="0" smtClean="0">
              <a:latin typeface="Calibri"/>
              <a:cs typeface="Calibri"/>
            </a:endParaRPr>
          </a:p>
          <a:p>
            <a:pPr>
              <a:buFont typeface="Wingdings" pitchFamily="2" charset="2"/>
              <a:buChar char="Ø"/>
            </a:pPr>
            <a:r>
              <a:rPr lang="en-US" dirty="0" err="1">
                <a:latin typeface="Calibri"/>
                <a:cs typeface="Calibri"/>
              </a:rPr>
              <a:t>Hb</a:t>
            </a:r>
            <a:r>
              <a:rPr lang="en-US" dirty="0">
                <a:latin typeface="Calibri"/>
                <a:cs typeface="Calibri"/>
              </a:rPr>
              <a:t> A1c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Calibri"/>
              <a:cs typeface="Calibri"/>
            </a:endParaRP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114800" y="22098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96%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140926" y="2794575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3%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4114800" y="3379350"/>
            <a:ext cx="77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1%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6442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Functions of </a:t>
            </a:r>
            <a:r>
              <a:rPr lang="en-US" dirty="0" err="1" smtClean="0"/>
              <a:t>Hb</a:t>
            </a:r>
            <a:r>
              <a:rPr lang="en-US" dirty="0" smtClean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Oxygen binds with iron in </a:t>
            </a:r>
            <a:r>
              <a:rPr lang="en-US" dirty="0" err="1" smtClean="0"/>
              <a:t>heme</a:t>
            </a:r>
            <a:r>
              <a:rPr lang="en-US" dirty="0" smtClean="0"/>
              <a:t> forming </a:t>
            </a:r>
            <a:r>
              <a:rPr lang="en-US" i="1" dirty="0" err="1" smtClean="0"/>
              <a:t>oxyhemoglobin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Carbon dioxide binds with globin chains forming </a:t>
            </a:r>
            <a:r>
              <a:rPr lang="en-US" i="1" dirty="0" err="1" smtClean="0"/>
              <a:t>carbaminohemoglobin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Protein buffer.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46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Hb</a:t>
            </a:r>
            <a:r>
              <a:rPr lang="en-US" dirty="0" smtClean="0"/>
              <a:t> normal values:</a:t>
            </a:r>
          </a:p>
          <a:p>
            <a:pPr eaLnBrk="1" hangingPunct="1">
              <a:buFontTx/>
              <a:buChar char="-"/>
              <a:defRPr/>
            </a:pPr>
            <a:r>
              <a:rPr lang="en-GB" dirty="0"/>
              <a:t>14-16g/dl in males</a:t>
            </a:r>
          </a:p>
          <a:p>
            <a:pPr eaLnBrk="1" hangingPunct="1">
              <a:buFontTx/>
              <a:buChar char="-"/>
              <a:defRPr/>
            </a:pPr>
            <a:r>
              <a:rPr lang="en-GB" dirty="0"/>
              <a:t>13-15g/dl in females</a:t>
            </a:r>
          </a:p>
          <a:p>
            <a:pPr eaLnBrk="1" hangingPunct="1">
              <a:buFontTx/>
              <a:buChar char="-"/>
              <a:defRPr/>
            </a:pPr>
            <a:r>
              <a:rPr lang="en-GB" dirty="0"/>
              <a:t>18-20g/dl in neonates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4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465513" cy="1162050"/>
          </a:xfrm>
        </p:spPr>
        <p:txBody>
          <a:bodyPr/>
          <a:lstStyle/>
          <a:p>
            <a:pPr algn="ctr"/>
            <a:r>
              <a:rPr lang="en-US" sz="3600" dirty="0" smtClean="0"/>
              <a:t>Structure of RBC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0" y="273050"/>
            <a:ext cx="2590800" cy="58531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0" y="1077277"/>
            <a:ext cx="3886200" cy="4691063"/>
          </a:xfrm>
        </p:spPr>
        <p:txBody>
          <a:bodyPr/>
          <a:lstStyle/>
          <a:p>
            <a:r>
              <a:rPr lang="en-US" sz="2800" dirty="0" err="1" smtClean="0"/>
              <a:t>Aneucleated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Biconcave shape.</a:t>
            </a:r>
          </a:p>
          <a:p>
            <a:r>
              <a:rPr lang="en-US" sz="2800" u="sng" dirty="0" smtClean="0"/>
              <a:t>Dimensions:</a:t>
            </a:r>
          </a:p>
          <a:p>
            <a:r>
              <a:rPr lang="en-US" sz="2800" dirty="0" smtClean="0"/>
              <a:t>Diameter =  8 micrometer</a:t>
            </a:r>
          </a:p>
          <a:p>
            <a:r>
              <a:rPr lang="en-US" sz="2800" dirty="0" smtClean="0"/>
              <a:t>Thickness = 1-2 </a:t>
            </a:r>
            <a:r>
              <a:rPr lang="en-US" sz="2800" dirty="0" err="1" smtClean="0"/>
              <a:t>micromtr</a:t>
            </a:r>
            <a:endParaRPr lang="en-US" sz="2800" dirty="0" smtClean="0"/>
          </a:p>
          <a:p>
            <a:r>
              <a:rPr lang="en-US" sz="2800" dirty="0" smtClean="0"/>
              <a:t>Surface area = 138 sq. </a:t>
            </a:r>
            <a:r>
              <a:rPr lang="en-US" sz="2800" dirty="0" err="1" smtClean="0"/>
              <a:t>micromtr</a:t>
            </a:r>
            <a:endParaRPr lang="en-US" sz="2800" dirty="0" smtClean="0"/>
          </a:p>
          <a:p>
            <a:r>
              <a:rPr lang="en-US" sz="2800" dirty="0" smtClean="0"/>
              <a:t>Volume = 90 </a:t>
            </a:r>
            <a:r>
              <a:rPr lang="en-US" sz="2800" dirty="0" err="1" smtClean="0"/>
              <a:t>femtoliter</a:t>
            </a:r>
            <a:endParaRPr lang="en-US" sz="2800" dirty="0" smtClean="0"/>
          </a:p>
          <a:p>
            <a:r>
              <a:rPr lang="en-US" sz="2800" dirty="0" smtClean="0"/>
              <a:t>Life span = 120 days</a:t>
            </a:r>
          </a:p>
          <a:p>
            <a:endParaRPr lang="en-US" sz="1800" dirty="0" smtClean="0"/>
          </a:p>
          <a:p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34981"/>
            <a:ext cx="5105400" cy="6513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 bwMode="auto">
          <a:xfrm>
            <a:off x="8610600" y="2667000"/>
            <a:ext cx="0" cy="32004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>
                <a:lumMod val="10000"/>
              </a:schemeClr>
            </a:solidFill>
            <a:prstDash val="solid"/>
            <a:round/>
            <a:headEnd type="arrow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8001000" y="838200"/>
            <a:ext cx="0" cy="8382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>
                <a:lumMod val="10000"/>
              </a:schemeClr>
            </a:solidFill>
            <a:prstDash val="solid"/>
            <a:round/>
            <a:headEnd type="arrow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/>
          <p:nvPr/>
        </p:nvCxnSpPr>
        <p:spPr bwMode="auto">
          <a:xfrm>
            <a:off x="6629400" y="952500"/>
            <a:ext cx="0" cy="6096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2">
                <a:lumMod val="10000"/>
              </a:schemeClr>
            </a:solidFill>
            <a:prstDash val="solid"/>
            <a:round/>
            <a:headEnd type="arrow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2259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Importance of biconcave shape: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Oxygen diffusion.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Deformability.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Better osmotic fragility.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85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Normal RBC count:</a:t>
            </a:r>
          </a:p>
          <a:p>
            <a:pPr marL="0" indent="0">
              <a:buNone/>
            </a:pPr>
            <a:r>
              <a:rPr lang="en-US" dirty="0" smtClean="0"/>
              <a:t>4.5 – 6 million/micro L in adult male.</a:t>
            </a:r>
          </a:p>
          <a:p>
            <a:pPr marL="0" indent="0">
              <a:buNone/>
            </a:pPr>
            <a:r>
              <a:rPr lang="en-US" dirty="0" smtClean="0"/>
              <a:t>4 – 5.5 million/micro L in adult female.</a:t>
            </a:r>
          </a:p>
          <a:p>
            <a:pPr marL="0" indent="0">
              <a:buNone/>
            </a:pPr>
            <a:r>
              <a:rPr lang="en-US" dirty="0" smtClean="0"/>
              <a:t>6 – 8 million/micro L in a newborn.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28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RBC breakdown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Destructed in the </a:t>
            </a:r>
            <a:r>
              <a:rPr lang="en-US" dirty="0" err="1" smtClean="0"/>
              <a:t>reticuloendothelial</a:t>
            </a:r>
            <a:r>
              <a:rPr lang="en-US" dirty="0" smtClean="0"/>
              <a:t> system (mainly spleen).</a:t>
            </a:r>
          </a:p>
          <a:p>
            <a:r>
              <a:rPr lang="en-US" dirty="0" smtClean="0"/>
              <a:t>The cell becomes old and abnormally shaped.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87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 bwMode="auto">
          <a:xfrm>
            <a:off x="609600" y="152400"/>
            <a:ext cx="1371600" cy="13716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RBC</a:t>
            </a:r>
          </a:p>
        </p:txBody>
      </p:sp>
      <p:sp>
        <p:nvSpPr>
          <p:cNvPr id="5" name="Right Arrow 4"/>
          <p:cNvSpPr/>
          <p:nvPr/>
        </p:nvSpPr>
        <p:spPr bwMode="auto">
          <a:xfrm>
            <a:off x="2133600" y="457200"/>
            <a:ext cx="914400" cy="533400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3124200" y="457200"/>
            <a:ext cx="1143000" cy="533400"/>
          </a:xfrm>
          <a:prstGeom prst="round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HEME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5029200" y="457200"/>
            <a:ext cx="1143000" cy="533400"/>
          </a:xfrm>
          <a:prstGeom prst="roundRect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Globin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5323114" y="1219200"/>
            <a:ext cx="762000" cy="762000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aa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4038600" y="1219200"/>
            <a:ext cx="990600" cy="762000"/>
          </a:xfrm>
          <a:prstGeom prst="ellipse">
            <a:avLst/>
          </a:prstGeom>
          <a:solidFill>
            <a:schemeClr val="accent2">
              <a:lumMod val="1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dirty="0" smtClean="0"/>
              <a:t>Fe </a:t>
            </a:r>
            <a:r>
              <a:rPr lang="en-GB" baseline="30000" dirty="0" smtClean="0"/>
              <a:t>+2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2362200" y="1295400"/>
            <a:ext cx="1447800" cy="533400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Porphyrin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2362200" y="1905000"/>
            <a:ext cx="1447800" cy="533400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Bilivirdin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2362200" y="2514600"/>
            <a:ext cx="1447800" cy="533400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Bilirubin  </a:t>
            </a:r>
          </a:p>
        </p:txBody>
      </p:sp>
      <p:sp>
        <p:nvSpPr>
          <p:cNvPr id="14" name="Hexagon 13"/>
          <p:cNvSpPr/>
          <p:nvPr/>
        </p:nvSpPr>
        <p:spPr bwMode="auto">
          <a:xfrm>
            <a:off x="838200" y="2514600"/>
            <a:ext cx="1524000" cy="533400"/>
          </a:xfrm>
          <a:prstGeom prst="hexagon">
            <a:avLst/>
          </a:prstGeom>
          <a:solidFill>
            <a:schemeClr val="accent2">
              <a:lumMod val="1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Albumin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8600" y="2590800"/>
            <a:ext cx="37242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Water insoluble (unconjugated)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457200" y="3124200"/>
            <a:ext cx="67056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Down Arrow 17"/>
          <p:cNvSpPr/>
          <p:nvPr/>
        </p:nvSpPr>
        <p:spPr bwMode="auto">
          <a:xfrm>
            <a:off x="2660469" y="3048000"/>
            <a:ext cx="762000" cy="990600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546" y="3200400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Glucouronyltransferase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 bwMode="auto">
          <a:xfrm>
            <a:off x="2317569" y="4114800"/>
            <a:ext cx="1447800" cy="533400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Bilirubin  </a:t>
            </a:r>
          </a:p>
        </p:txBody>
      </p:sp>
      <p:sp>
        <p:nvSpPr>
          <p:cNvPr id="21" name="Hexagon 20"/>
          <p:cNvSpPr/>
          <p:nvPr/>
        </p:nvSpPr>
        <p:spPr bwMode="auto">
          <a:xfrm>
            <a:off x="793569" y="4114800"/>
            <a:ext cx="1524000" cy="533400"/>
          </a:xfrm>
          <a:prstGeom prst="hexagon">
            <a:avLst/>
          </a:prstGeom>
          <a:solidFill>
            <a:schemeClr val="accent2">
              <a:lumMod val="1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Glucouronic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acid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2001" y="4191000"/>
            <a:ext cx="3238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Water soluble (conjugated)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3" name="Straight Connector 22"/>
          <p:cNvCxnSpPr/>
          <p:nvPr/>
        </p:nvCxnSpPr>
        <p:spPr bwMode="auto">
          <a:xfrm>
            <a:off x="304800" y="4724400"/>
            <a:ext cx="67056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Down Arrow 23"/>
          <p:cNvSpPr/>
          <p:nvPr/>
        </p:nvSpPr>
        <p:spPr bwMode="auto">
          <a:xfrm>
            <a:off x="2790481" y="4648200"/>
            <a:ext cx="501976" cy="1371600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ounded Rectangle 24"/>
          <p:cNvSpPr/>
          <p:nvPr/>
        </p:nvSpPr>
        <p:spPr bwMode="auto">
          <a:xfrm>
            <a:off x="7848600" y="3543300"/>
            <a:ext cx="1143000" cy="647700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Liver</a:t>
            </a:r>
          </a:p>
        </p:txBody>
      </p:sp>
      <p:sp>
        <p:nvSpPr>
          <p:cNvPr id="26" name="Rounded Rectangle 25"/>
          <p:cNvSpPr/>
          <p:nvPr/>
        </p:nvSpPr>
        <p:spPr bwMode="auto">
          <a:xfrm>
            <a:off x="7848600" y="1981200"/>
            <a:ext cx="1143000" cy="647700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Blood</a:t>
            </a:r>
          </a:p>
        </p:txBody>
      </p:sp>
      <p:sp>
        <p:nvSpPr>
          <p:cNvPr id="27" name="Rounded Rectangle 26"/>
          <p:cNvSpPr/>
          <p:nvPr/>
        </p:nvSpPr>
        <p:spPr bwMode="auto">
          <a:xfrm>
            <a:off x="7848600" y="514350"/>
            <a:ext cx="1143000" cy="647700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RES</a:t>
            </a:r>
          </a:p>
        </p:txBody>
      </p:sp>
      <p:sp>
        <p:nvSpPr>
          <p:cNvPr id="28" name="Rounded Rectangle 27"/>
          <p:cNvSpPr/>
          <p:nvPr/>
        </p:nvSpPr>
        <p:spPr bwMode="auto">
          <a:xfrm>
            <a:off x="388620" y="5263634"/>
            <a:ext cx="1143000" cy="914400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Bile&amp; small intestines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2187372" y="6038850"/>
            <a:ext cx="1654629" cy="647700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stercobilinogen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Curved Up Arrow 29"/>
          <p:cNvSpPr/>
          <p:nvPr/>
        </p:nvSpPr>
        <p:spPr bwMode="auto">
          <a:xfrm>
            <a:off x="3200400" y="4658601"/>
            <a:ext cx="1828800" cy="914400"/>
          </a:xfrm>
          <a:prstGeom prst="curvedUp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Down Arrow 30"/>
          <p:cNvSpPr/>
          <p:nvPr/>
        </p:nvSpPr>
        <p:spPr bwMode="auto">
          <a:xfrm>
            <a:off x="4953000" y="4648199"/>
            <a:ext cx="342900" cy="1314807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Rounded Rectangle 31"/>
          <p:cNvSpPr/>
          <p:nvPr/>
        </p:nvSpPr>
        <p:spPr bwMode="auto">
          <a:xfrm>
            <a:off x="4020528" y="6042660"/>
            <a:ext cx="1637866" cy="6477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urobilinogen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64313" y="6178034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(Brown)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957318" y="614576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(colorless)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292457" y="559279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Enterohepatic</a:t>
            </a:r>
            <a:endParaRPr lang="en-US" dirty="0" smtClean="0"/>
          </a:p>
        </p:txBody>
      </p:sp>
      <p:sp>
        <p:nvSpPr>
          <p:cNvPr id="36" name="Rounded Rectangle 35"/>
          <p:cNvSpPr/>
          <p:nvPr/>
        </p:nvSpPr>
        <p:spPr bwMode="auto">
          <a:xfrm>
            <a:off x="6172200" y="5088587"/>
            <a:ext cx="1143000" cy="647700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Kidneys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76395" y="5010834"/>
            <a:ext cx="1082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Bacterial</a:t>
            </a:r>
          </a:p>
          <a:p>
            <a:r>
              <a:rPr lang="en-US" dirty="0" smtClean="0"/>
              <a:t>action</a:t>
            </a:r>
            <a:endParaRPr lang="en-US" dirty="0"/>
          </a:p>
        </p:txBody>
      </p:sp>
      <p:sp>
        <p:nvSpPr>
          <p:cNvPr id="38" name="Curved Up Arrow 37"/>
          <p:cNvSpPr/>
          <p:nvPr/>
        </p:nvSpPr>
        <p:spPr bwMode="auto">
          <a:xfrm>
            <a:off x="4918867" y="1905000"/>
            <a:ext cx="2011884" cy="666750"/>
          </a:xfrm>
          <a:prstGeom prst="curvedUpArrow">
            <a:avLst>
              <a:gd name="adj1" fmla="val 25000"/>
              <a:gd name="adj2" fmla="val 81598"/>
              <a:gd name="adj3" fmla="val 3283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24599" y="141553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00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/>
      <p:bldP spid="18" grpId="0" animBg="1"/>
      <p:bldP spid="19" grpId="0"/>
      <p:bldP spid="20" grpId="0" animBg="1"/>
      <p:bldP spid="21" grpId="0" animBg="1"/>
      <p:bldP spid="22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 animBg="1"/>
      <p:bldP spid="37" grpId="0"/>
      <p:bldP spid="38" grpId="0" animBg="1"/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Jaundice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the yellow discoloration of the skin &amp; sclera. Due to excess accumulation of  bilirubin in plasma.</a:t>
            </a:r>
          </a:p>
          <a:p>
            <a:r>
              <a:rPr lang="en-US" dirty="0" smtClean="0"/>
              <a:t>Normal:</a:t>
            </a:r>
          </a:p>
          <a:p>
            <a:pPr marL="0" indent="0">
              <a:buNone/>
            </a:pPr>
            <a:r>
              <a:rPr lang="en-US" dirty="0" smtClean="0"/>
              <a:t>0.5 – 1mg/dl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79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Hussam\Desktop\Jaundi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302"/>
            <a:ext cx="9130754" cy="6829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Hussam\Desktop\baby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" y="4053296"/>
            <a:ext cx="6044621" cy="280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83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533400"/>
            <a:ext cx="8153400" cy="37004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Causes:</a:t>
            </a:r>
          </a:p>
          <a:p>
            <a:pPr marL="0" indent="0">
              <a:buNone/>
            </a:pPr>
            <a:r>
              <a:rPr lang="en-US" dirty="0"/>
              <a:t>1.Prehepatic jaundice</a:t>
            </a:r>
          </a:p>
          <a:p>
            <a:pPr marL="0" indent="0">
              <a:buNone/>
            </a:pPr>
            <a:r>
              <a:rPr lang="en-US" dirty="0"/>
              <a:t>Due to excess </a:t>
            </a:r>
            <a:r>
              <a:rPr lang="en-US" dirty="0" smtClean="0"/>
              <a:t>RBC destruction(hemolysis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2.Hepatic jaundice</a:t>
            </a:r>
          </a:p>
          <a:p>
            <a:pPr marL="0" indent="0">
              <a:buNone/>
            </a:pPr>
            <a:r>
              <a:rPr lang="en-US" dirty="0"/>
              <a:t>Due to hepatocyte destruction and diffuse of bilirubin to serum</a:t>
            </a:r>
          </a:p>
          <a:p>
            <a:pPr marL="0" indent="0">
              <a:buNone/>
            </a:pPr>
            <a:r>
              <a:rPr lang="en-US" dirty="0"/>
              <a:t>3.Post hepatic</a:t>
            </a:r>
          </a:p>
          <a:p>
            <a:pPr marL="0" indent="0">
              <a:buNone/>
            </a:pPr>
            <a:r>
              <a:rPr lang="en-US" dirty="0"/>
              <a:t>Due to obstruction of bile </a:t>
            </a:r>
            <a:r>
              <a:rPr lang="en-US" dirty="0" err="1"/>
              <a:t>canaliculi</a:t>
            </a:r>
            <a:r>
              <a:rPr lang="en-US" dirty="0"/>
              <a:t> and reflux back of bile pigment to hepatocytes</a:t>
            </a:r>
          </a:p>
        </p:txBody>
      </p:sp>
    </p:spTree>
    <p:extLst>
      <p:ext uri="{BB962C8B-B14F-4D97-AF65-F5344CB8AC3E}">
        <p14:creationId xmlns:p14="http://schemas.microsoft.com/office/powerpoint/2010/main" val="31890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"/>
            <a:ext cx="7543799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974821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CCCCCC"/>
      </a:dk1>
      <a:lt1>
        <a:srgbClr val="FFFFFF"/>
      </a:lt1>
      <a:dk2>
        <a:srgbClr val="66CCFF"/>
      </a:dk2>
      <a:lt2>
        <a:srgbClr val="E6E6E6"/>
      </a:lt2>
      <a:accent1>
        <a:srgbClr val="4C4C4C"/>
      </a:accent1>
      <a:accent2>
        <a:srgbClr val="CCCCCC"/>
      </a:accent2>
      <a:accent3>
        <a:srgbClr val="FFFFFF"/>
      </a:accent3>
      <a:accent4>
        <a:srgbClr val="AEAEAE"/>
      </a:accent4>
      <a:accent5>
        <a:srgbClr val="B2B2B2"/>
      </a:accent5>
      <a:accent6>
        <a:srgbClr val="B9B9B9"/>
      </a:accent6>
      <a:hlink>
        <a:srgbClr val="66FFFF"/>
      </a:hlink>
      <a:folHlink>
        <a:srgbClr val="66FF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3366FF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000066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E2F4FF"/>
        </a:accent5>
        <a:accent6>
          <a:srgbClr val="2D2D8A"/>
        </a:accent6>
        <a:hlink>
          <a:srgbClr val="000066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">
      <a:dk1>
        <a:srgbClr val="CCCCCC"/>
      </a:dk1>
      <a:lt1>
        <a:srgbClr val="FFFFFF"/>
      </a:lt1>
      <a:dk2>
        <a:srgbClr val="66CCFF"/>
      </a:dk2>
      <a:lt2>
        <a:srgbClr val="E6E6E6"/>
      </a:lt2>
      <a:accent1>
        <a:srgbClr val="4C4C4C"/>
      </a:accent1>
      <a:accent2>
        <a:srgbClr val="CCCCCC"/>
      </a:accent2>
      <a:accent3>
        <a:srgbClr val="FFFFFF"/>
      </a:accent3>
      <a:accent4>
        <a:srgbClr val="AEAEAE"/>
      </a:accent4>
      <a:accent5>
        <a:srgbClr val="B2B2B2"/>
      </a:accent5>
      <a:accent6>
        <a:srgbClr val="B9B9B9"/>
      </a:accent6>
      <a:hlink>
        <a:srgbClr val="66FFFF"/>
      </a:hlink>
      <a:folHlink>
        <a:srgbClr val="66FF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3366FF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DAEDEF"/>
        </a:accent5>
        <a:accent6>
          <a:srgbClr val="2D2D8A"/>
        </a:accent6>
        <a:hlink>
          <a:srgbClr val="000066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66"/>
        </a:dk1>
        <a:lt1>
          <a:srgbClr val="FFFFFF"/>
        </a:lt1>
        <a:dk2>
          <a:srgbClr val="000066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56"/>
        </a:accent4>
        <a:accent5>
          <a:srgbClr val="E2F4FF"/>
        </a:accent5>
        <a:accent6>
          <a:srgbClr val="2D2D8A"/>
        </a:accent6>
        <a:hlink>
          <a:srgbClr val="000066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735</Words>
  <Application>Microsoft Office PowerPoint</Application>
  <PresentationFormat>On-screen Show (4:3)</PresentationFormat>
  <Paragraphs>183</Paragraphs>
  <Slides>29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Default Design</vt:lpstr>
      <vt:lpstr>1_Default Design</vt:lpstr>
      <vt:lpstr>Blood cells</vt:lpstr>
      <vt:lpstr> </vt:lpstr>
      <vt:lpstr>Synthesis of red blood cells –RBCs- (Erythropoiesis) </vt:lpstr>
      <vt:lpstr>PowerPoint Presentation</vt:lpstr>
      <vt:lpstr>Erthropoietin </vt:lpstr>
      <vt:lpstr>Nutritional requirements for red cell production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Hemoglobin synthesis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Structure of RBC</vt:lpstr>
      <vt:lpstr>PowerPoint Presentation</vt:lpstr>
      <vt:lpstr>PowerPoint Presentation</vt:lpstr>
      <vt:lpstr>RBC breakdown</vt:lpstr>
      <vt:lpstr>PowerPoint Presentation</vt:lpstr>
      <vt:lpstr>Jaundice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cells</dc:title>
  <dc:creator>Hussam</dc:creator>
  <cp:lastModifiedBy>Wafa</cp:lastModifiedBy>
  <cp:revision>77</cp:revision>
  <dcterms:created xsi:type="dcterms:W3CDTF">2012-11-08T15:59:00Z</dcterms:created>
  <dcterms:modified xsi:type="dcterms:W3CDTF">2024-10-18T05:57:23Z</dcterms:modified>
</cp:coreProperties>
</file>