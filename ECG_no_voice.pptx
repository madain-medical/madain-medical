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5" r:id="rId3"/>
    <p:sldId id="270" r:id="rId4"/>
    <p:sldId id="267" r:id="rId5"/>
    <p:sldId id="268" r:id="rId6"/>
    <p:sldId id="278" r:id="rId7"/>
    <p:sldId id="269" r:id="rId8"/>
    <p:sldId id="271" r:id="rId9"/>
    <p:sldId id="273" r:id="rId10"/>
    <p:sldId id="274" r:id="rId11"/>
    <p:sldId id="275" r:id="rId12"/>
    <p:sldId id="276" r:id="rId13"/>
    <p:sldId id="277" r:id="rId14"/>
    <p:sldId id="280" r:id="rId15"/>
    <p:sldId id="279" r:id="rId16"/>
    <p:sldId id="258" r:id="rId17"/>
    <p:sldId id="259" r:id="rId18"/>
    <p:sldId id="260" r:id="rId19"/>
    <p:sldId id="261" r:id="rId20"/>
    <p:sldId id="262" r:id="rId21"/>
    <p:sldId id="264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66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52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26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92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415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768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26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520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03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69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862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7" y="2130439"/>
            <a:ext cx="10363202" cy="147002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4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4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9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4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99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240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48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736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98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52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4406910"/>
            <a:ext cx="10363202" cy="1362075"/>
          </a:xfrm>
        </p:spPr>
        <p:txBody>
          <a:bodyPr anchor="t"/>
          <a:lstStyle>
            <a:lvl1pPr algn="r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2906719"/>
            <a:ext cx="10363202" cy="1500188"/>
          </a:xfrm>
        </p:spPr>
        <p:txBody>
          <a:bodyPr anchor="b"/>
          <a:lstStyle>
            <a:lvl1pPr marL="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1pPr>
            <a:lvl2pPr marL="524813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4961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57442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992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62403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14883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67364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1984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16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600208"/>
            <a:ext cx="5384804" cy="4525965"/>
          </a:xfrm>
        </p:spPr>
        <p:txBody>
          <a:bodyPr/>
          <a:lstStyle>
            <a:lvl1pPr>
              <a:defRPr sz="3000"/>
            </a:lvl1pPr>
            <a:lvl2pPr>
              <a:defRPr sz="3000"/>
            </a:lvl2pPr>
            <a:lvl3pPr>
              <a:defRPr sz="225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3" y="1600208"/>
            <a:ext cx="5384804" cy="4525965"/>
          </a:xfrm>
        </p:spPr>
        <p:txBody>
          <a:bodyPr/>
          <a:lstStyle>
            <a:lvl1pPr>
              <a:defRPr sz="3000"/>
            </a:lvl1pPr>
            <a:lvl2pPr>
              <a:defRPr sz="3000"/>
            </a:lvl2pPr>
            <a:lvl3pPr>
              <a:defRPr sz="225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27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5" y="1535119"/>
            <a:ext cx="5386920" cy="639758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24813" indent="0">
              <a:buNone/>
              <a:defRPr sz="2250" b="1"/>
            </a:lvl2pPr>
            <a:lvl3pPr marL="1049610" indent="0">
              <a:buNone/>
              <a:defRPr sz="2250" b="1"/>
            </a:lvl3pPr>
            <a:lvl4pPr marL="1574423" indent="0">
              <a:buNone/>
              <a:defRPr sz="1500" b="1"/>
            </a:lvl4pPr>
            <a:lvl5pPr marL="2099220" indent="0">
              <a:buNone/>
              <a:defRPr sz="1500" b="1"/>
            </a:lvl5pPr>
            <a:lvl6pPr marL="2624033" indent="0">
              <a:buNone/>
              <a:defRPr sz="1500" b="1"/>
            </a:lvl6pPr>
            <a:lvl7pPr marL="3148830" indent="0">
              <a:buNone/>
              <a:defRPr sz="1500" b="1"/>
            </a:lvl7pPr>
            <a:lvl8pPr marL="3673643" indent="0">
              <a:buNone/>
              <a:defRPr sz="1500" b="1"/>
            </a:lvl8pPr>
            <a:lvl9pPr marL="4198440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5" y="2174880"/>
            <a:ext cx="5386920" cy="3951285"/>
          </a:xfrm>
        </p:spPr>
        <p:txBody>
          <a:bodyPr/>
          <a:lstStyle>
            <a:lvl1pPr>
              <a:defRPr sz="3000"/>
            </a:lvl1pPr>
            <a:lvl2pPr>
              <a:defRPr sz="2250"/>
            </a:lvl2pPr>
            <a:lvl3pPr>
              <a:defRPr sz="225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59" y="1535119"/>
            <a:ext cx="5389044" cy="639758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24813" indent="0">
              <a:buNone/>
              <a:defRPr sz="2250" b="1"/>
            </a:lvl2pPr>
            <a:lvl3pPr marL="1049610" indent="0">
              <a:buNone/>
              <a:defRPr sz="2250" b="1"/>
            </a:lvl3pPr>
            <a:lvl4pPr marL="1574423" indent="0">
              <a:buNone/>
              <a:defRPr sz="1500" b="1"/>
            </a:lvl4pPr>
            <a:lvl5pPr marL="2099220" indent="0">
              <a:buNone/>
              <a:defRPr sz="1500" b="1"/>
            </a:lvl5pPr>
            <a:lvl6pPr marL="2624033" indent="0">
              <a:buNone/>
              <a:defRPr sz="1500" b="1"/>
            </a:lvl6pPr>
            <a:lvl7pPr marL="3148830" indent="0">
              <a:buNone/>
              <a:defRPr sz="1500" b="1"/>
            </a:lvl7pPr>
            <a:lvl8pPr marL="3673643" indent="0">
              <a:buNone/>
              <a:defRPr sz="1500" b="1"/>
            </a:lvl8pPr>
            <a:lvl9pPr marL="4198440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59" y="2174880"/>
            <a:ext cx="5389044" cy="3951285"/>
          </a:xfrm>
        </p:spPr>
        <p:txBody>
          <a:bodyPr/>
          <a:lstStyle>
            <a:lvl1pPr>
              <a:defRPr sz="3000"/>
            </a:lvl1pPr>
            <a:lvl2pPr>
              <a:defRPr sz="2250"/>
            </a:lvl2pPr>
            <a:lvl3pPr>
              <a:defRPr sz="225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75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06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23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20" y="273053"/>
            <a:ext cx="4011083" cy="1162050"/>
          </a:xfrm>
        </p:spPr>
        <p:txBody>
          <a:bodyPr anchor="b"/>
          <a:lstStyle>
            <a:lvl1pPr algn="r">
              <a:defRPr sz="225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50" y="273056"/>
            <a:ext cx="6815669" cy="5853113"/>
          </a:xfrm>
        </p:spPr>
        <p:txBody>
          <a:bodyPr/>
          <a:lstStyle>
            <a:lvl1pPr>
              <a:defRPr sz="3750"/>
            </a:lvl1pPr>
            <a:lvl2pPr>
              <a:defRPr sz="3000"/>
            </a:lvl2pPr>
            <a:lvl3pPr>
              <a:defRPr sz="30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20" y="1435106"/>
            <a:ext cx="401108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524813" indent="0">
              <a:buNone/>
              <a:defRPr sz="1500"/>
            </a:lvl2pPr>
            <a:lvl3pPr marL="1049610" indent="0">
              <a:buNone/>
              <a:defRPr sz="1500"/>
            </a:lvl3pPr>
            <a:lvl4pPr marL="1574423" indent="0">
              <a:buNone/>
              <a:defRPr sz="750"/>
            </a:lvl4pPr>
            <a:lvl5pPr marL="2099220" indent="0">
              <a:buNone/>
              <a:defRPr sz="750"/>
            </a:lvl5pPr>
            <a:lvl6pPr marL="2624033" indent="0">
              <a:buNone/>
              <a:defRPr sz="750"/>
            </a:lvl6pPr>
            <a:lvl7pPr marL="3148830" indent="0">
              <a:buNone/>
              <a:defRPr sz="750"/>
            </a:lvl7pPr>
            <a:lvl8pPr marL="3673643" indent="0">
              <a:buNone/>
              <a:defRPr sz="750"/>
            </a:lvl8pPr>
            <a:lvl9pPr marL="419844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74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9" y="4800611"/>
            <a:ext cx="7315202" cy="566738"/>
          </a:xfrm>
        </p:spPr>
        <p:txBody>
          <a:bodyPr anchor="b"/>
          <a:lstStyle>
            <a:lvl1pPr algn="r">
              <a:defRPr sz="225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9" y="612780"/>
            <a:ext cx="7315202" cy="4114800"/>
          </a:xfrm>
        </p:spPr>
        <p:txBody>
          <a:bodyPr/>
          <a:lstStyle>
            <a:lvl1pPr marL="0" indent="0">
              <a:buNone/>
              <a:defRPr sz="3750"/>
            </a:lvl1pPr>
            <a:lvl2pPr marL="524813" indent="0">
              <a:buNone/>
              <a:defRPr sz="3000"/>
            </a:lvl2pPr>
            <a:lvl3pPr marL="1049610" indent="0">
              <a:buNone/>
              <a:defRPr sz="3000"/>
            </a:lvl3pPr>
            <a:lvl4pPr marL="1574423" indent="0">
              <a:buNone/>
              <a:defRPr sz="2250"/>
            </a:lvl4pPr>
            <a:lvl5pPr marL="2099220" indent="0">
              <a:buNone/>
              <a:defRPr sz="2250"/>
            </a:lvl5pPr>
            <a:lvl6pPr marL="2624033" indent="0">
              <a:buNone/>
              <a:defRPr sz="2250"/>
            </a:lvl6pPr>
            <a:lvl7pPr marL="3148830" indent="0">
              <a:buNone/>
              <a:defRPr sz="2250"/>
            </a:lvl7pPr>
            <a:lvl8pPr marL="3673643" indent="0">
              <a:buNone/>
              <a:defRPr sz="2250"/>
            </a:lvl8pPr>
            <a:lvl9pPr marL="4198440" indent="0">
              <a:buNone/>
              <a:defRPr sz="225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9" y="5367349"/>
            <a:ext cx="7315202" cy="804863"/>
          </a:xfrm>
        </p:spPr>
        <p:txBody>
          <a:bodyPr/>
          <a:lstStyle>
            <a:lvl1pPr marL="0" indent="0">
              <a:buNone/>
              <a:defRPr sz="1500"/>
            </a:lvl1pPr>
            <a:lvl2pPr marL="524813" indent="0">
              <a:buNone/>
              <a:defRPr sz="1500"/>
            </a:lvl2pPr>
            <a:lvl3pPr marL="1049610" indent="0">
              <a:buNone/>
              <a:defRPr sz="1500"/>
            </a:lvl3pPr>
            <a:lvl4pPr marL="1574423" indent="0">
              <a:buNone/>
              <a:defRPr sz="750"/>
            </a:lvl4pPr>
            <a:lvl5pPr marL="2099220" indent="0">
              <a:buNone/>
              <a:defRPr sz="750"/>
            </a:lvl5pPr>
            <a:lvl6pPr marL="2624033" indent="0">
              <a:buNone/>
              <a:defRPr sz="750"/>
            </a:lvl6pPr>
            <a:lvl7pPr marL="3148830" indent="0">
              <a:buNone/>
              <a:defRPr sz="750"/>
            </a:lvl7pPr>
            <a:lvl8pPr marL="3673643" indent="0">
              <a:buNone/>
              <a:defRPr sz="750"/>
            </a:lvl8pPr>
            <a:lvl9pPr marL="419844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0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85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5" y="274646"/>
            <a:ext cx="2743202" cy="58515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5" y="274646"/>
            <a:ext cx="8026398" cy="585152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32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DB066-503A-4583-8961-FC28E2C5B14A}" type="datetimeFigureOut">
              <a:rPr lang="en-GB" smtClean="0"/>
              <a:t>02/04/2024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DB152-8B4A-426B-87BA-3354164A9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2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9" y="274643"/>
            <a:ext cx="10972798" cy="1143000"/>
          </a:xfrm>
          <a:prstGeom prst="rect">
            <a:avLst/>
          </a:prstGeom>
        </p:spPr>
        <p:txBody>
          <a:bodyPr vert="horz" lIns="13995" tIns="6996" rIns="13995" bIns="6996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9" y="1600208"/>
            <a:ext cx="10972798" cy="4525965"/>
          </a:xfrm>
          <a:prstGeom prst="rect">
            <a:avLst/>
          </a:prstGeom>
        </p:spPr>
        <p:txBody>
          <a:bodyPr vert="horz" lIns="13995" tIns="6996" rIns="13995" bIns="6996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7602" y="6356348"/>
            <a:ext cx="2844801" cy="365130"/>
          </a:xfrm>
          <a:prstGeom prst="rect">
            <a:avLst/>
          </a:prstGeom>
        </p:spPr>
        <p:txBody>
          <a:bodyPr vert="horz" lIns="13995" tIns="6996" rIns="13995" bIns="6996" rtlCol="1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49610" rtl="1"/>
            <a:fld id="{1C9F0650-2405-41A3-A616-6753F4C70CC7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 defTabSz="1049610" rtl="1"/>
              <a:t>24/09/1445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6" y="6356348"/>
            <a:ext cx="3860804" cy="365130"/>
          </a:xfrm>
          <a:prstGeom prst="rect">
            <a:avLst/>
          </a:prstGeom>
        </p:spPr>
        <p:txBody>
          <a:bodyPr vert="horz" lIns="13995" tIns="6996" rIns="13995" bIns="6996" rtlCol="1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49610" rtl="1"/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597" y="6356348"/>
            <a:ext cx="2844801" cy="365130"/>
          </a:xfrm>
          <a:prstGeom prst="rect">
            <a:avLst/>
          </a:prstGeom>
        </p:spPr>
        <p:txBody>
          <a:bodyPr vert="horz" lIns="13995" tIns="6996" rIns="13995" bIns="6996" rtlCol="1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49610" rtl="1"/>
            <a:fld id="{BFD78C23-BBB4-48AC-B268-BF88016365BA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 defTabSz="1049610" rtl="1"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99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xStyles>
    <p:titleStyle>
      <a:lvl1pPr algn="ctr" defTabSz="1049610" rtl="1" eaLnBrk="1" latinLnBrk="0" hangingPunct="1">
        <a:spcBef>
          <a:spcPct val="0"/>
        </a:spcBef>
        <a:buNone/>
        <a:defRPr sz="5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3600" indent="-393600" algn="r" defTabSz="1049610" rtl="1" eaLnBrk="1" latinLnBrk="0" hangingPunct="1">
        <a:spcBef>
          <a:spcPct val="20000"/>
        </a:spcBef>
        <a:buFont typeface="Arial" panose="020B0604020202020204" pitchFamily="34" charset="0"/>
        <a:buChar char="•"/>
        <a:defRPr sz="3750" kern="1200">
          <a:solidFill>
            <a:schemeClr val="tx1"/>
          </a:solidFill>
          <a:latin typeface="+mn-lt"/>
          <a:ea typeface="+mn-ea"/>
          <a:cs typeface="+mn-cs"/>
        </a:defRPr>
      </a:lvl1pPr>
      <a:lvl2pPr marL="852810" indent="-327998" algn="r" defTabSz="1049610" rtl="1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312020" indent="-262410" algn="r" defTabSz="1049610" rtl="1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1836818" indent="-262410" algn="r" defTabSz="1049610" rtl="1" eaLnBrk="1" latinLnBrk="0" hangingPunct="1">
        <a:spcBef>
          <a:spcPct val="20000"/>
        </a:spcBef>
        <a:buFont typeface="Arial" panose="020B0604020202020204" pitchFamily="34" charset="0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361630" indent="-262410" algn="r" defTabSz="1049610" rtl="1" eaLnBrk="1" latinLnBrk="0" hangingPunct="1">
        <a:spcBef>
          <a:spcPct val="20000"/>
        </a:spcBef>
        <a:buFont typeface="Arial" panose="020B0604020202020204" pitchFamily="34" charset="0"/>
        <a:buChar char="»"/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886428" indent="-262410" algn="r" defTabSz="1049610" rtl="1" eaLnBrk="1" latinLnBrk="0" hangingPunct="1">
        <a:spcBef>
          <a:spcPct val="20000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411240" indent="-262410" algn="r" defTabSz="1049610" rtl="1" eaLnBrk="1" latinLnBrk="0" hangingPunct="1">
        <a:spcBef>
          <a:spcPct val="20000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3936038" indent="-262410" algn="r" defTabSz="1049610" rtl="1" eaLnBrk="1" latinLnBrk="0" hangingPunct="1">
        <a:spcBef>
          <a:spcPct val="20000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460850" indent="-262410" algn="r" defTabSz="1049610" rtl="1" eaLnBrk="1" latinLnBrk="0" hangingPunct="1">
        <a:spcBef>
          <a:spcPct val="20000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1049610" rtl="1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24813" algn="r" defTabSz="1049610" rtl="1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049610" algn="r" defTabSz="1049610" rtl="1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574423" algn="r" defTabSz="1049610" rtl="1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099220" algn="r" defTabSz="1049610" rtl="1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624033" algn="r" defTabSz="1049610" rtl="1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148830" algn="r" defTabSz="1049610" rtl="1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3673643" algn="r" defTabSz="1049610" rtl="1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198440" algn="r" defTabSz="1049610" rtl="1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image" Target="../media/image1.jpe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3.jpe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5.jpe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8.jpe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8.jpeg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9039" y="260651"/>
            <a:ext cx="9806588" cy="1075793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Cardiac physiology</a:t>
            </a:r>
            <a:br>
              <a:rPr lang="en-US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ECG</a:t>
            </a:r>
            <a:endParaRPr lang="ar-SA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6478" y="3102634"/>
            <a:ext cx="8076015" cy="683978"/>
          </a:xfrm>
        </p:spPr>
        <p:txBody>
          <a:bodyPr/>
          <a:lstStyle/>
          <a:p>
            <a:r>
              <a:rPr lang="en-US" b="1" dirty="0" smtClean="0">
                <a:solidFill>
                  <a:srgbClr val="3318FA"/>
                </a:solidFill>
              </a:rPr>
              <a:t>By: Dr. Mazin S. A. M</a:t>
            </a:r>
            <a:endParaRPr lang="ar-SA" b="1" dirty="0">
              <a:solidFill>
                <a:srgbClr val="3318FA"/>
              </a:solidFill>
            </a:endParaRPr>
          </a:p>
        </p:txBody>
      </p:sp>
      <p:pic>
        <p:nvPicPr>
          <p:cNvPr id="2050" name="Picture 2" descr="M:\All physiology\Physiology to lecture\,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624" y="1982415"/>
            <a:ext cx="2491643" cy="22386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6478" y="4642669"/>
            <a:ext cx="10699260" cy="2183578"/>
          </a:xfrm>
          <a:prstGeom prst="rect">
            <a:avLst/>
          </a:prstGeom>
          <a:noFill/>
        </p:spPr>
        <p:txBody>
          <a:bodyPr wrap="square" lIns="105068" tIns="52530" rIns="105068" bIns="52530" rtlCol="1">
            <a:spAutoFit/>
          </a:bodyPr>
          <a:lstStyle/>
          <a:p>
            <a:pPr defTabSz="1049610" rtl="1"/>
            <a:r>
              <a:rPr lang="en-US" sz="225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MBBS, Bogomolets National University….</a:t>
            </a:r>
          </a:p>
          <a:p>
            <a:pPr defTabSz="1049610" rtl="1"/>
            <a:r>
              <a:rPr lang="en-US" sz="225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Diploma in Research methodology and biostatistics, University of science and Technology….</a:t>
            </a:r>
          </a:p>
          <a:p>
            <a:pPr defTabSz="1049610" rtl="1"/>
            <a:r>
              <a:rPr lang="en-US" sz="225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Cardiology MD, Saransk city, Russian Federation….</a:t>
            </a:r>
          </a:p>
          <a:p>
            <a:pPr defTabSz="1049610" rtl="1"/>
            <a:r>
              <a:rPr lang="en-US" sz="225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Masters degree in human physiology, Ribat National University….</a:t>
            </a:r>
          </a:p>
          <a:p>
            <a:pPr defTabSz="1049610" rtl="1"/>
            <a:r>
              <a:rPr lang="en-US" sz="225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Masters degree in Molecular medicine, Khartoum University…. </a:t>
            </a:r>
            <a:endParaRPr lang="ar-SA" sz="225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280745" y="1772824"/>
            <a:ext cx="6995745" cy="11521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5068" tIns="52530" rIns="105068" bIns="52530" rtlCol="1" anchor="ctr"/>
          <a:lstStyle/>
          <a:p>
            <a:pPr algn="ctr" defTabSz="1049610" rtl="1"/>
            <a:r>
              <a:rPr lang="en-US" sz="375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Physioloize it to visualize it….</a:t>
            </a:r>
            <a:endParaRPr lang="ar-SA" sz="3750" b="1" i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007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21722">
        <p:cut/>
      </p:transition>
    </mc:Choice>
    <mc:Fallback xmlns="">
      <p:transition advTm="21722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rgbClr val="002060"/>
                </a:solidFill>
                <a:latin typeface="Algerian" panose="04020705040A02060702" pitchFamily="82" charset="0"/>
              </a:rPr>
              <a:t>Objectives of the course!!!!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To recognize the undying need to understand and correctly interpret and ECG graphic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To recognize the value of electrophysiology and be ready to embrace it in our clinical daily lives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To recognize the most common and alarming heart rhythm disturbance from the surface ECG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To understand the basics of </a:t>
            </a:r>
            <a:r>
              <a:rPr lang="en-US" altLang="en-US" dirty="0" err="1"/>
              <a:t>antidysrythmic</a:t>
            </a:r>
            <a:r>
              <a:rPr lang="en-US" altLang="en-US" dirty="0"/>
              <a:t> drug use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To be able to research for the clinical needs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8052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742"/>
    </mc:Choice>
    <mc:Fallback xmlns="">
      <p:transition spd="slow" advTm="827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381001"/>
            <a:ext cx="8229600" cy="57451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ECG. The basics: The normal </a:t>
            </a:r>
            <a:r>
              <a:rPr lang="en-US" altLang="en-US" i="1" dirty="0" smtClean="0"/>
              <a:t>ECG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The genesis of the normal electrocardiogram:-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Normal P wave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Normal QRS complex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Normal T wave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Segments and intervals calculations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The electrical axis, the normality, deviation and the calculation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The Willem Einthoven triangle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Rhythm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Axis</a:t>
            </a:r>
          </a:p>
        </p:txBody>
      </p:sp>
    </p:spTree>
    <p:extLst>
      <p:ext uri="{BB962C8B-B14F-4D97-AF65-F5344CB8AC3E}">
        <p14:creationId xmlns:p14="http://schemas.microsoft.com/office/powerpoint/2010/main" val="4919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14"/>
    </mc:Choice>
    <mc:Fallback xmlns="">
      <p:transition spd="slow" advTm="399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 smtClean="0">
                <a:solidFill>
                  <a:srgbClr val="002060"/>
                </a:solidFill>
                <a:latin typeface="Algerian" panose="04020705040A02060702" pitchFamily="82" charset="0"/>
              </a:rPr>
              <a:t>What we need to know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3600" dirty="0"/>
              <a:t>ECG Basics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3600" dirty="0"/>
              <a:t>How to Analyze a Rhythm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3600" dirty="0"/>
              <a:t>Normal Sinus Rhythm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3600" dirty="0"/>
              <a:t>Heart </a:t>
            </a:r>
            <a:r>
              <a:rPr lang="en-US" altLang="en-US" sz="3600" dirty="0" err="1"/>
              <a:t>Dys-rythmias</a:t>
            </a:r>
            <a:endParaRPr lang="en-US" altLang="en-US" sz="3600" dirty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3600" dirty="0"/>
              <a:t>Diagnosing a Myocardial Infarction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1491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185"/>
    </mc:Choice>
    <mc:Fallback xmlns="">
      <p:transition spd="slow" advTm="581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altLang="en-US" sz="3600" dirty="0">
                <a:solidFill>
                  <a:srgbClr val="002060"/>
                </a:solidFill>
                <a:latin typeface="Algerian" panose="04020705040A02060702" pitchFamily="82" charset="0"/>
              </a:rPr>
              <a:t>ECG my heart</a:t>
            </a:r>
          </a:p>
        </p:txBody>
      </p:sp>
      <p:pic>
        <p:nvPicPr>
          <p:cNvPr id="14340" name="Picture 4" descr="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27909"/>
            <a:ext cx="8229600" cy="4495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907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116"/>
    </mc:Choice>
    <mc:Fallback xmlns="">
      <p:transition spd="slow" advTm="681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latin typeface="Algerian" panose="04020705040A02060702" pitchFamily="82" charset="0"/>
              </a:rPr>
              <a:t>Scope of E. c. G</a:t>
            </a:r>
          </a:p>
        </p:txBody>
      </p:sp>
      <p:pic>
        <p:nvPicPr>
          <p:cNvPr id="5124" name="Picture 5" descr="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50818"/>
            <a:ext cx="9144000" cy="4648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204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309"/>
    </mc:Choice>
    <mc:Fallback xmlns="">
      <p:transition spd="slow" advTm="973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>
                <a:solidFill>
                  <a:srgbClr val="002060"/>
                </a:solidFill>
                <a:latin typeface="Algerian" panose="04020705040A02060702" pitchFamily="82" charset="0"/>
              </a:rPr>
              <a:t>Electrophysiology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Electro-cardio-physiology (EP): is the science of elucidating, diagnosing, and treating the electrical activities of the heart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 These EP studies are for: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Assess complex </a:t>
            </a:r>
            <a:r>
              <a:rPr lang="en-US" altLang="en-US" dirty="0" err="1" smtClean="0"/>
              <a:t>Dys-rythmias</a:t>
            </a:r>
            <a:endParaRPr lang="en-US" altLang="en-US" dirty="0" smtClean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Elucidate symptoms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Assess future risk of </a:t>
            </a:r>
            <a:r>
              <a:rPr lang="en-US" altLang="en-US" dirty="0" err="1" smtClean="0"/>
              <a:t>Dys-rythmias</a:t>
            </a:r>
            <a:endParaRPr lang="en-US" altLang="en-US" dirty="0" smtClean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Plan treatment 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4472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331"/>
    </mc:Choice>
    <mc:Fallback xmlns="">
      <p:transition spd="slow" advTm="823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Main indications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Identification of Tachycardia substrate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Evaluation of unexplained syncope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Evaluation of cardiac arrest survivors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Guidance of drug therapy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Evaluation of Bradycardia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0748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005"/>
    </mc:Choice>
    <mc:Fallback xmlns="">
      <p:transition spd="slow" advTm="660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solidFill>
                  <a:srgbClr val="002060"/>
                </a:solidFill>
                <a:latin typeface="Algerian" panose="04020705040A02060702" pitchFamily="82" charset="0"/>
              </a:rPr>
              <a:t>Conduction</a:t>
            </a:r>
          </a:p>
        </p:txBody>
      </p:sp>
      <p:pic>
        <p:nvPicPr>
          <p:cNvPr id="10243" name="Picture 4" descr="conduction system best copy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1600" y="1600200"/>
            <a:ext cx="5143500" cy="3835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1828800" y="1676401"/>
            <a:ext cx="3048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Sinoatrial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Bundle of His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Bundle Branches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Purkinje fibers</a:t>
            </a:r>
          </a:p>
        </p:txBody>
      </p:sp>
    </p:spTree>
    <p:extLst>
      <p:ext uri="{BB962C8B-B14F-4D97-AF65-F5344CB8AC3E}">
        <p14:creationId xmlns:p14="http://schemas.microsoft.com/office/powerpoint/2010/main" val="303681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04"/>
    </mc:Choice>
    <mc:Fallback xmlns="">
      <p:transition spd="slow" advTm="64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>
                <a:latin typeface="Algerian" panose="04020705040A02060702" pitchFamily="82" charset="0"/>
              </a:rPr>
              <a:t>Heart pacemakers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>
                <a:solidFill>
                  <a:srgbClr val="FF5050"/>
                </a:solidFill>
              </a:rPr>
              <a:t>SA Node</a:t>
            </a:r>
            <a:r>
              <a:rPr lang="en-US" altLang="en-US" dirty="0" smtClean="0"/>
              <a:t> - Dominant pacemaker with an intrinsic rate of 60 - 100 beats/minute.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sz="1200" dirty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>
                <a:solidFill>
                  <a:srgbClr val="FF5050"/>
                </a:solidFill>
              </a:rPr>
              <a:t>AV Node</a:t>
            </a:r>
            <a:r>
              <a:rPr lang="en-US" altLang="en-US" dirty="0" smtClean="0"/>
              <a:t> - Back-up pacemaker with an intrinsic rate of 40 - 60 beats/minute.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sz="1200" dirty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>
                <a:solidFill>
                  <a:srgbClr val="FF5050"/>
                </a:solidFill>
              </a:rPr>
              <a:t>Ventricular cells</a:t>
            </a:r>
            <a:r>
              <a:rPr lang="en-US" altLang="en-US" dirty="0" smtClean="0"/>
              <a:t> - Back-up pacemaker with an intrinsic rate of 20 - 45 bpm.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3341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568"/>
    </mc:Choice>
    <mc:Fallback xmlns="">
      <p:transition spd="slow" advTm="695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Einthoven triangle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</a:p>
        </p:txBody>
      </p:sp>
      <p:pic>
        <p:nvPicPr>
          <p:cNvPr id="12291" name="Picture 4" descr="1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447800"/>
            <a:ext cx="8229600" cy="487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616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548"/>
    </mc:Choice>
    <mc:Fallback xmlns="">
      <p:transition spd="slow" advTm="1875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309" y="720435"/>
            <a:ext cx="9144000" cy="52370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59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463"/>
    </mc:Choice>
    <mc:Fallback xmlns="">
      <p:transition spd="slow" advTm="1454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600"/>
            <a:ext cx="9144000" cy="6400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831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7982"/>
    </mc:Choice>
    <mc:Fallback xmlns="">
      <p:transition spd="slow" advTm="1679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5" descr="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746" y="235528"/>
            <a:ext cx="9144000" cy="63038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501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232"/>
    </mc:Choice>
    <mc:Fallback xmlns="">
      <p:transition spd="slow" advTm="952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>
                <a:latin typeface="Algerian" panose="04020705040A02060702" pitchFamily="82" charset="0"/>
              </a:rPr>
              <a:t>The P wave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It represents the Atrial activation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Can be normal and of course abnormal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Normal P wave is best evaluated from standard lead *2* or lead *V1*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Duration less than 0.12 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Amplitude less than 0.2mV (mm)</a:t>
            </a:r>
          </a:p>
        </p:txBody>
      </p:sp>
    </p:spTree>
    <p:extLst>
      <p:ext uri="{BB962C8B-B14F-4D97-AF65-F5344CB8AC3E}">
        <p14:creationId xmlns:p14="http://schemas.microsoft.com/office/powerpoint/2010/main" val="413978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331"/>
    </mc:Choice>
    <mc:Fallback xmlns="">
      <p:transition spd="slow" advTm="823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600"/>
            <a:ext cx="9144000" cy="6400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90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833"/>
    </mc:Choice>
    <mc:Fallback xmlns="">
      <p:transition spd="slow" advTm="498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>
                <a:latin typeface="Algerian" panose="04020705040A02060702" pitchFamily="82" charset="0"/>
              </a:rPr>
              <a:t>P-R interval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From the onset of P-wave-onset of QRS complex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Duration 0.12-0.2 second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It represents the time needed for the impulse to reach the AV node and the physiological delay</a:t>
            </a:r>
          </a:p>
        </p:txBody>
      </p:sp>
    </p:spTree>
    <p:extLst>
      <p:ext uri="{BB962C8B-B14F-4D97-AF65-F5344CB8AC3E}">
        <p14:creationId xmlns:p14="http://schemas.microsoft.com/office/powerpoint/2010/main" val="240056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832"/>
    </mc:Choice>
    <mc:Fallback xmlns="">
      <p:transition spd="slow" advTm="748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600"/>
            <a:ext cx="9144000" cy="6400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436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QRS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Duration less than 0.12s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The complex stands for activation of septum and the ventricles (right and left)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Amplitude is affected by:-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Ventricular muscular mass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Patient build</a:t>
            </a:r>
          </a:p>
        </p:txBody>
      </p:sp>
    </p:spTree>
    <p:extLst>
      <p:ext uri="{BB962C8B-B14F-4D97-AF65-F5344CB8AC3E}">
        <p14:creationId xmlns:p14="http://schemas.microsoft.com/office/powerpoint/2010/main" val="415195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430"/>
    </mc:Choice>
    <mc:Fallback xmlns="">
      <p:transition spd="slow" advTm="624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dirty="0">
                <a:latin typeface="Algerian" panose="04020705040A02060702" pitchFamily="82" charset="0"/>
              </a:rPr>
              <a:t>T wave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 smtClean="0"/>
              <a:t>It represents the repolarization of the ventricles</a:t>
            </a:r>
          </a:p>
        </p:txBody>
      </p:sp>
    </p:spTree>
    <p:extLst>
      <p:ext uri="{BB962C8B-B14F-4D97-AF65-F5344CB8AC3E}">
        <p14:creationId xmlns:p14="http://schemas.microsoft.com/office/powerpoint/2010/main" val="40669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90"/>
    </mc:Choice>
    <mc:Fallback xmlns="">
      <p:transition spd="slow" advTm="290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46" y="2817380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 you next time</a:t>
            </a:r>
            <a:endParaRPr lang="en-GB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188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Pharmacology</a:t>
            </a:r>
            <a:endParaRPr lang="ar-SY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Choice of drugs affecting the CV course:</a:t>
            </a:r>
          </a:p>
          <a:p>
            <a:r>
              <a:rPr lang="en-GB" dirty="0" smtClean="0"/>
              <a:t>Drugs affecting mortality </a:t>
            </a:r>
            <a:r>
              <a:rPr lang="en-GB" b="1" dirty="0" smtClean="0">
                <a:solidFill>
                  <a:srgbClr val="002060"/>
                </a:solidFill>
              </a:rPr>
              <a:t>(Let the mortality difference drive you):</a:t>
            </a:r>
          </a:p>
          <a:p>
            <a:r>
              <a:rPr lang="en-GB" b="1" dirty="0" smtClean="0">
                <a:solidFill>
                  <a:srgbClr val="002060"/>
                </a:solidFill>
              </a:rPr>
              <a:t>Antianginal drugs:</a:t>
            </a:r>
          </a:p>
          <a:p>
            <a:r>
              <a:rPr lang="en-GB" b="1" dirty="0" smtClean="0">
                <a:solidFill>
                  <a:srgbClr val="002060"/>
                </a:solidFill>
              </a:rPr>
              <a:t>Aspirin, B-blockers, statins and ACE-inhibitors</a:t>
            </a:r>
          </a:p>
          <a:p>
            <a:pPr marL="0" indent="0">
              <a:buNone/>
            </a:pPr>
            <a:endParaRPr lang="en-GB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GB" b="1" dirty="0" smtClean="0">
                <a:solidFill>
                  <a:srgbClr val="002060"/>
                </a:solidFill>
              </a:rPr>
              <a:t>Anti-</a:t>
            </a:r>
            <a:r>
              <a:rPr lang="en-GB" b="1" dirty="0" err="1" smtClean="0">
                <a:solidFill>
                  <a:srgbClr val="002060"/>
                </a:solidFill>
              </a:rPr>
              <a:t>dysrythmic</a:t>
            </a:r>
            <a:r>
              <a:rPr lang="en-GB" b="1" dirty="0" smtClean="0">
                <a:solidFill>
                  <a:srgbClr val="002060"/>
                </a:solidFill>
              </a:rPr>
              <a:t> drugs (targeting channels)-</a:t>
            </a:r>
          </a:p>
          <a:p>
            <a:pPr marL="0" indent="0">
              <a:buNone/>
            </a:pPr>
            <a:endParaRPr lang="ar-SY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20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4892"/>
    </mc:Choice>
    <mc:Fallback>
      <p:transition spd="slow" advTm="1648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Side effects and interactions</a:t>
            </a:r>
            <a:endParaRPr lang="ar-SY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ACE-Inhibitors: (-</a:t>
            </a:r>
            <a:r>
              <a:rPr lang="en-GB" dirty="0" err="1" smtClean="0"/>
              <a:t>pril</a:t>
            </a:r>
            <a:r>
              <a:rPr lang="en-GB" dirty="0" smtClean="0"/>
              <a:t>) CAPTOPRIL</a:t>
            </a:r>
          </a:p>
          <a:p>
            <a:r>
              <a:rPr lang="en-GB" dirty="0" smtClean="0"/>
              <a:t>Cough</a:t>
            </a:r>
          </a:p>
          <a:p>
            <a:r>
              <a:rPr lang="en-GB" dirty="0" smtClean="0"/>
              <a:t>Angioedema</a:t>
            </a:r>
          </a:p>
          <a:p>
            <a:r>
              <a:rPr lang="en-GB" dirty="0" smtClean="0"/>
              <a:t>Proteinuria </a:t>
            </a:r>
          </a:p>
          <a:p>
            <a:r>
              <a:rPr lang="en-GB" dirty="0" smtClean="0"/>
              <a:t>Taste change</a:t>
            </a:r>
          </a:p>
          <a:p>
            <a:r>
              <a:rPr lang="en-GB" dirty="0" smtClean="0"/>
              <a:t>Orthostatic hypotension </a:t>
            </a:r>
          </a:p>
          <a:p>
            <a:r>
              <a:rPr lang="en-GB" dirty="0" smtClean="0"/>
              <a:t>Pregnancy contraindication</a:t>
            </a:r>
          </a:p>
          <a:p>
            <a:r>
              <a:rPr lang="en-GB" dirty="0" smtClean="0"/>
              <a:t>Renal failure</a:t>
            </a:r>
          </a:p>
          <a:p>
            <a:r>
              <a:rPr lang="en-GB" dirty="0" smtClean="0"/>
              <a:t>Indomethacin</a:t>
            </a:r>
          </a:p>
          <a:p>
            <a:r>
              <a:rPr lang="en-GB" dirty="0" smtClean="0"/>
              <a:t>Leukopenia 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464264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026"/>
    </mc:Choice>
    <mc:Fallback>
      <p:transition spd="slow" advTm="730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Beta blockers (ABCDE)</a:t>
            </a:r>
            <a:endParaRPr lang="ar-S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Asthma</a:t>
            </a:r>
          </a:p>
          <a:p>
            <a:r>
              <a:rPr lang="en-GB" dirty="0" smtClean="0"/>
              <a:t>Block (heart)</a:t>
            </a:r>
          </a:p>
          <a:p>
            <a:r>
              <a:rPr lang="en-GB" dirty="0" smtClean="0"/>
              <a:t>COPD</a:t>
            </a:r>
          </a:p>
          <a:p>
            <a:r>
              <a:rPr lang="en-GB" dirty="0" smtClean="0"/>
              <a:t>DM</a:t>
            </a:r>
          </a:p>
          <a:p>
            <a:r>
              <a:rPr lang="en-GB" dirty="0" smtClean="0"/>
              <a:t>Electrolytes (hyper-k-</a:t>
            </a:r>
            <a:r>
              <a:rPr lang="en-GB" dirty="0" err="1" smtClean="0"/>
              <a:t>alemia</a:t>
            </a:r>
            <a:r>
              <a:rPr lang="en-GB" dirty="0" smtClean="0"/>
              <a:t>)</a:t>
            </a:r>
          </a:p>
          <a:p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4124095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064"/>
    </mc:Choice>
    <mc:Fallback>
      <p:transition spd="slow" advTm="310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Uses of calcium channel blockers C-MASH</a:t>
            </a:r>
            <a:endParaRPr lang="ar-S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Cerebral vasospasm</a:t>
            </a:r>
          </a:p>
          <a:p>
            <a:r>
              <a:rPr lang="en-GB" dirty="0" smtClean="0"/>
              <a:t>Migraines </a:t>
            </a:r>
          </a:p>
          <a:p>
            <a:r>
              <a:rPr lang="en-GB" dirty="0" smtClean="0"/>
              <a:t>Angina, Atrial flutter</a:t>
            </a:r>
          </a:p>
          <a:p>
            <a:r>
              <a:rPr lang="en-GB" dirty="0" smtClean="0"/>
              <a:t>SVT</a:t>
            </a:r>
          </a:p>
          <a:p>
            <a:r>
              <a:rPr lang="en-GB" dirty="0" smtClean="0"/>
              <a:t>Hypertension</a:t>
            </a:r>
            <a:endParaRPr lang="en-GB" dirty="0"/>
          </a:p>
          <a:p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104655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329"/>
    </mc:Choice>
    <mc:Fallback>
      <p:transition spd="slow" advTm="213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Drugs used in AV block (DO-BLOCK AV-DAH)</a:t>
            </a:r>
            <a:endParaRPr lang="ar-SY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Digoxin </a:t>
            </a:r>
          </a:p>
          <a:p>
            <a:r>
              <a:rPr lang="en-GB" dirty="0" smtClean="0"/>
              <a:t>Beta blockers </a:t>
            </a:r>
          </a:p>
          <a:p>
            <a:r>
              <a:rPr lang="en-GB" dirty="0" smtClean="0"/>
              <a:t>Adenosine</a:t>
            </a:r>
          </a:p>
          <a:p>
            <a:r>
              <a:rPr lang="en-GB" dirty="0" smtClean="0"/>
              <a:t>Verapamil</a:t>
            </a:r>
          </a:p>
          <a:p>
            <a:r>
              <a:rPr lang="en-GB" dirty="0" smtClean="0"/>
              <a:t>Diltiazem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917923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349"/>
    </mc:Choice>
    <mc:Fallback>
      <p:transition spd="slow" advTm="393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K-increasing agents (K-BANK)</a:t>
            </a:r>
            <a:endParaRPr lang="ar-SY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K sparing diuretics</a:t>
            </a:r>
          </a:p>
          <a:p>
            <a:r>
              <a:rPr lang="en-GB" dirty="0" smtClean="0"/>
              <a:t>B-blockers</a:t>
            </a:r>
          </a:p>
          <a:p>
            <a:r>
              <a:rPr lang="en-GB" dirty="0" smtClean="0"/>
              <a:t>ACE-inhibitors</a:t>
            </a:r>
          </a:p>
          <a:p>
            <a:r>
              <a:rPr lang="en-GB" dirty="0" smtClean="0"/>
              <a:t>NSAIDs</a:t>
            </a:r>
          </a:p>
          <a:p>
            <a:r>
              <a:rPr lang="en-GB" dirty="0" smtClean="0"/>
              <a:t>K supplements 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943747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061"/>
    </mc:Choice>
    <mc:Fallback>
      <p:transition spd="slow" advTm="260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Gynecomastia causing agents (DISCO)</a:t>
            </a:r>
            <a:endParaRPr lang="ar-SY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Digoxin</a:t>
            </a:r>
          </a:p>
          <a:p>
            <a:r>
              <a:rPr lang="en-GB" dirty="0" smtClean="0"/>
              <a:t>Isoniazid </a:t>
            </a:r>
          </a:p>
          <a:p>
            <a:r>
              <a:rPr lang="en-GB" dirty="0" smtClean="0"/>
              <a:t>Spironolactone</a:t>
            </a:r>
          </a:p>
          <a:p>
            <a:r>
              <a:rPr lang="en-GB" dirty="0" smtClean="0"/>
              <a:t>Cimetidine </a:t>
            </a:r>
          </a:p>
          <a:p>
            <a:r>
              <a:rPr lang="en-GB" dirty="0" smtClean="0"/>
              <a:t> Estrogens 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755715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585"/>
    </mc:Choice>
    <mc:Fallback>
      <p:transition spd="slow" advTm="405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46" y="2817380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 you next time</a:t>
            </a:r>
            <a:endParaRPr lang="en-GB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2848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582</Words>
  <Application>Microsoft Office PowerPoint</Application>
  <PresentationFormat>Widescreen</PresentationFormat>
  <Paragraphs>131</Paragraphs>
  <Slides>29</Slides>
  <Notes>0</Notes>
  <HiddenSlides>0</HiddenSlides>
  <MMClips>26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Cardiac physiology ECG</vt:lpstr>
      <vt:lpstr>Objectives of the course!!!!</vt:lpstr>
      <vt:lpstr>PowerPoint Presentation</vt:lpstr>
      <vt:lpstr>What we need to know</vt:lpstr>
      <vt:lpstr>ECG my heart</vt:lpstr>
      <vt:lpstr>Scope of E. c. G</vt:lpstr>
      <vt:lpstr>Electrophysiology</vt:lpstr>
      <vt:lpstr>Main indications</vt:lpstr>
      <vt:lpstr>Conduction</vt:lpstr>
      <vt:lpstr>Heart pacemakers</vt:lpstr>
      <vt:lpstr>Einthoven triangle  </vt:lpstr>
      <vt:lpstr>PowerPoint Presentation</vt:lpstr>
      <vt:lpstr>PowerPoint Presentation</vt:lpstr>
      <vt:lpstr>PowerPoint Presentation</vt:lpstr>
      <vt:lpstr>The P wave</vt:lpstr>
      <vt:lpstr>PowerPoint Presentation</vt:lpstr>
      <vt:lpstr>P-R interval</vt:lpstr>
      <vt:lpstr>PowerPoint Presentation</vt:lpstr>
      <vt:lpstr>QRS</vt:lpstr>
      <vt:lpstr>T wave</vt:lpstr>
      <vt:lpstr>See you next time</vt:lpstr>
      <vt:lpstr>Pharmacology</vt:lpstr>
      <vt:lpstr>Side effects and interactions</vt:lpstr>
      <vt:lpstr>Beta blockers (ABCDE)</vt:lpstr>
      <vt:lpstr>Uses of calcium channel blockers C-MASH</vt:lpstr>
      <vt:lpstr>Drugs used in AV block (DO-BLOCK AV-DAH)</vt:lpstr>
      <vt:lpstr>K-increasing agents (K-BANK)</vt:lpstr>
      <vt:lpstr>Gynecomastia causing agents (DISCO)</vt:lpstr>
      <vt:lpstr>See you next time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ECG</dc:title>
  <dc:creator>Mazin</dc:creator>
  <cp:lastModifiedBy>Mazin</cp:lastModifiedBy>
  <cp:revision>21</cp:revision>
  <dcterms:created xsi:type="dcterms:W3CDTF">2022-06-13T09:48:12Z</dcterms:created>
  <dcterms:modified xsi:type="dcterms:W3CDTF">2024-04-02T08:26:41Z</dcterms:modified>
</cp:coreProperties>
</file>