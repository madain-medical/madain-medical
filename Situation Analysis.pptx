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1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FCA63-9C86-45E2-A536-ECC77F036ACF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44B93-B324-47AF-8680-37CC89667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5830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FCA63-9C86-45E2-A536-ECC77F036ACF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44B93-B324-47AF-8680-37CC89667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7340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FCA63-9C86-45E2-A536-ECC77F036ACF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44B93-B324-47AF-8680-37CC89667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558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FCA63-9C86-45E2-A536-ECC77F036ACF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44B93-B324-47AF-8680-37CC89667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2156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FCA63-9C86-45E2-A536-ECC77F036ACF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44B93-B324-47AF-8680-37CC89667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1511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FCA63-9C86-45E2-A536-ECC77F036ACF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44B93-B324-47AF-8680-37CC89667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5708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FCA63-9C86-45E2-A536-ECC77F036ACF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44B93-B324-47AF-8680-37CC89667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6763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FCA63-9C86-45E2-A536-ECC77F036ACF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44B93-B324-47AF-8680-37CC89667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4692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FCA63-9C86-45E2-A536-ECC77F036ACF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44B93-B324-47AF-8680-37CC89667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5366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FCA63-9C86-45E2-A536-ECC77F036ACF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44B93-B324-47AF-8680-37CC89667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5757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FCA63-9C86-45E2-A536-ECC77F036ACF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44B93-B324-47AF-8680-37CC89667703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68470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FCA63-9C86-45E2-A536-ECC77F036ACF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44B93-B324-47AF-8680-37CC89667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0150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FCA63-9C86-45E2-A536-ECC77F036ACF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44B93-B324-47AF-8680-37CC8966770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012268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FCA63-9C86-45E2-A536-ECC77F036ACF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44B93-B324-47AF-8680-37CC89667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6430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FCA63-9C86-45E2-A536-ECC77F036ACF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44B93-B324-47AF-8680-37CC89667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5177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FCA63-9C86-45E2-A536-ECC77F036ACF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44B93-B324-47AF-8680-37CC89667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8656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5FCA63-9C86-45E2-A536-ECC77F036ACF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2F44B93-B324-47AF-8680-37CC89667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585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26385" y="1247024"/>
            <a:ext cx="7766936" cy="1646302"/>
          </a:xfrm>
        </p:spPr>
        <p:txBody>
          <a:bodyPr/>
          <a:lstStyle/>
          <a:p>
            <a:pPr algn="ctr"/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Situational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75055" y="5113151"/>
            <a:ext cx="7766936" cy="1096899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By: Dr. </a:t>
            </a:r>
            <a:r>
              <a:rPr lang="en-US" dirty="0" err="1">
                <a:solidFill>
                  <a:schemeClr val="tx1"/>
                </a:solidFill>
              </a:rPr>
              <a:t>Ibtisam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Merghani</a:t>
            </a:r>
            <a:r>
              <a:rPr lang="en-US" dirty="0">
                <a:solidFill>
                  <a:schemeClr val="tx1"/>
                </a:solidFill>
              </a:rPr>
              <a:t> Osman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MBBS, DPH, MPH, MD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E7F213-CE53-23CB-375D-4CDAD8CFCC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8523" y="4182035"/>
            <a:ext cx="4141174" cy="2534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72802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Introduction to Situational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3985079"/>
            <a:ext cx="10515600" cy="19756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Importance in Healthcare</a:t>
            </a:r>
            <a:r>
              <a:rPr lang="en-US" sz="2400" dirty="0"/>
              <a:t>:</a:t>
            </a:r>
          </a:p>
          <a:p>
            <a:r>
              <a:rPr lang="en-US" sz="2400" dirty="0"/>
              <a:t>Understanding health needs of populations</a:t>
            </a:r>
          </a:p>
          <a:p>
            <a:r>
              <a:rPr lang="en-US" sz="2400" dirty="0"/>
              <a:t>Identifying gaps in healthcare services</a:t>
            </a:r>
          </a:p>
          <a:p>
            <a:r>
              <a:rPr lang="en-US" sz="2400" dirty="0"/>
              <a:t>Informing decision-making in policy, programs, and treatments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990600" y="1978025"/>
            <a:ext cx="8691282" cy="19756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sz="2400" b="1" dirty="0"/>
              <a:t>Definition</a:t>
            </a:r>
            <a:r>
              <a:rPr lang="en-US" sz="2400" dirty="0"/>
              <a:t>: Situational analysis involves assessing a particular situation or</a:t>
            </a:r>
          </a:p>
          <a:p>
            <a:pPr marL="0" indent="0">
              <a:buFont typeface="Wingdings 3" charset="2"/>
              <a:buNone/>
            </a:pPr>
            <a:r>
              <a:rPr lang="en-US" sz="2400" dirty="0"/>
              <a:t>environment to identify key factors, challenges, and opportunities.</a:t>
            </a:r>
          </a:p>
          <a:p>
            <a:pPr marL="0" indent="0">
              <a:buFont typeface="Wingdings 3" charset="2"/>
              <a:buNone/>
            </a:pPr>
            <a:endParaRPr lang="en-US" sz="2400" dirty="0"/>
          </a:p>
          <a:p>
            <a:pPr marL="0" indent="0">
              <a:buFont typeface="Wingdings 3" charset="2"/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644043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Key Components of Situational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2800" b="1" dirty="0"/>
              <a:t>Context</a:t>
            </a:r>
            <a:r>
              <a:rPr lang="en-US" sz="2800" dirty="0"/>
              <a:t>: Understanding the healthcare environment (e.g., infrastructure, resources).</a:t>
            </a:r>
          </a:p>
          <a:p>
            <a:r>
              <a:rPr lang="en-US" sz="2800" b="1" dirty="0"/>
              <a:t>Stakeholders</a:t>
            </a:r>
            <a:r>
              <a:rPr lang="en-US" sz="2800" dirty="0"/>
              <a:t>: Identifying key people/groups involved (e.g., patients, healthcare providers, policymakers).</a:t>
            </a:r>
          </a:p>
          <a:p>
            <a:r>
              <a:rPr lang="en-US" sz="2800" b="1" dirty="0"/>
              <a:t>Data Collection</a:t>
            </a:r>
            <a:r>
              <a:rPr lang="en-US" sz="2800" dirty="0"/>
              <a:t>: Gathering relevant data (e.g., health statistics, patient outcomes, surveys).</a:t>
            </a:r>
          </a:p>
          <a:p>
            <a:r>
              <a:rPr lang="en-US" sz="2800" b="1" dirty="0"/>
              <a:t>Analysis</a:t>
            </a:r>
            <a:r>
              <a:rPr lang="en-US" sz="2800" dirty="0"/>
              <a:t>: Evaluating the data to identify problems, trends, and opportunities.</a:t>
            </a:r>
          </a:p>
        </p:txBody>
      </p:sp>
    </p:spTree>
    <p:extLst>
      <p:ext uri="{BB962C8B-B14F-4D97-AF65-F5344CB8AC3E}">
        <p14:creationId xmlns:p14="http://schemas.microsoft.com/office/powerpoint/2010/main" val="417181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i="1" dirty="0"/>
              <a:t>Steps in Situational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b="1" dirty="0"/>
              <a:t>Define the Problem</a:t>
            </a:r>
            <a:r>
              <a:rPr lang="en-US" sz="2000" dirty="0"/>
              <a:t>: What is the issue at hand (e.g., rise in a specific disease)?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b="1" dirty="0"/>
              <a:t>Collect Data</a:t>
            </a:r>
            <a:r>
              <a:rPr lang="en-US" sz="2000" dirty="0"/>
              <a:t>: Gather qualitative and quantitative data (e.g., health records, interviews).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b="1" dirty="0"/>
              <a:t>Analyze the Data</a:t>
            </a:r>
            <a:r>
              <a:rPr lang="en-US" sz="2000" dirty="0"/>
              <a:t>: Examine patterns, trends, and outliers in the data.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b="1" dirty="0"/>
              <a:t>Identify Key Issues</a:t>
            </a:r>
            <a:r>
              <a:rPr lang="en-US" sz="2000" dirty="0"/>
              <a:t>: Highlight the most pressing concerns (e.g., access to care, disease prevalence).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b="1" dirty="0"/>
              <a:t>Formulate Solutions</a:t>
            </a:r>
            <a:r>
              <a:rPr lang="en-US" sz="2000" dirty="0"/>
              <a:t>: Develop recommendations based on the analysis.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b="1" dirty="0"/>
              <a:t>Plan Implementation</a:t>
            </a:r>
            <a:r>
              <a:rPr lang="en-US" sz="2000" dirty="0"/>
              <a:t>: Create actionable strategies for addressing the issues.</a:t>
            </a:r>
          </a:p>
        </p:txBody>
      </p:sp>
    </p:spTree>
    <p:extLst>
      <p:ext uri="{BB962C8B-B14F-4D97-AF65-F5344CB8AC3E}">
        <p14:creationId xmlns:p14="http://schemas.microsoft.com/office/powerpoint/2010/main" val="12800794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Types of Situational Analysis in Healthcare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b="1" dirty="0"/>
              <a:t>Health Needs Assessment</a:t>
            </a:r>
            <a:r>
              <a:rPr lang="en-US" sz="2000" dirty="0"/>
              <a:t>:</a:t>
            </a:r>
          </a:p>
          <a:p>
            <a:pPr lvl="1"/>
            <a:r>
              <a:rPr lang="en-US" sz="2000" dirty="0"/>
              <a:t>Identifying the health needs of a population.</a:t>
            </a:r>
          </a:p>
          <a:p>
            <a:pPr lvl="1"/>
            <a:r>
              <a:rPr lang="en-US" sz="2000" dirty="0"/>
              <a:t>Example: Assessing vaccination coverage in a rural community.</a:t>
            </a:r>
          </a:p>
          <a:p>
            <a:r>
              <a:rPr lang="en-US" sz="2000" b="1" dirty="0"/>
              <a:t>SWOT Analysis</a:t>
            </a:r>
            <a:r>
              <a:rPr lang="en-US" sz="2000" dirty="0"/>
              <a:t> (Strengths, Weaknesses, Opportunities, Threats):</a:t>
            </a:r>
          </a:p>
          <a:p>
            <a:pPr lvl="1"/>
            <a:r>
              <a:rPr lang="en-US" sz="2000" dirty="0"/>
              <a:t>Evaluating internal and external factors influencing healthcare delivery.</a:t>
            </a:r>
          </a:p>
          <a:p>
            <a:pPr lvl="1"/>
            <a:r>
              <a:rPr lang="en-US" sz="2000" dirty="0"/>
              <a:t>Example: SWOT of a local hospital's emergency department.</a:t>
            </a:r>
          </a:p>
          <a:p>
            <a:r>
              <a:rPr lang="en-US" sz="2000" b="1" dirty="0"/>
              <a:t>PESTLE Analysis</a:t>
            </a:r>
            <a:r>
              <a:rPr lang="en-US" sz="2000" dirty="0"/>
              <a:t> (Political, Economic, Social, Technological, Legal, Environmental):</a:t>
            </a:r>
          </a:p>
          <a:p>
            <a:pPr lvl="1"/>
            <a:r>
              <a:rPr lang="en-US" sz="2000" dirty="0"/>
              <a:t>Evaluating external factors affecting health outcomes.</a:t>
            </a:r>
          </a:p>
          <a:p>
            <a:pPr lvl="1"/>
            <a:r>
              <a:rPr lang="en-US" sz="2000" dirty="0"/>
              <a:t>Example: Impact of government policies on mental health care access.</a:t>
            </a:r>
          </a:p>
        </p:txBody>
      </p:sp>
    </p:spTree>
    <p:extLst>
      <p:ext uri="{BB962C8B-B14F-4D97-AF65-F5344CB8AC3E}">
        <p14:creationId xmlns:p14="http://schemas.microsoft.com/office/powerpoint/2010/main" val="4316602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Data Collection Methods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b="1" dirty="0"/>
              <a:t>Primary Data</a:t>
            </a:r>
            <a:r>
              <a:rPr lang="en-US" sz="2000" dirty="0"/>
              <a:t>:</a:t>
            </a:r>
          </a:p>
          <a:p>
            <a:pPr lvl="1"/>
            <a:r>
              <a:rPr lang="en-US" sz="2000" dirty="0"/>
              <a:t>Surveys, interviews, and observations.</a:t>
            </a:r>
          </a:p>
          <a:p>
            <a:pPr lvl="1"/>
            <a:r>
              <a:rPr lang="en-US" sz="2000" dirty="0"/>
              <a:t>Example: Conducting patient satisfaction surveys at a hospital.</a:t>
            </a:r>
          </a:p>
          <a:p>
            <a:r>
              <a:rPr lang="en-US" sz="2000" b="1" dirty="0"/>
              <a:t>Secondary Data</a:t>
            </a:r>
            <a:r>
              <a:rPr lang="en-US" sz="2000" dirty="0"/>
              <a:t>:</a:t>
            </a:r>
          </a:p>
          <a:p>
            <a:pPr lvl="1"/>
            <a:r>
              <a:rPr lang="en-US" sz="2000" dirty="0"/>
              <a:t>Reviewing existing records, reports, and health statistics.</a:t>
            </a:r>
          </a:p>
          <a:p>
            <a:pPr lvl="1"/>
            <a:r>
              <a:rPr lang="en-US" sz="2000" dirty="0"/>
              <a:t>Example: Analyzing national health survey data to identify trends in diabetes.</a:t>
            </a:r>
          </a:p>
          <a:p>
            <a:r>
              <a:rPr lang="en-US" sz="2000" b="1" dirty="0"/>
              <a:t>Qualitative Data</a:t>
            </a:r>
            <a:r>
              <a:rPr lang="en-US" sz="2000" dirty="0"/>
              <a:t>:</a:t>
            </a:r>
          </a:p>
          <a:p>
            <a:pPr lvl="1"/>
            <a:r>
              <a:rPr lang="en-US" sz="2000" dirty="0"/>
              <a:t>Patient interviews or focus groups to understand experiences.</a:t>
            </a:r>
          </a:p>
          <a:p>
            <a:r>
              <a:rPr lang="en-US" sz="2000" b="1" dirty="0"/>
              <a:t>Quantitative Data</a:t>
            </a:r>
            <a:r>
              <a:rPr lang="en-US" sz="2000" dirty="0"/>
              <a:t>:</a:t>
            </a:r>
          </a:p>
          <a:p>
            <a:pPr lvl="1"/>
            <a:r>
              <a:rPr lang="en-US" sz="2000" dirty="0"/>
              <a:t>Statistical analysis of patient outcomes, disease prevalence, etc.</a:t>
            </a:r>
          </a:p>
        </p:txBody>
      </p:sp>
    </p:spTree>
    <p:extLst>
      <p:ext uri="{BB962C8B-B14F-4D97-AF65-F5344CB8AC3E}">
        <p14:creationId xmlns:p14="http://schemas.microsoft.com/office/powerpoint/2010/main" val="10120069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Analysis Techniques in Healthcare Situations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b="1" dirty="0"/>
              <a:t>Descriptive Statistics</a:t>
            </a:r>
            <a:r>
              <a:rPr lang="en-US" sz="2000" dirty="0"/>
              <a:t>:</a:t>
            </a:r>
          </a:p>
          <a:p>
            <a:pPr lvl="1"/>
            <a:r>
              <a:rPr lang="en-US" sz="2000" dirty="0"/>
              <a:t>Summarizing and understanding data distributions (e.g., mean, median, mode).</a:t>
            </a:r>
          </a:p>
          <a:p>
            <a:r>
              <a:rPr lang="en-US" sz="2000" b="1" dirty="0"/>
              <a:t>Trend Analysis</a:t>
            </a:r>
            <a:r>
              <a:rPr lang="en-US" sz="2000" dirty="0"/>
              <a:t>:</a:t>
            </a:r>
          </a:p>
          <a:p>
            <a:pPr lvl="1"/>
            <a:r>
              <a:rPr lang="en-US" sz="2000" dirty="0"/>
              <a:t>Identifying long-term patterns in health data (e.g., increasing incidence of chronic diseases).</a:t>
            </a:r>
          </a:p>
          <a:p>
            <a:r>
              <a:rPr lang="en-US" sz="2000" b="1" dirty="0"/>
              <a:t>Risk Assessment</a:t>
            </a:r>
            <a:r>
              <a:rPr lang="en-US" sz="2000" dirty="0"/>
              <a:t>:</a:t>
            </a:r>
          </a:p>
          <a:p>
            <a:pPr lvl="1"/>
            <a:r>
              <a:rPr lang="en-US" sz="2000" dirty="0"/>
              <a:t>Estimating the likelihood and impact of health risks (e.g., outbreak prediction).</a:t>
            </a:r>
          </a:p>
          <a:p>
            <a:r>
              <a:rPr lang="en-US" sz="2000" b="1" dirty="0"/>
              <a:t>Predictive Analytics</a:t>
            </a:r>
            <a:r>
              <a:rPr lang="en-US" sz="2000" dirty="0"/>
              <a:t>:</a:t>
            </a:r>
          </a:p>
          <a:p>
            <a:pPr lvl="1"/>
            <a:r>
              <a:rPr lang="en-US" sz="2000" dirty="0"/>
              <a:t>Using historical data to forecast future trends (e.g., predicting disease outbreaks or hospital readmission rates).</a:t>
            </a:r>
          </a:p>
        </p:txBody>
      </p:sp>
    </p:spTree>
    <p:extLst>
      <p:ext uri="{BB962C8B-B14F-4D97-AF65-F5344CB8AC3E}">
        <p14:creationId xmlns:p14="http://schemas.microsoft.com/office/powerpoint/2010/main" val="21059534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Identifying Key Issues in Healthcare Situations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b="1" dirty="0"/>
              <a:t>Health Inequities</a:t>
            </a:r>
            <a:r>
              <a:rPr lang="en-US" sz="2000" dirty="0"/>
              <a:t>:</a:t>
            </a:r>
          </a:p>
          <a:p>
            <a:pPr lvl="1"/>
            <a:r>
              <a:rPr lang="en-US" sz="2000" dirty="0"/>
              <a:t>Disparities in access to healthcare based on socioeconomic status, race, or geography.</a:t>
            </a:r>
          </a:p>
          <a:p>
            <a:r>
              <a:rPr lang="en-US" sz="2000" b="1" dirty="0"/>
              <a:t>Disease Outbreaks</a:t>
            </a:r>
            <a:r>
              <a:rPr lang="en-US" sz="2000" dirty="0"/>
              <a:t>:</a:t>
            </a:r>
          </a:p>
          <a:p>
            <a:pPr lvl="1"/>
            <a:r>
              <a:rPr lang="en-US" sz="2000" dirty="0"/>
              <a:t>Evaluating factors contributing to the spread of infectious diseases.</a:t>
            </a:r>
          </a:p>
          <a:p>
            <a:r>
              <a:rPr lang="en-US" sz="2000" b="1" dirty="0"/>
              <a:t>Healthcare Access and Quality</a:t>
            </a:r>
            <a:r>
              <a:rPr lang="en-US" sz="2000" dirty="0"/>
              <a:t>:</a:t>
            </a:r>
          </a:p>
          <a:p>
            <a:pPr lvl="1"/>
            <a:r>
              <a:rPr lang="en-US" sz="2000" dirty="0"/>
              <a:t>Assessing barriers to care such as cost, distance, or availability of services.</a:t>
            </a:r>
          </a:p>
          <a:p>
            <a:r>
              <a:rPr lang="en-US" sz="2000" b="1" dirty="0"/>
              <a:t>Healthcare Workforce</a:t>
            </a:r>
            <a:r>
              <a:rPr lang="en-US" sz="2000" dirty="0"/>
              <a:t>:</a:t>
            </a:r>
          </a:p>
          <a:p>
            <a:pPr lvl="1"/>
            <a:r>
              <a:rPr lang="en-US" sz="2000" dirty="0"/>
              <a:t>Analyzing workforce shortages, training needs, and capacity.</a:t>
            </a:r>
          </a:p>
        </p:txBody>
      </p:sp>
    </p:spTree>
    <p:extLst>
      <p:ext uri="{BB962C8B-B14F-4D97-AF65-F5344CB8AC3E}">
        <p14:creationId xmlns:p14="http://schemas.microsoft.com/office/powerpoint/2010/main" val="13622811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SWOT Analysis in Healthcare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b="1" dirty="0"/>
              <a:t>Strengths</a:t>
            </a:r>
            <a:r>
              <a:rPr lang="en-US" sz="2400" dirty="0"/>
              <a:t>: What does the healthcare system or facility do well?</a:t>
            </a:r>
          </a:p>
          <a:p>
            <a:pPr lvl="1"/>
            <a:r>
              <a:rPr lang="en-US" sz="2000" dirty="0"/>
              <a:t>Example: Highly skilled medical staff, well-equipped facilities.</a:t>
            </a:r>
          </a:p>
          <a:p>
            <a:r>
              <a:rPr lang="en-US" sz="2400" b="1" dirty="0"/>
              <a:t>Weaknesses</a:t>
            </a:r>
            <a:r>
              <a:rPr lang="en-US" sz="2400" dirty="0"/>
              <a:t>: Areas that need improvement.</a:t>
            </a:r>
          </a:p>
          <a:p>
            <a:pPr lvl="1"/>
            <a:r>
              <a:rPr lang="en-US" sz="2000" dirty="0"/>
              <a:t>Example: Long wait times, insufficient funding.</a:t>
            </a:r>
          </a:p>
          <a:p>
            <a:r>
              <a:rPr lang="en-US" sz="2400" b="1" dirty="0"/>
              <a:t>Opportunities</a:t>
            </a:r>
            <a:r>
              <a:rPr lang="en-US" sz="2400" dirty="0"/>
              <a:t>: External factors that can be leveraged.</a:t>
            </a:r>
          </a:p>
          <a:p>
            <a:pPr lvl="1"/>
            <a:r>
              <a:rPr lang="en-US" sz="2000" dirty="0"/>
              <a:t>Example: New healthcare technologies, government funding for disease prevention.</a:t>
            </a:r>
          </a:p>
          <a:p>
            <a:r>
              <a:rPr lang="en-US" sz="2400" b="1" dirty="0"/>
              <a:t>Threats</a:t>
            </a:r>
            <a:r>
              <a:rPr lang="en-US" sz="2400" dirty="0"/>
              <a:t>: External challenges or risks.</a:t>
            </a:r>
          </a:p>
          <a:p>
            <a:pPr lvl="1"/>
            <a:r>
              <a:rPr lang="en-US" sz="2000" dirty="0"/>
              <a:t>Example: Rising healthcare costs, political instability, public health crises.</a:t>
            </a:r>
          </a:p>
        </p:txBody>
      </p:sp>
    </p:spTree>
    <p:extLst>
      <p:ext uri="{BB962C8B-B14F-4D97-AF65-F5344CB8AC3E}">
        <p14:creationId xmlns:p14="http://schemas.microsoft.com/office/powerpoint/2010/main" val="3861164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41E37-4343-2721-E190-4BFB4EE3F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SWOT Analysis in Healthcare</a:t>
            </a:r>
            <a:endParaRPr lang="en-US" b="1" i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F47123-9421-F031-A3AF-E431C08BEA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494" y="2160588"/>
            <a:ext cx="9018507" cy="4347788"/>
          </a:xfrm>
        </p:spPr>
      </p:pic>
    </p:spTree>
    <p:extLst>
      <p:ext uri="{BB962C8B-B14F-4D97-AF65-F5344CB8AC3E}">
        <p14:creationId xmlns:p14="http://schemas.microsoft.com/office/powerpoint/2010/main" val="6308136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PESTLE Analysis in Healthcare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b="1" dirty="0"/>
              <a:t>Political</a:t>
            </a:r>
            <a:r>
              <a:rPr lang="en-US" sz="2000" dirty="0"/>
              <a:t>: Government policies, healthcare regulations, public health initiatives.</a:t>
            </a:r>
          </a:p>
          <a:p>
            <a:r>
              <a:rPr lang="en-US" sz="2000" b="1" dirty="0"/>
              <a:t>Economic</a:t>
            </a:r>
            <a:r>
              <a:rPr lang="en-US" sz="2000" dirty="0"/>
              <a:t>: Funding availability, cost of treatments, economic disparities.</a:t>
            </a:r>
          </a:p>
          <a:p>
            <a:r>
              <a:rPr lang="en-US" sz="2000" b="1" dirty="0"/>
              <a:t>Social</a:t>
            </a:r>
            <a:r>
              <a:rPr lang="en-US" sz="2000" dirty="0"/>
              <a:t>: Public attitudes toward health issues, cultural norms, health education.</a:t>
            </a:r>
          </a:p>
          <a:p>
            <a:r>
              <a:rPr lang="en-US" sz="2000" b="1" dirty="0"/>
              <a:t>Technological</a:t>
            </a:r>
            <a:r>
              <a:rPr lang="en-US" sz="2000" dirty="0"/>
              <a:t>: Advancements in medical technology, electronic health records, telemedicine.</a:t>
            </a:r>
          </a:p>
          <a:p>
            <a:r>
              <a:rPr lang="en-US" sz="2000" b="1" dirty="0"/>
              <a:t>Legal</a:t>
            </a:r>
            <a:r>
              <a:rPr lang="en-US" sz="2000" dirty="0"/>
              <a:t>: Health laws, patient privacy, liability issues.</a:t>
            </a:r>
          </a:p>
          <a:p>
            <a:r>
              <a:rPr lang="en-US" sz="2000" b="1" dirty="0"/>
              <a:t>Environmental</a:t>
            </a:r>
            <a:r>
              <a:rPr lang="en-US" sz="2000" dirty="0"/>
              <a:t>: Climate change, natural disasters affecting healthcare delivery.</a:t>
            </a:r>
          </a:p>
        </p:txBody>
      </p:sp>
    </p:spTree>
    <p:extLst>
      <p:ext uri="{BB962C8B-B14F-4D97-AF65-F5344CB8AC3E}">
        <p14:creationId xmlns:p14="http://schemas.microsoft.com/office/powerpoint/2010/main" val="14995630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Case Study: Situational Analysis of a Health Crisis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/>
              <a:t>Scenario</a:t>
            </a:r>
            <a:r>
              <a:rPr lang="en-US" dirty="0"/>
              <a:t>: A sudden outbreak of a contagious disease in a region.</a:t>
            </a:r>
          </a:p>
          <a:p>
            <a:r>
              <a:rPr lang="en-US" b="1" dirty="0"/>
              <a:t>Steps</a:t>
            </a:r>
            <a:r>
              <a:rPr lang="en-US" dirty="0"/>
              <a:t>:</a:t>
            </a:r>
          </a:p>
          <a:p>
            <a:pPr lvl="1"/>
            <a:r>
              <a:rPr lang="en-US" sz="1800" b="1" dirty="0"/>
              <a:t>Define the Problem</a:t>
            </a:r>
            <a:r>
              <a:rPr lang="en-US" sz="1800" dirty="0"/>
              <a:t>: Assessing the outbreak’s scope and impact on the community.</a:t>
            </a:r>
          </a:p>
          <a:p>
            <a:pPr lvl="1"/>
            <a:r>
              <a:rPr lang="en-US" sz="1800" b="1" dirty="0"/>
              <a:t>Data Collection</a:t>
            </a:r>
            <a:r>
              <a:rPr lang="en-US" sz="1800" dirty="0"/>
              <a:t>: Gathering case reports, demographic data, and healthcare infrastructure capacity.</a:t>
            </a:r>
          </a:p>
          <a:p>
            <a:pPr lvl="1"/>
            <a:r>
              <a:rPr lang="en-US" sz="1800" b="1" dirty="0"/>
              <a:t>Analysis</a:t>
            </a:r>
            <a:r>
              <a:rPr lang="en-US" sz="1800" dirty="0"/>
              <a:t>: Identifying trends in spread, identifying at-risk groups.</a:t>
            </a:r>
          </a:p>
          <a:p>
            <a:pPr lvl="1"/>
            <a:r>
              <a:rPr lang="en-US" sz="1800" b="1" dirty="0"/>
              <a:t>Key Issues</a:t>
            </a:r>
            <a:r>
              <a:rPr lang="en-US" sz="1800" dirty="0"/>
              <a:t>: Lack of medical supplies, shortage of healthcare workers.</a:t>
            </a:r>
          </a:p>
          <a:p>
            <a:pPr lvl="1"/>
            <a:r>
              <a:rPr lang="en-US" sz="1800" b="1" dirty="0"/>
              <a:t>Solutions</a:t>
            </a:r>
            <a:r>
              <a:rPr lang="en-US" sz="1800" dirty="0"/>
              <a:t>: Rapid response plan, vaccine distribution, public health education.</a:t>
            </a:r>
          </a:p>
          <a:p>
            <a:pPr lvl="1"/>
            <a:r>
              <a:rPr lang="en-US" sz="1800" b="1" dirty="0"/>
              <a:t>Implementation</a:t>
            </a:r>
            <a:r>
              <a:rPr lang="en-US" sz="1800" dirty="0"/>
              <a:t>: Coordinating with local government, healthcare organizations.</a:t>
            </a:r>
          </a:p>
        </p:txBody>
      </p:sp>
    </p:spTree>
    <p:extLst>
      <p:ext uri="{BB962C8B-B14F-4D97-AF65-F5344CB8AC3E}">
        <p14:creationId xmlns:p14="http://schemas.microsoft.com/office/powerpoint/2010/main" val="29037577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Ethical Considerations in Situational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Confidentiality</a:t>
            </a:r>
            <a:r>
              <a:rPr lang="en-US" sz="2400" dirty="0"/>
              <a:t>: Protecting patient privacy when handling data.</a:t>
            </a:r>
          </a:p>
          <a:p>
            <a:r>
              <a:rPr lang="en-US" sz="2400" b="1" dirty="0"/>
              <a:t>Bias</a:t>
            </a:r>
            <a:r>
              <a:rPr lang="en-US" sz="2400" dirty="0"/>
              <a:t>: Ensuring that the analysis is free from personal or societal bias.</a:t>
            </a:r>
          </a:p>
          <a:p>
            <a:r>
              <a:rPr lang="en-US" sz="2400" b="1" dirty="0"/>
              <a:t>Transparency</a:t>
            </a:r>
            <a:r>
              <a:rPr lang="en-US" sz="2400" dirty="0"/>
              <a:t>: Clear reporting of methods and findings.</a:t>
            </a:r>
          </a:p>
          <a:p>
            <a:r>
              <a:rPr lang="en-US" sz="2400" b="1" dirty="0"/>
              <a:t>Informed Consent</a:t>
            </a:r>
            <a:r>
              <a:rPr lang="en-US" sz="2400" dirty="0"/>
              <a:t>: Obtaining consent when collecting data from individuals.</a:t>
            </a:r>
          </a:p>
        </p:txBody>
      </p:sp>
    </p:spTree>
    <p:extLst>
      <p:ext uri="{BB962C8B-B14F-4D97-AF65-F5344CB8AC3E}">
        <p14:creationId xmlns:p14="http://schemas.microsoft.com/office/powerpoint/2010/main" val="4726835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Challenges in Situational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Data Quality</a:t>
            </a:r>
            <a:r>
              <a:rPr lang="en-US" sz="2400" dirty="0"/>
              <a:t>: Inaccurate, incomplete, or biased data.</a:t>
            </a:r>
          </a:p>
          <a:p>
            <a:r>
              <a:rPr lang="en-US" sz="2400" b="1" dirty="0"/>
              <a:t>Resource Constraints</a:t>
            </a:r>
            <a:r>
              <a:rPr lang="en-US" sz="2400" dirty="0"/>
              <a:t>: Limited access to healthcare facilities, funding, and expertise.</a:t>
            </a:r>
          </a:p>
          <a:p>
            <a:r>
              <a:rPr lang="en-US" sz="2400" b="1" dirty="0"/>
              <a:t>Cultural Sensitivity</a:t>
            </a:r>
            <a:r>
              <a:rPr lang="en-US" sz="2400" dirty="0"/>
              <a:t>: Addressing the diverse needs of different population groups.</a:t>
            </a:r>
          </a:p>
          <a:p>
            <a:r>
              <a:rPr lang="en-US" sz="2400" b="1" dirty="0"/>
              <a:t>Political and Social Barriers</a:t>
            </a:r>
            <a:r>
              <a:rPr lang="en-US" sz="2400" dirty="0"/>
              <a:t>: Resistance from stakeholders or conflicting interests.</a:t>
            </a:r>
          </a:p>
        </p:txBody>
      </p:sp>
    </p:spTree>
    <p:extLst>
      <p:ext uri="{BB962C8B-B14F-4D97-AF65-F5344CB8AC3E}">
        <p14:creationId xmlns:p14="http://schemas.microsoft.com/office/powerpoint/2010/main" val="14976636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Conclusion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Summary</a:t>
            </a:r>
            <a:r>
              <a:rPr lang="en-US" sz="2000" dirty="0"/>
              <a:t>: Situational analysis is crucial in understanding healthcare problems and making informed decisions to improve outcomes.</a:t>
            </a:r>
          </a:p>
          <a:p>
            <a:r>
              <a:rPr lang="en-US" sz="2000" b="1" dirty="0"/>
              <a:t>Key Takeaways</a:t>
            </a:r>
            <a:r>
              <a:rPr lang="en-US" sz="2000" dirty="0"/>
              <a:t>:</a:t>
            </a:r>
          </a:p>
          <a:p>
            <a:pPr lvl="1"/>
            <a:r>
              <a:rPr lang="en-US" sz="2000" dirty="0"/>
              <a:t>Always consider multiple factors—context, stakeholders, data—when analyzing health situations.</a:t>
            </a:r>
          </a:p>
          <a:p>
            <a:pPr lvl="1"/>
            <a:r>
              <a:rPr lang="en-US" sz="2000" dirty="0"/>
              <a:t>Use appropriate tools (e.g., SWOT, PESTLE) to guide analysis.</a:t>
            </a:r>
          </a:p>
          <a:p>
            <a:pPr lvl="1"/>
            <a:r>
              <a:rPr lang="en-US" sz="2000" dirty="0"/>
              <a:t>Ensure ethical practices and data integrity throughout the process.</a:t>
            </a:r>
          </a:p>
        </p:txBody>
      </p:sp>
    </p:spTree>
    <p:extLst>
      <p:ext uri="{BB962C8B-B14F-4D97-AF65-F5344CB8AC3E}">
        <p14:creationId xmlns:p14="http://schemas.microsoft.com/office/powerpoint/2010/main" val="17927886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6580" y="2804160"/>
            <a:ext cx="8596668" cy="1320800"/>
          </a:xfrm>
        </p:spPr>
        <p:txBody>
          <a:bodyPr/>
          <a:lstStyle/>
          <a:p>
            <a:r>
              <a:rPr lang="en-US" b="1" i="1" dirty="0"/>
              <a:t>Questions and Discussion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0C9CCA-E8CE-CF06-8916-AC9957CC9E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5873" y="0"/>
            <a:ext cx="3723715" cy="3485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4168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249</TotalTime>
  <Words>992</Words>
  <Application>Microsoft Office PowerPoint</Application>
  <PresentationFormat>Widescreen</PresentationFormat>
  <Paragraphs>104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Trebuchet MS</vt:lpstr>
      <vt:lpstr>Wingdings 3</vt:lpstr>
      <vt:lpstr>Facet</vt:lpstr>
      <vt:lpstr>Situational Analysis</vt:lpstr>
      <vt:lpstr>Introduction to Situational Analysis</vt:lpstr>
      <vt:lpstr>Key Components of Situational Analysis</vt:lpstr>
      <vt:lpstr>Steps in Situational Analysis</vt:lpstr>
      <vt:lpstr>Types of Situational Analysis in Healthcare</vt:lpstr>
      <vt:lpstr>Data Collection Methods</vt:lpstr>
      <vt:lpstr>Analysis Techniques in Healthcare Situations</vt:lpstr>
      <vt:lpstr>Identifying Key Issues in Healthcare Situations</vt:lpstr>
      <vt:lpstr>SWOT Analysis in Healthcare</vt:lpstr>
      <vt:lpstr>SWOT Analysis in Healthcare</vt:lpstr>
      <vt:lpstr>PESTLE Analysis in Healthcare</vt:lpstr>
      <vt:lpstr>Case Study: Situational Analysis of a Health Crisis</vt:lpstr>
      <vt:lpstr>Ethical Considerations in Situational Analysis</vt:lpstr>
      <vt:lpstr>Challenges in Situational Analysis</vt:lpstr>
      <vt:lpstr>Conclusion</vt:lpstr>
      <vt:lpstr>Questions and Discussion</vt:lpstr>
    </vt:vector>
  </TitlesOfParts>
  <Company>Microsoft (C)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 Analysis</dc:title>
  <dc:creator>Microsoft account</dc:creator>
  <cp:lastModifiedBy>Malaz Hafiz</cp:lastModifiedBy>
  <cp:revision>11</cp:revision>
  <dcterms:created xsi:type="dcterms:W3CDTF">2024-12-05T10:19:47Z</dcterms:created>
  <dcterms:modified xsi:type="dcterms:W3CDTF">2024-12-05T16:15:00Z</dcterms:modified>
</cp:coreProperties>
</file>