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72" r:id="rId3"/>
    <p:sldId id="257" r:id="rId4"/>
    <p:sldId id="265" r:id="rId5"/>
    <p:sldId id="273" r:id="rId6"/>
    <p:sldId id="258" r:id="rId7"/>
    <p:sldId id="259" r:id="rId8"/>
    <p:sldId id="275" r:id="rId9"/>
    <p:sldId id="268" r:id="rId10"/>
    <p:sldId id="269" r:id="rId11"/>
    <p:sldId id="260" r:id="rId12"/>
    <p:sldId id="276" r:id="rId13"/>
    <p:sldId id="270" r:id="rId14"/>
    <p:sldId id="261" r:id="rId15"/>
    <p:sldId id="264" r:id="rId16"/>
    <p:sldId id="262" r:id="rId17"/>
    <p:sldId id="263" r:id="rId18"/>
    <p:sldId id="271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عنصر نائب للتاريخ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C4A23C7-4E4F-4968-B978-7EA366EB0CCA}" type="datetimeFigureOut">
              <a:rPr lang="en-US" smtClean="0"/>
              <a:pPr/>
              <a:t>3/16/2021</a:t>
            </a:fld>
            <a:endParaRPr lang="en-US"/>
          </a:p>
        </p:txBody>
      </p:sp>
      <p:sp>
        <p:nvSpPr>
          <p:cNvPr id="17" name="عنصر نائب للتذييل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29" name="عنصر نائب لرقم الشريحة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26CD85F-2F2C-4750-AB61-1B72EB1ADA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2" name="مستطيل 31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9" name="مستطيل 3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0" name="مستطيل 39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1" name="مستطيل 40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42" name="مستطيل 41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8" name="عنوان 7"/>
          <p:cNvSpPr>
            <a:spLocks noGrp="1"/>
          </p:cNvSpPr>
          <p:nvPr>
            <p:ph type="ctrTitle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9144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9" name="عنوان فرعي 8"/>
          <p:cNvSpPr>
            <a:spLocks noGrp="1"/>
          </p:cNvSpPr>
          <p:nvPr>
            <p:ph type="subTitle" idx="1"/>
          </p:nvPr>
        </p:nvSpPr>
        <p:spPr>
          <a:xfrm>
            <a:off x="914400" y="2834640"/>
            <a:ext cx="77724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ar-SA" smtClean="0"/>
              <a:t>انقر لتحرير نمط العنوان الثانوي الرئيسي</a:t>
            </a:r>
            <a:endParaRPr kumimoji="0" lang="en-US"/>
          </a:p>
        </p:txBody>
      </p:sp>
      <p:sp>
        <p:nvSpPr>
          <p:cNvPr id="56" name="مستطيل 55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5" name="مستطيل 64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6" name="مستطيل 65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7" name="مستطيل 66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C4A23C7-4E4F-4968-B978-7EA366EB0CCA}" type="datetimeFigureOut">
              <a:rPr lang="en-US" smtClean="0"/>
              <a:pPr/>
              <a:t>3/16/2021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26CD85F-2F2C-4750-AB61-1B72EB1ADA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شكل حر 13"/>
          <p:cNvSpPr>
            <a:spLocks/>
          </p:cNvSpPr>
          <p:nvPr/>
        </p:nvSpPr>
        <p:spPr bwMode="auto">
          <a:xfrm>
            <a:off x="4828952" y="1073888"/>
            <a:ext cx="4322136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5" name="شكل حر 14"/>
          <p:cNvSpPr>
            <a:spLocks/>
          </p:cNvSpPr>
          <p:nvPr/>
        </p:nvSpPr>
        <p:spPr bwMode="auto">
          <a:xfrm>
            <a:off x="373966" y="0"/>
            <a:ext cx="5514536" cy="661533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3" name="شكل حر 12"/>
          <p:cNvSpPr>
            <a:spLocks/>
          </p:cNvSpPr>
          <p:nvPr/>
        </p:nvSpPr>
        <p:spPr bwMode="auto">
          <a:xfrm rot="5236414">
            <a:off x="4462128" y="1483600"/>
            <a:ext cx="4114800" cy="118872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6" name="شكل حر 15"/>
          <p:cNvSpPr>
            <a:spLocks/>
          </p:cNvSpPr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7" name="شكل حر 16"/>
          <p:cNvSpPr>
            <a:spLocks/>
          </p:cNvSpPr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8" name="شكل حر 17"/>
          <p:cNvSpPr>
            <a:spLocks/>
          </p:cNvSpPr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9" name="شكل حر 18"/>
          <p:cNvSpPr>
            <a:spLocks/>
          </p:cNvSpPr>
          <p:nvPr/>
        </p:nvSpPr>
        <p:spPr bwMode="auto">
          <a:xfrm>
            <a:off x="5948363" y="4246563"/>
            <a:ext cx="2090737" cy="26114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0" name="شكل حر 19"/>
          <p:cNvSpPr>
            <a:spLocks/>
          </p:cNvSpPr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1" name="شكل حر 20"/>
          <p:cNvSpPr>
            <a:spLocks/>
          </p:cNvSpPr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2" name="شكل حر 21"/>
          <p:cNvSpPr>
            <a:spLocks/>
          </p:cNvSpPr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3" name="شكل حر 22"/>
          <p:cNvSpPr>
            <a:spLocks/>
          </p:cNvSpPr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4" name="شكل حر 23"/>
          <p:cNvSpPr>
            <a:spLocks/>
          </p:cNvSpPr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5" name="شكل حر 24"/>
          <p:cNvSpPr>
            <a:spLocks/>
          </p:cNvSpPr>
          <p:nvPr/>
        </p:nvSpPr>
        <p:spPr bwMode="auto">
          <a:xfrm>
            <a:off x="366824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6" name="شكل حر 25"/>
          <p:cNvSpPr>
            <a:spLocks/>
          </p:cNvSpPr>
          <p:nvPr/>
        </p:nvSpPr>
        <p:spPr bwMode="auto">
          <a:xfrm>
            <a:off x="366824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27" name="شكل حر 26"/>
          <p:cNvSpPr>
            <a:spLocks/>
          </p:cNvSpPr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706902" y="1351672"/>
            <a:ext cx="5718048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C4A23C7-4E4F-4968-B978-7EA366EB0CCA}" type="datetimeFigureOut">
              <a:rPr lang="en-US" smtClean="0"/>
              <a:pPr/>
              <a:t>3/16/2021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26CD85F-2F2C-4750-AB61-1B72EB1ADA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مستطيل 6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8" name="مستطيل 7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مستطيل 8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0" name="مستطيل 9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مستطيل 1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مستطيل 11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C4A23C7-4E4F-4968-B978-7EA366EB0CCA}" type="datetimeFigureOut">
              <a:rPr lang="en-US" smtClean="0"/>
              <a:pPr/>
              <a:t>3/16/2021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26CD85F-2F2C-4750-AB61-1B72EB1ADA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مستطيل 24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504824" y="512064"/>
            <a:ext cx="77724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152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3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152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5" name="عنصر نائب للمحتوى 4"/>
          <p:cNvSpPr>
            <a:spLocks noGrp="1"/>
          </p:cNvSpPr>
          <p:nvPr>
            <p:ph sz="quarter" idx="2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C4A23C7-4E4F-4968-B978-7EA366EB0CCA}" type="datetimeFigureOut">
              <a:rPr lang="en-US" smtClean="0"/>
              <a:pPr/>
              <a:t>3/16/2021</a:t>
            </a:fld>
            <a:endParaRPr lang="en-US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26CD85F-2F2C-4750-AB61-1B72EB1ADA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مستطيل 15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7" name="مستطيل 16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8" name="مستطيل 17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9" name="مستطيل 18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0" name="مستطيل 19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1" name="مستطيل 20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مستطيل 21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9" name="مستطيل 28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0" name="مستطيل 29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C4A23C7-4E4F-4968-B978-7EA366EB0CCA}" type="datetimeFigureOut">
              <a:rPr lang="en-US" smtClean="0"/>
              <a:pPr/>
              <a:t>3/16/2021</a:t>
            </a:fld>
            <a:endParaRPr lang="en-US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26CD85F-2F2C-4750-AB61-1B72EB1ADA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C4A23C7-4E4F-4968-B978-7EA366EB0CCA}" type="datetimeFigureOut">
              <a:rPr lang="en-US" smtClean="0"/>
              <a:pPr/>
              <a:t>3/16/2021</a:t>
            </a:fld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26CD85F-2F2C-4750-AB61-1B72EB1ADA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2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C4A23C7-4E4F-4968-B978-7EA366EB0CCA}" type="datetimeFigureOut">
              <a:rPr lang="en-US" smtClean="0"/>
              <a:pPr/>
              <a:t>3/16/2021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26CD85F-2F2C-4750-AB61-1B72EB1ADA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مستطيل 7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9" name="رابط مستقيم 8"/>
          <p:cNvCxnSpPr/>
          <p:nvPr/>
        </p:nvCxnSpPr>
        <p:spPr>
          <a:xfrm flipV="1">
            <a:off x="363195" y="1885028"/>
            <a:ext cx="8782622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مجموعة 9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5" name="رابط مستقيم 14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رابط مستقيم 15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رابط مستقيم 16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عنوان 1"/>
          <p:cNvSpPr>
            <a:spLocks noGrp="1"/>
          </p:cNvSpPr>
          <p:nvPr>
            <p:ph type="title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ar-SA" smtClean="0"/>
              <a:t>انقر فوق الرمز لإضافة صورة</a:t>
            </a:r>
            <a:endParaRPr kumimoji="0" lang="en-US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grpSp>
        <p:nvGrpSpPr>
          <p:cNvPr id="14" name="مجموعة 13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1" name="رابط مستقيم 10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رابط مستقيم 11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رابط مستقيم 12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مجموعة 17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9" name="رابط مستقيم 18"/>
            <p:cNvCxnSpPr/>
            <p:nvPr/>
          </p:nvCxnSpPr>
          <p:spPr>
            <a:xfrm rot="16200000">
              <a:off x="6664064" y="1301769"/>
              <a:ext cx="88509" cy="80463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رابط مستقيم 19"/>
            <p:cNvCxnSpPr/>
            <p:nvPr/>
          </p:nvCxnSpPr>
          <p:spPr>
            <a:xfrm rot="16200000" flipV="1">
              <a:off x="6685888" y="1391257"/>
              <a:ext cx="125755" cy="427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رابط مستقيم 20"/>
            <p:cNvCxnSpPr/>
            <p:nvPr/>
          </p:nvCxnSpPr>
          <p:spPr>
            <a:xfrm rot="5400000" flipH="1">
              <a:off x="6744524" y="1300853"/>
              <a:ext cx="88509" cy="82296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>
          <a:xfrm>
            <a:off x="6477000" y="55499"/>
            <a:ext cx="2133600" cy="365125"/>
          </a:xfrm>
        </p:spPr>
        <p:txBody>
          <a:bodyPr/>
          <a:lstStyle>
            <a:extLst/>
          </a:lstStyle>
          <a:p>
            <a:fld id="{EC4A23C7-4E4F-4968-B978-7EA366EB0CCA}" type="datetimeFigureOut">
              <a:rPr lang="en-US" smtClean="0"/>
              <a:pPr/>
              <a:t>3/16/2021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>
          <a:xfrm>
            <a:off x="914400" y="55499"/>
            <a:ext cx="5562600" cy="365125"/>
          </a:xfrm>
        </p:spPr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>
          <a:xfrm>
            <a:off x="8610600" y="55499"/>
            <a:ext cx="457200" cy="365125"/>
          </a:xfrm>
        </p:spPr>
        <p:txBody>
          <a:bodyPr/>
          <a:lstStyle>
            <a:extLst/>
          </a:lstStyle>
          <a:p>
            <a:fld id="{226CD85F-2F2C-4750-AB61-1B72EB1ADA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C4A23C7-4E4F-4968-B978-7EA366EB0CCA}" type="datetimeFigureOut">
              <a:rPr lang="en-US" smtClean="0"/>
              <a:pPr/>
              <a:t>3/16/2021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26CD85F-2F2C-4750-AB61-1B72EB1ADA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C4A23C7-4E4F-4968-B978-7EA366EB0CCA}" type="datetimeFigureOut">
              <a:rPr lang="en-US" smtClean="0"/>
              <a:pPr/>
              <a:t>3/16/2021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26CD85F-2F2C-4750-AB61-1B72EB1ADA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عنوان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22" name="عنوان فرعي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ar-SA" smtClean="0"/>
              <a:t>انقر لتحرير نمط العنوان الثانوي الرئيسي</a:t>
            </a:r>
            <a:endParaRPr kumimoji="0" lang="en-US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C4A23C7-4E4F-4968-B978-7EA366EB0CCA}" type="datetimeFigureOut">
              <a:rPr lang="en-US" smtClean="0"/>
              <a:pPr/>
              <a:t>3/16/2021</a:t>
            </a:fld>
            <a:endParaRPr lang="en-US"/>
          </a:p>
        </p:txBody>
      </p:sp>
      <p:sp>
        <p:nvSpPr>
          <p:cNvPr id="20" name="عنصر نائب للتذييل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عنصر نائب لرقم الشريحة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26CD85F-2F2C-4750-AB61-1B72EB1ADA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شكل بيضاوي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شكل بيضاوي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C4A23C7-4E4F-4968-B978-7EA366EB0CCA}" type="datetimeFigureOut">
              <a:rPr lang="en-US" smtClean="0"/>
              <a:pPr/>
              <a:t>3/16/2021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26CD85F-2F2C-4750-AB61-1B72EB1ADA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مستطيل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C4A23C7-4E4F-4968-B978-7EA366EB0CCA}" type="datetimeFigureOut">
              <a:rPr lang="en-US" smtClean="0"/>
              <a:pPr/>
              <a:t>3/16/2021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26CD85F-2F2C-4750-AB61-1B72EB1ADA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مستطيل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شكل بيضاوي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شكل بيضاوي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C4A23C7-4E4F-4968-B978-7EA366EB0CCA}" type="datetimeFigureOut">
              <a:rPr lang="en-US" smtClean="0"/>
              <a:pPr/>
              <a:t>3/16/2021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26CD85F-2F2C-4750-AB61-1B72EB1ADA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5" name="عنصر نائب للمحتوى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C4A23C7-4E4F-4968-B978-7EA366EB0CCA}" type="datetimeFigureOut">
              <a:rPr lang="en-US" smtClean="0"/>
              <a:pPr/>
              <a:t>3/16/2021</a:t>
            </a:fld>
            <a:endParaRPr lang="en-US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26CD85F-2F2C-4750-AB61-1B72EB1ADA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C4A23C7-4E4F-4968-B978-7EA366EB0CCA}" type="datetimeFigureOut">
              <a:rPr lang="en-US" smtClean="0"/>
              <a:pPr/>
              <a:t>3/16/2021</a:t>
            </a:fld>
            <a:endParaRPr lang="en-US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26CD85F-2F2C-4750-AB61-1B72EB1ADA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مستطيل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C4A23C7-4E4F-4968-B978-7EA366EB0CCA}" type="datetimeFigureOut">
              <a:rPr lang="en-US" smtClean="0"/>
              <a:pPr/>
              <a:t>3/16/2021</a:t>
            </a:fld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26CD85F-2F2C-4750-AB61-1B72EB1ADA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مستطيل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C4A23C7-4E4F-4968-B978-7EA366EB0CCA}" type="datetimeFigureOut">
              <a:rPr lang="en-US" smtClean="0"/>
              <a:pPr/>
              <a:t>3/16/2021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26CD85F-2F2C-4750-AB61-1B72EB1ADA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صورة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C4A23C7-4E4F-4968-B978-7EA366EB0CCA}" type="datetimeFigureOut">
              <a:rPr lang="en-US" smtClean="0"/>
              <a:pPr/>
              <a:t>3/16/2021</a:t>
            </a:fld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26CD85F-2F2C-4750-AB61-1B72EB1ADA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مستطيل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ar-SA" smtClean="0"/>
              <a:t>انقر فوق الرمز لإضافة صورة</a:t>
            </a:r>
            <a:endParaRPr kumimoji="0" lang="en-US" dirty="0"/>
          </a:p>
        </p:txBody>
      </p:sp>
      <p:sp>
        <p:nvSpPr>
          <p:cNvPr id="9" name="مخطط انسيابي: معالجة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مخطط انسيابي: معالجة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C4A23C7-4E4F-4968-B978-7EA366EB0CCA}" type="datetimeFigureOut">
              <a:rPr lang="en-US" smtClean="0"/>
              <a:pPr/>
              <a:t>3/16/2021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26CD85F-2F2C-4750-AB61-1B72EB1ADA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ar-SA" smtClean="0"/>
              <a:t>انقر لتحرير أنماط النص الرئيسي</a:t>
            </a:r>
          </a:p>
          <a:p>
            <a:pPr lvl="1" eaLnBrk="1" latinLnBrk="0" hangingPunct="1"/>
            <a:r>
              <a:rPr lang="ar-SA" smtClean="0"/>
              <a:t>المستوى الثاني</a:t>
            </a:r>
          </a:p>
          <a:p>
            <a:pPr lvl="2" eaLnBrk="1" latinLnBrk="0" hangingPunct="1"/>
            <a:r>
              <a:rPr lang="ar-SA" smtClean="0"/>
              <a:t>المستوى الثالث</a:t>
            </a:r>
          </a:p>
          <a:p>
            <a:pPr lvl="3" eaLnBrk="1" latinLnBrk="0" hangingPunct="1"/>
            <a:r>
              <a:rPr lang="ar-SA" smtClean="0"/>
              <a:t>المستوى الرابع</a:t>
            </a:r>
          </a:p>
          <a:p>
            <a:pPr lvl="4" eaLnBrk="1" latinLnBrk="0" hangingPunct="1"/>
            <a:r>
              <a:rPr lang="ar-SA" smtClean="0"/>
              <a:t>المستوى الخامس</a:t>
            </a:r>
            <a:endParaRPr kumimoji="0" lang="en-US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C4A23C7-4E4F-4968-B978-7EA366EB0CCA}" type="datetimeFigureOut">
              <a:rPr lang="en-US" smtClean="0"/>
              <a:pPr/>
              <a:t>3/16/2021</a:t>
            </a:fld>
            <a:endParaRPr lang="en-US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26CD85F-2F2C-4750-AB61-1B72EB1ADA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مستطيل 6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مستطيل 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مستطيل 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مستطيل 9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مستطيل 10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2" name="مستطيل 11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5" name="مستطيل 14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16" name="مستطيل 15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7" name="مستطيل 16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2" name="عنصر نائب للعنوان 2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13" name="عنصر نائب للنص 12"/>
          <p:cNvSpPr>
            <a:spLocks noGrp="1"/>
          </p:cNvSpPr>
          <p:nvPr>
            <p:ph type="body" idx="1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  <a:p>
            <a:pPr lvl="1" eaLnBrk="1" latinLnBrk="0" hangingPunct="1"/>
            <a:r>
              <a:rPr kumimoji="0" lang="ar-SA" smtClean="0"/>
              <a:t>المستوى الثاني</a:t>
            </a:r>
          </a:p>
          <a:p>
            <a:pPr lvl="2" eaLnBrk="1" latinLnBrk="0" hangingPunct="1"/>
            <a:r>
              <a:rPr kumimoji="0" lang="ar-SA" smtClean="0"/>
              <a:t>المستوى الثالث</a:t>
            </a:r>
          </a:p>
          <a:p>
            <a:pPr lvl="3" eaLnBrk="1" latinLnBrk="0" hangingPunct="1"/>
            <a:r>
              <a:rPr kumimoji="0" lang="ar-SA" smtClean="0"/>
              <a:t>المستوى الرابع</a:t>
            </a:r>
          </a:p>
          <a:p>
            <a:pPr lvl="4" eaLnBrk="1" latinLnBrk="0" hangingPunct="1"/>
            <a:r>
              <a:rPr kumimoji="0" lang="ar-SA" smtClean="0"/>
              <a:t>المستوى الخامس</a:t>
            </a:r>
            <a:endParaRPr kumimoji="0" lang="en-US"/>
          </a:p>
        </p:txBody>
      </p:sp>
      <p:sp>
        <p:nvSpPr>
          <p:cNvPr id="14" name="عنصر نائب للتاريخ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EC4A23C7-4E4F-4968-B978-7EA366EB0CCA}" type="datetimeFigureOut">
              <a:rPr lang="en-US" smtClean="0"/>
              <a:pPr/>
              <a:t>3/16/2021</a:t>
            </a:fld>
            <a:endParaRPr lang="en-US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3" name="عنصر نائب لرقم الشريحة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226CD85F-2F2C-4750-AB61-1B72EB1ADA4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دائري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شكل بيضاوي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دائرة مجوفة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مستطيل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عنصر نائب للعنوان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ar-SA" smtClean="0"/>
              <a:t>انقر لتحرير نمط العنوان الرئيسي</a:t>
            </a:r>
            <a:endParaRPr kumimoji="0" lang="en-US"/>
          </a:p>
        </p:txBody>
      </p:sp>
      <p:sp>
        <p:nvSpPr>
          <p:cNvPr id="9" name="عنصر نائب للنص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ar-SA" smtClean="0"/>
              <a:t>انقر لتحرير أنماط النص الرئيسي</a:t>
            </a:r>
          </a:p>
          <a:p>
            <a:pPr lvl="1" eaLnBrk="1" latinLnBrk="0" hangingPunct="1"/>
            <a:r>
              <a:rPr kumimoji="0" lang="ar-SA" smtClean="0"/>
              <a:t>المستوى الثاني</a:t>
            </a:r>
          </a:p>
          <a:p>
            <a:pPr lvl="2" eaLnBrk="1" latinLnBrk="0" hangingPunct="1"/>
            <a:r>
              <a:rPr kumimoji="0" lang="ar-SA" smtClean="0"/>
              <a:t>المستوى الثالث</a:t>
            </a:r>
          </a:p>
          <a:p>
            <a:pPr lvl="3" eaLnBrk="1" latinLnBrk="0" hangingPunct="1"/>
            <a:r>
              <a:rPr kumimoji="0" lang="ar-SA" smtClean="0"/>
              <a:t>المستوى الرابع</a:t>
            </a:r>
          </a:p>
          <a:p>
            <a:pPr lvl="4" eaLnBrk="1" latinLnBrk="0" hangingPunct="1"/>
            <a:r>
              <a:rPr kumimoji="0" lang="ar-SA" smtClean="0"/>
              <a:t>المستوى الخامس</a:t>
            </a:r>
            <a:endParaRPr kumimoji="0" lang="en-US"/>
          </a:p>
        </p:txBody>
      </p:sp>
      <p:sp>
        <p:nvSpPr>
          <p:cNvPr id="24" name="عنصر نائب للتاريخ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EC4A23C7-4E4F-4968-B978-7EA366EB0CCA}" type="datetimeFigureOut">
              <a:rPr lang="en-US" smtClean="0"/>
              <a:pPr/>
              <a:t>3/16/2021</a:t>
            </a:fld>
            <a:endParaRPr lang="en-US"/>
          </a:p>
        </p:txBody>
      </p:sp>
      <p:sp>
        <p:nvSpPr>
          <p:cNvPr id="10" name="عنصر نائب للتذييل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عنصر نائب لرقم الشريحة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226CD85F-2F2C-4750-AB61-1B72EB1ADA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مستطيل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4"/>
          <p:cNvSpPr txBox="1">
            <a:spLocks noChangeArrowheads="1"/>
          </p:cNvSpPr>
          <p:nvPr/>
        </p:nvSpPr>
        <p:spPr bwMode="auto">
          <a:xfrm>
            <a:off x="2819400" y="228600"/>
            <a:ext cx="5867400" cy="2139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3200" b="1" dirty="0" smtClean="0">
                <a:solidFill>
                  <a:srgbClr val="002060"/>
                </a:solidFill>
                <a:latin typeface="Elephant" pitchFamily="18" charset="0"/>
              </a:rPr>
              <a:t>Respiratory  </a:t>
            </a:r>
            <a:r>
              <a:rPr lang="en-US" sz="3200" b="1" dirty="0">
                <a:solidFill>
                  <a:srgbClr val="002060"/>
                </a:solidFill>
                <a:latin typeface="Elephant" pitchFamily="18" charset="0"/>
              </a:rPr>
              <a:t>Physiology</a:t>
            </a:r>
            <a:r>
              <a:rPr lang="en-US" sz="3600" b="1" dirty="0">
                <a:solidFill>
                  <a:srgbClr val="002060"/>
                </a:solidFill>
                <a:latin typeface="Elephant" pitchFamily="18" charset="0"/>
              </a:rPr>
              <a:t/>
            </a:r>
            <a:br>
              <a:rPr lang="en-US" sz="3600" b="1" dirty="0">
                <a:solidFill>
                  <a:srgbClr val="002060"/>
                </a:solidFill>
                <a:latin typeface="Elephant" pitchFamily="18" charset="0"/>
              </a:rPr>
            </a:br>
            <a:r>
              <a:rPr lang="en-US" sz="2000" b="1" dirty="0" smtClean="0">
                <a:solidFill>
                  <a:srgbClr val="002060"/>
                </a:solidFill>
                <a:latin typeface="Elephant" pitchFamily="18" charset="0"/>
              </a:rPr>
              <a:t>Bader Hassan</a:t>
            </a:r>
            <a:endParaRPr lang="en-US" b="1" dirty="0" smtClean="0">
              <a:solidFill>
                <a:srgbClr val="002060"/>
              </a:solidFill>
              <a:latin typeface="Elephant" pitchFamily="18" charset="0"/>
            </a:endParaRPr>
          </a:p>
          <a:p>
            <a:pPr algn="r">
              <a:spcBef>
                <a:spcPct val="50000"/>
              </a:spcBef>
            </a:pPr>
            <a:r>
              <a:rPr lang="en-US" b="1" dirty="0" smtClean="0">
                <a:solidFill>
                  <a:srgbClr val="002060"/>
                </a:solidFill>
                <a:latin typeface="Elephant" pitchFamily="18" charset="0"/>
              </a:rPr>
              <a:t>Lecturer </a:t>
            </a:r>
            <a:r>
              <a:rPr lang="en-US" b="1" dirty="0">
                <a:solidFill>
                  <a:srgbClr val="002060"/>
                </a:solidFill>
                <a:latin typeface="Elephant" pitchFamily="18" charset="0"/>
              </a:rPr>
              <a:t>Of Physiology</a:t>
            </a:r>
          </a:p>
          <a:p>
            <a:pPr algn="r">
              <a:spcBef>
                <a:spcPct val="50000"/>
              </a:spcBef>
            </a:pPr>
            <a:endParaRPr lang="en-US" sz="3600" b="1" dirty="0">
              <a:solidFill>
                <a:srgbClr val="0066FF"/>
              </a:solidFill>
              <a:latin typeface="Elephant" pitchFamily="18" charset="0"/>
            </a:endParaRPr>
          </a:p>
        </p:txBody>
      </p:sp>
      <p:sp>
        <p:nvSpPr>
          <p:cNvPr id="22531" name="Text Box 5"/>
          <p:cNvSpPr txBox="1">
            <a:spLocks noChangeArrowheads="1"/>
          </p:cNvSpPr>
          <p:nvPr/>
        </p:nvSpPr>
        <p:spPr bwMode="auto">
          <a:xfrm>
            <a:off x="381000" y="6248400"/>
            <a:ext cx="8001000" cy="461963"/>
          </a:xfrm>
          <a:prstGeom prst="rect">
            <a:avLst/>
          </a:prstGeom>
          <a:gradFill rotWithShape="1">
            <a:gsLst>
              <a:gs pos="0">
                <a:srgbClr val="2F4776"/>
              </a:gs>
              <a:gs pos="50000">
                <a:srgbClr val="6699FF"/>
              </a:gs>
              <a:gs pos="100000">
                <a:srgbClr val="2F4776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/>
              <a:t>Faculty Of Medicine Dept.Of Physiology</a:t>
            </a:r>
            <a:r>
              <a:rPr lang="en-US" b="1">
                <a:solidFill>
                  <a:schemeClr val="bg1"/>
                </a:solidFill>
              </a:rPr>
              <a:t>  </a:t>
            </a:r>
          </a:p>
        </p:txBody>
      </p:sp>
      <p:sp>
        <p:nvSpPr>
          <p:cNvPr id="22532" name="Text Box 7"/>
          <p:cNvSpPr txBox="1">
            <a:spLocks noChangeArrowheads="1"/>
          </p:cNvSpPr>
          <p:nvPr/>
        </p:nvSpPr>
        <p:spPr bwMode="auto">
          <a:xfrm>
            <a:off x="228600" y="1752600"/>
            <a:ext cx="3810000" cy="1723549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400" b="1" dirty="0" smtClean="0">
                <a:solidFill>
                  <a:srgbClr val="FFC000"/>
                </a:solidFill>
                <a:latin typeface="Andalus" pitchFamily="18" charset="-78"/>
                <a:cs typeface="Andalus" pitchFamily="18" charset="-78"/>
              </a:rPr>
              <a:t>Gas exchange </a:t>
            </a:r>
            <a:r>
              <a:rPr lang="en-US" sz="4400" b="1" dirty="0" smtClean="0">
                <a:solidFill>
                  <a:schemeClr val="bg2"/>
                </a:solidFill>
                <a:latin typeface="Andalus" pitchFamily="18" charset="-78"/>
                <a:cs typeface="Andalus" pitchFamily="18" charset="-78"/>
              </a:rPr>
              <a:t>   </a:t>
            </a:r>
            <a:r>
              <a:rPr lang="en-US" sz="2000" b="1" i="1" dirty="0"/>
              <a:t/>
            </a:r>
            <a:br>
              <a:rPr lang="en-US" sz="2000" b="1" i="1" dirty="0"/>
            </a:br>
            <a:endParaRPr lang="en-US" sz="2000" b="1" i="1" dirty="0"/>
          </a:p>
          <a:p>
            <a:pPr>
              <a:spcBef>
                <a:spcPct val="50000"/>
              </a:spcBef>
            </a:pPr>
            <a:endParaRPr lang="en-US" sz="2800" b="1" dirty="0">
              <a:solidFill>
                <a:srgbClr val="FF3300"/>
              </a:solidFill>
            </a:endParaRPr>
          </a:p>
        </p:txBody>
      </p:sp>
      <p:sp>
        <p:nvSpPr>
          <p:cNvPr id="22533" name="Text Box 9"/>
          <p:cNvSpPr txBox="1">
            <a:spLocks noChangeArrowheads="1"/>
          </p:cNvSpPr>
          <p:nvPr/>
        </p:nvSpPr>
        <p:spPr bwMode="auto">
          <a:xfrm>
            <a:off x="0" y="152400"/>
            <a:ext cx="3657600" cy="369332"/>
          </a:xfrm>
          <a:prstGeom prst="rect">
            <a:avLst/>
          </a:prstGeom>
          <a:gradFill rotWithShape="1">
            <a:gsLst>
              <a:gs pos="0">
                <a:srgbClr val="2F4776"/>
              </a:gs>
              <a:gs pos="50000">
                <a:srgbClr val="6699FF"/>
              </a:gs>
              <a:gs pos="100000">
                <a:srgbClr val="2F4776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/>
              <a:t>LECTURE NO </a:t>
            </a:r>
            <a:r>
              <a:rPr lang="en-US" b="1" dirty="0" smtClean="0"/>
              <a:t>(4)   </a:t>
            </a:r>
            <a:endParaRPr lang="ar-SA" b="1" dirty="0"/>
          </a:p>
        </p:txBody>
      </p:sp>
      <p:pic>
        <p:nvPicPr>
          <p:cNvPr id="9" name="Picture 4" descr="untitled.bmp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91000" y="1524000"/>
            <a:ext cx="48006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hee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Gas exchange </a:t>
            </a:r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entaur" pitchFamily="18" charset="0"/>
              </a:rPr>
              <a:t>Gas exchange in the lungs occurs between air in the alveoli &amp; blood in the pulmonary capillaries.</a:t>
            </a:r>
          </a:p>
          <a:p>
            <a:r>
              <a:rPr lang="en-US" dirty="0" smtClean="0">
                <a:latin typeface="Centaur" pitchFamily="18" charset="0"/>
              </a:rPr>
              <a:t>O2 enters the blood from the alveoli &amp; CO2 enters the alveoli from the blood.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Line 2"/>
          <p:cNvSpPr>
            <a:spLocks noChangeShapeType="1"/>
          </p:cNvSpPr>
          <p:nvPr/>
        </p:nvSpPr>
        <p:spPr bwMode="auto">
          <a:xfrm flipH="1">
            <a:off x="3048000" y="990600"/>
            <a:ext cx="0" cy="16764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275" name="Line 3"/>
          <p:cNvSpPr>
            <a:spLocks noChangeShapeType="1"/>
          </p:cNvSpPr>
          <p:nvPr/>
        </p:nvSpPr>
        <p:spPr bwMode="auto">
          <a:xfrm>
            <a:off x="3048000" y="3048000"/>
            <a:ext cx="0" cy="2209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277" name="Line 5"/>
          <p:cNvSpPr>
            <a:spLocks noChangeShapeType="1"/>
          </p:cNvSpPr>
          <p:nvPr/>
        </p:nvSpPr>
        <p:spPr bwMode="auto">
          <a:xfrm>
            <a:off x="4876800" y="1066800"/>
            <a:ext cx="0" cy="441960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278" name="Line 6"/>
          <p:cNvSpPr>
            <a:spLocks noChangeShapeType="1"/>
          </p:cNvSpPr>
          <p:nvPr/>
        </p:nvSpPr>
        <p:spPr bwMode="auto">
          <a:xfrm>
            <a:off x="6858000" y="838200"/>
            <a:ext cx="0" cy="441960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279" name="Text Box 7"/>
          <p:cNvSpPr txBox="1">
            <a:spLocks noChangeArrowheads="1"/>
          </p:cNvSpPr>
          <p:nvPr/>
        </p:nvSpPr>
        <p:spPr bwMode="auto">
          <a:xfrm>
            <a:off x="0" y="762000"/>
            <a:ext cx="2157413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altLang="ar-SA"/>
              <a:t>environment</a:t>
            </a:r>
          </a:p>
        </p:txBody>
      </p:sp>
      <p:sp>
        <p:nvSpPr>
          <p:cNvPr id="54280" name="Text Box 8"/>
          <p:cNvSpPr txBox="1">
            <a:spLocks noChangeArrowheads="1"/>
          </p:cNvSpPr>
          <p:nvPr/>
        </p:nvSpPr>
        <p:spPr bwMode="auto">
          <a:xfrm>
            <a:off x="3352800" y="838200"/>
            <a:ext cx="1327150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altLang="ar-SA"/>
              <a:t>alveoli</a:t>
            </a:r>
          </a:p>
        </p:txBody>
      </p:sp>
      <p:sp>
        <p:nvSpPr>
          <p:cNvPr id="54281" name="Text Box 9"/>
          <p:cNvSpPr txBox="1">
            <a:spLocks noChangeArrowheads="1"/>
          </p:cNvSpPr>
          <p:nvPr/>
        </p:nvSpPr>
        <p:spPr bwMode="auto">
          <a:xfrm>
            <a:off x="5257800" y="838200"/>
            <a:ext cx="1171575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altLang="ar-SA"/>
              <a:t>blood</a:t>
            </a:r>
          </a:p>
        </p:txBody>
      </p:sp>
      <p:sp>
        <p:nvSpPr>
          <p:cNvPr id="54282" name="Text Box 10"/>
          <p:cNvSpPr txBox="1">
            <a:spLocks noChangeArrowheads="1"/>
          </p:cNvSpPr>
          <p:nvPr/>
        </p:nvSpPr>
        <p:spPr bwMode="auto">
          <a:xfrm>
            <a:off x="7086600" y="762000"/>
            <a:ext cx="1090613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altLang="ar-SA"/>
              <a:t>Cells</a:t>
            </a:r>
          </a:p>
        </p:txBody>
      </p:sp>
      <p:sp>
        <p:nvSpPr>
          <p:cNvPr id="54283" name="Line 11"/>
          <p:cNvSpPr>
            <a:spLocks noChangeShapeType="1"/>
          </p:cNvSpPr>
          <p:nvPr/>
        </p:nvSpPr>
        <p:spPr bwMode="auto">
          <a:xfrm flipH="1">
            <a:off x="1600200" y="2667000"/>
            <a:ext cx="14478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284" name="Line 12"/>
          <p:cNvSpPr>
            <a:spLocks noChangeShapeType="1"/>
          </p:cNvSpPr>
          <p:nvPr/>
        </p:nvSpPr>
        <p:spPr bwMode="auto">
          <a:xfrm flipH="1">
            <a:off x="1524000" y="3048000"/>
            <a:ext cx="15240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285" name="Oval 13"/>
          <p:cNvSpPr>
            <a:spLocks noChangeArrowheads="1"/>
          </p:cNvSpPr>
          <p:nvPr/>
        </p:nvSpPr>
        <p:spPr bwMode="auto">
          <a:xfrm>
            <a:off x="1447800" y="2667000"/>
            <a:ext cx="304800" cy="381000"/>
          </a:xfrm>
          <a:prstGeom prst="ellipse">
            <a:avLst/>
          </a:prstGeom>
          <a:solidFill>
            <a:schemeClr val="tx1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288" name="Text Box 16"/>
          <p:cNvSpPr txBox="1">
            <a:spLocks noChangeArrowheads="1"/>
          </p:cNvSpPr>
          <p:nvPr/>
        </p:nvSpPr>
        <p:spPr bwMode="auto">
          <a:xfrm>
            <a:off x="746125" y="3952875"/>
            <a:ext cx="1879600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altLang="ar-SA"/>
              <a:t>ventilation</a:t>
            </a:r>
          </a:p>
        </p:txBody>
      </p:sp>
      <p:sp>
        <p:nvSpPr>
          <p:cNvPr id="54289" name="Freeform 17"/>
          <p:cNvSpPr>
            <a:spLocks/>
          </p:cNvSpPr>
          <p:nvPr/>
        </p:nvSpPr>
        <p:spPr bwMode="auto">
          <a:xfrm>
            <a:off x="622300" y="2819400"/>
            <a:ext cx="1358900" cy="990600"/>
          </a:xfrm>
          <a:custGeom>
            <a:avLst/>
            <a:gdLst/>
            <a:ahLst/>
            <a:cxnLst>
              <a:cxn ang="0">
                <a:pos x="40" y="624"/>
              </a:cxn>
              <a:cxn ang="0">
                <a:pos x="136" y="192"/>
              </a:cxn>
              <a:cxn ang="0">
                <a:pos x="856" y="0"/>
              </a:cxn>
            </a:cxnLst>
            <a:rect l="0" t="0" r="r" b="b"/>
            <a:pathLst>
              <a:path w="856" h="624">
                <a:moveTo>
                  <a:pt x="40" y="624"/>
                </a:moveTo>
                <a:cubicBezTo>
                  <a:pt x="20" y="460"/>
                  <a:pt x="0" y="296"/>
                  <a:pt x="136" y="192"/>
                </a:cubicBezTo>
                <a:cubicBezTo>
                  <a:pt x="272" y="88"/>
                  <a:pt x="736" y="32"/>
                  <a:pt x="856" y="0"/>
                </a:cubicBezTo>
              </a:path>
            </a:pathLst>
          </a:custGeom>
          <a:noFill/>
          <a:ln w="38100" cap="sq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290" name="Line 18"/>
          <p:cNvSpPr>
            <a:spLocks noChangeShapeType="1"/>
          </p:cNvSpPr>
          <p:nvPr/>
        </p:nvSpPr>
        <p:spPr bwMode="auto">
          <a:xfrm>
            <a:off x="1981200" y="2819400"/>
            <a:ext cx="1371600" cy="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291" name="Line 19"/>
          <p:cNvSpPr>
            <a:spLocks noChangeShapeType="1"/>
          </p:cNvSpPr>
          <p:nvPr/>
        </p:nvSpPr>
        <p:spPr bwMode="auto">
          <a:xfrm flipH="1">
            <a:off x="1676400" y="2819400"/>
            <a:ext cx="838200" cy="11430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triangl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292" name="Text Box 20"/>
          <p:cNvSpPr txBox="1">
            <a:spLocks noChangeArrowheads="1"/>
          </p:cNvSpPr>
          <p:nvPr/>
        </p:nvSpPr>
        <p:spPr bwMode="auto">
          <a:xfrm>
            <a:off x="3505200" y="1752600"/>
            <a:ext cx="739775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altLang="ar-SA"/>
              <a:t>O</a:t>
            </a:r>
            <a:r>
              <a:rPr lang="en-US" altLang="ar-SA" baseline="-25000"/>
              <a:t>2</a:t>
            </a:r>
            <a:endParaRPr lang="en-US" altLang="ar-SA"/>
          </a:p>
        </p:txBody>
      </p:sp>
      <p:sp>
        <p:nvSpPr>
          <p:cNvPr id="54293" name="Text Box 21"/>
          <p:cNvSpPr txBox="1">
            <a:spLocks noChangeArrowheads="1"/>
          </p:cNvSpPr>
          <p:nvPr/>
        </p:nvSpPr>
        <p:spPr bwMode="auto">
          <a:xfrm>
            <a:off x="0" y="3657600"/>
            <a:ext cx="736600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altLang="ar-SA"/>
              <a:t>air</a:t>
            </a:r>
          </a:p>
        </p:txBody>
      </p:sp>
      <p:sp>
        <p:nvSpPr>
          <p:cNvPr id="54294" name="Text Box 22"/>
          <p:cNvSpPr txBox="1">
            <a:spLocks noChangeArrowheads="1"/>
          </p:cNvSpPr>
          <p:nvPr/>
        </p:nvSpPr>
        <p:spPr bwMode="auto">
          <a:xfrm>
            <a:off x="3352800" y="2590800"/>
            <a:ext cx="736600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altLang="ar-SA"/>
              <a:t>air</a:t>
            </a:r>
          </a:p>
        </p:txBody>
      </p:sp>
      <p:sp>
        <p:nvSpPr>
          <p:cNvPr id="54295" name="AutoShape 23"/>
          <p:cNvSpPr>
            <a:spLocks noChangeArrowheads="1"/>
          </p:cNvSpPr>
          <p:nvPr/>
        </p:nvSpPr>
        <p:spPr bwMode="auto">
          <a:xfrm>
            <a:off x="4114800" y="2057400"/>
            <a:ext cx="1219200" cy="152400"/>
          </a:xfrm>
          <a:prstGeom prst="rightArrow">
            <a:avLst>
              <a:gd name="adj1" fmla="val 50000"/>
              <a:gd name="adj2" fmla="val 200000"/>
            </a:avLst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296" name="Text Box 24"/>
          <p:cNvSpPr txBox="1">
            <a:spLocks noChangeArrowheads="1"/>
          </p:cNvSpPr>
          <p:nvPr/>
        </p:nvSpPr>
        <p:spPr bwMode="auto">
          <a:xfrm>
            <a:off x="5410200" y="1752600"/>
            <a:ext cx="739775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altLang="ar-SA"/>
              <a:t>O</a:t>
            </a:r>
            <a:r>
              <a:rPr lang="en-US" altLang="ar-SA" baseline="-25000"/>
              <a:t>2</a:t>
            </a:r>
            <a:endParaRPr lang="en-US" altLang="ar-SA"/>
          </a:p>
        </p:txBody>
      </p:sp>
      <p:sp>
        <p:nvSpPr>
          <p:cNvPr id="54297" name="Text Box 25"/>
          <p:cNvSpPr txBox="1">
            <a:spLocks noChangeArrowheads="1"/>
          </p:cNvSpPr>
          <p:nvPr/>
        </p:nvSpPr>
        <p:spPr bwMode="auto">
          <a:xfrm>
            <a:off x="7467600" y="1752600"/>
            <a:ext cx="739775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altLang="ar-SA"/>
              <a:t>O</a:t>
            </a:r>
            <a:r>
              <a:rPr lang="en-US" altLang="ar-SA" baseline="-25000"/>
              <a:t>2</a:t>
            </a:r>
            <a:endParaRPr lang="en-US" altLang="ar-SA"/>
          </a:p>
        </p:txBody>
      </p:sp>
      <p:sp>
        <p:nvSpPr>
          <p:cNvPr id="54298" name="AutoShape 26"/>
          <p:cNvSpPr>
            <a:spLocks noChangeArrowheads="1"/>
          </p:cNvSpPr>
          <p:nvPr/>
        </p:nvSpPr>
        <p:spPr bwMode="auto">
          <a:xfrm>
            <a:off x="6096000" y="1981200"/>
            <a:ext cx="1219200" cy="152400"/>
          </a:xfrm>
          <a:prstGeom prst="rightArrow">
            <a:avLst>
              <a:gd name="adj1" fmla="val 50000"/>
              <a:gd name="adj2" fmla="val 200000"/>
            </a:avLst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299" name="Oval 27"/>
          <p:cNvSpPr>
            <a:spLocks noChangeArrowheads="1"/>
          </p:cNvSpPr>
          <p:nvPr/>
        </p:nvSpPr>
        <p:spPr bwMode="auto">
          <a:xfrm>
            <a:off x="7620000" y="2667000"/>
            <a:ext cx="1219200" cy="1371600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300" name="Oval 28"/>
          <p:cNvSpPr>
            <a:spLocks noChangeArrowheads="1"/>
          </p:cNvSpPr>
          <p:nvPr/>
        </p:nvSpPr>
        <p:spPr bwMode="auto">
          <a:xfrm>
            <a:off x="7772400" y="3200400"/>
            <a:ext cx="914400" cy="228600"/>
          </a:xfrm>
          <a:prstGeom prst="ellipse">
            <a:avLst/>
          </a:prstGeom>
          <a:solidFill>
            <a:srgbClr val="9900CC"/>
          </a:solidFill>
          <a:ln w="12700" cap="sq">
            <a:solidFill>
              <a:srgbClr val="9900CC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302" name="Text Box 30"/>
          <p:cNvSpPr txBox="1">
            <a:spLocks noChangeArrowheads="1"/>
          </p:cNvSpPr>
          <p:nvPr/>
        </p:nvSpPr>
        <p:spPr bwMode="auto">
          <a:xfrm>
            <a:off x="7848600" y="2667000"/>
            <a:ext cx="739775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altLang="ar-SA">
                <a:solidFill>
                  <a:srgbClr val="FF3300"/>
                </a:solidFill>
              </a:rPr>
              <a:t>O</a:t>
            </a:r>
            <a:r>
              <a:rPr lang="en-US" altLang="ar-SA" baseline="-25000">
                <a:solidFill>
                  <a:srgbClr val="FF3300"/>
                </a:solidFill>
              </a:rPr>
              <a:t>2</a:t>
            </a:r>
            <a:endParaRPr lang="en-US" altLang="ar-SA">
              <a:solidFill>
                <a:srgbClr val="FF3300"/>
              </a:solidFill>
            </a:endParaRPr>
          </a:p>
        </p:txBody>
      </p:sp>
      <p:sp>
        <p:nvSpPr>
          <p:cNvPr id="54303" name="Text Box 31"/>
          <p:cNvSpPr txBox="1">
            <a:spLocks noChangeArrowheads="1"/>
          </p:cNvSpPr>
          <p:nvPr/>
        </p:nvSpPr>
        <p:spPr bwMode="auto">
          <a:xfrm>
            <a:off x="7772400" y="3352800"/>
            <a:ext cx="976313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altLang="ar-SA">
                <a:solidFill>
                  <a:srgbClr val="FF3300"/>
                </a:solidFill>
              </a:rPr>
              <a:t>CO</a:t>
            </a:r>
            <a:r>
              <a:rPr lang="en-US" altLang="ar-SA" baseline="-25000">
                <a:solidFill>
                  <a:srgbClr val="FF3300"/>
                </a:solidFill>
              </a:rPr>
              <a:t>2</a:t>
            </a:r>
            <a:endParaRPr lang="en-US" altLang="ar-SA">
              <a:solidFill>
                <a:srgbClr val="FF3300"/>
              </a:solidFill>
            </a:endParaRPr>
          </a:p>
        </p:txBody>
      </p:sp>
      <p:sp>
        <p:nvSpPr>
          <p:cNvPr id="54304" name="Text Box 32"/>
          <p:cNvSpPr txBox="1">
            <a:spLocks noChangeArrowheads="1"/>
          </p:cNvSpPr>
          <p:nvPr/>
        </p:nvSpPr>
        <p:spPr bwMode="auto">
          <a:xfrm>
            <a:off x="7620000" y="4343400"/>
            <a:ext cx="976313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altLang="ar-SA"/>
              <a:t>CO</a:t>
            </a:r>
            <a:r>
              <a:rPr lang="en-US" altLang="ar-SA" baseline="-25000"/>
              <a:t>2</a:t>
            </a:r>
            <a:endParaRPr lang="en-US" altLang="ar-SA"/>
          </a:p>
        </p:txBody>
      </p:sp>
      <p:sp>
        <p:nvSpPr>
          <p:cNvPr id="54305" name="AutoShape 33"/>
          <p:cNvSpPr>
            <a:spLocks noChangeArrowheads="1"/>
          </p:cNvSpPr>
          <p:nvPr/>
        </p:nvSpPr>
        <p:spPr bwMode="auto">
          <a:xfrm>
            <a:off x="6553200" y="4343400"/>
            <a:ext cx="990600" cy="228600"/>
          </a:xfrm>
          <a:prstGeom prst="leftArrow">
            <a:avLst>
              <a:gd name="adj1" fmla="val 50000"/>
              <a:gd name="adj2" fmla="val 108333"/>
            </a:avLst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306" name="Text Box 34"/>
          <p:cNvSpPr txBox="1">
            <a:spLocks noChangeArrowheads="1"/>
          </p:cNvSpPr>
          <p:nvPr/>
        </p:nvSpPr>
        <p:spPr bwMode="auto">
          <a:xfrm>
            <a:off x="5562600" y="4191000"/>
            <a:ext cx="976313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altLang="ar-SA"/>
              <a:t>CO</a:t>
            </a:r>
            <a:r>
              <a:rPr lang="en-US" altLang="ar-SA" baseline="-25000"/>
              <a:t>2</a:t>
            </a:r>
            <a:endParaRPr lang="en-US" altLang="ar-SA"/>
          </a:p>
        </p:txBody>
      </p:sp>
      <p:sp>
        <p:nvSpPr>
          <p:cNvPr id="54307" name="AutoShape 35"/>
          <p:cNvSpPr>
            <a:spLocks noChangeArrowheads="1"/>
          </p:cNvSpPr>
          <p:nvPr/>
        </p:nvSpPr>
        <p:spPr bwMode="auto">
          <a:xfrm>
            <a:off x="4495800" y="4343400"/>
            <a:ext cx="990600" cy="228600"/>
          </a:xfrm>
          <a:prstGeom prst="leftArrow">
            <a:avLst>
              <a:gd name="adj1" fmla="val 50000"/>
              <a:gd name="adj2" fmla="val 108333"/>
            </a:avLst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308" name="Text Box 36"/>
          <p:cNvSpPr txBox="1">
            <a:spLocks noChangeArrowheads="1"/>
          </p:cNvSpPr>
          <p:nvPr/>
        </p:nvSpPr>
        <p:spPr bwMode="auto">
          <a:xfrm>
            <a:off x="3429000" y="4038600"/>
            <a:ext cx="976313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altLang="ar-SA"/>
              <a:t>CO</a:t>
            </a:r>
            <a:r>
              <a:rPr lang="en-US" altLang="ar-SA" baseline="-25000"/>
              <a:t>2</a:t>
            </a:r>
            <a:endParaRPr lang="en-US" altLang="ar-SA"/>
          </a:p>
        </p:txBody>
      </p:sp>
      <p:sp>
        <p:nvSpPr>
          <p:cNvPr id="54309" name="Text Box 37"/>
          <p:cNvSpPr txBox="1">
            <a:spLocks noChangeArrowheads="1"/>
          </p:cNvSpPr>
          <p:nvPr/>
        </p:nvSpPr>
        <p:spPr bwMode="auto">
          <a:xfrm rot="-5462934">
            <a:off x="6065838" y="3001962"/>
            <a:ext cx="2255838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altLang="ar-SA"/>
              <a:t>mitochondria</a:t>
            </a:r>
          </a:p>
        </p:txBody>
      </p:sp>
      <p:sp>
        <p:nvSpPr>
          <p:cNvPr id="54310" name="Line 38"/>
          <p:cNvSpPr>
            <a:spLocks noChangeShapeType="1"/>
          </p:cNvSpPr>
          <p:nvPr/>
        </p:nvSpPr>
        <p:spPr bwMode="auto">
          <a:xfrm flipH="1">
            <a:off x="7391400" y="3276600"/>
            <a:ext cx="3810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311" name="Line 39"/>
          <p:cNvSpPr>
            <a:spLocks noChangeShapeType="1"/>
          </p:cNvSpPr>
          <p:nvPr/>
        </p:nvSpPr>
        <p:spPr bwMode="auto">
          <a:xfrm>
            <a:off x="3886200" y="2514600"/>
            <a:ext cx="0" cy="1524000"/>
          </a:xfrm>
          <a:prstGeom prst="line">
            <a:avLst/>
          </a:prstGeom>
          <a:noFill/>
          <a:ln w="57150" cap="sq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315" name="AutoShape 43"/>
          <p:cNvSpPr>
            <a:spLocks noChangeArrowheads="1"/>
          </p:cNvSpPr>
          <p:nvPr/>
        </p:nvSpPr>
        <p:spPr bwMode="auto">
          <a:xfrm rot="3519047">
            <a:off x="7391400" y="2362200"/>
            <a:ext cx="609600" cy="152400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316" name="AutoShape 44"/>
          <p:cNvSpPr>
            <a:spLocks noChangeArrowheads="1"/>
          </p:cNvSpPr>
          <p:nvPr/>
        </p:nvSpPr>
        <p:spPr bwMode="auto">
          <a:xfrm rot="6493482">
            <a:off x="7848600" y="4114800"/>
            <a:ext cx="609600" cy="152400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4317" name="Text Box 45"/>
          <p:cNvSpPr txBox="1">
            <a:spLocks noChangeArrowheads="1"/>
          </p:cNvSpPr>
          <p:nvPr/>
        </p:nvSpPr>
        <p:spPr bwMode="auto">
          <a:xfrm>
            <a:off x="2362200" y="0"/>
            <a:ext cx="4356100" cy="9144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altLang="ar-SA" sz="5400"/>
              <a:t>Gas exchange</a:t>
            </a:r>
          </a:p>
        </p:txBody>
      </p:sp>
      <p:sp>
        <p:nvSpPr>
          <p:cNvPr id="54318" name="Text Box 46"/>
          <p:cNvSpPr txBox="1">
            <a:spLocks noChangeArrowheads="1"/>
          </p:cNvSpPr>
          <p:nvPr/>
        </p:nvSpPr>
        <p:spPr bwMode="auto">
          <a:xfrm>
            <a:off x="4495800" y="5486400"/>
            <a:ext cx="1114425" cy="7620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altLang="en-US" sz="4400"/>
              <a:t>(1)</a:t>
            </a:r>
          </a:p>
        </p:txBody>
      </p:sp>
      <p:sp>
        <p:nvSpPr>
          <p:cNvPr id="54319" name="Text Box 47"/>
          <p:cNvSpPr txBox="1">
            <a:spLocks noChangeArrowheads="1"/>
          </p:cNvSpPr>
          <p:nvPr/>
        </p:nvSpPr>
        <p:spPr bwMode="auto">
          <a:xfrm>
            <a:off x="6553200" y="5334000"/>
            <a:ext cx="1114425" cy="7620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altLang="en-US" sz="4400"/>
              <a:t>(2)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4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4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4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4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4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4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4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4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4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4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4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4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4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4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4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4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4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4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4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4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4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4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4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4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54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4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4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4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54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54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54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54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54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4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54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54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54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54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54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54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54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54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54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54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54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54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54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543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543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54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54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54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54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54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54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54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54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54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54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54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54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54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54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1" dur="500" fill="hold"/>
                                        <p:tgtEl>
                                          <p:spTgt spid="543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2" dur="500" fill="hold"/>
                                        <p:tgtEl>
                                          <p:spTgt spid="543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54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54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543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543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4" grpId="0" animBg="1"/>
      <p:bldP spid="54275" grpId="0" animBg="1"/>
      <p:bldP spid="54277" grpId="0" animBg="1"/>
      <p:bldP spid="54278" grpId="0" animBg="1"/>
      <p:bldP spid="54280" grpId="0" build="p" autoUpdateAnimBg="0"/>
      <p:bldP spid="54281" grpId="0" build="p" autoUpdateAnimBg="0"/>
      <p:bldP spid="54282" grpId="0" build="p" autoUpdateAnimBg="0"/>
      <p:bldP spid="54283" grpId="0" animBg="1"/>
      <p:bldP spid="54284" grpId="0" animBg="1"/>
      <p:bldP spid="54285" grpId="0" animBg="1"/>
      <p:bldP spid="54288" grpId="0" build="p" autoUpdateAnimBg="0"/>
      <p:bldP spid="54289" grpId="0" animBg="1"/>
      <p:bldP spid="54290" grpId="0" animBg="1"/>
      <p:bldP spid="54291" grpId="0" animBg="1"/>
      <p:bldP spid="54292" grpId="0" build="p" autoUpdateAnimBg="0"/>
      <p:bldP spid="54293" grpId="0" build="p" autoUpdateAnimBg="0"/>
      <p:bldP spid="54294" grpId="0" build="p" autoUpdateAnimBg="0"/>
      <p:bldP spid="54295" grpId="0" animBg="1"/>
      <p:bldP spid="54296" grpId="0" build="p" autoUpdateAnimBg="0"/>
      <p:bldP spid="54297" grpId="0" build="p" autoUpdateAnimBg="0"/>
      <p:bldP spid="54298" grpId="0" animBg="1"/>
      <p:bldP spid="54299" grpId="0" animBg="1"/>
      <p:bldP spid="54300" grpId="0" animBg="1"/>
      <p:bldP spid="54302" grpId="0" build="p" autoUpdateAnimBg="0"/>
      <p:bldP spid="54303" grpId="0" build="p" autoUpdateAnimBg="0"/>
      <p:bldP spid="54304" grpId="0" build="p" autoUpdateAnimBg="0"/>
      <p:bldP spid="54305" grpId="0" animBg="1"/>
      <p:bldP spid="54306" grpId="0" build="p" autoUpdateAnimBg="0"/>
      <p:bldP spid="54307" grpId="0" animBg="1"/>
      <p:bldP spid="54308" grpId="0" build="p" autoUpdateAnimBg="0"/>
      <p:bldP spid="54309" grpId="0" build="p" autoUpdateAnimBg="0"/>
      <p:bldP spid="54310" grpId="0" animBg="1"/>
      <p:bldP spid="54311" grpId="0" animBg="1"/>
      <p:bldP spid="54315" grpId="0" animBg="1"/>
      <p:bldP spid="54316" grpId="0" animBg="1"/>
      <p:bldP spid="54318" grpId="0" build="p" autoUpdateAnimBg="0"/>
      <p:bldP spid="54319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5" descr="Reseau_Capillair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81000" y="304800"/>
            <a:ext cx="8458200" cy="6248400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914400" y="1219200"/>
            <a:ext cx="7772400" cy="513636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Centaur" pitchFamily="18" charset="0"/>
              </a:rPr>
              <a:t>Gas exchange depend on the following factors:-</a:t>
            </a:r>
          </a:p>
          <a:p>
            <a:pPr>
              <a:buFont typeface="Wingdings" pitchFamily="2" charset="2"/>
              <a:buChar char="Ø"/>
            </a:pPr>
            <a:r>
              <a:rPr lang="en-US" sz="3200" b="1" u="sng" dirty="0" smtClean="0">
                <a:solidFill>
                  <a:srgbClr val="FFC000"/>
                </a:solidFill>
                <a:latin typeface="Centaur" pitchFamily="18" charset="0"/>
              </a:rPr>
              <a:t>Pressure gradient:</a:t>
            </a:r>
          </a:p>
          <a:p>
            <a:r>
              <a:rPr lang="en-US" dirty="0" smtClean="0">
                <a:latin typeface="Centaur" pitchFamily="18" charset="0"/>
              </a:rPr>
              <a:t>Gases move passively from an area of higher pressure to an area of lower pressure.</a:t>
            </a:r>
          </a:p>
          <a:p>
            <a:r>
              <a:rPr lang="en-US" dirty="0" smtClean="0">
                <a:latin typeface="Centaur" pitchFamily="18" charset="0"/>
              </a:rPr>
              <a:t>The partial pressure of O2 (</a:t>
            </a:r>
            <a:r>
              <a:rPr lang="en-US" i="1" dirty="0" smtClean="0">
                <a:latin typeface="Centaur" pitchFamily="18" charset="0"/>
              </a:rPr>
              <a:t>P </a:t>
            </a:r>
            <a:r>
              <a:rPr lang="en-US" dirty="0" smtClean="0">
                <a:latin typeface="Centaur" pitchFamily="18" charset="0"/>
              </a:rPr>
              <a:t>O2) in the alveoli is higher than the </a:t>
            </a:r>
            <a:r>
              <a:rPr lang="en-US" i="1" dirty="0" smtClean="0">
                <a:latin typeface="Centaur" pitchFamily="18" charset="0"/>
              </a:rPr>
              <a:t>P</a:t>
            </a:r>
            <a:r>
              <a:rPr lang="en-US" dirty="0" smtClean="0">
                <a:latin typeface="Centaur" pitchFamily="18" charset="0"/>
              </a:rPr>
              <a:t> O2 in the blood, therefore O2 enters the blood.</a:t>
            </a:r>
            <a:endParaRPr lang="en-US" dirty="0">
              <a:latin typeface="Centaur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Centaur" pitchFamily="18" charset="0"/>
              </a:rPr>
              <a:t>The partial pressure of CO2 (</a:t>
            </a:r>
            <a:r>
              <a:rPr lang="en-US" i="1" dirty="0" smtClean="0">
                <a:latin typeface="Centaur" pitchFamily="18" charset="0"/>
              </a:rPr>
              <a:t>P</a:t>
            </a:r>
            <a:r>
              <a:rPr lang="en-US" dirty="0" smtClean="0">
                <a:latin typeface="Centaur" pitchFamily="18" charset="0"/>
              </a:rPr>
              <a:t> CO2) in the blood is higher than the </a:t>
            </a:r>
            <a:r>
              <a:rPr lang="en-US" i="1" dirty="0" smtClean="0">
                <a:latin typeface="Centaur" pitchFamily="18" charset="0"/>
              </a:rPr>
              <a:t>P</a:t>
            </a:r>
            <a:r>
              <a:rPr lang="en-US" dirty="0" smtClean="0">
                <a:latin typeface="Centaur" pitchFamily="18" charset="0"/>
              </a:rPr>
              <a:t> CO2 in the alveoli </a:t>
            </a:r>
          </a:p>
          <a:p>
            <a:r>
              <a:rPr lang="en-US" dirty="0" smtClean="0">
                <a:latin typeface="Centaur" pitchFamily="18" charset="0"/>
              </a:rPr>
              <a:t>Therefore CO2 enters the alveoli</a:t>
            </a:r>
            <a:endParaRPr lang="en-US" dirty="0">
              <a:latin typeface="Centaur" pitchFamily="18" charset="0"/>
            </a:endParaRPr>
          </a:p>
        </p:txBody>
      </p:sp>
      <p:sp>
        <p:nvSpPr>
          <p:cNvPr id="4" name="مربع نص 3"/>
          <p:cNvSpPr txBox="1"/>
          <p:nvPr/>
        </p:nvSpPr>
        <p:spPr>
          <a:xfrm>
            <a:off x="1219200" y="3505200"/>
            <a:ext cx="7162800" cy="1015663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/>
              <a:t>P</a:t>
            </a:r>
            <a:r>
              <a:rPr lang="en-US" sz="2000" b="1" dirty="0" smtClean="0"/>
              <a:t>O2 : in the alveoli = 100 mmHg. </a:t>
            </a:r>
          </a:p>
          <a:p>
            <a:r>
              <a:rPr lang="en-US" sz="2000" b="1" dirty="0" smtClean="0"/>
              <a:t> in the pulmonary capillaries (arteriolar end) = 40 mmHg.</a:t>
            </a:r>
          </a:p>
          <a:p>
            <a:r>
              <a:rPr lang="en-US" sz="2000" b="1" dirty="0" smtClean="0"/>
              <a:t> in the pulmonary capillaries (</a:t>
            </a:r>
            <a:r>
              <a:rPr lang="en-US" sz="2000" b="1" dirty="0" err="1" smtClean="0"/>
              <a:t>venule</a:t>
            </a:r>
            <a:r>
              <a:rPr lang="en-US" sz="2000" b="1" dirty="0" smtClean="0"/>
              <a:t> end)  = 100 mmHg</a:t>
            </a:r>
            <a:endParaRPr lang="en-US" sz="2000" b="1" dirty="0"/>
          </a:p>
        </p:txBody>
      </p:sp>
      <p:sp>
        <p:nvSpPr>
          <p:cNvPr id="6" name="مربع نص 5"/>
          <p:cNvSpPr txBox="1"/>
          <p:nvPr/>
        </p:nvSpPr>
        <p:spPr>
          <a:xfrm>
            <a:off x="1219200" y="4648200"/>
            <a:ext cx="6934200" cy="1323439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/>
              <a:t>P </a:t>
            </a:r>
            <a:r>
              <a:rPr lang="en-US" sz="2000" b="1" dirty="0" smtClean="0"/>
              <a:t>CO2 in the alveoli = 40 mmHg.</a:t>
            </a:r>
          </a:p>
          <a:p>
            <a:r>
              <a:rPr lang="en-US" sz="2000" b="1" dirty="0" smtClean="0"/>
              <a:t>  in the pulmonary capillaries (arteriolar end) = 45 mmHg.</a:t>
            </a:r>
          </a:p>
          <a:p>
            <a:r>
              <a:rPr lang="en-US" sz="2000" b="1" dirty="0" smtClean="0"/>
              <a:t> in the pulmonary capillaries (</a:t>
            </a:r>
            <a:r>
              <a:rPr lang="en-US" sz="2000" b="1" dirty="0" err="1" smtClean="0"/>
              <a:t>venule</a:t>
            </a:r>
            <a:r>
              <a:rPr lang="en-US" sz="2000" b="1" dirty="0" smtClean="0"/>
              <a:t> end)  = 40 mmHg</a:t>
            </a:r>
          </a:p>
          <a:p>
            <a:endParaRPr 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http://hyperphysics.phy-astr.gsu.edu/hbase/biology/imgbio/alvcap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8" descr="http://www.colorado.edu/intphys/Class/IPHY3430-200/image/18-3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457200"/>
            <a:ext cx="8077200" cy="5899150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Object 2"/>
          <p:cNvGraphicFramePr>
            <a:graphicFrameLocks noChangeAspect="1"/>
          </p:cNvGraphicFramePr>
          <p:nvPr/>
        </p:nvGraphicFramePr>
        <p:xfrm>
          <a:off x="457200" y="858838"/>
          <a:ext cx="8001000" cy="5999162"/>
        </p:xfrm>
        <a:graphic>
          <a:graphicData uri="http://schemas.openxmlformats.org/presentationml/2006/ole">
            <p:oleObj spid="_x0000_s1027" name="Photo Editor Photo" r:id="rId3" imgW="7621064" imgH="5714286" progId="">
              <p:embed/>
            </p:oleObj>
          </a:graphicData>
        </a:graphic>
      </p:graphicFrame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1600200" y="304800"/>
            <a:ext cx="63246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200" b="1">
                <a:latin typeface="Arial" charset="0"/>
              </a:rPr>
              <a:t>Gas exchange:alveoli and cells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914400" y="990600"/>
            <a:ext cx="7772400" cy="536496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3200" b="1" u="sng" dirty="0" smtClean="0">
                <a:solidFill>
                  <a:srgbClr val="FFC000"/>
                </a:solidFill>
                <a:latin typeface="Centaur" pitchFamily="18" charset="0"/>
              </a:rPr>
              <a:t>Thickness of respiratory membrane:</a:t>
            </a:r>
          </a:p>
          <a:p>
            <a:r>
              <a:rPr lang="en-US" dirty="0" smtClean="0">
                <a:latin typeface="Centaur" pitchFamily="18" charset="0"/>
              </a:rPr>
              <a:t>Respiratory membrane consist of the following layers:</a:t>
            </a:r>
          </a:p>
          <a:p>
            <a:r>
              <a:rPr lang="en-US" dirty="0" smtClean="0">
                <a:latin typeface="Centaur" pitchFamily="18" charset="0"/>
              </a:rPr>
              <a:t>Fluid in the alveoli.</a:t>
            </a:r>
          </a:p>
          <a:p>
            <a:r>
              <a:rPr lang="en-US" dirty="0" smtClean="0">
                <a:latin typeface="Centaur" pitchFamily="18" charset="0"/>
              </a:rPr>
              <a:t>Alveolar wall.</a:t>
            </a:r>
          </a:p>
          <a:p>
            <a:r>
              <a:rPr lang="en-US" dirty="0" smtClean="0">
                <a:latin typeface="Centaur" pitchFamily="18" charset="0"/>
              </a:rPr>
              <a:t>Interstitial fluid.</a:t>
            </a:r>
          </a:p>
          <a:p>
            <a:r>
              <a:rPr lang="en-US" dirty="0" smtClean="0">
                <a:latin typeface="Centaur" pitchFamily="18" charset="0"/>
              </a:rPr>
              <a:t>Capillary wall.</a:t>
            </a:r>
          </a:p>
          <a:p>
            <a:r>
              <a:rPr lang="en-US" dirty="0" smtClean="0">
                <a:latin typeface="Centaur" pitchFamily="18" charset="0"/>
              </a:rPr>
              <a:t>Normal thickness = 0.5 micrometer. </a:t>
            </a:r>
            <a:endParaRPr lang="en-US" dirty="0">
              <a:latin typeface="Centaur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ChangeArrowheads="1"/>
          </p:cNvSpPr>
          <p:nvPr/>
        </p:nvSpPr>
        <p:spPr bwMode="auto">
          <a:xfrm>
            <a:off x="2819400" y="1676400"/>
            <a:ext cx="1066800" cy="35814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tint val="73725"/>
                  <a:invGamma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63" name="Rectangle 3"/>
          <p:cNvSpPr>
            <a:spLocks noChangeArrowheads="1"/>
          </p:cNvSpPr>
          <p:nvPr/>
        </p:nvSpPr>
        <p:spPr bwMode="auto">
          <a:xfrm>
            <a:off x="2514600" y="1676400"/>
            <a:ext cx="304800" cy="3581400"/>
          </a:xfrm>
          <a:prstGeom prst="rect">
            <a:avLst/>
          </a:prstGeom>
          <a:gradFill rotWithShape="0">
            <a:gsLst>
              <a:gs pos="0">
                <a:srgbClr val="9999FF"/>
              </a:gs>
              <a:gs pos="100000">
                <a:srgbClr val="9999FF">
                  <a:gamma/>
                  <a:tint val="33725"/>
                  <a:invGamma/>
                </a:srgb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64" name="Line 4"/>
          <p:cNvSpPr>
            <a:spLocks noChangeShapeType="1"/>
          </p:cNvSpPr>
          <p:nvPr/>
        </p:nvSpPr>
        <p:spPr bwMode="auto">
          <a:xfrm>
            <a:off x="2514600" y="1676400"/>
            <a:ext cx="0" cy="3581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65" name="Line 5"/>
          <p:cNvSpPr>
            <a:spLocks noChangeShapeType="1"/>
          </p:cNvSpPr>
          <p:nvPr/>
        </p:nvSpPr>
        <p:spPr bwMode="auto">
          <a:xfrm>
            <a:off x="2819400" y="1676400"/>
            <a:ext cx="0" cy="3581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66" name="Line 6"/>
          <p:cNvSpPr>
            <a:spLocks noChangeShapeType="1"/>
          </p:cNvSpPr>
          <p:nvPr/>
        </p:nvSpPr>
        <p:spPr bwMode="auto">
          <a:xfrm>
            <a:off x="3886200" y="1676400"/>
            <a:ext cx="0" cy="3581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67" name="Text Box 7"/>
          <p:cNvSpPr txBox="1">
            <a:spLocks noChangeArrowheads="1"/>
          </p:cNvSpPr>
          <p:nvPr/>
        </p:nvSpPr>
        <p:spPr bwMode="auto">
          <a:xfrm>
            <a:off x="228600" y="2743200"/>
            <a:ext cx="2119313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ar-SA">
                <a:solidFill>
                  <a:srgbClr val="9900CC"/>
                </a:solidFill>
              </a:rPr>
              <a:t>Fluid lining </a:t>
            </a:r>
          </a:p>
          <a:p>
            <a:r>
              <a:rPr lang="en-US" altLang="ar-SA">
                <a:solidFill>
                  <a:srgbClr val="9900CC"/>
                </a:solidFill>
              </a:rPr>
              <a:t>the alveoli</a:t>
            </a:r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981200" y="3352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69" name="Text Box 9"/>
          <p:cNvSpPr txBox="1">
            <a:spLocks noChangeArrowheads="1"/>
          </p:cNvSpPr>
          <p:nvPr/>
        </p:nvSpPr>
        <p:spPr bwMode="auto">
          <a:xfrm>
            <a:off x="1828800" y="304800"/>
            <a:ext cx="23050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ar-SA">
                <a:solidFill>
                  <a:srgbClr val="9900CC"/>
                </a:solidFill>
              </a:rPr>
              <a:t>Alveolar wall</a:t>
            </a:r>
          </a:p>
        </p:txBody>
      </p:sp>
      <p:sp>
        <p:nvSpPr>
          <p:cNvPr id="66570" name="Line 10"/>
          <p:cNvSpPr>
            <a:spLocks noChangeShapeType="1"/>
          </p:cNvSpPr>
          <p:nvPr/>
        </p:nvSpPr>
        <p:spPr bwMode="auto">
          <a:xfrm>
            <a:off x="2819400" y="914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71" name="Text Box 11"/>
          <p:cNvSpPr txBox="1">
            <a:spLocks noChangeArrowheads="1"/>
          </p:cNvSpPr>
          <p:nvPr/>
        </p:nvSpPr>
        <p:spPr bwMode="auto">
          <a:xfrm>
            <a:off x="2895600" y="762000"/>
            <a:ext cx="25812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ar-SA">
                <a:solidFill>
                  <a:srgbClr val="9900CC"/>
                </a:solidFill>
              </a:rPr>
              <a:t>Interstitial fluid</a:t>
            </a:r>
          </a:p>
        </p:txBody>
      </p:sp>
      <p:sp>
        <p:nvSpPr>
          <p:cNvPr id="66572" name="Line 12"/>
          <p:cNvSpPr>
            <a:spLocks noChangeShapeType="1"/>
          </p:cNvSpPr>
          <p:nvPr/>
        </p:nvSpPr>
        <p:spPr bwMode="auto">
          <a:xfrm>
            <a:off x="3581400" y="1295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73" name="Text Box 13"/>
          <p:cNvSpPr txBox="1">
            <a:spLocks noChangeArrowheads="1"/>
          </p:cNvSpPr>
          <p:nvPr/>
        </p:nvSpPr>
        <p:spPr bwMode="auto">
          <a:xfrm>
            <a:off x="5638800" y="3048000"/>
            <a:ext cx="23828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ar-SA">
                <a:solidFill>
                  <a:srgbClr val="9900CC"/>
                </a:solidFill>
              </a:rPr>
              <a:t>Capillary wall</a:t>
            </a:r>
          </a:p>
        </p:txBody>
      </p:sp>
      <p:sp>
        <p:nvSpPr>
          <p:cNvPr id="66574" name="Line 14"/>
          <p:cNvSpPr>
            <a:spLocks noChangeShapeType="1"/>
          </p:cNvSpPr>
          <p:nvPr/>
        </p:nvSpPr>
        <p:spPr bwMode="auto">
          <a:xfrm flipH="1">
            <a:off x="4038600" y="33528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6575" name="Text Box 15"/>
          <p:cNvSpPr txBox="1">
            <a:spLocks noChangeArrowheads="1"/>
          </p:cNvSpPr>
          <p:nvPr/>
        </p:nvSpPr>
        <p:spPr bwMode="auto">
          <a:xfrm>
            <a:off x="762000" y="5546725"/>
            <a:ext cx="8016875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ar-SA" sz="4000">
                <a:solidFill>
                  <a:srgbClr val="FF3300"/>
                </a:solidFill>
              </a:rPr>
              <a:t>Components of the alveolar-capillary</a:t>
            </a:r>
          </a:p>
          <a:p>
            <a:r>
              <a:rPr lang="en-US" altLang="ar-SA" sz="4000">
                <a:solidFill>
                  <a:srgbClr val="FF3300"/>
                </a:solidFill>
              </a:rPr>
              <a:t> (respiratory) membrane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6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6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6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6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65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65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65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65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6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6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6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6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6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6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6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6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6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6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6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6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6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6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65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65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66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66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2" grpId="0" animBg="1"/>
      <p:bldP spid="66563" grpId="0" animBg="1"/>
      <p:bldP spid="66564" grpId="0" animBg="1"/>
      <p:bldP spid="66565" grpId="0" animBg="1"/>
      <p:bldP spid="66566" grpId="0" animBg="1"/>
      <p:bldP spid="66567" grpId="0" build="p" autoUpdateAnimBg="0"/>
      <p:bldP spid="66568" grpId="0" animBg="1"/>
      <p:bldP spid="66569" grpId="0" build="p" autoUpdateAnimBg="0"/>
      <p:bldP spid="66570" grpId="0" animBg="1"/>
      <p:bldP spid="66571" grpId="0" build="p" autoUpdateAnimBg="0"/>
      <p:bldP spid="66572" grpId="0" animBg="1"/>
      <p:bldP spid="66573" grpId="0" build="p" autoUpdateAnimBg="0"/>
      <p:bldP spid="6657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endParaRPr lang="en-US" smtClean="0">
              <a:solidFill>
                <a:schemeClr val="tx2">
                  <a:satMod val="200000"/>
                </a:schemeClr>
              </a:solidFill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75" y="0"/>
            <a:ext cx="9136063" cy="686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Centaur" pitchFamily="18" charset="0"/>
              </a:rPr>
              <a:t>Gas exchange is inversely proportional to thickness of the respiratory membrane.</a:t>
            </a:r>
          </a:p>
          <a:p>
            <a:r>
              <a:rPr lang="en-US" dirty="0" smtClean="0">
                <a:latin typeface="Centaur" pitchFamily="18" charset="0"/>
              </a:rPr>
              <a:t>It is decreased when the thickness is increased e.g. due to lung fibrosis or pulmonary edema. </a:t>
            </a:r>
            <a:endParaRPr lang="en-US" dirty="0">
              <a:latin typeface="Centaur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Respiratory membrane</a:t>
            </a:r>
            <a:endParaRPr lang="en-US" dirty="0"/>
          </a:p>
        </p:txBody>
      </p:sp>
      <p:graphicFrame>
        <p:nvGraphicFramePr>
          <p:cNvPr id="2050" name="Object 2"/>
          <p:cNvGraphicFramePr>
            <a:graphicFrameLocks noGrp="1" noChangeAspect="1"/>
          </p:cNvGraphicFramePr>
          <p:nvPr>
            <p:ph idx="1"/>
          </p:nvPr>
        </p:nvGraphicFramePr>
        <p:xfrm>
          <a:off x="914400" y="1295400"/>
          <a:ext cx="7696200" cy="5257800"/>
        </p:xfrm>
        <a:graphic>
          <a:graphicData uri="http://schemas.openxmlformats.org/presentationml/2006/ole">
            <p:oleObj spid="_x0000_s2051" name="Image" r:id="rId3" imgW="4282386" imgH="5108366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3200" b="1" u="sng" dirty="0" smtClean="0">
                <a:solidFill>
                  <a:srgbClr val="FFC000"/>
                </a:solidFill>
                <a:latin typeface="Centaur" pitchFamily="18" charset="0"/>
              </a:rPr>
              <a:t>Surface area:</a:t>
            </a:r>
          </a:p>
          <a:p>
            <a:r>
              <a:rPr lang="en-US" dirty="0" smtClean="0">
                <a:latin typeface="Centaur" pitchFamily="18" charset="0"/>
              </a:rPr>
              <a:t>It equals 70m</a:t>
            </a:r>
            <a:r>
              <a:rPr lang="en-US" sz="2400" dirty="0" smtClean="0">
                <a:latin typeface="Centaur" pitchFamily="18" charset="0"/>
              </a:rPr>
              <a:t>2</a:t>
            </a:r>
            <a:r>
              <a:rPr lang="en-US" dirty="0" smtClean="0">
                <a:latin typeface="Centaur" pitchFamily="18" charset="0"/>
              </a:rPr>
              <a:t>. </a:t>
            </a:r>
          </a:p>
          <a:p>
            <a:r>
              <a:rPr lang="en-US" dirty="0" smtClean="0">
                <a:latin typeface="Centaur" pitchFamily="18" charset="0"/>
              </a:rPr>
              <a:t>Gas exchange is directly proportional to the surface area.</a:t>
            </a:r>
          </a:p>
          <a:p>
            <a:r>
              <a:rPr lang="en-US" dirty="0" smtClean="0">
                <a:latin typeface="Centaur" pitchFamily="18" charset="0"/>
              </a:rPr>
              <a:t>Increased when the surface area is increased as in exercise.</a:t>
            </a:r>
            <a:endParaRPr lang="en-US" dirty="0">
              <a:latin typeface="Centaur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914400" y="1524000"/>
            <a:ext cx="7772400" cy="483156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3200" b="1" u="sng" dirty="0" smtClean="0">
                <a:solidFill>
                  <a:srgbClr val="FFC000"/>
                </a:solidFill>
                <a:latin typeface="Centaur" pitchFamily="18" charset="0"/>
              </a:rPr>
              <a:t>Properties of the gas:-</a:t>
            </a:r>
          </a:p>
          <a:p>
            <a:r>
              <a:rPr lang="en-US" dirty="0" smtClean="0">
                <a:latin typeface="Centaur" pitchFamily="18" charset="0"/>
              </a:rPr>
              <a:t>The amount of gas that diffuses across the respiratory membrane depend on:</a:t>
            </a:r>
          </a:p>
          <a:p>
            <a:r>
              <a:rPr lang="en-US" dirty="0" smtClean="0">
                <a:latin typeface="Centaur" pitchFamily="18" charset="0"/>
              </a:rPr>
              <a:t>Solubility of the gas (direct relation).</a:t>
            </a:r>
          </a:p>
          <a:p>
            <a:r>
              <a:rPr lang="en-US" dirty="0" smtClean="0">
                <a:latin typeface="Centaur" pitchFamily="18" charset="0"/>
              </a:rPr>
              <a:t>Molecular weight of the gas (inverse relation).</a:t>
            </a:r>
          </a:p>
          <a:p>
            <a:r>
              <a:rPr lang="en-US" dirty="0" smtClean="0">
                <a:latin typeface="Centaur" pitchFamily="18" charset="0"/>
              </a:rPr>
              <a:t>The molecular weight of  CO2 is larger than O2, however its diffusion is better because it has higher solubility.</a:t>
            </a:r>
            <a:endParaRPr lang="en-US" dirty="0">
              <a:latin typeface="Centaur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reeform 1026"/>
          <p:cNvSpPr>
            <a:spLocks/>
          </p:cNvSpPr>
          <p:nvPr/>
        </p:nvSpPr>
        <p:spPr bwMode="auto">
          <a:xfrm>
            <a:off x="4530725" y="4094163"/>
            <a:ext cx="1439863" cy="2101850"/>
          </a:xfrm>
          <a:custGeom>
            <a:avLst/>
            <a:gdLst>
              <a:gd name="T0" fmla="*/ 433467107 w 907"/>
              <a:gd name="T1" fmla="*/ 239414061 h 1324"/>
              <a:gd name="T2" fmla="*/ 824092150 w 907"/>
              <a:gd name="T3" fmla="*/ 0 h 1324"/>
              <a:gd name="T4" fmla="*/ 1494453964 w 907"/>
              <a:gd name="T5" fmla="*/ 108365935 h 1324"/>
              <a:gd name="T6" fmla="*/ 1842235950 w 907"/>
              <a:gd name="T7" fmla="*/ 282257495 h 1324"/>
              <a:gd name="T8" fmla="*/ 1993445337 w 907"/>
              <a:gd name="T9" fmla="*/ 1018143146 h 1324"/>
              <a:gd name="T10" fmla="*/ 1234877056 w 907"/>
              <a:gd name="T11" fmla="*/ 2147483647 h 1324"/>
              <a:gd name="T12" fmla="*/ 541834628 w 907"/>
              <a:gd name="T13" fmla="*/ 2147483647 h 1324"/>
              <a:gd name="T14" fmla="*/ 88206294 w 907"/>
              <a:gd name="T15" fmla="*/ 2147483647 h 1324"/>
              <a:gd name="T16" fmla="*/ 0 w 907"/>
              <a:gd name="T17" fmla="*/ 2147483647 h 1324"/>
              <a:gd name="T18" fmla="*/ 22682208 w 907"/>
              <a:gd name="T19" fmla="*/ 2147483647 h 1324"/>
              <a:gd name="T20" fmla="*/ 239415755 w 907"/>
              <a:gd name="T21" fmla="*/ 2147483647 h 1324"/>
              <a:gd name="T22" fmla="*/ 932458282 w 907"/>
              <a:gd name="T23" fmla="*/ 2147483647 h 1324"/>
              <a:gd name="T24" fmla="*/ 1323083325 w 907"/>
              <a:gd name="T25" fmla="*/ 2147483647 h 1324"/>
              <a:gd name="T26" fmla="*/ 1474292712 w 907"/>
              <a:gd name="T27" fmla="*/ 2147483647 h 1324"/>
              <a:gd name="T28" fmla="*/ 1539816780 w 907"/>
              <a:gd name="T29" fmla="*/ 2147483647 h 1324"/>
              <a:gd name="T30" fmla="*/ 1559978031 w 907"/>
              <a:gd name="T31" fmla="*/ 1192033070 h 1324"/>
              <a:gd name="T32" fmla="*/ 1126511122 w 907"/>
              <a:gd name="T33" fmla="*/ 347781533 h 1324"/>
              <a:gd name="T34" fmla="*/ 715724629 w 907"/>
              <a:gd name="T35" fmla="*/ 367942776 h 1324"/>
              <a:gd name="T36" fmla="*/ 607358696 w 907"/>
              <a:gd name="T37" fmla="*/ 476308760 h 1324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907"/>
              <a:gd name="T58" fmla="*/ 0 h 1324"/>
              <a:gd name="T59" fmla="*/ 907 w 907"/>
              <a:gd name="T60" fmla="*/ 1324 h 1324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907" h="1324">
                <a:moveTo>
                  <a:pt x="172" y="95"/>
                </a:moveTo>
                <a:cubicBezTo>
                  <a:pt x="206" y="43"/>
                  <a:pt x="270" y="20"/>
                  <a:pt x="327" y="0"/>
                </a:cubicBezTo>
                <a:cubicBezTo>
                  <a:pt x="539" y="21"/>
                  <a:pt x="439" y="1"/>
                  <a:pt x="593" y="43"/>
                </a:cubicBezTo>
                <a:cubicBezTo>
                  <a:pt x="643" y="57"/>
                  <a:pt x="698" y="66"/>
                  <a:pt x="731" y="112"/>
                </a:cubicBezTo>
                <a:cubicBezTo>
                  <a:pt x="785" y="187"/>
                  <a:pt x="782" y="318"/>
                  <a:pt x="791" y="404"/>
                </a:cubicBezTo>
                <a:cubicBezTo>
                  <a:pt x="787" y="733"/>
                  <a:pt x="907" y="1217"/>
                  <a:pt x="490" y="1324"/>
                </a:cubicBezTo>
                <a:cubicBezTo>
                  <a:pt x="289" y="1313"/>
                  <a:pt x="381" y="1323"/>
                  <a:pt x="215" y="1298"/>
                </a:cubicBezTo>
                <a:cubicBezTo>
                  <a:pt x="155" y="1289"/>
                  <a:pt x="35" y="1281"/>
                  <a:pt x="35" y="1281"/>
                </a:cubicBezTo>
                <a:cubicBezTo>
                  <a:pt x="13" y="1260"/>
                  <a:pt x="10" y="1241"/>
                  <a:pt x="0" y="1212"/>
                </a:cubicBezTo>
                <a:cubicBezTo>
                  <a:pt x="3" y="1195"/>
                  <a:pt x="1" y="1176"/>
                  <a:pt x="9" y="1161"/>
                </a:cubicBezTo>
                <a:cubicBezTo>
                  <a:pt x="20" y="1139"/>
                  <a:pt x="76" y="1131"/>
                  <a:pt x="95" y="1126"/>
                </a:cubicBezTo>
                <a:cubicBezTo>
                  <a:pt x="202" y="1132"/>
                  <a:pt x="271" y="1141"/>
                  <a:pt x="370" y="1152"/>
                </a:cubicBezTo>
                <a:cubicBezTo>
                  <a:pt x="446" y="1148"/>
                  <a:pt x="488" y="1176"/>
                  <a:pt x="525" y="1126"/>
                </a:cubicBezTo>
                <a:cubicBezTo>
                  <a:pt x="549" y="1094"/>
                  <a:pt x="572" y="1061"/>
                  <a:pt x="585" y="1023"/>
                </a:cubicBezTo>
                <a:cubicBezTo>
                  <a:pt x="593" y="997"/>
                  <a:pt x="611" y="946"/>
                  <a:pt x="611" y="946"/>
                </a:cubicBezTo>
                <a:cubicBezTo>
                  <a:pt x="632" y="787"/>
                  <a:pt x="628" y="632"/>
                  <a:pt x="619" y="473"/>
                </a:cubicBezTo>
                <a:cubicBezTo>
                  <a:pt x="610" y="306"/>
                  <a:pt x="620" y="191"/>
                  <a:pt x="447" y="138"/>
                </a:cubicBezTo>
                <a:cubicBezTo>
                  <a:pt x="393" y="141"/>
                  <a:pt x="338" y="139"/>
                  <a:pt x="284" y="146"/>
                </a:cubicBezTo>
                <a:cubicBezTo>
                  <a:pt x="264" y="149"/>
                  <a:pt x="241" y="189"/>
                  <a:pt x="241" y="189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Corbel" pitchFamily="34" charset="0"/>
            </a:endParaRPr>
          </a:p>
        </p:txBody>
      </p:sp>
      <p:sp>
        <p:nvSpPr>
          <p:cNvPr id="31747" name="Freeform 1027"/>
          <p:cNvSpPr>
            <a:spLocks/>
          </p:cNvSpPr>
          <p:nvPr/>
        </p:nvSpPr>
        <p:spPr bwMode="auto">
          <a:xfrm>
            <a:off x="3041650" y="4208463"/>
            <a:ext cx="1284288" cy="2103437"/>
          </a:xfrm>
          <a:custGeom>
            <a:avLst/>
            <a:gdLst>
              <a:gd name="T0" fmla="*/ 1973284104 w 809"/>
              <a:gd name="T1" fmla="*/ 120967476 h 1325"/>
              <a:gd name="T2" fmla="*/ 1411288020 w 809"/>
              <a:gd name="T3" fmla="*/ 35282179 h 1325"/>
              <a:gd name="T4" fmla="*/ 630039316 w 809"/>
              <a:gd name="T5" fmla="*/ 166330261 h 1325"/>
              <a:gd name="T6" fmla="*/ 370463894 w 809"/>
              <a:gd name="T7" fmla="*/ 383063617 h 1325"/>
              <a:gd name="T8" fmla="*/ 133569136 w 809"/>
              <a:gd name="T9" fmla="*/ 859372363 h 1325"/>
              <a:gd name="T10" fmla="*/ 90725658 w 809"/>
              <a:gd name="T11" fmla="*/ 1033263833 h 1325"/>
              <a:gd name="T12" fmla="*/ 45362829 w 809"/>
              <a:gd name="T13" fmla="*/ 1161790930 h 1325"/>
              <a:gd name="T14" fmla="*/ 45362829 w 809"/>
              <a:gd name="T15" fmla="*/ 1943039291 h 1325"/>
              <a:gd name="T16" fmla="*/ 90725658 w 809"/>
              <a:gd name="T17" fmla="*/ 2147483647 h 1325"/>
              <a:gd name="T18" fmla="*/ 803930906 w 809"/>
              <a:gd name="T19" fmla="*/ 2147483647 h 1325"/>
              <a:gd name="T20" fmla="*/ 1260078632 w 809"/>
              <a:gd name="T21" fmla="*/ 2147483647 h 1325"/>
              <a:gd name="T22" fmla="*/ 1260078632 w 809"/>
              <a:gd name="T23" fmla="*/ 2147483647 h 1325"/>
              <a:gd name="T24" fmla="*/ 1043345176 w 809"/>
              <a:gd name="T25" fmla="*/ 2147483647 h 1325"/>
              <a:gd name="T26" fmla="*/ 630039316 w 809"/>
              <a:gd name="T27" fmla="*/ 2147483647 h 1325"/>
              <a:gd name="T28" fmla="*/ 478829928 w 809"/>
              <a:gd name="T29" fmla="*/ 2147483647 h 1325"/>
              <a:gd name="T30" fmla="*/ 393144509 w 809"/>
              <a:gd name="T31" fmla="*/ 1726305985 h 1325"/>
              <a:gd name="T32" fmla="*/ 544353996 w 809"/>
              <a:gd name="T33" fmla="*/ 1010581647 h 1325"/>
              <a:gd name="T34" fmla="*/ 718245586 w 809"/>
              <a:gd name="T35" fmla="*/ 685482283 h 1325"/>
              <a:gd name="T36" fmla="*/ 955140493 w 809"/>
              <a:gd name="T37" fmla="*/ 491429576 h 1325"/>
              <a:gd name="T38" fmla="*/ 2038808172 w 809"/>
              <a:gd name="T39" fmla="*/ 337700832 h 1325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809"/>
              <a:gd name="T61" fmla="*/ 0 h 1325"/>
              <a:gd name="T62" fmla="*/ 809 w 809"/>
              <a:gd name="T63" fmla="*/ 1325 h 1325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809" h="1325">
                <a:moveTo>
                  <a:pt x="783" y="48"/>
                </a:moveTo>
                <a:cubicBezTo>
                  <a:pt x="713" y="0"/>
                  <a:pt x="661" y="19"/>
                  <a:pt x="560" y="14"/>
                </a:cubicBezTo>
                <a:cubicBezTo>
                  <a:pt x="455" y="25"/>
                  <a:pt x="350" y="31"/>
                  <a:pt x="250" y="66"/>
                </a:cubicBezTo>
                <a:cubicBezTo>
                  <a:pt x="217" y="90"/>
                  <a:pt x="172" y="120"/>
                  <a:pt x="147" y="152"/>
                </a:cubicBezTo>
                <a:cubicBezTo>
                  <a:pt x="102" y="210"/>
                  <a:pt x="84" y="277"/>
                  <a:pt x="53" y="341"/>
                </a:cubicBezTo>
                <a:cubicBezTo>
                  <a:pt x="45" y="378"/>
                  <a:pt x="46" y="379"/>
                  <a:pt x="36" y="410"/>
                </a:cubicBezTo>
                <a:cubicBezTo>
                  <a:pt x="30" y="427"/>
                  <a:pt x="18" y="461"/>
                  <a:pt x="18" y="461"/>
                </a:cubicBezTo>
                <a:cubicBezTo>
                  <a:pt x="0" y="600"/>
                  <a:pt x="7" y="518"/>
                  <a:pt x="18" y="771"/>
                </a:cubicBezTo>
                <a:cubicBezTo>
                  <a:pt x="23" y="888"/>
                  <a:pt x="30" y="1006"/>
                  <a:pt x="36" y="1123"/>
                </a:cubicBezTo>
                <a:cubicBezTo>
                  <a:pt x="43" y="1255"/>
                  <a:pt x="219" y="1288"/>
                  <a:pt x="319" y="1312"/>
                </a:cubicBezTo>
                <a:cubicBezTo>
                  <a:pt x="378" y="1308"/>
                  <a:pt x="464" y="1325"/>
                  <a:pt x="500" y="1269"/>
                </a:cubicBezTo>
                <a:cubicBezTo>
                  <a:pt x="505" y="1241"/>
                  <a:pt x="523" y="1170"/>
                  <a:pt x="500" y="1149"/>
                </a:cubicBezTo>
                <a:cubicBezTo>
                  <a:pt x="479" y="1130"/>
                  <a:pt x="443" y="1143"/>
                  <a:pt x="414" y="1140"/>
                </a:cubicBezTo>
                <a:cubicBezTo>
                  <a:pt x="360" y="1123"/>
                  <a:pt x="304" y="1123"/>
                  <a:pt x="250" y="1106"/>
                </a:cubicBezTo>
                <a:cubicBezTo>
                  <a:pt x="227" y="1090"/>
                  <a:pt x="209" y="1074"/>
                  <a:pt x="190" y="1054"/>
                </a:cubicBezTo>
                <a:cubicBezTo>
                  <a:pt x="167" y="932"/>
                  <a:pt x="169" y="808"/>
                  <a:pt x="156" y="685"/>
                </a:cubicBezTo>
                <a:cubicBezTo>
                  <a:pt x="163" y="580"/>
                  <a:pt x="170" y="494"/>
                  <a:pt x="216" y="401"/>
                </a:cubicBezTo>
                <a:cubicBezTo>
                  <a:pt x="239" y="356"/>
                  <a:pt x="242" y="300"/>
                  <a:pt x="285" y="272"/>
                </a:cubicBezTo>
                <a:cubicBezTo>
                  <a:pt x="307" y="239"/>
                  <a:pt x="341" y="207"/>
                  <a:pt x="379" y="195"/>
                </a:cubicBezTo>
                <a:cubicBezTo>
                  <a:pt x="453" y="121"/>
                  <a:pt x="771" y="134"/>
                  <a:pt x="809" y="13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Corbel" pitchFamily="34" charset="0"/>
            </a:endParaRPr>
          </a:p>
        </p:txBody>
      </p:sp>
      <p:grpSp>
        <p:nvGrpSpPr>
          <p:cNvPr id="2" name="Group 1028"/>
          <p:cNvGrpSpPr>
            <a:grpSpLocks/>
          </p:cNvGrpSpPr>
          <p:nvPr/>
        </p:nvGrpSpPr>
        <p:grpSpPr bwMode="auto">
          <a:xfrm>
            <a:off x="3062288" y="1066800"/>
            <a:ext cx="2400300" cy="2325688"/>
            <a:chOff x="1929" y="1758"/>
            <a:chExt cx="1512" cy="1465"/>
          </a:xfrm>
        </p:grpSpPr>
        <p:sp>
          <p:nvSpPr>
            <p:cNvPr id="31781" name="Rectangle 1029"/>
            <p:cNvSpPr>
              <a:spLocks noChangeArrowheads="1"/>
            </p:cNvSpPr>
            <p:nvPr/>
          </p:nvSpPr>
          <p:spPr bwMode="auto">
            <a:xfrm rot="-2100000">
              <a:off x="2443" y="2453"/>
              <a:ext cx="282" cy="7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orbel" pitchFamily="34" charset="0"/>
              </a:endParaRPr>
            </a:p>
          </p:txBody>
        </p:sp>
        <p:sp>
          <p:nvSpPr>
            <p:cNvPr id="31782" name="Arc 1030"/>
            <p:cNvSpPr>
              <a:spLocks/>
            </p:cNvSpPr>
            <p:nvPr/>
          </p:nvSpPr>
          <p:spPr bwMode="auto">
            <a:xfrm>
              <a:off x="1929" y="2212"/>
              <a:ext cx="449" cy="1011"/>
            </a:xfrm>
            <a:custGeom>
              <a:avLst/>
              <a:gdLst>
                <a:gd name="T0" fmla="*/ 0 w 21600"/>
                <a:gd name="T1" fmla="*/ 2 h 21600"/>
                <a:gd name="T2" fmla="*/ 0 w 21600"/>
                <a:gd name="T3" fmla="*/ 0 h 21600"/>
                <a:gd name="T4" fmla="*/ 0 w 21600"/>
                <a:gd name="T5" fmla="*/ 2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21579"/>
                  </a:moveTo>
                  <a:cubicBezTo>
                    <a:pt x="11" y="9674"/>
                    <a:pt x="9652" y="23"/>
                    <a:pt x="21557" y="0"/>
                  </a:cubicBezTo>
                </a:path>
                <a:path w="21600" h="21600" stroke="0" extrusionOk="0">
                  <a:moveTo>
                    <a:pt x="0" y="21579"/>
                  </a:moveTo>
                  <a:cubicBezTo>
                    <a:pt x="11" y="9674"/>
                    <a:pt x="9652" y="23"/>
                    <a:pt x="21557" y="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FF6633"/>
            </a:solidFill>
            <a:ln w="9525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orbel" pitchFamily="34" charset="0"/>
              </a:endParaRPr>
            </a:p>
          </p:txBody>
        </p:sp>
        <p:sp>
          <p:nvSpPr>
            <p:cNvPr id="31783" name="Arc 1031"/>
            <p:cNvSpPr>
              <a:spLocks/>
            </p:cNvSpPr>
            <p:nvPr/>
          </p:nvSpPr>
          <p:spPr bwMode="auto">
            <a:xfrm>
              <a:off x="2365" y="2212"/>
              <a:ext cx="274" cy="1004"/>
            </a:xfrm>
            <a:custGeom>
              <a:avLst/>
              <a:gdLst>
                <a:gd name="T0" fmla="*/ 0 w 21670"/>
                <a:gd name="T1" fmla="*/ 0 h 21600"/>
                <a:gd name="T2" fmla="*/ 0 w 21670"/>
                <a:gd name="T3" fmla="*/ 2 h 21600"/>
                <a:gd name="T4" fmla="*/ 0 w 21670"/>
                <a:gd name="T5" fmla="*/ 2 h 21600"/>
                <a:gd name="T6" fmla="*/ 0 60000 65536"/>
                <a:gd name="T7" fmla="*/ 0 60000 65536"/>
                <a:gd name="T8" fmla="*/ 0 60000 65536"/>
                <a:gd name="T9" fmla="*/ 0 w 21670"/>
                <a:gd name="T10" fmla="*/ 0 h 21600"/>
                <a:gd name="T11" fmla="*/ 21670 w 2167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70" h="21600" fill="none" extrusionOk="0">
                  <a:moveTo>
                    <a:pt x="0" y="0"/>
                  </a:moveTo>
                  <a:cubicBezTo>
                    <a:pt x="23" y="0"/>
                    <a:pt x="46" y="-1"/>
                    <a:pt x="70" y="0"/>
                  </a:cubicBezTo>
                  <a:cubicBezTo>
                    <a:pt x="11999" y="0"/>
                    <a:pt x="21670" y="9670"/>
                    <a:pt x="21670" y="21600"/>
                  </a:cubicBezTo>
                </a:path>
                <a:path w="21670" h="21600" stroke="0" extrusionOk="0">
                  <a:moveTo>
                    <a:pt x="0" y="0"/>
                  </a:moveTo>
                  <a:cubicBezTo>
                    <a:pt x="23" y="0"/>
                    <a:pt x="46" y="-1"/>
                    <a:pt x="70" y="0"/>
                  </a:cubicBezTo>
                  <a:cubicBezTo>
                    <a:pt x="11999" y="0"/>
                    <a:pt x="21670" y="9670"/>
                    <a:pt x="21670" y="21600"/>
                  </a:cubicBezTo>
                  <a:lnTo>
                    <a:pt x="70" y="21600"/>
                  </a:lnTo>
                  <a:close/>
                </a:path>
              </a:pathLst>
            </a:custGeom>
            <a:solidFill>
              <a:srgbClr val="FF6633"/>
            </a:solidFill>
            <a:ln w="9525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orbel" pitchFamily="34" charset="0"/>
              </a:endParaRPr>
            </a:p>
          </p:txBody>
        </p:sp>
        <p:sp>
          <p:nvSpPr>
            <p:cNvPr id="31784" name="Rectangle 1032"/>
            <p:cNvSpPr>
              <a:spLocks noChangeArrowheads="1"/>
            </p:cNvSpPr>
            <p:nvPr/>
          </p:nvSpPr>
          <p:spPr bwMode="auto">
            <a:xfrm rot="2100000" flipH="1">
              <a:off x="2641" y="2453"/>
              <a:ext cx="281" cy="7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orbel" pitchFamily="34" charset="0"/>
              </a:endParaRPr>
            </a:p>
          </p:txBody>
        </p:sp>
        <p:sp>
          <p:nvSpPr>
            <p:cNvPr id="31785" name="Arc 1033"/>
            <p:cNvSpPr>
              <a:spLocks/>
            </p:cNvSpPr>
            <p:nvPr/>
          </p:nvSpPr>
          <p:spPr bwMode="auto">
            <a:xfrm>
              <a:off x="2991" y="2202"/>
              <a:ext cx="450" cy="1011"/>
            </a:xfrm>
            <a:custGeom>
              <a:avLst/>
              <a:gdLst>
                <a:gd name="T0" fmla="*/ 0 w 21643"/>
                <a:gd name="T1" fmla="*/ 0 h 21600"/>
                <a:gd name="T2" fmla="*/ 0 w 21643"/>
                <a:gd name="T3" fmla="*/ 2 h 21600"/>
                <a:gd name="T4" fmla="*/ 0 w 21643"/>
                <a:gd name="T5" fmla="*/ 2 h 21600"/>
                <a:gd name="T6" fmla="*/ 0 60000 65536"/>
                <a:gd name="T7" fmla="*/ 0 60000 65536"/>
                <a:gd name="T8" fmla="*/ 0 60000 65536"/>
                <a:gd name="T9" fmla="*/ 0 w 21643"/>
                <a:gd name="T10" fmla="*/ 0 h 21600"/>
                <a:gd name="T11" fmla="*/ 21643 w 2164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43" h="21600" fill="none" extrusionOk="0">
                  <a:moveTo>
                    <a:pt x="0" y="0"/>
                  </a:moveTo>
                  <a:cubicBezTo>
                    <a:pt x="14" y="0"/>
                    <a:pt x="28" y="-1"/>
                    <a:pt x="43" y="0"/>
                  </a:cubicBezTo>
                  <a:cubicBezTo>
                    <a:pt x="11964" y="0"/>
                    <a:pt x="21631" y="9657"/>
                    <a:pt x="21642" y="21579"/>
                  </a:cubicBezTo>
                </a:path>
                <a:path w="21643" h="21600" stroke="0" extrusionOk="0">
                  <a:moveTo>
                    <a:pt x="0" y="0"/>
                  </a:moveTo>
                  <a:cubicBezTo>
                    <a:pt x="14" y="0"/>
                    <a:pt x="28" y="-1"/>
                    <a:pt x="43" y="0"/>
                  </a:cubicBezTo>
                  <a:cubicBezTo>
                    <a:pt x="11964" y="0"/>
                    <a:pt x="21631" y="9657"/>
                    <a:pt x="21642" y="21579"/>
                  </a:cubicBezTo>
                  <a:lnTo>
                    <a:pt x="43" y="21600"/>
                  </a:lnTo>
                  <a:close/>
                </a:path>
              </a:pathLst>
            </a:custGeom>
            <a:solidFill>
              <a:srgbClr val="FF6633"/>
            </a:solidFill>
            <a:ln w="9525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orbel" pitchFamily="34" charset="0"/>
              </a:endParaRPr>
            </a:p>
          </p:txBody>
        </p:sp>
        <p:sp>
          <p:nvSpPr>
            <p:cNvPr id="31786" name="Arc 1034"/>
            <p:cNvSpPr>
              <a:spLocks/>
            </p:cNvSpPr>
            <p:nvPr/>
          </p:nvSpPr>
          <p:spPr bwMode="auto">
            <a:xfrm>
              <a:off x="2730" y="2202"/>
              <a:ext cx="274" cy="1014"/>
            </a:xfrm>
            <a:custGeom>
              <a:avLst/>
              <a:gdLst>
                <a:gd name="T0" fmla="*/ 0 w 21600"/>
                <a:gd name="T1" fmla="*/ 2 h 21600"/>
                <a:gd name="T2" fmla="*/ 0 w 21600"/>
                <a:gd name="T3" fmla="*/ 0 h 21600"/>
                <a:gd name="T4" fmla="*/ 0 w 21600"/>
                <a:gd name="T5" fmla="*/ 2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0" y="21600"/>
                  </a:moveTo>
                  <a:cubicBezTo>
                    <a:pt x="0" y="9697"/>
                    <a:pt x="9628" y="38"/>
                    <a:pt x="21530" y="0"/>
                  </a:cubicBezTo>
                </a:path>
                <a:path w="21600" h="21600" stroke="0" extrusionOk="0">
                  <a:moveTo>
                    <a:pt x="0" y="21600"/>
                  </a:moveTo>
                  <a:cubicBezTo>
                    <a:pt x="0" y="9697"/>
                    <a:pt x="9628" y="38"/>
                    <a:pt x="21530" y="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FF6633"/>
            </a:solidFill>
            <a:ln w="9525" cap="rnd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orbel" pitchFamily="34" charset="0"/>
              </a:endParaRPr>
            </a:p>
          </p:txBody>
        </p:sp>
        <p:sp>
          <p:nvSpPr>
            <p:cNvPr id="31787" name="Rectangle 1035"/>
            <p:cNvSpPr>
              <a:spLocks noChangeArrowheads="1"/>
            </p:cNvSpPr>
            <p:nvPr/>
          </p:nvSpPr>
          <p:spPr bwMode="auto">
            <a:xfrm>
              <a:off x="2641" y="1758"/>
              <a:ext cx="83" cy="65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orbel" pitchFamily="34" charset="0"/>
              </a:endParaRPr>
            </a:p>
          </p:txBody>
        </p:sp>
      </p:grpSp>
      <p:sp>
        <p:nvSpPr>
          <p:cNvPr id="31749" name="Line 1037"/>
          <p:cNvSpPr>
            <a:spLocks noChangeShapeType="1"/>
          </p:cNvSpPr>
          <p:nvPr/>
        </p:nvSpPr>
        <p:spPr bwMode="auto">
          <a:xfrm>
            <a:off x="1582738" y="5043488"/>
            <a:ext cx="0" cy="153987"/>
          </a:xfrm>
          <a:prstGeom prst="line">
            <a:avLst/>
          </a:prstGeom>
          <a:noFill/>
          <a:ln w="9525">
            <a:noFill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50" name="Line 1038"/>
          <p:cNvSpPr>
            <a:spLocks noChangeShapeType="1"/>
          </p:cNvSpPr>
          <p:nvPr/>
        </p:nvSpPr>
        <p:spPr bwMode="auto">
          <a:xfrm>
            <a:off x="1727200" y="5027613"/>
            <a:ext cx="0" cy="153987"/>
          </a:xfrm>
          <a:prstGeom prst="line">
            <a:avLst/>
          </a:prstGeom>
          <a:noFill/>
          <a:ln w="9525">
            <a:noFill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51" name="Line 1039"/>
          <p:cNvSpPr>
            <a:spLocks noChangeShapeType="1"/>
          </p:cNvSpPr>
          <p:nvPr/>
        </p:nvSpPr>
        <p:spPr bwMode="auto">
          <a:xfrm>
            <a:off x="3051175" y="5122863"/>
            <a:ext cx="1122363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1752" name="Line 1040"/>
          <p:cNvSpPr>
            <a:spLocks noChangeShapeType="1"/>
          </p:cNvSpPr>
          <p:nvPr/>
        </p:nvSpPr>
        <p:spPr bwMode="auto">
          <a:xfrm flipH="1">
            <a:off x="4318000" y="5106988"/>
            <a:ext cx="112395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1041"/>
          <p:cNvGrpSpPr>
            <a:grpSpLocks/>
          </p:cNvGrpSpPr>
          <p:nvPr/>
        </p:nvGrpSpPr>
        <p:grpSpPr bwMode="auto">
          <a:xfrm>
            <a:off x="4083050" y="3810000"/>
            <a:ext cx="1250950" cy="1095375"/>
            <a:chOff x="2661" y="2478"/>
            <a:chExt cx="527" cy="471"/>
          </a:xfrm>
        </p:grpSpPr>
        <p:sp>
          <p:nvSpPr>
            <p:cNvPr id="31779" name="Freeform 1042"/>
            <p:cNvSpPr>
              <a:spLocks/>
            </p:cNvSpPr>
            <p:nvPr/>
          </p:nvSpPr>
          <p:spPr bwMode="auto">
            <a:xfrm>
              <a:off x="2661" y="2556"/>
              <a:ext cx="464" cy="393"/>
            </a:xfrm>
            <a:custGeom>
              <a:avLst/>
              <a:gdLst>
                <a:gd name="T0" fmla="*/ 154 w 464"/>
                <a:gd name="T1" fmla="*/ 287 h 461"/>
                <a:gd name="T2" fmla="*/ 120 w 464"/>
                <a:gd name="T3" fmla="*/ 250 h 461"/>
                <a:gd name="T4" fmla="*/ 60 w 464"/>
                <a:gd name="T5" fmla="*/ 224 h 461"/>
                <a:gd name="T6" fmla="*/ 0 w 464"/>
                <a:gd name="T7" fmla="*/ 175 h 461"/>
                <a:gd name="T8" fmla="*/ 8 w 464"/>
                <a:gd name="T9" fmla="*/ 100 h 461"/>
                <a:gd name="T10" fmla="*/ 189 w 464"/>
                <a:gd name="T11" fmla="*/ 0 h 461"/>
                <a:gd name="T12" fmla="*/ 326 w 464"/>
                <a:gd name="T13" fmla="*/ 37 h 461"/>
                <a:gd name="T14" fmla="*/ 464 w 464"/>
                <a:gd name="T15" fmla="*/ 237 h 461"/>
                <a:gd name="T16" fmla="*/ 318 w 464"/>
                <a:gd name="T17" fmla="*/ 306 h 461"/>
                <a:gd name="T18" fmla="*/ 154 w 464"/>
                <a:gd name="T19" fmla="*/ 287 h 4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64"/>
                <a:gd name="T31" fmla="*/ 0 h 461"/>
                <a:gd name="T32" fmla="*/ 464 w 464"/>
                <a:gd name="T33" fmla="*/ 461 h 46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64" h="461">
                  <a:moveTo>
                    <a:pt x="154" y="395"/>
                  </a:moveTo>
                  <a:cubicBezTo>
                    <a:pt x="143" y="378"/>
                    <a:pt x="131" y="361"/>
                    <a:pt x="120" y="344"/>
                  </a:cubicBezTo>
                  <a:cubicBezTo>
                    <a:pt x="107" y="325"/>
                    <a:pt x="78" y="324"/>
                    <a:pt x="60" y="309"/>
                  </a:cubicBezTo>
                  <a:cubicBezTo>
                    <a:pt x="36" y="289"/>
                    <a:pt x="21" y="263"/>
                    <a:pt x="0" y="240"/>
                  </a:cubicBezTo>
                  <a:cubicBezTo>
                    <a:pt x="3" y="206"/>
                    <a:pt x="4" y="171"/>
                    <a:pt x="8" y="137"/>
                  </a:cubicBezTo>
                  <a:cubicBezTo>
                    <a:pt x="19" y="56"/>
                    <a:pt x="122" y="15"/>
                    <a:pt x="189" y="0"/>
                  </a:cubicBezTo>
                  <a:cubicBezTo>
                    <a:pt x="239" y="9"/>
                    <a:pt x="285" y="18"/>
                    <a:pt x="326" y="51"/>
                  </a:cubicBezTo>
                  <a:cubicBezTo>
                    <a:pt x="396" y="106"/>
                    <a:pt x="446" y="242"/>
                    <a:pt x="464" y="326"/>
                  </a:cubicBezTo>
                  <a:cubicBezTo>
                    <a:pt x="440" y="461"/>
                    <a:pt x="459" y="433"/>
                    <a:pt x="318" y="421"/>
                  </a:cubicBezTo>
                  <a:cubicBezTo>
                    <a:pt x="256" y="400"/>
                    <a:pt x="225" y="395"/>
                    <a:pt x="154" y="395"/>
                  </a:cubicBezTo>
                  <a:close/>
                </a:path>
              </a:pathLst>
            </a:custGeom>
            <a:solidFill>
              <a:srgbClr val="9966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Corbel" pitchFamily="34" charset="0"/>
              </a:endParaRPr>
            </a:p>
          </p:txBody>
        </p:sp>
        <p:sp>
          <p:nvSpPr>
            <p:cNvPr id="31780" name="Freeform 1043"/>
            <p:cNvSpPr>
              <a:spLocks/>
            </p:cNvSpPr>
            <p:nvPr/>
          </p:nvSpPr>
          <p:spPr bwMode="auto">
            <a:xfrm>
              <a:off x="2708" y="2478"/>
              <a:ext cx="480" cy="457"/>
            </a:xfrm>
            <a:custGeom>
              <a:avLst/>
              <a:gdLst>
                <a:gd name="T0" fmla="*/ 568 w 369"/>
                <a:gd name="T1" fmla="*/ 446 h 453"/>
                <a:gd name="T2" fmla="*/ 540 w 369"/>
                <a:gd name="T3" fmla="*/ 428 h 453"/>
                <a:gd name="T4" fmla="*/ 496 w 369"/>
                <a:gd name="T5" fmla="*/ 420 h 453"/>
                <a:gd name="T6" fmla="*/ 467 w 369"/>
                <a:gd name="T7" fmla="*/ 392 h 453"/>
                <a:gd name="T8" fmla="*/ 423 w 369"/>
                <a:gd name="T9" fmla="*/ 383 h 453"/>
                <a:gd name="T10" fmla="*/ 379 w 369"/>
                <a:gd name="T11" fmla="*/ 366 h 453"/>
                <a:gd name="T12" fmla="*/ 263 w 369"/>
                <a:gd name="T13" fmla="*/ 297 h 453"/>
                <a:gd name="T14" fmla="*/ 176 w 369"/>
                <a:gd name="T15" fmla="*/ 227 h 453"/>
                <a:gd name="T16" fmla="*/ 131 w 369"/>
                <a:gd name="T17" fmla="*/ 218 h 453"/>
                <a:gd name="T18" fmla="*/ 44 w 369"/>
                <a:gd name="T19" fmla="*/ 164 h 453"/>
                <a:gd name="T20" fmla="*/ 16 w 369"/>
                <a:gd name="T21" fmla="*/ 113 h 453"/>
                <a:gd name="T22" fmla="*/ 0 w 369"/>
                <a:gd name="T23" fmla="*/ 87 h 453"/>
                <a:gd name="T24" fmla="*/ 190 w 369"/>
                <a:gd name="T25" fmla="*/ 33 h 453"/>
                <a:gd name="T26" fmla="*/ 437 w 369"/>
                <a:gd name="T27" fmla="*/ 156 h 453"/>
                <a:gd name="T28" fmla="*/ 496 w 369"/>
                <a:gd name="T29" fmla="*/ 209 h 453"/>
                <a:gd name="T30" fmla="*/ 597 w 369"/>
                <a:gd name="T31" fmla="*/ 306 h 453"/>
                <a:gd name="T32" fmla="*/ 568 w 369"/>
                <a:gd name="T33" fmla="*/ 446 h 45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369"/>
                <a:gd name="T52" fmla="*/ 0 h 453"/>
                <a:gd name="T53" fmla="*/ 369 w 369"/>
                <a:gd name="T54" fmla="*/ 453 h 453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369" h="453">
                  <a:moveTo>
                    <a:pt x="336" y="438"/>
                  </a:moveTo>
                  <a:cubicBezTo>
                    <a:pt x="330" y="432"/>
                    <a:pt x="326" y="424"/>
                    <a:pt x="319" y="420"/>
                  </a:cubicBezTo>
                  <a:cubicBezTo>
                    <a:pt x="311" y="415"/>
                    <a:pt x="300" y="418"/>
                    <a:pt x="293" y="412"/>
                  </a:cubicBezTo>
                  <a:cubicBezTo>
                    <a:pt x="285" y="406"/>
                    <a:pt x="284" y="393"/>
                    <a:pt x="276" y="386"/>
                  </a:cubicBezTo>
                  <a:cubicBezTo>
                    <a:pt x="269" y="380"/>
                    <a:pt x="258" y="381"/>
                    <a:pt x="250" y="377"/>
                  </a:cubicBezTo>
                  <a:cubicBezTo>
                    <a:pt x="241" y="372"/>
                    <a:pt x="232" y="367"/>
                    <a:pt x="224" y="360"/>
                  </a:cubicBezTo>
                  <a:cubicBezTo>
                    <a:pt x="199" y="339"/>
                    <a:pt x="175" y="317"/>
                    <a:pt x="155" y="291"/>
                  </a:cubicBezTo>
                  <a:cubicBezTo>
                    <a:pt x="140" y="272"/>
                    <a:pt x="122" y="238"/>
                    <a:pt x="104" y="223"/>
                  </a:cubicBezTo>
                  <a:cubicBezTo>
                    <a:pt x="97" y="217"/>
                    <a:pt x="87" y="217"/>
                    <a:pt x="78" y="214"/>
                  </a:cubicBezTo>
                  <a:cubicBezTo>
                    <a:pt x="61" y="197"/>
                    <a:pt x="34" y="185"/>
                    <a:pt x="26" y="162"/>
                  </a:cubicBezTo>
                  <a:cubicBezTo>
                    <a:pt x="20" y="145"/>
                    <a:pt x="15" y="128"/>
                    <a:pt x="9" y="111"/>
                  </a:cubicBezTo>
                  <a:cubicBezTo>
                    <a:pt x="6" y="102"/>
                    <a:pt x="0" y="85"/>
                    <a:pt x="0" y="85"/>
                  </a:cubicBezTo>
                  <a:cubicBezTo>
                    <a:pt x="15" y="0"/>
                    <a:pt x="22" y="24"/>
                    <a:pt x="112" y="33"/>
                  </a:cubicBezTo>
                  <a:cubicBezTo>
                    <a:pt x="168" y="62"/>
                    <a:pt x="219" y="104"/>
                    <a:pt x="258" y="154"/>
                  </a:cubicBezTo>
                  <a:cubicBezTo>
                    <a:pt x="271" y="170"/>
                    <a:pt x="279" y="190"/>
                    <a:pt x="293" y="205"/>
                  </a:cubicBezTo>
                  <a:cubicBezTo>
                    <a:pt x="320" y="234"/>
                    <a:pt x="340" y="263"/>
                    <a:pt x="353" y="300"/>
                  </a:cubicBezTo>
                  <a:cubicBezTo>
                    <a:pt x="366" y="453"/>
                    <a:pt x="369" y="364"/>
                    <a:pt x="336" y="438"/>
                  </a:cubicBezTo>
                  <a:close/>
                </a:path>
              </a:pathLst>
            </a:custGeom>
            <a:solidFill>
              <a:srgbClr val="FF00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Corbel" pitchFamily="34" charset="0"/>
              </a:endParaRPr>
            </a:p>
          </p:txBody>
        </p:sp>
      </p:grpSp>
      <p:sp>
        <p:nvSpPr>
          <p:cNvPr id="31754" name="Freeform 1044"/>
          <p:cNvSpPr>
            <a:spLocks/>
          </p:cNvSpPr>
          <p:nvPr/>
        </p:nvSpPr>
        <p:spPr bwMode="auto">
          <a:xfrm>
            <a:off x="3302000" y="2709863"/>
            <a:ext cx="1447800" cy="2235200"/>
          </a:xfrm>
          <a:custGeom>
            <a:avLst/>
            <a:gdLst>
              <a:gd name="T0" fmla="*/ 1993444648 w 912"/>
              <a:gd name="T1" fmla="*/ 2147483647 h 1408"/>
              <a:gd name="T2" fmla="*/ 1842235313 w 912"/>
              <a:gd name="T3" fmla="*/ 2147483647 h 1408"/>
              <a:gd name="T4" fmla="*/ 1605340292 w 912"/>
              <a:gd name="T5" fmla="*/ 2147483647 h 1408"/>
              <a:gd name="T6" fmla="*/ 1343244112 w 912"/>
              <a:gd name="T7" fmla="*/ 2147483647 h 1408"/>
              <a:gd name="T8" fmla="*/ 955140154 w 912"/>
              <a:gd name="T9" fmla="*/ 2147483647 h 1408"/>
              <a:gd name="T10" fmla="*/ 738406576 w 912"/>
              <a:gd name="T11" fmla="*/ 2147483647 h 1408"/>
              <a:gd name="T12" fmla="*/ 650200337 w 912"/>
              <a:gd name="T13" fmla="*/ 2147483647 h 1408"/>
              <a:gd name="T14" fmla="*/ 630039092 w 912"/>
              <a:gd name="T15" fmla="*/ 2147483647 h 1408"/>
              <a:gd name="T16" fmla="*/ 498991002 w 912"/>
              <a:gd name="T17" fmla="*/ 2147483647 h 1408"/>
              <a:gd name="T18" fmla="*/ 433466957 w 912"/>
              <a:gd name="T19" fmla="*/ 2111890999 h 1408"/>
              <a:gd name="T20" fmla="*/ 456149151 w 912"/>
              <a:gd name="T21" fmla="*/ 877014468 h 1408"/>
              <a:gd name="T22" fmla="*/ 262096279 w 912"/>
              <a:gd name="T23" fmla="*/ 10080625 h 1408"/>
              <a:gd name="T24" fmla="*/ 45362813 w 912"/>
              <a:gd name="T25" fmla="*/ 30241877 h 1408"/>
              <a:gd name="T26" fmla="*/ 22682200 w 912"/>
              <a:gd name="T27" fmla="*/ 118446559 h 1408"/>
              <a:gd name="T28" fmla="*/ 0 w 912"/>
              <a:gd name="T29" fmla="*/ 1244957153 h 1408"/>
              <a:gd name="T30" fmla="*/ 65524070 w 912"/>
              <a:gd name="T31" fmla="*/ 2147483647 h 1408"/>
              <a:gd name="T32" fmla="*/ 153728746 w 912"/>
              <a:gd name="T33" fmla="*/ 2147483647 h 1408"/>
              <a:gd name="T34" fmla="*/ 433466957 w 912"/>
              <a:gd name="T35" fmla="*/ 2147483647 h 1408"/>
              <a:gd name="T36" fmla="*/ 587195654 w 912"/>
              <a:gd name="T37" fmla="*/ 2147483647 h 1408"/>
              <a:gd name="T38" fmla="*/ 1257557235 w 912"/>
              <a:gd name="T39" fmla="*/ 2147483647 h 1408"/>
              <a:gd name="T40" fmla="*/ 1822074068 w 912"/>
              <a:gd name="T41" fmla="*/ 2147483647 h 1408"/>
              <a:gd name="T42" fmla="*/ 1993444648 w 912"/>
              <a:gd name="T43" fmla="*/ 2147483647 h 1408"/>
              <a:gd name="T44" fmla="*/ 2147483647 w 912"/>
              <a:gd name="T45" fmla="*/ 2147483647 h 1408"/>
              <a:gd name="T46" fmla="*/ 2147483647 w 912"/>
              <a:gd name="T47" fmla="*/ 2147483647 h 1408"/>
              <a:gd name="T48" fmla="*/ 2147483647 w 912"/>
              <a:gd name="T49" fmla="*/ 2147483647 h 1408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912"/>
              <a:gd name="T76" fmla="*/ 0 h 1408"/>
              <a:gd name="T77" fmla="*/ 912 w 912"/>
              <a:gd name="T78" fmla="*/ 1408 h 1408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912" h="1408">
                <a:moveTo>
                  <a:pt x="791" y="1130"/>
                </a:moveTo>
                <a:cubicBezTo>
                  <a:pt x="772" y="1143"/>
                  <a:pt x="750" y="1172"/>
                  <a:pt x="731" y="1182"/>
                </a:cubicBezTo>
                <a:cubicBezTo>
                  <a:pt x="707" y="1194"/>
                  <a:pt x="664" y="1201"/>
                  <a:pt x="637" y="1207"/>
                </a:cubicBezTo>
                <a:cubicBezTo>
                  <a:pt x="602" y="1204"/>
                  <a:pt x="567" y="1204"/>
                  <a:pt x="533" y="1199"/>
                </a:cubicBezTo>
                <a:cubicBezTo>
                  <a:pt x="481" y="1192"/>
                  <a:pt x="432" y="1164"/>
                  <a:pt x="379" y="1156"/>
                </a:cubicBezTo>
                <a:cubicBezTo>
                  <a:pt x="349" y="1141"/>
                  <a:pt x="321" y="1131"/>
                  <a:pt x="293" y="1113"/>
                </a:cubicBezTo>
                <a:cubicBezTo>
                  <a:pt x="283" y="1098"/>
                  <a:pt x="268" y="1086"/>
                  <a:pt x="258" y="1070"/>
                </a:cubicBezTo>
                <a:cubicBezTo>
                  <a:pt x="253" y="1062"/>
                  <a:pt x="254" y="1052"/>
                  <a:pt x="250" y="1044"/>
                </a:cubicBezTo>
                <a:cubicBezTo>
                  <a:pt x="232" y="1006"/>
                  <a:pt x="211" y="973"/>
                  <a:pt x="198" y="932"/>
                </a:cubicBezTo>
                <a:cubicBezTo>
                  <a:pt x="188" y="901"/>
                  <a:pt x="172" y="838"/>
                  <a:pt x="172" y="838"/>
                </a:cubicBezTo>
                <a:cubicBezTo>
                  <a:pt x="175" y="675"/>
                  <a:pt x="181" y="511"/>
                  <a:pt x="181" y="348"/>
                </a:cubicBezTo>
                <a:cubicBezTo>
                  <a:pt x="181" y="290"/>
                  <a:pt x="192" y="32"/>
                  <a:pt x="104" y="4"/>
                </a:cubicBezTo>
                <a:cubicBezTo>
                  <a:pt x="75" y="7"/>
                  <a:pt x="44" y="0"/>
                  <a:pt x="18" y="12"/>
                </a:cubicBezTo>
                <a:cubicBezTo>
                  <a:pt x="7" y="17"/>
                  <a:pt x="9" y="35"/>
                  <a:pt x="9" y="47"/>
                </a:cubicBezTo>
                <a:cubicBezTo>
                  <a:pt x="3" y="196"/>
                  <a:pt x="3" y="345"/>
                  <a:pt x="0" y="494"/>
                </a:cubicBezTo>
                <a:cubicBezTo>
                  <a:pt x="5" y="641"/>
                  <a:pt x="7" y="786"/>
                  <a:pt x="26" y="932"/>
                </a:cubicBezTo>
                <a:cubicBezTo>
                  <a:pt x="33" y="981"/>
                  <a:pt x="36" y="1051"/>
                  <a:pt x="61" y="1096"/>
                </a:cubicBezTo>
                <a:cubicBezTo>
                  <a:pt x="88" y="1144"/>
                  <a:pt x="128" y="1184"/>
                  <a:pt x="172" y="1216"/>
                </a:cubicBezTo>
                <a:cubicBezTo>
                  <a:pt x="246" y="1269"/>
                  <a:pt x="173" y="1201"/>
                  <a:pt x="233" y="1250"/>
                </a:cubicBezTo>
                <a:cubicBezTo>
                  <a:pt x="312" y="1314"/>
                  <a:pt x="399" y="1350"/>
                  <a:pt x="499" y="1371"/>
                </a:cubicBezTo>
                <a:cubicBezTo>
                  <a:pt x="574" y="1408"/>
                  <a:pt x="640" y="1394"/>
                  <a:pt x="723" y="1388"/>
                </a:cubicBezTo>
                <a:cubicBezTo>
                  <a:pt x="729" y="1387"/>
                  <a:pt x="779" y="1378"/>
                  <a:pt x="791" y="1371"/>
                </a:cubicBezTo>
                <a:cubicBezTo>
                  <a:pt x="832" y="1347"/>
                  <a:pt x="848" y="1297"/>
                  <a:pt x="869" y="1259"/>
                </a:cubicBezTo>
                <a:cubicBezTo>
                  <a:pt x="879" y="1241"/>
                  <a:pt x="893" y="1225"/>
                  <a:pt x="903" y="1207"/>
                </a:cubicBezTo>
                <a:cubicBezTo>
                  <a:pt x="906" y="1201"/>
                  <a:pt x="909" y="1196"/>
                  <a:pt x="912" y="1190"/>
                </a:cubicBezTo>
              </a:path>
            </a:pathLst>
          </a:custGeom>
          <a:solidFill>
            <a:srgbClr val="9966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Corbel" pitchFamily="34" charset="0"/>
            </a:endParaRPr>
          </a:p>
        </p:txBody>
      </p:sp>
      <p:sp>
        <p:nvSpPr>
          <p:cNvPr id="31755" name="Freeform 1045"/>
          <p:cNvSpPr>
            <a:spLocks/>
          </p:cNvSpPr>
          <p:nvPr/>
        </p:nvSpPr>
        <p:spPr bwMode="auto">
          <a:xfrm>
            <a:off x="4343400" y="2351088"/>
            <a:ext cx="990600" cy="1854200"/>
          </a:xfrm>
          <a:custGeom>
            <a:avLst/>
            <a:gdLst>
              <a:gd name="T0" fmla="*/ 291336733 w 849"/>
              <a:gd name="T1" fmla="*/ 146169051 h 1168"/>
              <a:gd name="T2" fmla="*/ 887624308 w 849"/>
              <a:gd name="T3" fmla="*/ 123486860 h 1168"/>
              <a:gd name="T4" fmla="*/ 1075495219 w 849"/>
              <a:gd name="T5" fmla="*/ 340221844 h 1168"/>
              <a:gd name="T6" fmla="*/ 910767471 w 849"/>
              <a:gd name="T7" fmla="*/ 1617940033 h 1168"/>
              <a:gd name="T8" fmla="*/ 701113867 w 849"/>
              <a:gd name="T9" fmla="*/ 1900197812 h 1168"/>
              <a:gd name="T10" fmla="*/ 630321574 w 849"/>
              <a:gd name="T11" fmla="*/ 1988402450 h 1168"/>
              <a:gd name="T12" fmla="*/ 548638373 w 849"/>
              <a:gd name="T13" fmla="*/ 2139611762 h 1168"/>
              <a:gd name="T14" fmla="*/ 477846080 w 849"/>
              <a:gd name="T15" fmla="*/ 2147483647 h 1168"/>
              <a:gd name="T16" fmla="*/ 454702917 w 849"/>
              <a:gd name="T17" fmla="*/ 2147483647 h 1168"/>
              <a:gd name="T18" fmla="*/ 360767461 w 849"/>
              <a:gd name="T19" fmla="*/ 2147483647 h 1168"/>
              <a:gd name="T20" fmla="*/ 291336733 w 849"/>
              <a:gd name="T21" fmla="*/ 2147483647 h 1168"/>
              <a:gd name="T22" fmla="*/ 268193570 w 849"/>
              <a:gd name="T23" fmla="*/ 2147483647 h 1168"/>
              <a:gd name="T24" fmla="*/ 232796840 w 849"/>
              <a:gd name="T25" fmla="*/ 2147483647 h 1168"/>
              <a:gd name="T26" fmla="*/ 68069037 w 849"/>
              <a:gd name="T27" fmla="*/ 2147483647 h 1168"/>
              <a:gd name="T28" fmla="*/ 151113748 w 849"/>
              <a:gd name="T29" fmla="*/ 2147483647 h 1168"/>
              <a:gd name="T30" fmla="*/ 373019861 w 849"/>
              <a:gd name="T31" fmla="*/ 1922878415 h 1168"/>
              <a:gd name="T32" fmla="*/ 594925865 w 849"/>
              <a:gd name="T33" fmla="*/ 1575096601 h 1168"/>
              <a:gd name="T34" fmla="*/ 665718304 w 849"/>
              <a:gd name="T35" fmla="*/ 1466730721 h 1168"/>
              <a:gd name="T36" fmla="*/ 747401359 w 849"/>
              <a:gd name="T37" fmla="*/ 1295360168 h 1168"/>
              <a:gd name="T38" fmla="*/ 805940085 w 849"/>
              <a:gd name="T39" fmla="*/ 1098788063 h 1168"/>
              <a:gd name="T40" fmla="*/ 688861467 w 849"/>
              <a:gd name="T41" fmla="*/ 622477738 h 1168"/>
              <a:gd name="T42" fmla="*/ 291336733 w 849"/>
              <a:gd name="T43" fmla="*/ 471268426 h 1168"/>
              <a:gd name="T44" fmla="*/ 220544440 w 849"/>
              <a:gd name="T45" fmla="*/ 297378412 h 1168"/>
              <a:gd name="T46" fmla="*/ 302227496 w 849"/>
              <a:gd name="T47" fmla="*/ 166330293 h 1168"/>
              <a:gd name="T48" fmla="*/ 349876698 w 849"/>
              <a:gd name="T49" fmla="*/ 146169051 h 1168"/>
              <a:gd name="T50" fmla="*/ 291336733 w 849"/>
              <a:gd name="T51" fmla="*/ 146169051 h 1168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849"/>
              <a:gd name="T79" fmla="*/ 0 h 1168"/>
              <a:gd name="T80" fmla="*/ 849 w 849"/>
              <a:gd name="T81" fmla="*/ 1168 h 1168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849" h="1168">
                <a:moveTo>
                  <a:pt x="214" y="58"/>
                </a:moveTo>
                <a:cubicBezTo>
                  <a:pt x="387" y="0"/>
                  <a:pt x="247" y="41"/>
                  <a:pt x="652" y="49"/>
                </a:cubicBezTo>
                <a:cubicBezTo>
                  <a:pt x="721" y="66"/>
                  <a:pt x="750" y="74"/>
                  <a:pt x="790" y="135"/>
                </a:cubicBezTo>
                <a:cubicBezTo>
                  <a:pt x="849" y="328"/>
                  <a:pt x="807" y="508"/>
                  <a:pt x="669" y="642"/>
                </a:cubicBezTo>
                <a:cubicBezTo>
                  <a:pt x="651" y="700"/>
                  <a:pt x="564" y="724"/>
                  <a:pt x="515" y="754"/>
                </a:cubicBezTo>
                <a:cubicBezTo>
                  <a:pt x="497" y="765"/>
                  <a:pt x="463" y="789"/>
                  <a:pt x="463" y="789"/>
                </a:cubicBezTo>
                <a:cubicBezTo>
                  <a:pt x="443" y="818"/>
                  <a:pt x="428" y="827"/>
                  <a:pt x="403" y="849"/>
                </a:cubicBezTo>
                <a:cubicBezTo>
                  <a:pt x="385" y="865"/>
                  <a:pt x="364" y="880"/>
                  <a:pt x="351" y="900"/>
                </a:cubicBezTo>
                <a:cubicBezTo>
                  <a:pt x="345" y="909"/>
                  <a:pt x="341" y="918"/>
                  <a:pt x="334" y="926"/>
                </a:cubicBezTo>
                <a:cubicBezTo>
                  <a:pt x="313" y="951"/>
                  <a:pt x="283" y="968"/>
                  <a:pt x="265" y="995"/>
                </a:cubicBezTo>
                <a:cubicBezTo>
                  <a:pt x="248" y="1021"/>
                  <a:pt x="224" y="1043"/>
                  <a:pt x="214" y="1072"/>
                </a:cubicBezTo>
                <a:cubicBezTo>
                  <a:pt x="208" y="1089"/>
                  <a:pt x="210" y="1111"/>
                  <a:pt x="197" y="1124"/>
                </a:cubicBezTo>
                <a:cubicBezTo>
                  <a:pt x="191" y="1130"/>
                  <a:pt x="180" y="1129"/>
                  <a:pt x="171" y="1132"/>
                </a:cubicBezTo>
                <a:cubicBezTo>
                  <a:pt x="137" y="1168"/>
                  <a:pt x="92" y="1137"/>
                  <a:pt x="50" y="1124"/>
                </a:cubicBezTo>
                <a:cubicBezTo>
                  <a:pt x="0" y="1048"/>
                  <a:pt x="47" y="977"/>
                  <a:pt x="111" y="935"/>
                </a:cubicBezTo>
                <a:cubicBezTo>
                  <a:pt x="157" y="865"/>
                  <a:pt x="184" y="784"/>
                  <a:pt x="274" y="763"/>
                </a:cubicBezTo>
                <a:cubicBezTo>
                  <a:pt x="328" y="722"/>
                  <a:pt x="375" y="646"/>
                  <a:pt x="437" y="625"/>
                </a:cubicBezTo>
                <a:cubicBezTo>
                  <a:pt x="453" y="609"/>
                  <a:pt x="474" y="599"/>
                  <a:pt x="489" y="582"/>
                </a:cubicBezTo>
                <a:cubicBezTo>
                  <a:pt x="559" y="503"/>
                  <a:pt x="490" y="552"/>
                  <a:pt x="549" y="514"/>
                </a:cubicBezTo>
                <a:cubicBezTo>
                  <a:pt x="588" y="454"/>
                  <a:pt x="576" y="482"/>
                  <a:pt x="592" y="436"/>
                </a:cubicBezTo>
                <a:cubicBezTo>
                  <a:pt x="582" y="276"/>
                  <a:pt x="621" y="277"/>
                  <a:pt x="506" y="247"/>
                </a:cubicBezTo>
                <a:cubicBezTo>
                  <a:pt x="423" y="193"/>
                  <a:pt x="310" y="196"/>
                  <a:pt x="214" y="187"/>
                </a:cubicBezTo>
                <a:cubicBezTo>
                  <a:pt x="175" y="174"/>
                  <a:pt x="172" y="157"/>
                  <a:pt x="162" y="118"/>
                </a:cubicBezTo>
                <a:cubicBezTo>
                  <a:pt x="173" y="85"/>
                  <a:pt x="188" y="75"/>
                  <a:pt x="222" y="66"/>
                </a:cubicBezTo>
                <a:cubicBezTo>
                  <a:pt x="234" y="63"/>
                  <a:pt x="265" y="66"/>
                  <a:pt x="257" y="58"/>
                </a:cubicBezTo>
                <a:cubicBezTo>
                  <a:pt x="247" y="48"/>
                  <a:pt x="228" y="58"/>
                  <a:pt x="214" y="58"/>
                </a:cubicBezTo>
                <a:close/>
              </a:path>
            </a:pathLst>
          </a:custGeom>
          <a:solidFill>
            <a:srgbClr val="FF00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Corbel" pitchFamily="34" charset="0"/>
            </a:endParaRPr>
          </a:p>
        </p:txBody>
      </p:sp>
      <p:sp>
        <p:nvSpPr>
          <p:cNvPr id="31756" name="Oval 1046"/>
          <p:cNvSpPr>
            <a:spLocks noChangeArrowheads="1"/>
          </p:cNvSpPr>
          <p:nvPr/>
        </p:nvSpPr>
        <p:spPr bwMode="auto">
          <a:xfrm>
            <a:off x="3536950" y="5751513"/>
            <a:ext cx="1447800" cy="6492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Corbel" pitchFamily="34" charset="0"/>
              </a:rPr>
              <a:t>tissue</a:t>
            </a:r>
          </a:p>
        </p:txBody>
      </p:sp>
      <p:sp>
        <p:nvSpPr>
          <p:cNvPr id="31757" name="Freeform 1047"/>
          <p:cNvSpPr>
            <a:spLocks/>
          </p:cNvSpPr>
          <p:nvPr/>
        </p:nvSpPr>
        <p:spPr bwMode="auto">
          <a:xfrm>
            <a:off x="3106738" y="4845050"/>
            <a:ext cx="195262" cy="695325"/>
          </a:xfrm>
          <a:custGeom>
            <a:avLst/>
            <a:gdLst>
              <a:gd name="T0" fmla="*/ 73083557 w 123"/>
              <a:gd name="T1" fmla="*/ 1103828527 h 438"/>
              <a:gd name="T2" fmla="*/ 246974718 w 123"/>
              <a:gd name="T3" fmla="*/ 85685313 h 438"/>
              <a:gd name="T4" fmla="*/ 309977654 w 123"/>
              <a:gd name="T5" fmla="*/ 0 h 438"/>
              <a:gd name="T6" fmla="*/ 0 60000 65536"/>
              <a:gd name="T7" fmla="*/ 0 60000 65536"/>
              <a:gd name="T8" fmla="*/ 0 60000 65536"/>
              <a:gd name="T9" fmla="*/ 0 w 123"/>
              <a:gd name="T10" fmla="*/ 0 h 438"/>
              <a:gd name="T11" fmla="*/ 123 w 123"/>
              <a:gd name="T12" fmla="*/ 438 h 43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3" h="438">
                <a:moveTo>
                  <a:pt x="29" y="438"/>
                </a:moveTo>
                <a:cubicBezTo>
                  <a:pt x="67" y="333"/>
                  <a:pt x="0" y="132"/>
                  <a:pt x="98" y="34"/>
                </a:cubicBezTo>
                <a:cubicBezTo>
                  <a:pt x="108" y="3"/>
                  <a:pt x="98" y="13"/>
                  <a:pt x="123" y="0"/>
                </a:cubicBezTo>
              </a:path>
            </a:pathLst>
          </a:custGeom>
          <a:noFill/>
          <a:ln w="38100">
            <a:solidFill>
              <a:srgbClr val="CCFF33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en-US">
              <a:latin typeface="Corbel" pitchFamily="34" charset="0"/>
            </a:endParaRPr>
          </a:p>
        </p:txBody>
      </p:sp>
      <p:sp>
        <p:nvSpPr>
          <p:cNvPr id="31758" name="Freeform 1048"/>
          <p:cNvSpPr>
            <a:spLocks/>
          </p:cNvSpPr>
          <p:nvPr/>
        </p:nvSpPr>
        <p:spPr bwMode="auto">
          <a:xfrm>
            <a:off x="3451225" y="3916363"/>
            <a:ext cx="669925" cy="860425"/>
          </a:xfrm>
          <a:custGeom>
            <a:avLst/>
            <a:gdLst>
              <a:gd name="T0" fmla="*/ 1063506027 w 422"/>
              <a:gd name="T1" fmla="*/ 1365924469 h 542"/>
              <a:gd name="T2" fmla="*/ 718245316 w 422"/>
              <a:gd name="T3" fmla="*/ 1171871732 h 542"/>
              <a:gd name="T4" fmla="*/ 196572180 w 422"/>
              <a:gd name="T5" fmla="*/ 889614359 h 542"/>
              <a:gd name="T6" fmla="*/ 88206262 w 422"/>
              <a:gd name="T7" fmla="*/ 758566094 h 542"/>
              <a:gd name="T8" fmla="*/ 45362812 w 422"/>
              <a:gd name="T9" fmla="*/ 630038977 h 542"/>
              <a:gd name="T10" fmla="*/ 25201561 w 422"/>
              <a:gd name="T11" fmla="*/ 0 h 54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22"/>
              <a:gd name="T19" fmla="*/ 0 h 542"/>
              <a:gd name="T20" fmla="*/ 422 w 422"/>
              <a:gd name="T21" fmla="*/ 542 h 54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22" h="542">
                <a:moveTo>
                  <a:pt x="422" y="542"/>
                </a:moveTo>
                <a:cubicBezTo>
                  <a:pt x="385" y="503"/>
                  <a:pt x="336" y="481"/>
                  <a:pt x="285" y="465"/>
                </a:cubicBezTo>
                <a:cubicBezTo>
                  <a:pt x="223" y="422"/>
                  <a:pt x="146" y="386"/>
                  <a:pt x="78" y="353"/>
                </a:cubicBezTo>
                <a:cubicBezTo>
                  <a:pt x="67" y="337"/>
                  <a:pt x="45" y="316"/>
                  <a:pt x="35" y="301"/>
                </a:cubicBezTo>
                <a:cubicBezTo>
                  <a:pt x="25" y="286"/>
                  <a:pt x="24" y="267"/>
                  <a:pt x="18" y="250"/>
                </a:cubicBezTo>
                <a:cubicBezTo>
                  <a:pt x="0" y="133"/>
                  <a:pt x="10" y="216"/>
                  <a:pt x="10" y="0"/>
                </a:cubicBezTo>
              </a:path>
            </a:pathLst>
          </a:custGeom>
          <a:noFill/>
          <a:ln w="38100">
            <a:solidFill>
              <a:srgbClr val="CCFF33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en-US">
              <a:latin typeface="Corbel" pitchFamily="34" charset="0"/>
            </a:endParaRPr>
          </a:p>
        </p:txBody>
      </p:sp>
      <p:sp>
        <p:nvSpPr>
          <p:cNvPr id="31759" name="Freeform 1049"/>
          <p:cNvSpPr>
            <a:spLocks/>
          </p:cNvSpPr>
          <p:nvPr/>
        </p:nvSpPr>
        <p:spPr bwMode="auto">
          <a:xfrm>
            <a:off x="4591050" y="3429000"/>
            <a:ext cx="285750" cy="449263"/>
          </a:xfrm>
          <a:custGeom>
            <a:avLst/>
            <a:gdLst>
              <a:gd name="T0" fmla="*/ 453628170 w 180"/>
              <a:gd name="T1" fmla="*/ 0 h 283"/>
              <a:gd name="T2" fmla="*/ 367942787 w 180"/>
              <a:gd name="T3" fmla="*/ 108367636 h 283"/>
              <a:gd name="T4" fmla="*/ 345262182 w 180"/>
              <a:gd name="T5" fmla="*/ 171370791 h 283"/>
              <a:gd name="T6" fmla="*/ 259575311 w 180"/>
              <a:gd name="T7" fmla="*/ 279738427 h 283"/>
              <a:gd name="T8" fmla="*/ 128527181 w 180"/>
              <a:gd name="T9" fmla="*/ 476310848 h 283"/>
              <a:gd name="T10" fmla="*/ 63003116 w 180"/>
              <a:gd name="T11" fmla="*/ 584676847 h 283"/>
              <a:gd name="T12" fmla="*/ 42843448 w 180"/>
              <a:gd name="T13" fmla="*/ 650200954 h 283"/>
              <a:gd name="T14" fmla="*/ 0 w 180"/>
              <a:gd name="T15" fmla="*/ 713205697 h 28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80"/>
              <a:gd name="T25" fmla="*/ 0 h 283"/>
              <a:gd name="T26" fmla="*/ 180 w 180"/>
              <a:gd name="T27" fmla="*/ 283 h 283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80" h="283">
                <a:moveTo>
                  <a:pt x="180" y="0"/>
                </a:moveTo>
                <a:cubicBezTo>
                  <a:pt x="170" y="15"/>
                  <a:pt x="155" y="27"/>
                  <a:pt x="146" y="43"/>
                </a:cubicBezTo>
                <a:cubicBezTo>
                  <a:pt x="141" y="51"/>
                  <a:pt x="142" y="60"/>
                  <a:pt x="137" y="68"/>
                </a:cubicBezTo>
                <a:cubicBezTo>
                  <a:pt x="95" y="137"/>
                  <a:pt x="147" y="25"/>
                  <a:pt x="103" y="111"/>
                </a:cubicBezTo>
                <a:cubicBezTo>
                  <a:pt x="86" y="144"/>
                  <a:pt x="78" y="162"/>
                  <a:pt x="51" y="189"/>
                </a:cubicBezTo>
                <a:cubicBezTo>
                  <a:pt x="29" y="262"/>
                  <a:pt x="61" y="173"/>
                  <a:pt x="25" y="232"/>
                </a:cubicBezTo>
                <a:cubicBezTo>
                  <a:pt x="20" y="240"/>
                  <a:pt x="21" y="250"/>
                  <a:pt x="17" y="258"/>
                </a:cubicBezTo>
                <a:cubicBezTo>
                  <a:pt x="13" y="267"/>
                  <a:pt x="0" y="283"/>
                  <a:pt x="0" y="283"/>
                </a:cubicBezTo>
              </a:path>
            </a:pathLst>
          </a:custGeom>
          <a:noFill/>
          <a:ln w="38100">
            <a:solidFill>
              <a:srgbClr val="CCFF33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en-US">
              <a:latin typeface="Corbel" pitchFamily="34" charset="0"/>
            </a:endParaRPr>
          </a:p>
        </p:txBody>
      </p:sp>
      <p:sp>
        <p:nvSpPr>
          <p:cNvPr id="31760" name="Freeform 1050"/>
          <p:cNvSpPr>
            <a:spLocks/>
          </p:cNvSpPr>
          <p:nvPr/>
        </p:nvSpPr>
        <p:spPr bwMode="auto">
          <a:xfrm>
            <a:off x="5172075" y="4244975"/>
            <a:ext cx="504825" cy="987425"/>
          </a:xfrm>
          <a:custGeom>
            <a:avLst/>
            <a:gdLst>
              <a:gd name="T0" fmla="*/ 0 w 318"/>
              <a:gd name="T1" fmla="*/ 0 h 622"/>
              <a:gd name="T2" fmla="*/ 476308753 w 318"/>
              <a:gd name="T3" fmla="*/ 63003113 h 622"/>
              <a:gd name="T4" fmla="*/ 715724299 w 318"/>
              <a:gd name="T5" fmla="*/ 216733452 h 622"/>
              <a:gd name="T6" fmla="*/ 801409578 w 318"/>
              <a:gd name="T7" fmla="*/ 778728968 h 622"/>
              <a:gd name="T8" fmla="*/ 758567732 w 318"/>
              <a:gd name="T9" fmla="*/ 1343243945 h 622"/>
              <a:gd name="T10" fmla="*/ 738406490 w 318"/>
              <a:gd name="T11" fmla="*/ 1494453260 h 62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18"/>
              <a:gd name="T19" fmla="*/ 0 h 622"/>
              <a:gd name="T20" fmla="*/ 318 w 318"/>
              <a:gd name="T21" fmla="*/ 622 h 62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18" h="622">
                <a:moveTo>
                  <a:pt x="0" y="0"/>
                </a:moveTo>
                <a:cubicBezTo>
                  <a:pt x="77" y="5"/>
                  <a:pt x="119" y="14"/>
                  <a:pt x="189" y="25"/>
                </a:cubicBezTo>
                <a:cubicBezTo>
                  <a:pt x="240" y="43"/>
                  <a:pt x="248" y="48"/>
                  <a:pt x="284" y="86"/>
                </a:cubicBezTo>
                <a:cubicBezTo>
                  <a:pt x="310" y="159"/>
                  <a:pt x="312" y="232"/>
                  <a:pt x="318" y="309"/>
                </a:cubicBezTo>
                <a:cubicBezTo>
                  <a:pt x="312" y="404"/>
                  <a:pt x="310" y="442"/>
                  <a:pt x="301" y="533"/>
                </a:cubicBezTo>
                <a:cubicBezTo>
                  <a:pt x="293" y="617"/>
                  <a:pt x="293" y="622"/>
                  <a:pt x="293" y="593"/>
                </a:cubicBezTo>
              </a:path>
            </a:pathLst>
          </a:custGeom>
          <a:noFill/>
          <a:ln w="38100">
            <a:solidFill>
              <a:srgbClr val="CCFF33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en-US">
              <a:latin typeface="Corbel" pitchFamily="34" charset="0"/>
            </a:endParaRPr>
          </a:p>
        </p:txBody>
      </p:sp>
      <p:sp>
        <p:nvSpPr>
          <p:cNvPr id="31761" name="Freeform 1051"/>
          <p:cNvSpPr>
            <a:spLocks/>
          </p:cNvSpPr>
          <p:nvPr/>
        </p:nvSpPr>
        <p:spPr bwMode="auto">
          <a:xfrm>
            <a:off x="3316288" y="2401888"/>
            <a:ext cx="1296987" cy="492125"/>
          </a:xfrm>
          <a:custGeom>
            <a:avLst/>
            <a:gdLst>
              <a:gd name="T0" fmla="*/ 367942660 w 817"/>
              <a:gd name="T1" fmla="*/ 758567725 h 310"/>
              <a:gd name="T2" fmla="*/ 390623257 w 817"/>
              <a:gd name="T3" fmla="*/ 584676218 h 310"/>
              <a:gd name="T4" fmla="*/ 672880663 w 817"/>
              <a:gd name="T5" fmla="*/ 476308748 h 310"/>
              <a:gd name="T6" fmla="*/ 1907756976 w 817"/>
              <a:gd name="T7" fmla="*/ 456147506 h 310"/>
              <a:gd name="T8" fmla="*/ 2058966247 w 817"/>
              <a:gd name="T9" fmla="*/ 131048123 h 310"/>
              <a:gd name="T10" fmla="*/ 1907756976 w 817"/>
              <a:gd name="T11" fmla="*/ 0 h 310"/>
              <a:gd name="T12" fmla="*/ 456147374 w 817"/>
              <a:gd name="T13" fmla="*/ 65524062 h 310"/>
              <a:gd name="T14" fmla="*/ 239413985 w 817"/>
              <a:gd name="T15" fmla="*/ 173891556 h 310"/>
              <a:gd name="T16" fmla="*/ 0 w 817"/>
              <a:gd name="T17" fmla="*/ 390624958 h 310"/>
              <a:gd name="T18" fmla="*/ 22680603 w 817"/>
              <a:gd name="T19" fmla="*/ 564514976 h 310"/>
              <a:gd name="T20" fmla="*/ 347781424 w 817"/>
              <a:gd name="T21" fmla="*/ 781248328 h 310"/>
              <a:gd name="T22" fmla="*/ 390623257 w 817"/>
              <a:gd name="T23" fmla="*/ 627518064 h 31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817"/>
              <a:gd name="T37" fmla="*/ 0 h 310"/>
              <a:gd name="T38" fmla="*/ 817 w 817"/>
              <a:gd name="T39" fmla="*/ 310 h 31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817" h="310">
                <a:moveTo>
                  <a:pt x="146" y="301"/>
                </a:moveTo>
                <a:cubicBezTo>
                  <a:pt x="149" y="278"/>
                  <a:pt x="146" y="253"/>
                  <a:pt x="155" y="232"/>
                </a:cubicBezTo>
                <a:cubicBezTo>
                  <a:pt x="165" y="207"/>
                  <a:pt x="249" y="192"/>
                  <a:pt x="267" y="189"/>
                </a:cubicBezTo>
                <a:cubicBezTo>
                  <a:pt x="431" y="199"/>
                  <a:pt x="593" y="192"/>
                  <a:pt x="757" y="181"/>
                </a:cubicBezTo>
                <a:cubicBezTo>
                  <a:pt x="793" y="143"/>
                  <a:pt x="800" y="100"/>
                  <a:pt x="817" y="52"/>
                </a:cubicBezTo>
                <a:cubicBezTo>
                  <a:pt x="804" y="0"/>
                  <a:pt x="803" y="17"/>
                  <a:pt x="757" y="0"/>
                </a:cubicBezTo>
                <a:cubicBezTo>
                  <a:pt x="564" y="17"/>
                  <a:pt x="376" y="21"/>
                  <a:pt x="181" y="26"/>
                </a:cubicBezTo>
                <a:cubicBezTo>
                  <a:pt x="129" y="38"/>
                  <a:pt x="135" y="38"/>
                  <a:pt x="95" y="69"/>
                </a:cubicBezTo>
                <a:cubicBezTo>
                  <a:pt x="52" y="102"/>
                  <a:pt x="30" y="109"/>
                  <a:pt x="0" y="155"/>
                </a:cubicBezTo>
                <a:cubicBezTo>
                  <a:pt x="3" y="178"/>
                  <a:pt x="1" y="202"/>
                  <a:pt x="9" y="224"/>
                </a:cubicBezTo>
                <a:cubicBezTo>
                  <a:pt x="20" y="256"/>
                  <a:pt x="101" y="297"/>
                  <a:pt x="138" y="310"/>
                </a:cubicBezTo>
                <a:cubicBezTo>
                  <a:pt x="165" y="282"/>
                  <a:pt x="155" y="300"/>
                  <a:pt x="155" y="249"/>
                </a:cubicBezTo>
              </a:path>
            </a:pathLst>
          </a:custGeom>
          <a:gradFill rotWithShape="0">
            <a:gsLst>
              <a:gs pos="0">
                <a:srgbClr val="9966FF"/>
              </a:gs>
              <a:gs pos="100000">
                <a:srgbClr val="FF00FF"/>
              </a:gs>
            </a:gsLst>
            <a:lin ang="0" scaled="1"/>
          </a:gra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Corbel" pitchFamily="34" charset="0"/>
            </a:endParaRPr>
          </a:p>
        </p:txBody>
      </p:sp>
      <p:sp>
        <p:nvSpPr>
          <p:cNvPr id="31762" name="Freeform 1052"/>
          <p:cNvSpPr>
            <a:spLocks/>
          </p:cNvSpPr>
          <p:nvPr/>
        </p:nvSpPr>
        <p:spPr bwMode="auto">
          <a:xfrm>
            <a:off x="3505200" y="2286000"/>
            <a:ext cx="76200" cy="304800"/>
          </a:xfrm>
          <a:custGeom>
            <a:avLst/>
            <a:gdLst>
              <a:gd name="T0" fmla="*/ 0 w 144"/>
              <a:gd name="T1" fmla="*/ 322579996 h 288"/>
              <a:gd name="T2" fmla="*/ 13440832 w 144"/>
              <a:gd name="T3" fmla="*/ 107526654 h 288"/>
              <a:gd name="T4" fmla="*/ 40322499 w 144"/>
              <a:gd name="T5" fmla="*/ 0 h 288"/>
              <a:gd name="T6" fmla="*/ 0 60000 65536"/>
              <a:gd name="T7" fmla="*/ 0 60000 65536"/>
              <a:gd name="T8" fmla="*/ 0 60000 65536"/>
              <a:gd name="T9" fmla="*/ 0 w 144"/>
              <a:gd name="T10" fmla="*/ 0 h 288"/>
              <a:gd name="T11" fmla="*/ 144 w 144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" h="288">
                <a:moveTo>
                  <a:pt x="0" y="288"/>
                </a:moveTo>
                <a:cubicBezTo>
                  <a:pt x="12" y="216"/>
                  <a:pt x="24" y="144"/>
                  <a:pt x="48" y="96"/>
                </a:cubicBezTo>
                <a:cubicBezTo>
                  <a:pt x="72" y="48"/>
                  <a:pt x="128" y="16"/>
                  <a:pt x="144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en-US">
              <a:latin typeface="Corbel" pitchFamily="34" charset="0"/>
            </a:endParaRPr>
          </a:p>
        </p:txBody>
      </p:sp>
      <p:sp>
        <p:nvSpPr>
          <p:cNvPr id="31763" name="Text Box 1053"/>
          <p:cNvSpPr txBox="1">
            <a:spLocks noChangeArrowheads="1"/>
          </p:cNvSpPr>
          <p:nvPr/>
        </p:nvSpPr>
        <p:spPr bwMode="auto">
          <a:xfrm>
            <a:off x="3276600" y="1905000"/>
            <a:ext cx="768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CO2</a:t>
            </a:r>
          </a:p>
        </p:txBody>
      </p:sp>
      <p:sp>
        <p:nvSpPr>
          <p:cNvPr id="31764" name="Text Box 1054"/>
          <p:cNvSpPr txBox="1">
            <a:spLocks noChangeArrowheads="1"/>
          </p:cNvSpPr>
          <p:nvPr/>
        </p:nvSpPr>
        <p:spPr bwMode="auto">
          <a:xfrm>
            <a:off x="4572000" y="1828800"/>
            <a:ext cx="5476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O2</a:t>
            </a:r>
          </a:p>
        </p:txBody>
      </p:sp>
      <p:sp>
        <p:nvSpPr>
          <p:cNvPr id="31765" name="Freeform 1055"/>
          <p:cNvSpPr>
            <a:spLocks/>
          </p:cNvSpPr>
          <p:nvPr/>
        </p:nvSpPr>
        <p:spPr bwMode="auto">
          <a:xfrm flipV="1">
            <a:off x="4648200" y="2209800"/>
            <a:ext cx="76200" cy="304800"/>
          </a:xfrm>
          <a:custGeom>
            <a:avLst/>
            <a:gdLst>
              <a:gd name="T0" fmla="*/ 0 w 144"/>
              <a:gd name="T1" fmla="*/ 322579996 h 288"/>
              <a:gd name="T2" fmla="*/ 13440832 w 144"/>
              <a:gd name="T3" fmla="*/ 107526654 h 288"/>
              <a:gd name="T4" fmla="*/ 40322499 w 144"/>
              <a:gd name="T5" fmla="*/ 0 h 288"/>
              <a:gd name="T6" fmla="*/ 0 60000 65536"/>
              <a:gd name="T7" fmla="*/ 0 60000 65536"/>
              <a:gd name="T8" fmla="*/ 0 60000 65536"/>
              <a:gd name="T9" fmla="*/ 0 w 144"/>
              <a:gd name="T10" fmla="*/ 0 h 288"/>
              <a:gd name="T11" fmla="*/ 144 w 144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" h="288">
                <a:moveTo>
                  <a:pt x="0" y="288"/>
                </a:moveTo>
                <a:cubicBezTo>
                  <a:pt x="12" y="216"/>
                  <a:pt x="24" y="144"/>
                  <a:pt x="48" y="96"/>
                </a:cubicBezTo>
                <a:cubicBezTo>
                  <a:pt x="72" y="48"/>
                  <a:pt x="128" y="16"/>
                  <a:pt x="144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en-US">
              <a:latin typeface="Corbel" pitchFamily="34" charset="0"/>
            </a:endParaRPr>
          </a:p>
        </p:txBody>
      </p:sp>
      <p:sp>
        <p:nvSpPr>
          <p:cNvPr id="31766" name="Text Box 1056"/>
          <p:cNvSpPr txBox="1">
            <a:spLocks noChangeArrowheads="1"/>
          </p:cNvSpPr>
          <p:nvPr/>
        </p:nvSpPr>
        <p:spPr bwMode="auto">
          <a:xfrm>
            <a:off x="2057400" y="3429000"/>
            <a:ext cx="2492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31767" name="Text Box 1057"/>
          <p:cNvSpPr txBox="1">
            <a:spLocks noChangeArrowheads="1"/>
          </p:cNvSpPr>
          <p:nvPr/>
        </p:nvSpPr>
        <p:spPr bwMode="auto">
          <a:xfrm>
            <a:off x="4375150" y="4510088"/>
            <a:ext cx="5016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RV</a:t>
            </a:r>
          </a:p>
        </p:txBody>
      </p:sp>
      <p:sp>
        <p:nvSpPr>
          <p:cNvPr id="31768" name="Freeform 1058"/>
          <p:cNvSpPr>
            <a:spLocks/>
          </p:cNvSpPr>
          <p:nvPr/>
        </p:nvSpPr>
        <p:spPr bwMode="auto">
          <a:xfrm>
            <a:off x="4452938" y="4086225"/>
            <a:ext cx="423862" cy="306388"/>
          </a:xfrm>
          <a:custGeom>
            <a:avLst/>
            <a:gdLst>
              <a:gd name="T0" fmla="*/ 166330090 w 267"/>
              <a:gd name="T1" fmla="*/ 408265949 h 193"/>
              <a:gd name="T2" fmla="*/ 393143831 w 267"/>
              <a:gd name="T3" fmla="*/ 317540204 h 193"/>
              <a:gd name="T4" fmla="*/ 574594883 w 267"/>
              <a:gd name="T5" fmla="*/ 226814460 h 193"/>
              <a:gd name="T6" fmla="*/ 665320359 w 267"/>
              <a:gd name="T7" fmla="*/ 0 h 193"/>
              <a:gd name="T8" fmla="*/ 0 60000 65536"/>
              <a:gd name="T9" fmla="*/ 0 60000 65536"/>
              <a:gd name="T10" fmla="*/ 0 60000 65536"/>
              <a:gd name="T11" fmla="*/ 0 60000 65536"/>
              <a:gd name="T12" fmla="*/ 0 w 267"/>
              <a:gd name="T13" fmla="*/ 0 h 193"/>
              <a:gd name="T14" fmla="*/ 267 w 267"/>
              <a:gd name="T15" fmla="*/ 193 h 19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7" h="193">
                <a:moveTo>
                  <a:pt x="66" y="162"/>
                </a:moveTo>
                <a:cubicBezTo>
                  <a:pt x="182" y="104"/>
                  <a:pt x="0" y="193"/>
                  <a:pt x="156" y="126"/>
                </a:cubicBezTo>
                <a:cubicBezTo>
                  <a:pt x="181" y="115"/>
                  <a:pt x="228" y="90"/>
                  <a:pt x="228" y="90"/>
                </a:cubicBezTo>
                <a:cubicBezTo>
                  <a:pt x="267" y="13"/>
                  <a:pt x="264" y="45"/>
                  <a:pt x="26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Corbel" pitchFamily="34" charset="0"/>
            </a:endParaRPr>
          </a:p>
        </p:txBody>
      </p:sp>
      <p:sp>
        <p:nvSpPr>
          <p:cNvPr id="31769" name="Freeform 1059"/>
          <p:cNvSpPr>
            <a:spLocks/>
          </p:cNvSpPr>
          <p:nvPr/>
        </p:nvSpPr>
        <p:spPr bwMode="auto">
          <a:xfrm>
            <a:off x="4186238" y="4286250"/>
            <a:ext cx="228600" cy="285750"/>
          </a:xfrm>
          <a:custGeom>
            <a:avLst/>
            <a:gdLst>
              <a:gd name="T0" fmla="*/ 362902445 w 144"/>
              <a:gd name="T1" fmla="*/ 0 h 180"/>
              <a:gd name="T2" fmla="*/ 226814066 w 144"/>
              <a:gd name="T3" fmla="*/ 317539679 h 180"/>
              <a:gd name="T4" fmla="*/ 0 w 144"/>
              <a:gd name="T5" fmla="*/ 453628170 h 180"/>
              <a:gd name="T6" fmla="*/ 0 60000 65536"/>
              <a:gd name="T7" fmla="*/ 0 60000 65536"/>
              <a:gd name="T8" fmla="*/ 0 60000 65536"/>
              <a:gd name="T9" fmla="*/ 0 w 144"/>
              <a:gd name="T10" fmla="*/ 0 h 180"/>
              <a:gd name="T11" fmla="*/ 144 w 144"/>
              <a:gd name="T12" fmla="*/ 180 h 1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" h="180">
                <a:moveTo>
                  <a:pt x="144" y="0"/>
                </a:moveTo>
                <a:cubicBezTo>
                  <a:pt x="118" y="79"/>
                  <a:pt x="134" y="37"/>
                  <a:pt x="90" y="126"/>
                </a:cubicBezTo>
                <a:cubicBezTo>
                  <a:pt x="74" y="157"/>
                  <a:pt x="25" y="155"/>
                  <a:pt x="0" y="18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Corbel" pitchFamily="34" charset="0"/>
            </a:endParaRPr>
          </a:p>
        </p:txBody>
      </p:sp>
      <p:sp>
        <p:nvSpPr>
          <p:cNvPr id="31770" name="Text Box 1060"/>
          <p:cNvSpPr txBox="1">
            <a:spLocks noChangeArrowheads="1"/>
          </p:cNvSpPr>
          <p:nvPr/>
        </p:nvSpPr>
        <p:spPr bwMode="auto">
          <a:xfrm>
            <a:off x="4311650" y="3962400"/>
            <a:ext cx="4889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LA</a:t>
            </a:r>
          </a:p>
        </p:txBody>
      </p:sp>
      <p:sp>
        <p:nvSpPr>
          <p:cNvPr id="31771" name="Text Box 1061"/>
          <p:cNvSpPr txBox="1">
            <a:spLocks noChangeArrowheads="1"/>
          </p:cNvSpPr>
          <p:nvPr/>
        </p:nvSpPr>
        <p:spPr bwMode="auto">
          <a:xfrm>
            <a:off x="5791200" y="2286000"/>
            <a:ext cx="14287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Pulmonary </a:t>
            </a:r>
          </a:p>
          <a:p>
            <a:r>
              <a:rPr lang="en-US" b="1">
                <a:solidFill>
                  <a:srgbClr val="FFFF00"/>
                </a:solidFill>
              </a:rPr>
              <a:t>capillaries </a:t>
            </a:r>
          </a:p>
        </p:txBody>
      </p:sp>
      <p:sp>
        <p:nvSpPr>
          <p:cNvPr id="31772" name="Line 1062"/>
          <p:cNvSpPr>
            <a:spLocks noChangeShapeType="1"/>
          </p:cNvSpPr>
          <p:nvPr/>
        </p:nvSpPr>
        <p:spPr bwMode="auto">
          <a:xfrm>
            <a:off x="4267200" y="25908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arrow" w="med" len="med"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1773" name="Text Box 1063"/>
          <p:cNvSpPr txBox="1">
            <a:spLocks noChangeArrowheads="1"/>
          </p:cNvSpPr>
          <p:nvPr/>
        </p:nvSpPr>
        <p:spPr bwMode="auto">
          <a:xfrm>
            <a:off x="0" y="5943600"/>
            <a:ext cx="2460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FF00"/>
                </a:solidFill>
                <a:latin typeface="Corbel" pitchFamily="34" charset="0"/>
              </a:rPr>
              <a:t>.</a:t>
            </a:r>
          </a:p>
        </p:txBody>
      </p:sp>
      <p:sp>
        <p:nvSpPr>
          <p:cNvPr id="31774" name="Text Box 1064"/>
          <p:cNvSpPr txBox="1">
            <a:spLocks noChangeArrowheads="1"/>
          </p:cNvSpPr>
          <p:nvPr/>
        </p:nvSpPr>
        <p:spPr bwMode="auto">
          <a:xfrm>
            <a:off x="5105400" y="3505200"/>
            <a:ext cx="2492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31775" name="Text Box 1065"/>
          <p:cNvSpPr txBox="1">
            <a:spLocks noChangeArrowheads="1"/>
          </p:cNvSpPr>
          <p:nvPr/>
        </p:nvSpPr>
        <p:spPr bwMode="auto">
          <a:xfrm>
            <a:off x="5753100" y="4129088"/>
            <a:ext cx="24923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31776" name="Text Box 1067"/>
          <p:cNvSpPr txBox="1">
            <a:spLocks noChangeArrowheads="1"/>
          </p:cNvSpPr>
          <p:nvPr/>
        </p:nvSpPr>
        <p:spPr bwMode="auto">
          <a:xfrm>
            <a:off x="2362200" y="4572000"/>
            <a:ext cx="10033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31778" name="Content Placeholder 49"/>
          <p:cNvSpPr>
            <a:spLocks noGrp="1"/>
          </p:cNvSpPr>
          <p:nvPr>
            <p:ph idx="1"/>
          </p:nvPr>
        </p:nvSpPr>
        <p:spPr>
          <a:xfrm>
            <a:off x="914400" y="457200"/>
            <a:ext cx="7772400" cy="6248400"/>
          </a:xfrm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mtClean="0"/>
          </a:p>
        </p:txBody>
      </p:sp>
      <p:pic>
        <p:nvPicPr>
          <p:cNvPr id="26628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حركة">
  <a:themeElements>
    <a:clrScheme name="حركة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حركة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حركة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انقلاب">
  <a:themeElements>
    <a:clrScheme name="انقلاب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انقلاب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انقلاب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166</TotalTime>
  <Words>407</Words>
  <Application>Microsoft Office PowerPoint</Application>
  <PresentationFormat>On-screen Show (4:3)</PresentationFormat>
  <Paragraphs>78</Paragraphs>
  <Slides>18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حركة</vt:lpstr>
      <vt:lpstr>انقلاب</vt:lpstr>
      <vt:lpstr>Photo Editor Photo</vt:lpstr>
      <vt:lpstr>Image</vt:lpstr>
      <vt:lpstr>Slide 1</vt:lpstr>
      <vt:lpstr>Gas exchange 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Respiratory membrane</vt:lpstr>
      <vt:lpstr>Slide 15</vt:lpstr>
      <vt:lpstr>Slide 16</vt:lpstr>
      <vt:lpstr>Slide 17</vt:lpstr>
      <vt:lpstr>Slide 18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الشريحة 1</dc:title>
  <dc:creator>user</dc:creator>
  <cp:lastModifiedBy>Napta</cp:lastModifiedBy>
  <cp:revision>14</cp:revision>
  <dcterms:created xsi:type="dcterms:W3CDTF">2011-10-24T09:26:21Z</dcterms:created>
  <dcterms:modified xsi:type="dcterms:W3CDTF">2021-03-16T07:07:09Z</dcterms:modified>
</cp:coreProperties>
</file>