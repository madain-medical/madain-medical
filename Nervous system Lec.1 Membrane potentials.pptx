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23"/>
  </p:notesMasterIdLst>
  <p:sldIdLst>
    <p:sldId id="279" r:id="rId2"/>
    <p:sldId id="281" r:id="rId3"/>
    <p:sldId id="282" r:id="rId4"/>
    <p:sldId id="334" r:id="rId5"/>
    <p:sldId id="322" r:id="rId6"/>
    <p:sldId id="318" r:id="rId7"/>
    <p:sldId id="320" r:id="rId8"/>
    <p:sldId id="335" r:id="rId9"/>
    <p:sldId id="323" r:id="rId10"/>
    <p:sldId id="283" r:id="rId11"/>
    <p:sldId id="321" r:id="rId12"/>
    <p:sldId id="324" r:id="rId13"/>
    <p:sldId id="325" r:id="rId14"/>
    <p:sldId id="327" r:id="rId15"/>
    <p:sldId id="326" r:id="rId16"/>
    <p:sldId id="330" r:id="rId17"/>
    <p:sldId id="333" r:id="rId18"/>
    <p:sldId id="331" r:id="rId19"/>
    <p:sldId id="329" r:id="rId20"/>
    <p:sldId id="299" r:id="rId21"/>
    <p:sldId id="319"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1" d="100"/>
          <a:sy n="51" d="100"/>
        </p:scale>
        <p:origin x="1243"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رأس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عنصر نائب للتاريخ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94F9567-507B-453C-84D2-3D428918937D}" type="datetimeFigureOut">
              <a:rPr lang="en-US" smtClean="0"/>
              <a:pPr/>
              <a:t>11/17/2023</a:t>
            </a:fld>
            <a:endParaRPr lang="en-US"/>
          </a:p>
        </p:txBody>
      </p:sp>
      <p:sp>
        <p:nvSpPr>
          <p:cNvPr id="4" name="عنصر نائب لصورة الشريحة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عنصر نائب للملاحظات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a:p>
        </p:txBody>
      </p:sp>
      <p:sp>
        <p:nvSpPr>
          <p:cNvPr id="6" name="عنصر نائب للتذييل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عنصر نائب لرقم الشريحة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BF6E262-4B52-4030-8D93-657D9A4E1576}" type="slidenum">
              <a:rPr lang="en-US" smtClean="0"/>
              <a:pPr/>
              <a:t>‹#›</a:t>
            </a:fld>
            <a:endParaRPr lang="en-US"/>
          </a:p>
        </p:txBody>
      </p:sp>
    </p:spTree>
    <p:extLst>
      <p:ext uri="{BB962C8B-B14F-4D97-AF65-F5344CB8AC3E}">
        <p14:creationId xmlns:p14="http://schemas.microsoft.com/office/powerpoint/2010/main" val="41291544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20D8CC7-4801-4DAA-958B-48F4957CD4BC}" type="datetimeFigureOut">
              <a:rPr lang="en-US" smtClean="0"/>
              <a:pPr/>
              <a:t>11/17/2023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236FA9-F169-4EBD-AD24-66D4BE67E082}"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20D8CC7-4801-4DAA-958B-48F4957CD4BC}" type="datetimeFigureOut">
              <a:rPr lang="en-US" smtClean="0"/>
              <a:pPr/>
              <a:t>11/17/2023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236FA9-F169-4EBD-AD24-66D4BE67E082}"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20D8CC7-4801-4DAA-958B-48F4957CD4BC}" type="datetimeFigureOut">
              <a:rPr lang="en-US" smtClean="0"/>
              <a:pPr/>
              <a:t>11/17/2023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236FA9-F169-4EBD-AD24-66D4BE67E082}"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20D8CC7-4801-4DAA-958B-48F4957CD4BC}" type="datetimeFigureOut">
              <a:rPr lang="en-US" smtClean="0"/>
              <a:pPr/>
              <a:t>11/17/2023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236FA9-F169-4EBD-AD24-66D4BE67E082}"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20D8CC7-4801-4DAA-958B-48F4957CD4BC}" type="datetimeFigureOut">
              <a:rPr lang="en-US" smtClean="0"/>
              <a:pPr/>
              <a:t>11/17/2023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B236FA9-F169-4EBD-AD24-66D4BE67E082}"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20D8CC7-4801-4DAA-958B-48F4957CD4BC}" type="datetimeFigureOut">
              <a:rPr lang="en-US" smtClean="0"/>
              <a:pPr/>
              <a:t>11/17/2023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B236FA9-F169-4EBD-AD24-66D4BE67E082}"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0D8CC7-4801-4DAA-958B-48F4957CD4BC}" type="datetimeFigureOut">
              <a:rPr lang="en-US" smtClean="0"/>
              <a:pPr/>
              <a:t>11/17/2023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B236FA9-F169-4EBD-AD24-66D4BE67E082}"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20D8CC7-4801-4DAA-958B-48F4957CD4BC}" type="datetimeFigureOut">
              <a:rPr lang="en-US" smtClean="0"/>
              <a:pPr/>
              <a:t>11/17/2023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236FA9-F169-4EBD-AD24-66D4BE67E082}"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20D8CC7-4801-4DAA-958B-48F4957CD4BC}" type="datetimeFigureOut">
              <a:rPr lang="en-US" smtClean="0"/>
              <a:pPr/>
              <a:t>11/17/2023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236FA9-F169-4EBD-AD24-66D4BE67E082}"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20D8CC7-4801-4DAA-958B-48F4957CD4BC}" type="datetimeFigureOut">
              <a:rPr lang="en-US" smtClean="0"/>
              <a:pPr/>
              <a:t>11/17/2023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236FA9-F169-4EBD-AD24-66D4BE67E082}"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20D8CC7-4801-4DAA-958B-48F4957CD4BC}" type="datetimeFigureOut">
              <a:rPr lang="en-US" smtClean="0"/>
              <a:pPr/>
              <a:t>11/17/2023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236FA9-F169-4EBD-AD24-66D4BE67E082}"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0D8CC7-4801-4DAA-958B-48F4957CD4BC}" type="datetimeFigureOut">
              <a:rPr lang="en-US" smtClean="0"/>
              <a:pPr/>
              <a:t>11/17/2023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B236FA9-F169-4EBD-AD24-66D4BE67E082}"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865746"/>
            <a:ext cx="7991098" cy="3046988"/>
          </a:xfrm>
          <a:prstGeom prst="rect">
            <a:avLst/>
          </a:prstGeom>
        </p:spPr>
        <p:txBody>
          <a:bodyPr wrap="none">
            <a:spAutoFit/>
          </a:bodyPr>
          <a:lstStyle/>
          <a:p>
            <a:r>
              <a:rPr lang="en-US" sz="3200" b="1" i="1" dirty="0">
                <a:solidFill>
                  <a:srgbClr val="0000CC"/>
                </a:solidFill>
                <a:latin typeface="Andalus" pitchFamily="18" charset="-78"/>
                <a:cs typeface="Andalus" pitchFamily="18" charset="-78"/>
              </a:rPr>
              <a:t>Physiology of </a:t>
            </a:r>
            <a:r>
              <a:rPr lang="en-US" sz="3200" b="1" i="1" dirty="0" smtClean="0">
                <a:solidFill>
                  <a:srgbClr val="0000CC"/>
                </a:solidFill>
                <a:latin typeface="Andalus" pitchFamily="18" charset="-78"/>
                <a:cs typeface="Andalus" pitchFamily="18" charset="-78"/>
              </a:rPr>
              <a:t>the Nervous system</a:t>
            </a:r>
          </a:p>
          <a:p>
            <a:endParaRPr lang="en-GB" sz="3200" b="1" i="1" dirty="0">
              <a:solidFill>
                <a:srgbClr val="0000CC"/>
              </a:solidFill>
              <a:cs typeface="Andalus" pitchFamily="18" charset="-78"/>
            </a:endParaRPr>
          </a:p>
          <a:p>
            <a:r>
              <a:rPr lang="en-GB" sz="3200" b="1" dirty="0" smtClean="0">
                <a:solidFill>
                  <a:srgbClr val="0000CC"/>
                </a:solidFill>
                <a:cs typeface="Andalus" pitchFamily="18" charset="-78"/>
              </a:rPr>
              <a:t>Lecture (1)</a:t>
            </a:r>
          </a:p>
          <a:p>
            <a:endParaRPr lang="en-GB" sz="3200" b="1" dirty="0">
              <a:solidFill>
                <a:srgbClr val="0000CC"/>
              </a:solidFill>
              <a:cs typeface="Andalus" pitchFamily="18" charset="-78"/>
            </a:endParaRPr>
          </a:p>
          <a:p>
            <a:endParaRPr lang="en-GB" sz="3200" b="1" dirty="0" smtClean="0">
              <a:solidFill>
                <a:srgbClr val="0000CC"/>
              </a:solidFill>
              <a:cs typeface="Andalus" pitchFamily="18" charset="-78"/>
            </a:endParaRPr>
          </a:p>
          <a:p>
            <a:r>
              <a:rPr lang="en-GB" sz="3200" b="1" dirty="0" smtClean="0">
                <a:solidFill>
                  <a:srgbClr val="0000CC"/>
                </a:solidFill>
                <a:cs typeface="Andalus" pitchFamily="18" charset="-78"/>
              </a:rPr>
              <a:t>Membrane potentials. Types and mechanisms</a:t>
            </a:r>
            <a:endParaRPr lang="ar-SY" sz="3200" dirty="0">
              <a:solidFill>
                <a:srgbClr val="0000CC"/>
              </a:solidFill>
            </a:endParaRPr>
          </a:p>
        </p:txBody>
      </p:sp>
      <p:sp>
        <p:nvSpPr>
          <p:cNvPr id="3" name="TextBox 2"/>
          <p:cNvSpPr txBox="1"/>
          <p:nvPr/>
        </p:nvSpPr>
        <p:spPr>
          <a:xfrm>
            <a:off x="354767" y="4166603"/>
            <a:ext cx="7924800" cy="2677656"/>
          </a:xfrm>
          <a:prstGeom prst="rect">
            <a:avLst/>
          </a:prstGeom>
          <a:noFill/>
        </p:spPr>
        <p:txBody>
          <a:bodyPr wrap="square" rtlCol="1">
            <a:spAutoFit/>
          </a:bodyPr>
          <a:lstStyle/>
          <a:p>
            <a:pPr algn="ctr"/>
            <a:r>
              <a:rPr lang="en-GB" sz="2400" b="1" dirty="0" smtClean="0">
                <a:solidFill>
                  <a:srgbClr val="0000CC"/>
                </a:solidFill>
              </a:rPr>
              <a:t>Prepared and presented by: Dr. Mazin Salaheldin Abdalla</a:t>
            </a:r>
          </a:p>
          <a:p>
            <a:pPr algn="ctr"/>
            <a:r>
              <a:rPr lang="en-GB" sz="2400" b="1" dirty="0" smtClean="0"/>
              <a:t>MBBS</a:t>
            </a:r>
          </a:p>
          <a:p>
            <a:pPr algn="ctr"/>
            <a:r>
              <a:rPr lang="en-GB" sz="2400" b="1" dirty="0" smtClean="0"/>
              <a:t>MD (cardiology)</a:t>
            </a:r>
          </a:p>
          <a:p>
            <a:pPr algn="ctr"/>
            <a:r>
              <a:rPr lang="en-GB" sz="2400" b="1" dirty="0" smtClean="0"/>
              <a:t>M.Sc. Human physiology</a:t>
            </a:r>
          </a:p>
          <a:p>
            <a:pPr algn="ctr"/>
            <a:r>
              <a:rPr lang="en-GB" sz="2400" b="1" dirty="0" smtClean="0"/>
              <a:t>M.Sc. Molecular medicine</a:t>
            </a:r>
          </a:p>
          <a:p>
            <a:pPr algn="ctr"/>
            <a:endParaRPr lang="en-GB" sz="2400" b="1" dirty="0"/>
          </a:p>
          <a:p>
            <a:pPr algn="ctr"/>
            <a:r>
              <a:rPr lang="en-GB" sz="2400" b="1" i="1" dirty="0" smtClean="0"/>
              <a:t>Illustrations from (Lippincott illustrated medical physiology)</a:t>
            </a:r>
            <a:endParaRPr lang="ar-SY" sz="2400" b="1" i="1"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81800" y="686672"/>
            <a:ext cx="1895856" cy="241335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transition advTm="47940">
    <p:wheel/>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normAutofit/>
          </a:bodyPr>
          <a:lstStyle/>
          <a:p>
            <a:pPr algn="ctr" eaLnBrk="1" fontAlgn="auto" hangingPunct="1">
              <a:spcAft>
                <a:spcPts val="0"/>
              </a:spcAft>
              <a:defRPr/>
            </a:pPr>
            <a:r>
              <a:rPr lang="en-US" b="1" dirty="0" smtClean="0">
                <a:solidFill>
                  <a:srgbClr val="0000CC"/>
                </a:solidFill>
                <a:latin typeface="+mn-lt"/>
                <a:ea typeface="+mj-ea"/>
              </a:rPr>
              <a:t>Back to basics…</a:t>
            </a:r>
            <a:endParaRPr lang="en-US" b="1" dirty="0">
              <a:solidFill>
                <a:srgbClr val="0000CC"/>
              </a:solidFill>
              <a:latin typeface="+mn-lt"/>
              <a:ea typeface="+mj-ea"/>
            </a:endParaRPr>
          </a:p>
        </p:txBody>
      </p:sp>
      <p:sp>
        <p:nvSpPr>
          <p:cNvPr id="9219" name="Rectangle 3"/>
          <p:cNvSpPr>
            <a:spLocks noGrp="1" noChangeArrowheads="1"/>
          </p:cNvSpPr>
          <p:nvPr>
            <p:ph idx="1"/>
          </p:nvPr>
        </p:nvSpPr>
        <p:spPr/>
        <p:txBody>
          <a:bodyPr>
            <a:normAutofit lnSpcReduction="10000"/>
          </a:bodyPr>
          <a:lstStyle/>
          <a:p>
            <a:pPr marL="609600" indent="-609600" eaLnBrk="1" hangingPunct="1">
              <a:lnSpc>
                <a:spcPct val="80000"/>
              </a:lnSpc>
              <a:buFontTx/>
              <a:buNone/>
            </a:pPr>
            <a:r>
              <a:rPr lang="en-US" altLang="ar-SY" dirty="0" smtClean="0">
                <a:latin typeface="Times New Roman" panose="02020603050405020304" pitchFamily="18" charset="0"/>
                <a:cs typeface="Times New Roman" panose="02020603050405020304" pitchFamily="18" charset="0"/>
              </a:rPr>
              <a:t>Four types of tissues are recognized in the human body (nervous, muscular, connective and epithelial)</a:t>
            </a:r>
          </a:p>
          <a:p>
            <a:pPr marL="609600" indent="-609600" eaLnBrk="1" hangingPunct="1">
              <a:lnSpc>
                <a:spcPct val="80000"/>
              </a:lnSpc>
              <a:buFontTx/>
              <a:buNone/>
            </a:pPr>
            <a:r>
              <a:rPr lang="en-GB" altLang="ar-SY" dirty="0" smtClean="0">
                <a:latin typeface="Times New Roman" panose="02020603050405020304" pitchFamily="18" charset="0"/>
                <a:cs typeface="Times New Roman" panose="02020603050405020304" pitchFamily="18" charset="0"/>
              </a:rPr>
              <a:t>Two of them (nervous and muscular) are referred to as </a:t>
            </a:r>
            <a:r>
              <a:rPr lang="en-GB" altLang="ar-SY" b="1" i="1" dirty="0" smtClean="0">
                <a:solidFill>
                  <a:srgbClr val="00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EXCITABLE</a:t>
            </a:r>
            <a:r>
              <a:rPr lang="en-GB" altLang="ar-SY" b="1" i="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GB" altLang="ar-SY" dirty="0" smtClean="0">
                <a:latin typeface="Times New Roman" panose="02020603050405020304" pitchFamily="18" charset="0"/>
                <a:cs typeface="Times New Roman" panose="02020603050405020304" pitchFamily="18" charset="0"/>
              </a:rPr>
              <a:t> because they can generate action potential (AP)</a:t>
            </a:r>
          </a:p>
          <a:p>
            <a:pPr marL="609600" indent="-609600" eaLnBrk="1" hangingPunct="1">
              <a:lnSpc>
                <a:spcPct val="80000"/>
              </a:lnSpc>
              <a:buFontTx/>
              <a:buNone/>
            </a:pPr>
            <a:endParaRPr lang="en-GB" altLang="ar-SY" dirty="0">
              <a:latin typeface="Times New Roman" panose="02020603050405020304" pitchFamily="18" charset="0"/>
              <a:cs typeface="Times New Roman" panose="02020603050405020304" pitchFamily="18" charset="0"/>
            </a:endParaRPr>
          </a:p>
          <a:p>
            <a:pPr marL="609600" indent="-609600" eaLnBrk="1" hangingPunct="1">
              <a:lnSpc>
                <a:spcPct val="80000"/>
              </a:lnSpc>
              <a:buFontTx/>
              <a:buNone/>
            </a:pPr>
            <a:r>
              <a:rPr lang="en-GB" altLang="ar-SY" dirty="0" smtClean="0">
                <a:latin typeface="Times New Roman" panose="02020603050405020304" pitchFamily="18" charset="0"/>
                <a:cs typeface="Times New Roman" panose="02020603050405020304" pitchFamily="18" charset="0"/>
              </a:rPr>
              <a:t>Q. Why do only nervous and muscles have the ability to generate action potentials?</a:t>
            </a:r>
          </a:p>
          <a:p>
            <a:pPr marL="609600" indent="-609600" eaLnBrk="1" hangingPunct="1">
              <a:lnSpc>
                <a:spcPct val="80000"/>
              </a:lnSpc>
              <a:buFontTx/>
              <a:buAutoNum type="alphaUcPeriod"/>
            </a:pPr>
            <a:r>
              <a:rPr lang="en-GB" altLang="ar-SY" dirty="0" smtClean="0">
                <a:latin typeface="Times New Roman" panose="02020603050405020304" pitchFamily="18" charset="0"/>
                <a:cs typeface="Times New Roman" panose="02020603050405020304" pitchFamily="18" charset="0"/>
              </a:rPr>
              <a:t>Because they possess fast sodium channels</a:t>
            </a:r>
          </a:p>
          <a:p>
            <a:pPr marL="0" indent="0" eaLnBrk="1" hangingPunct="1">
              <a:lnSpc>
                <a:spcPct val="80000"/>
              </a:lnSpc>
              <a:buNone/>
            </a:pPr>
            <a:r>
              <a:rPr lang="en-GB" altLang="ar-SY" dirty="0" smtClean="0">
                <a:latin typeface="Times New Roman" panose="02020603050405020304" pitchFamily="18" charset="0"/>
                <a:cs typeface="Times New Roman" panose="02020603050405020304" pitchFamily="18" charset="0"/>
              </a:rPr>
              <a:t>(voltage gated) </a:t>
            </a:r>
            <a:endParaRPr lang="en-US" altLang="ar-SY"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2646275"/>
      </p:ext>
    </p:extLst>
  </p:cSld>
  <p:clrMapOvr>
    <a:masterClrMapping/>
  </p:clrMapOvr>
  <mc:AlternateContent xmlns:mc="http://schemas.openxmlformats.org/markup-compatibility/2006" xmlns:p14="http://schemas.microsoft.com/office/powerpoint/2010/main">
    <mc:Choice Requires="p14">
      <p:transition spd="slow" p14:dur="2000" advTm="90543"/>
    </mc:Choice>
    <mc:Fallback xmlns="">
      <p:transition spd="slow" advTm="90543"/>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GB" b="1" dirty="0" smtClean="0">
                <a:solidFill>
                  <a:srgbClr val="0000CC"/>
                </a:solidFill>
              </a:rPr>
              <a:t>Reminder…</a:t>
            </a:r>
            <a:endParaRPr lang="en-US" b="1" dirty="0">
              <a:solidFill>
                <a:srgbClr val="0000CC"/>
              </a:solidFill>
            </a:endParaRPr>
          </a:p>
        </p:txBody>
      </p:sp>
      <p:sp>
        <p:nvSpPr>
          <p:cNvPr id="10243" name="Content Placeholder 2"/>
          <p:cNvSpPr>
            <a:spLocks noGrp="1"/>
          </p:cNvSpPr>
          <p:nvPr>
            <p:ph idx="1"/>
          </p:nvPr>
        </p:nvSpPr>
        <p:spPr/>
        <p:txBody>
          <a:bodyPr/>
          <a:lstStyle/>
          <a:p>
            <a:pPr>
              <a:buFont typeface="Wingdings" panose="05000000000000000000" pitchFamily="2" charset="2"/>
              <a:buChar char="Ø"/>
            </a:pPr>
            <a:r>
              <a:rPr lang="en-US" altLang="ar-SY" dirty="0" smtClean="0">
                <a:latin typeface="Times New Roman" panose="02020603050405020304" pitchFamily="18" charset="0"/>
                <a:cs typeface="Times New Roman" panose="02020603050405020304" pitchFamily="18" charset="0"/>
              </a:rPr>
              <a:t>Resting membrane potential (RMP) is </a:t>
            </a:r>
            <a:r>
              <a:rPr lang="en-US" altLang="ar-SY" b="1" dirty="0" smtClean="0">
                <a:solidFill>
                  <a:srgbClr val="0000CC"/>
                </a:solidFill>
                <a:latin typeface="Times New Roman" panose="02020603050405020304" pitchFamily="18" charset="0"/>
                <a:cs typeface="Times New Roman" panose="02020603050405020304" pitchFamily="18" charset="0"/>
              </a:rPr>
              <a:t>registered almost in all cells of body</a:t>
            </a:r>
            <a:r>
              <a:rPr lang="en-US" altLang="ar-SY" dirty="0" smtClean="0">
                <a:solidFill>
                  <a:srgbClr val="0000CC"/>
                </a:solidFill>
                <a:latin typeface="Times New Roman" panose="02020603050405020304" pitchFamily="18" charset="0"/>
                <a:cs typeface="Times New Roman" panose="02020603050405020304" pitchFamily="18" charset="0"/>
              </a:rPr>
              <a:t>.</a:t>
            </a:r>
          </a:p>
          <a:p>
            <a:pPr>
              <a:buFont typeface="Wingdings" panose="05000000000000000000" pitchFamily="2" charset="2"/>
              <a:buChar char="Ø"/>
            </a:pPr>
            <a:endParaRPr lang="en-US" altLang="ar-SY" dirty="0">
              <a:latin typeface="Times New Roman" panose="02020603050405020304" pitchFamily="18" charset="0"/>
              <a:cs typeface="Times New Roman" panose="02020603050405020304" pitchFamily="18" charset="0"/>
            </a:endParaRPr>
          </a:p>
          <a:p>
            <a:pPr algn="ctr">
              <a:buFont typeface="Wingdings" panose="05000000000000000000" pitchFamily="2" charset="2"/>
              <a:buChar char="Ø"/>
            </a:pPr>
            <a:r>
              <a:rPr lang="en-US" altLang="ar-SY" b="1" u="sng" dirty="0" smtClean="0">
                <a:solidFill>
                  <a:srgbClr val="0000CC"/>
                </a:solidFill>
                <a:latin typeface="Times New Roman" panose="02020603050405020304" pitchFamily="18" charset="0"/>
                <a:cs typeface="Times New Roman" panose="02020603050405020304" pitchFamily="18" charset="0"/>
              </a:rPr>
              <a:t>Types of membrane potentials:</a:t>
            </a:r>
          </a:p>
          <a:p>
            <a:pPr>
              <a:buFont typeface="Wingdings" panose="05000000000000000000" pitchFamily="2" charset="2"/>
              <a:buChar char="v"/>
            </a:pPr>
            <a:r>
              <a:rPr lang="en-US" altLang="ar-SY" dirty="0" smtClean="0">
                <a:latin typeface="Times New Roman" panose="02020603050405020304" pitchFamily="18" charset="0"/>
                <a:cs typeface="Times New Roman" panose="02020603050405020304" pitchFamily="18" charset="0"/>
              </a:rPr>
              <a:t>Resting membrane potential </a:t>
            </a:r>
            <a:r>
              <a:rPr lang="en-US" altLang="ar-SY" b="1" u="sng" dirty="0" smtClean="0">
                <a:latin typeface="Times New Roman" panose="02020603050405020304" pitchFamily="18" charset="0"/>
                <a:cs typeface="Times New Roman" panose="02020603050405020304" pitchFamily="18" charset="0"/>
              </a:rPr>
              <a:t>(RMP) </a:t>
            </a:r>
          </a:p>
          <a:p>
            <a:pPr>
              <a:buFont typeface="Wingdings" panose="05000000000000000000" pitchFamily="2" charset="2"/>
              <a:buChar char="v"/>
            </a:pPr>
            <a:r>
              <a:rPr lang="en-GB" altLang="ar-SY" dirty="0" smtClean="0">
                <a:latin typeface="Times New Roman" panose="02020603050405020304" pitchFamily="18" charset="0"/>
                <a:cs typeface="Times New Roman" panose="02020603050405020304" pitchFamily="18" charset="0"/>
              </a:rPr>
              <a:t>Action potential </a:t>
            </a:r>
            <a:r>
              <a:rPr lang="en-GB" altLang="ar-SY" b="1" u="sng" dirty="0" smtClean="0">
                <a:latin typeface="Times New Roman" panose="02020603050405020304" pitchFamily="18" charset="0"/>
                <a:cs typeface="Times New Roman" panose="02020603050405020304" pitchFamily="18" charset="0"/>
              </a:rPr>
              <a:t>(AP)</a:t>
            </a:r>
          </a:p>
          <a:p>
            <a:pPr>
              <a:buFont typeface="Wingdings" panose="05000000000000000000" pitchFamily="2" charset="2"/>
              <a:buChar char="v"/>
            </a:pPr>
            <a:r>
              <a:rPr lang="en-GB" altLang="ar-SY" dirty="0" smtClean="0">
                <a:latin typeface="Times New Roman" panose="02020603050405020304" pitchFamily="18" charset="0"/>
                <a:cs typeface="Times New Roman" panose="02020603050405020304" pitchFamily="18" charset="0"/>
              </a:rPr>
              <a:t>Equilibrium potential </a:t>
            </a:r>
            <a:r>
              <a:rPr lang="en-GB" altLang="ar-SY" b="1" u="sng" dirty="0" smtClean="0">
                <a:latin typeface="Times New Roman" panose="02020603050405020304" pitchFamily="18" charset="0"/>
                <a:cs typeface="Times New Roman" panose="02020603050405020304" pitchFamily="18" charset="0"/>
              </a:rPr>
              <a:t>(EP) </a:t>
            </a:r>
            <a:r>
              <a:rPr lang="en-GB" altLang="ar-SY" dirty="0" smtClean="0">
                <a:latin typeface="Times New Roman" panose="02020603050405020304" pitchFamily="18" charset="0"/>
                <a:cs typeface="Times New Roman" panose="02020603050405020304" pitchFamily="18" charset="0"/>
              </a:rPr>
              <a:t>for a specific ion </a:t>
            </a:r>
            <a:endParaRPr lang="en-US" altLang="ar-SY"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9271924"/>
      </p:ext>
    </p:extLst>
  </p:cSld>
  <p:clrMapOvr>
    <a:masterClrMapping/>
  </p:clrMapOvr>
  <mc:AlternateContent xmlns:mc="http://schemas.openxmlformats.org/markup-compatibility/2006" xmlns:p14="http://schemas.microsoft.com/office/powerpoint/2010/main">
    <mc:Choice Requires="p14">
      <p:transition spd="slow" p14:dur="2000" advTm="57074"/>
    </mc:Choice>
    <mc:Fallback xmlns="">
      <p:transition spd="slow" advTm="57074"/>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457200"/>
            <a:ext cx="5486400" cy="5715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2" name="Rectangle 1"/>
          <p:cNvSpPr/>
          <p:nvPr/>
        </p:nvSpPr>
        <p:spPr>
          <a:xfrm>
            <a:off x="6248400" y="609600"/>
            <a:ext cx="2667000" cy="1828800"/>
          </a:xfrm>
          <a:prstGeom prst="rect">
            <a:avLst/>
          </a:prstGeom>
        </p:spPr>
        <p:style>
          <a:lnRef idx="2">
            <a:schemeClr val="accent1"/>
          </a:lnRef>
          <a:fillRef idx="1">
            <a:schemeClr val="lt1"/>
          </a:fillRef>
          <a:effectRef idx="0">
            <a:schemeClr val="accent1"/>
          </a:effectRef>
          <a:fontRef idx="minor">
            <a:schemeClr val="dk1"/>
          </a:fontRef>
        </p:style>
        <p:txBody>
          <a:bodyPr rtlCol="1" anchor="ctr"/>
          <a:lstStyle/>
          <a:p>
            <a:pPr algn="ctr"/>
            <a:r>
              <a:rPr lang="en-US" sz="2000" b="1" dirty="0">
                <a:latin typeface="Times New Roman" pitchFamily="18" charset="0"/>
                <a:cs typeface="Times New Roman" pitchFamily="18" charset="0"/>
              </a:rPr>
              <a:t>Permeability Of The Cell Membrane (k efflux</a:t>
            </a:r>
            <a:r>
              <a:rPr lang="en-US" sz="2000" b="1" dirty="0" smtClean="0">
                <a:latin typeface="Times New Roman" pitchFamily="18" charset="0"/>
                <a:cs typeface="Times New Roman" pitchFamily="18" charset="0"/>
              </a:rPr>
              <a:t>)</a:t>
            </a:r>
          </a:p>
          <a:p>
            <a:pPr algn="ctr"/>
            <a:r>
              <a:rPr lang="en-GB" sz="2000" b="1" dirty="0" smtClean="0">
                <a:latin typeface="Times New Roman" pitchFamily="18" charset="0"/>
                <a:cs typeface="Times New Roman" pitchFamily="18" charset="0"/>
              </a:rPr>
              <a:t>g(potassium)</a:t>
            </a:r>
          </a:p>
          <a:p>
            <a:pPr algn="ctr"/>
            <a:r>
              <a:rPr lang="en-GB" sz="2000" b="1" dirty="0" smtClean="0">
                <a:latin typeface="Times New Roman" pitchFamily="18" charset="0"/>
                <a:cs typeface="Times New Roman" pitchFamily="18" charset="0"/>
              </a:rPr>
              <a:t>(Conductance )</a:t>
            </a:r>
            <a:endParaRPr lang="ar-SY" sz="2000" b="1" dirty="0"/>
          </a:p>
        </p:txBody>
      </p:sp>
      <p:sp>
        <p:nvSpPr>
          <p:cNvPr id="3" name="Rectangle 2"/>
          <p:cNvSpPr/>
          <p:nvPr/>
        </p:nvSpPr>
        <p:spPr>
          <a:xfrm>
            <a:off x="6019800" y="3200400"/>
            <a:ext cx="2743200" cy="2209800"/>
          </a:xfrm>
          <a:prstGeom prst="rect">
            <a:avLst/>
          </a:prstGeom>
        </p:spPr>
        <p:style>
          <a:lnRef idx="2">
            <a:schemeClr val="accent1"/>
          </a:lnRef>
          <a:fillRef idx="1">
            <a:schemeClr val="lt1"/>
          </a:fillRef>
          <a:effectRef idx="0">
            <a:schemeClr val="accent1"/>
          </a:effectRef>
          <a:fontRef idx="minor">
            <a:schemeClr val="dk1"/>
          </a:fontRef>
        </p:style>
        <p:txBody>
          <a:bodyPr rtlCol="1" anchor="ctr"/>
          <a:lstStyle/>
          <a:p>
            <a:pPr marL="608013" indent="-608013" defTabSz="912813">
              <a:defRPr/>
            </a:pPr>
            <a:r>
              <a:rPr lang="en-US" sz="2000" b="1" dirty="0">
                <a:latin typeface="Times New Roman" pitchFamily="18" charset="0"/>
                <a:cs typeface="Times New Roman" pitchFamily="18" charset="0"/>
              </a:rPr>
              <a:t>Cell membrane </a:t>
            </a:r>
            <a:r>
              <a:rPr lang="en-US" sz="2000" b="1" dirty="0" smtClean="0">
                <a:latin typeface="Times New Roman" pitchFamily="18" charset="0"/>
                <a:cs typeface="Times New Roman" pitchFamily="18" charset="0"/>
              </a:rPr>
              <a:t>is about </a:t>
            </a:r>
            <a:r>
              <a:rPr lang="en-US" sz="2000" b="1" dirty="0">
                <a:latin typeface="Times New Roman" pitchFamily="18" charset="0"/>
                <a:cs typeface="Times New Roman" pitchFamily="18" charset="0"/>
              </a:rPr>
              <a:t>50-100 times more permeable to K+ </a:t>
            </a:r>
            <a:r>
              <a:rPr lang="en-US" sz="2000" b="1" dirty="0" smtClean="0">
                <a:latin typeface="Times New Roman" pitchFamily="18" charset="0"/>
                <a:cs typeface="Times New Roman" pitchFamily="18" charset="0"/>
              </a:rPr>
              <a:t>than it is </a:t>
            </a:r>
            <a:r>
              <a:rPr lang="en-US" sz="2000" b="1" dirty="0">
                <a:latin typeface="Times New Roman" pitchFamily="18" charset="0"/>
                <a:cs typeface="Times New Roman" pitchFamily="18" charset="0"/>
              </a:rPr>
              <a:t>to Na+ </a:t>
            </a:r>
          </a:p>
          <a:p>
            <a:pPr>
              <a:defRPr/>
            </a:pPr>
            <a:endParaRPr lang="en-US" b="1" dirty="0">
              <a:latin typeface="Times New Roman" pitchFamily="18" charset="0"/>
              <a:cs typeface="Times New Roman" pitchFamily="18" charset="0"/>
            </a:endParaRPr>
          </a:p>
        </p:txBody>
      </p:sp>
    </p:spTree>
    <p:extLst>
      <p:ext uri="{BB962C8B-B14F-4D97-AF65-F5344CB8AC3E}">
        <p14:creationId xmlns:p14="http://schemas.microsoft.com/office/powerpoint/2010/main" val="2444084636"/>
      </p:ext>
    </p:extLst>
  </p:cSld>
  <p:clrMapOvr>
    <a:masterClrMapping/>
  </p:clrMapOvr>
  <mc:AlternateContent xmlns:mc="http://schemas.openxmlformats.org/markup-compatibility/2006" xmlns:p14="http://schemas.microsoft.com/office/powerpoint/2010/main">
    <mc:Choice Requires="p14">
      <p:transition spd="slow" p14:dur="2000" advTm="2249"/>
    </mc:Choice>
    <mc:Fallback xmlns="">
      <p:transition spd="slow" advTm="2249"/>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533400"/>
            <a:ext cx="5181600" cy="55626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3" name="TextBox 2"/>
          <p:cNvSpPr txBox="1"/>
          <p:nvPr/>
        </p:nvSpPr>
        <p:spPr>
          <a:xfrm>
            <a:off x="5791200" y="179249"/>
            <a:ext cx="2971800" cy="6678751"/>
          </a:xfrm>
          <a:prstGeom prst="rect">
            <a:avLst/>
          </a:prstGeom>
          <a:noFill/>
        </p:spPr>
        <p:txBody>
          <a:bodyPr wrap="square" rtlCol="1">
            <a:spAutoFit/>
          </a:bodyPr>
          <a:lstStyle/>
          <a:p>
            <a:r>
              <a:rPr lang="en-GB" sz="2400" b="1" dirty="0" smtClean="0">
                <a:solidFill>
                  <a:srgbClr val="0000CC"/>
                </a:solidFill>
              </a:rPr>
              <a:t>Excitable tissues (nerves and muscles)</a:t>
            </a:r>
          </a:p>
          <a:p>
            <a:r>
              <a:rPr lang="en-GB" sz="2400" dirty="0" smtClean="0"/>
              <a:t>Taking neurons as an example:</a:t>
            </a:r>
          </a:p>
          <a:p>
            <a:r>
              <a:rPr lang="en-GB" sz="2400" dirty="0" smtClean="0"/>
              <a:t>If we record the difference in voltage between the inside and the outside of the cell membrane at rest, we get RMP, which means that the negative charges inside the cell membrane are more than the negative charges outside the cell membrane</a:t>
            </a:r>
          </a:p>
          <a:p>
            <a:endParaRPr lang="ar-SY" sz="2000" dirty="0"/>
          </a:p>
        </p:txBody>
      </p:sp>
    </p:spTree>
    <p:extLst>
      <p:ext uri="{BB962C8B-B14F-4D97-AF65-F5344CB8AC3E}">
        <p14:creationId xmlns:p14="http://schemas.microsoft.com/office/powerpoint/2010/main" val="215432758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solidFill>
                  <a:srgbClr val="0000CC"/>
                </a:solidFill>
              </a:rPr>
              <a:t>EP for the most important ions…</a:t>
            </a:r>
            <a:endParaRPr lang="ar-SY" b="1" dirty="0">
              <a:solidFill>
                <a:srgbClr val="0000CC"/>
              </a:solidFill>
            </a:endParaRPr>
          </a:p>
        </p:txBody>
      </p:sp>
      <p:sp>
        <p:nvSpPr>
          <p:cNvPr id="3" name="Content Placeholder 2"/>
          <p:cNvSpPr>
            <a:spLocks noGrp="1"/>
          </p:cNvSpPr>
          <p:nvPr>
            <p:ph idx="1"/>
          </p:nvPr>
        </p:nvSpPr>
        <p:spPr/>
        <p:txBody>
          <a:bodyPr>
            <a:normAutofit fontScale="92500" lnSpcReduction="10000"/>
          </a:bodyPr>
          <a:lstStyle/>
          <a:p>
            <a:pPr>
              <a:buFont typeface="Wingdings" panose="05000000000000000000" pitchFamily="2" charset="2"/>
              <a:buChar char="Ø"/>
            </a:pPr>
            <a:r>
              <a:rPr lang="en-GB" dirty="0" smtClean="0"/>
              <a:t>Sodium </a:t>
            </a:r>
            <a:r>
              <a:rPr lang="en-GB" b="1" dirty="0" smtClean="0">
                <a:solidFill>
                  <a:srgbClr val="0000CC"/>
                </a:solidFill>
              </a:rPr>
              <a:t>+65 mv</a:t>
            </a:r>
          </a:p>
          <a:p>
            <a:pPr>
              <a:buFont typeface="Wingdings" panose="05000000000000000000" pitchFamily="2" charset="2"/>
              <a:buChar char="Ø"/>
            </a:pPr>
            <a:r>
              <a:rPr lang="en-GB" dirty="0" smtClean="0"/>
              <a:t>Potassium </a:t>
            </a:r>
            <a:r>
              <a:rPr lang="en-GB" b="1" dirty="0" smtClean="0">
                <a:solidFill>
                  <a:srgbClr val="0000CC"/>
                </a:solidFill>
              </a:rPr>
              <a:t>-90 mv</a:t>
            </a:r>
          </a:p>
          <a:p>
            <a:pPr>
              <a:buFont typeface="Wingdings" panose="05000000000000000000" pitchFamily="2" charset="2"/>
              <a:buChar char="Ø"/>
            </a:pPr>
            <a:r>
              <a:rPr lang="en-GB" dirty="0" smtClean="0"/>
              <a:t>Calcium and magnesium </a:t>
            </a:r>
            <a:r>
              <a:rPr lang="en-GB" b="1" dirty="0" smtClean="0">
                <a:solidFill>
                  <a:srgbClr val="0000CC"/>
                </a:solidFill>
              </a:rPr>
              <a:t>+120mv</a:t>
            </a:r>
          </a:p>
          <a:p>
            <a:pPr>
              <a:buFont typeface="Wingdings" panose="05000000000000000000" pitchFamily="2" charset="2"/>
              <a:buChar char="Ø"/>
            </a:pPr>
            <a:r>
              <a:rPr lang="en-GB" dirty="0" smtClean="0"/>
              <a:t>Chloride </a:t>
            </a:r>
            <a:r>
              <a:rPr lang="en-GB" b="1" dirty="0" smtClean="0">
                <a:solidFill>
                  <a:srgbClr val="0000CC"/>
                </a:solidFill>
              </a:rPr>
              <a:t>-70 mv</a:t>
            </a:r>
          </a:p>
          <a:p>
            <a:pPr marL="0" indent="0" algn="ctr">
              <a:buNone/>
            </a:pPr>
            <a:r>
              <a:rPr lang="en-GB" b="1" dirty="0" smtClean="0">
                <a:solidFill>
                  <a:srgbClr val="0000CC"/>
                </a:solidFill>
              </a:rPr>
              <a:t>What is EP?</a:t>
            </a:r>
          </a:p>
          <a:p>
            <a:pPr marL="0" indent="0">
              <a:buNone/>
            </a:pPr>
            <a:r>
              <a:rPr lang="en-GB" dirty="0" smtClean="0"/>
              <a:t>It is the membrane potential for an ion at which</a:t>
            </a:r>
          </a:p>
          <a:p>
            <a:pPr marL="0" indent="0">
              <a:buNone/>
            </a:pPr>
            <a:r>
              <a:rPr lang="en-GB" dirty="0" smtClean="0"/>
              <a:t>the concentration gradient and the electrochemical gradient for the ion are equal and therefor no </a:t>
            </a:r>
            <a:r>
              <a:rPr lang="en-GB" b="1" u="sng" dirty="0" smtClean="0">
                <a:solidFill>
                  <a:srgbClr val="0000CC"/>
                </a:solidFill>
              </a:rPr>
              <a:t>NE</a:t>
            </a:r>
            <a:r>
              <a:rPr lang="en-GB" u="sng" dirty="0" smtClean="0">
                <a:solidFill>
                  <a:srgbClr val="0000CC"/>
                </a:solidFill>
              </a:rPr>
              <a:t>T</a:t>
            </a:r>
            <a:r>
              <a:rPr lang="en-GB" dirty="0" smtClean="0"/>
              <a:t> movement of that ion across the cell membrane </a:t>
            </a:r>
            <a:endParaRPr lang="ar-SY" dirty="0"/>
          </a:p>
        </p:txBody>
      </p:sp>
    </p:spTree>
    <p:extLst>
      <p:ext uri="{BB962C8B-B14F-4D97-AF65-F5344CB8AC3E}">
        <p14:creationId xmlns:p14="http://schemas.microsoft.com/office/powerpoint/2010/main" val="3402705916"/>
      </p:ext>
    </p:extLst>
  </p:cSld>
  <p:clrMapOvr>
    <a:masterClrMapping/>
  </p:clrMapOvr>
  <mc:AlternateContent xmlns:mc="http://schemas.openxmlformats.org/markup-compatibility/2006" xmlns:p14="http://schemas.microsoft.com/office/powerpoint/2010/main">
    <mc:Choice Requires="p14">
      <p:transition spd="slow" p14:dur="2000" advTm="184308"/>
    </mc:Choice>
    <mc:Fallback xmlns="">
      <p:transition spd="slow" advTm="184308"/>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66578803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solidFill>
                  <a:srgbClr val="0000CC"/>
                </a:solidFill>
                <a:effectLst>
                  <a:outerShdw blurRad="38100" dist="38100" dir="2700000" algn="tl">
                    <a:srgbClr val="000000">
                      <a:alpha val="43137"/>
                    </a:srgbClr>
                  </a:outerShdw>
                </a:effectLst>
              </a:rPr>
              <a:t>Nernst equation</a:t>
            </a:r>
            <a:endParaRPr lang="ar-SY" b="1" dirty="0">
              <a:solidFill>
                <a:srgbClr val="0000CC"/>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pPr algn="ctr">
              <a:buFont typeface="Wingdings" panose="05000000000000000000" pitchFamily="2" charset="2"/>
              <a:buChar char="v"/>
            </a:pPr>
            <a:r>
              <a:rPr lang="en-GB" b="1" dirty="0" smtClean="0">
                <a:effectLst>
                  <a:outerShdw blurRad="38100" dist="38100" dir="2700000" algn="tl">
                    <a:srgbClr val="000000">
                      <a:alpha val="43137"/>
                    </a:srgbClr>
                  </a:outerShdw>
                </a:effectLst>
              </a:rPr>
              <a:t>Ex = RT/F z ln ([X]out/[X]in)</a:t>
            </a:r>
          </a:p>
          <a:p>
            <a:pPr>
              <a:buFont typeface="Wingdings" panose="05000000000000000000" pitchFamily="2" charset="2"/>
              <a:buChar char="v"/>
            </a:pPr>
            <a:r>
              <a:rPr lang="en-GB" dirty="0" smtClean="0"/>
              <a:t>R </a:t>
            </a:r>
            <a:r>
              <a:rPr lang="en-GB" dirty="0"/>
              <a:t>= </a:t>
            </a:r>
            <a:r>
              <a:rPr lang="en-GB" dirty="0" smtClean="0"/>
              <a:t>Gas constant </a:t>
            </a:r>
            <a:r>
              <a:rPr lang="en-GB" dirty="0"/>
              <a:t>(8.31 J mol</a:t>
            </a:r>
            <a:r>
              <a:rPr lang="en-GB" baseline="30000" dirty="0"/>
              <a:t>-1</a:t>
            </a:r>
            <a:r>
              <a:rPr lang="en-GB" dirty="0"/>
              <a:t> K</a:t>
            </a:r>
            <a:r>
              <a:rPr lang="en-GB" baseline="30000" dirty="0"/>
              <a:t>-1</a:t>
            </a:r>
            <a:r>
              <a:rPr lang="en-GB" dirty="0" smtClean="0"/>
              <a:t>)</a:t>
            </a:r>
          </a:p>
          <a:p>
            <a:pPr>
              <a:buFont typeface="Wingdings" panose="05000000000000000000" pitchFamily="2" charset="2"/>
              <a:buChar char="v"/>
            </a:pPr>
            <a:r>
              <a:rPr lang="en-GB" dirty="0" smtClean="0"/>
              <a:t>T = Temperature (Kelvin)</a:t>
            </a:r>
          </a:p>
          <a:p>
            <a:pPr>
              <a:buFont typeface="Wingdings" panose="05000000000000000000" pitchFamily="2" charset="2"/>
              <a:buChar char="v"/>
            </a:pPr>
            <a:r>
              <a:rPr lang="en-GB" dirty="0" smtClean="0"/>
              <a:t>F </a:t>
            </a:r>
            <a:r>
              <a:rPr lang="en-GB" dirty="0"/>
              <a:t>= </a:t>
            </a:r>
            <a:r>
              <a:rPr lang="en-GB" dirty="0" smtClean="0"/>
              <a:t>Faraday constant </a:t>
            </a:r>
            <a:r>
              <a:rPr lang="en-GB" dirty="0"/>
              <a:t>(96500 C mol</a:t>
            </a:r>
            <a:r>
              <a:rPr lang="en-GB" baseline="30000" dirty="0"/>
              <a:t>-1</a:t>
            </a:r>
            <a:r>
              <a:rPr lang="en-GB" dirty="0" smtClean="0"/>
              <a:t>)</a:t>
            </a:r>
          </a:p>
          <a:p>
            <a:pPr>
              <a:buFont typeface="Wingdings" panose="05000000000000000000" pitchFamily="2" charset="2"/>
              <a:buChar char="v"/>
            </a:pPr>
            <a:r>
              <a:rPr lang="en-GB" dirty="0" smtClean="0"/>
              <a:t>Z </a:t>
            </a:r>
            <a:r>
              <a:rPr lang="en-GB" dirty="0"/>
              <a:t>= </a:t>
            </a:r>
            <a:r>
              <a:rPr lang="en-GB" dirty="0" smtClean="0"/>
              <a:t>Ion valence </a:t>
            </a:r>
            <a:endParaRPr lang="ar-SY" dirty="0"/>
          </a:p>
        </p:txBody>
      </p:sp>
    </p:spTree>
    <p:extLst>
      <p:ext uri="{BB962C8B-B14F-4D97-AF65-F5344CB8AC3E}">
        <p14:creationId xmlns:p14="http://schemas.microsoft.com/office/powerpoint/2010/main" val="15173001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609600"/>
            <a:ext cx="5181600" cy="55626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3" name="TextBox 2"/>
          <p:cNvSpPr txBox="1"/>
          <p:nvPr/>
        </p:nvSpPr>
        <p:spPr>
          <a:xfrm>
            <a:off x="5867400" y="914400"/>
            <a:ext cx="2895600" cy="2246769"/>
          </a:xfrm>
          <a:prstGeom prst="rect">
            <a:avLst/>
          </a:prstGeom>
          <a:noFill/>
        </p:spPr>
        <p:txBody>
          <a:bodyPr wrap="square" rtlCol="1">
            <a:spAutoFit/>
          </a:bodyPr>
          <a:lstStyle/>
          <a:p>
            <a:r>
              <a:rPr lang="en-GB" sz="2800" dirty="0" smtClean="0"/>
              <a:t>The EP for the different ions can be calculated using </a:t>
            </a:r>
            <a:r>
              <a:rPr lang="en-GB" sz="2800" b="1" i="1" u="sng" dirty="0" smtClean="0">
                <a:solidFill>
                  <a:srgbClr val="0000CC"/>
                </a:solidFill>
                <a:effectLst>
                  <a:outerShdw blurRad="38100" dist="38100" dir="2700000" algn="tl">
                    <a:srgbClr val="000000">
                      <a:alpha val="43137"/>
                    </a:srgbClr>
                  </a:outerShdw>
                </a:effectLst>
              </a:rPr>
              <a:t>Nernst’s equation</a:t>
            </a:r>
            <a:endParaRPr lang="ar-SY" sz="2800" b="1" i="1" u="sng" dirty="0">
              <a:solidFill>
                <a:srgbClr val="0000CC"/>
              </a:solidFill>
              <a:effectLst>
                <a:outerShdw blurRad="38100" dist="38100" dir="2700000" algn="tl">
                  <a:srgbClr val="000000">
                    <a:alpha val="43137"/>
                  </a:srgbClr>
                </a:outerShdw>
              </a:effectLst>
            </a:endParaRPr>
          </a:p>
        </p:txBody>
      </p:sp>
      <p:sp>
        <p:nvSpPr>
          <p:cNvPr id="4" name="Rectangle 3"/>
          <p:cNvSpPr/>
          <p:nvPr/>
        </p:nvSpPr>
        <p:spPr>
          <a:xfrm>
            <a:off x="5715000" y="3810000"/>
            <a:ext cx="3048000" cy="2362200"/>
          </a:xfrm>
          <a:prstGeom prst="rect">
            <a:avLst/>
          </a:prstGeom>
        </p:spPr>
        <p:style>
          <a:lnRef idx="2">
            <a:schemeClr val="accent1"/>
          </a:lnRef>
          <a:fillRef idx="1">
            <a:schemeClr val="lt1"/>
          </a:fillRef>
          <a:effectRef idx="0">
            <a:schemeClr val="accent1"/>
          </a:effectRef>
          <a:fontRef idx="minor">
            <a:schemeClr val="dk1"/>
          </a:fontRef>
        </p:style>
        <p:txBody>
          <a:bodyPr rtlCol="1" anchor="ctr"/>
          <a:lstStyle/>
          <a:p>
            <a:pPr algn="ctr"/>
            <a:r>
              <a:rPr lang="en-GB" sz="2400" b="1" u="sng" dirty="0" smtClean="0">
                <a:solidFill>
                  <a:srgbClr val="0000CC"/>
                </a:solidFill>
                <a:effectLst>
                  <a:outerShdw blurRad="38100" dist="38100" dir="2700000" algn="tl">
                    <a:srgbClr val="000000">
                      <a:alpha val="43137"/>
                    </a:srgbClr>
                  </a:outerShdw>
                </a:effectLst>
              </a:rPr>
              <a:t>Donnan’s</a:t>
            </a:r>
            <a:r>
              <a:rPr lang="en-GB" sz="2400" dirty="0" smtClean="0"/>
              <a:t> effect states that there are </a:t>
            </a:r>
            <a:r>
              <a:rPr lang="en-GB" sz="2400" b="1" dirty="0" smtClean="0">
                <a:solidFill>
                  <a:srgbClr val="0000CC"/>
                </a:solidFill>
              </a:rPr>
              <a:t>trapped</a:t>
            </a:r>
            <a:r>
              <a:rPr lang="en-GB" sz="2400" dirty="0" smtClean="0"/>
              <a:t> ions of negative charge that stay inside the cell</a:t>
            </a:r>
            <a:endParaRPr lang="ar-SY" sz="2400" dirty="0"/>
          </a:p>
        </p:txBody>
      </p:sp>
    </p:spTree>
    <p:extLst>
      <p:ext uri="{BB962C8B-B14F-4D97-AF65-F5344CB8AC3E}">
        <p14:creationId xmlns:p14="http://schemas.microsoft.com/office/powerpoint/2010/main" val="413494601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b="1" dirty="0" smtClean="0">
                <a:solidFill>
                  <a:srgbClr val="0000CC"/>
                </a:solidFill>
                <a:latin typeface="Times New Roman" pitchFamily="18" charset="0"/>
                <a:cs typeface="Times New Roman" pitchFamily="18" charset="0"/>
              </a:rPr>
              <a:t>Resting Membrane Potential </a:t>
            </a:r>
            <a:endParaRPr lang="en-US" b="1" dirty="0">
              <a:solidFill>
                <a:srgbClr val="0000CC"/>
              </a:solidFill>
              <a:latin typeface="Times New Roman" pitchFamily="18" charset="0"/>
              <a:cs typeface="Times New Roman" pitchFamily="18" charset="0"/>
            </a:endParaRPr>
          </a:p>
        </p:txBody>
      </p:sp>
      <p:sp>
        <p:nvSpPr>
          <p:cNvPr id="11267" name="Content Placeholder 2"/>
          <p:cNvSpPr>
            <a:spLocks noGrp="1"/>
          </p:cNvSpPr>
          <p:nvPr>
            <p:ph idx="1"/>
          </p:nvPr>
        </p:nvSpPr>
        <p:spPr/>
        <p:txBody>
          <a:bodyPr/>
          <a:lstStyle/>
          <a:p>
            <a:pPr>
              <a:buFont typeface="Wingdings" panose="05000000000000000000" pitchFamily="2" charset="2"/>
              <a:buChar char="Ø"/>
            </a:pPr>
            <a:r>
              <a:rPr lang="en-US" altLang="ar-SY" dirty="0" smtClean="0">
                <a:latin typeface="Times New Roman" panose="02020603050405020304" pitchFamily="18" charset="0"/>
                <a:cs typeface="Times New Roman" panose="02020603050405020304" pitchFamily="18" charset="0"/>
              </a:rPr>
              <a:t>The difference in electrical potential  across the membrane when cell is at </a:t>
            </a:r>
            <a:r>
              <a:rPr lang="en-US" altLang="ar-SY" b="1" dirty="0" smtClean="0">
                <a:solidFill>
                  <a:srgbClr val="C00000"/>
                </a:solidFill>
                <a:latin typeface="Times New Roman" panose="02020603050405020304" pitchFamily="18" charset="0"/>
                <a:cs typeface="Times New Roman" panose="02020603050405020304" pitchFamily="18" charset="0"/>
              </a:rPr>
              <a:t>REST (no stimulation)</a:t>
            </a:r>
            <a:r>
              <a:rPr lang="en-US" altLang="ar-SY" dirty="0" smtClean="0">
                <a:latin typeface="Times New Roman" panose="02020603050405020304" pitchFamily="18" charset="0"/>
                <a:cs typeface="Times New Roman" panose="02020603050405020304" pitchFamily="18" charset="0"/>
              </a:rPr>
              <a:t> </a:t>
            </a:r>
          </a:p>
          <a:p>
            <a:pPr>
              <a:buFont typeface="Wingdings" panose="05000000000000000000" pitchFamily="2" charset="2"/>
              <a:buChar char="Ø"/>
            </a:pPr>
            <a:r>
              <a:rPr lang="en-US" altLang="ar-SY" dirty="0" smtClean="0">
                <a:latin typeface="Times New Roman" panose="02020603050405020304" pitchFamily="18" charset="0"/>
                <a:cs typeface="Times New Roman" panose="02020603050405020304" pitchFamily="18" charset="0"/>
              </a:rPr>
              <a:t>In neurons, the resting membrane potential is usually about –70 mV.</a:t>
            </a:r>
          </a:p>
          <a:p>
            <a:pPr>
              <a:buFont typeface="Wingdings" panose="05000000000000000000" pitchFamily="2" charset="2"/>
              <a:buChar char="Ø"/>
            </a:pPr>
            <a:r>
              <a:rPr lang="en-US" altLang="ar-SY" dirty="0" smtClean="0">
                <a:latin typeface="Times New Roman" panose="02020603050405020304" pitchFamily="18" charset="0"/>
                <a:cs typeface="Times New Roman" panose="02020603050405020304" pitchFamily="18" charset="0"/>
              </a:rPr>
              <a:t>Meaning, the potential inside the neuron is 70 millivolts more negative than the potential in the extracellular.</a:t>
            </a:r>
          </a:p>
          <a:p>
            <a:pPr>
              <a:buFont typeface="Wingdings" panose="05000000000000000000" pitchFamily="2" charset="2"/>
              <a:buChar char="Ø"/>
            </a:pPr>
            <a:endParaRPr lang="en-US" altLang="ar-SY"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altLang="ar-SY"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8297011"/>
      </p:ext>
    </p:extLst>
  </p:cSld>
  <p:clrMapOvr>
    <a:masterClrMapping/>
  </p:clrMapOvr>
  <mc:AlternateContent xmlns:mc="http://schemas.openxmlformats.org/markup-compatibility/2006" xmlns:p14="http://schemas.microsoft.com/office/powerpoint/2010/main">
    <mc:Choice Requires="p14">
      <p:transition spd="slow" p14:dur="2000" advTm="80794"/>
    </mc:Choice>
    <mc:Fallback xmlns="">
      <p:transition spd="slow" advTm="80794"/>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685800"/>
            <a:ext cx="4800600" cy="52578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3" name="TextBox 2"/>
          <p:cNvSpPr txBox="1"/>
          <p:nvPr/>
        </p:nvSpPr>
        <p:spPr>
          <a:xfrm>
            <a:off x="5334000" y="304800"/>
            <a:ext cx="3657600" cy="6370975"/>
          </a:xfrm>
          <a:prstGeom prst="rect">
            <a:avLst/>
          </a:prstGeom>
          <a:noFill/>
        </p:spPr>
        <p:txBody>
          <a:bodyPr wrap="square" rtlCol="1">
            <a:spAutoFit/>
          </a:bodyPr>
          <a:lstStyle/>
          <a:p>
            <a:r>
              <a:rPr lang="en-GB" sz="2400" dirty="0" smtClean="0"/>
              <a:t>The sodium and calcium concentrations in the </a:t>
            </a:r>
            <a:r>
              <a:rPr lang="en-GB" sz="2400" b="1" dirty="0" smtClean="0">
                <a:solidFill>
                  <a:srgbClr val="0000CC"/>
                </a:solidFill>
              </a:rPr>
              <a:t>ECF</a:t>
            </a:r>
            <a:r>
              <a:rPr lang="en-GB" sz="2400" dirty="0" smtClean="0"/>
              <a:t> is more than that in the </a:t>
            </a:r>
            <a:r>
              <a:rPr lang="en-GB" sz="2400" b="1" dirty="0" smtClean="0">
                <a:solidFill>
                  <a:srgbClr val="0000CC"/>
                </a:solidFill>
              </a:rPr>
              <a:t>ICF</a:t>
            </a:r>
            <a:r>
              <a:rPr lang="en-GB" sz="2400" dirty="0" smtClean="0"/>
              <a:t>. The potassium concentration is the reversal. </a:t>
            </a:r>
          </a:p>
          <a:p>
            <a:r>
              <a:rPr lang="en-GB" sz="2400" dirty="0" smtClean="0"/>
              <a:t>The sodium/potassium pump keeps the concentration gradient constant by pumping out 3 sodium ions, pumping in </a:t>
            </a:r>
            <a:r>
              <a:rPr lang="en-GB" sz="2400" b="1" dirty="0" smtClean="0">
                <a:solidFill>
                  <a:srgbClr val="0000CC"/>
                </a:solidFill>
              </a:rPr>
              <a:t>2</a:t>
            </a:r>
            <a:r>
              <a:rPr lang="en-GB" sz="2400" dirty="0" smtClean="0"/>
              <a:t> potassium ion with the consumption of </a:t>
            </a:r>
            <a:r>
              <a:rPr lang="en-GB" sz="2400" b="1" dirty="0" smtClean="0">
                <a:solidFill>
                  <a:srgbClr val="0000CC"/>
                </a:solidFill>
              </a:rPr>
              <a:t>1</a:t>
            </a:r>
            <a:r>
              <a:rPr lang="en-GB" sz="2400" dirty="0" smtClean="0"/>
              <a:t> molecule of ATP</a:t>
            </a:r>
          </a:p>
          <a:p>
            <a:r>
              <a:rPr lang="en-GB" sz="2400" dirty="0" smtClean="0"/>
              <a:t>The calcium concentration gradient is kept by the functioning calcium pump</a:t>
            </a:r>
            <a:endParaRPr lang="ar-SY" sz="2400" dirty="0"/>
          </a:p>
        </p:txBody>
      </p:sp>
    </p:spTree>
    <p:extLst>
      <p:ext uri="{BB962C8B-B14F-4D97-AF65-F5344CB8AC3E}">
        <p14:creationId xmlns:p14="http://schemas.microsoft.com/office/powerpoint/2010/main" val="162200502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533400"/>
            <a:ext cx="4876800" cy="5867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3" name="TextBox 2"/>
          <p:cNvSpPr txBox="1"/>
          <p:nvPr/>
        </p:nvSpPr>
        <p:spPr>
          <a:xfrm>
            <a:off x="5334000" y="650944"/>
            <a:ext cx="3276600" cy="5632311"/>
          </a:xfrm>
          <a:prstGeom prst="rect">
            <a:avLst/>
          </a:prstGeom>
          <a:noFill/>
        </p:spPr>
        <p:txBody>
          <a:bodyPr wrap="square" rtlCol="1">
            <a:spAutoFit/>
          </a:bodyPr>
          <a:lstStyle/>
          <a:p>
            <a:r>
              <a:rPr lang="en-GB" sz="2400" dirty="0" smtClean="0"/>
              <a:t>The EP of potassium is close to the resting membrane potential because potassium has leaky channels that expel potassium out making the inside more negative</a:t>
            </a:r>
          </a:p>
          <a:p>
            <a:r>
              <a:rPr lang="en-GB" sz="2400" dirty="0" smtClean="0"/>
              <a:t>This same effect happens where the phase of hyperpolarization occur, for the potassium ion desires to reach a state of equilibrium at </a:t>
            </a:r>
            <a:r>
              <a:rPr lang="en-GB" sz="2400" b="1" dirty="0" smtClean="0">
                <a:solidFill>
                  <a:srgbClr val="0000CC"/>
                </a:solidFill>
              </a:rPr>
              <a:t>-90 </a:t>
            </a:r>
            <a:r>
              <a:rPr lang="en-GB" sz="2400" dirty="0" smtClean="0"/>
              <a:t>mv</a:t>
            </a:r>
            <a:endParaRPr lang="ar-SY" sz="2400" dirty="0"/>
          </a:p>
        </p:txBody>
      </p:sp>
    </p:spTree>
    <p:extLst>
      <p:ext uri="{BB962C8B-B14F-4D97-AF65-F5344CB8AC3E}">
        <p14:creationId xmlns:p14="http://schemas.microsoft.com/office/powerpoint/2010/main" val="38294769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381000"/>
            <a:ext cx="4800600" cy="59436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3" name="Rectangle 2"/>
          <p:cNvSpPr/>
          <p:nvPr/>
        </p:nvSpPr>
        <p:spPr>
          <a:xfrm>
            <a:off x="5486400" y="914400"/>
            <a:ext cx="3352800" cy="4876800"/>
          </a:xfrm>
          <a:prstGeom prst="rect">
            <a:avLst/>
          </a:prstGeom>
        </p:spPr>
        <p:style>
          <a:lnRef idx="2">
            <a:schemeClr val="accent1"/>
          </a:lnRef>
          <a:fillRef idx="1">
            <a:schemeClr val="lt1"/>
          </a:fillRef>
          <a:effectRef idx="0">
            <a:schemeClr val="accent1"/>
          </a:effectRef>
          <a:fontRef idx="minor">
            <a:schemeClr val="dk1"/>
          </a:fontRef>
        </p:style>
        <p:txBody>
          <a:bodyPr rtlCol="1" anchor="ctr"/>
          <a:lstStyle/>
          <a:p>
            <a:pPr algn="ctr"/>
            <a:r>
              <a:rPr lang="en-GB" sz="2800" b="1" dirty="0" smtClean="0">
                <a:solidFill>
                  <a:srgbClr val="0000CC"/>
                </a:solidFill>
                <a:effectLst>
                  <a:outerShdw blurRad="38100" dist="38100" dir="2700000" algn="tl">
                    <a:srgbClr val="000000">
                      <a:alpha val="43137"/>
                    </a:srgbClr>
                  </a:outerShdw>
                </a:effectLst>
              </a:rPr>
              <a:t>Conductance (g)</a:t>
            </a:r>
            <a:r>
              <a:rPr lang="en-GB" sz="2800" dirty="0" smtClean="0"/>
              <a:t> of an ion through a cell </a:t>
            </a:r>
            <a:r>
              <a:rPr lang="en-GB" sz="2800" dirty="0" smtClean="0"/>
              <a:t>membrane is the flow of the ion </a:t>
            </a:r>
            <a:endParaRPr lang="en-GB" sz="2800" dirty="0" smtClean="0"/>
          </a:p>
          <a:p>
            <a:pPr algn="ctr"/>
            <a:r>
              <a:rPr lang="en-GB" sz="2800" dirty="0" smtClean="0"/>
              <a:t>g(sodium</a:t>
            </a:r>
            <a:r>
              <a:rPr lang="en-GB" sz="2800" dirty="0" smtClean="0"/>
              <a:t>)</a:t>
            </a:r>
          </a:p>
          <a:p>
            <a:pPr algn="ctr"/>
            <a:r>
              <a:rPr lang="en-GB" sz="2800" dirty="0" smtClean="0"/>
              <a:t>g(potassium)</a:t>
            </a:r>
            <a:endParaRPr lang="ar-SY" sz="2800" dirty="0"/>
          </a:p>
        </p:txBody>
      </p:sp>
    </p:spTree>
    <p:extLst>
      <p:ext uri="{BB962C8B-B14F-4D97-AF65-F5344CB8AC3E}">
        <p14:creationId xmlns:p14="http://schemas.microsoft.com/office/powerpoint/2010/main" val="358587692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solidFill>
                  <a:srgbClr val="0000CC"/>
                </a:solidFill>
              </a:rPr>
              <a:t>What is an action potential?</a:t>
            </a:r>
            <a:endParaRPr lang="ar-SY" b="1" dirty="0">
              <a:solidFill>
                <a:srgbClr val="0000CC"/>
              </a:solidFill>
            </a:endParaRPr>
          </a:p>
        </p:txBody>
      </p:sp>
      <p:sp>
        <p:nvSpPr>
          <p:cNvPr id="3" name="Content Placeholder 2"/>
          <p:cNvSpPr>
            <a:spLocks noGrp="1"/>
          </p:cNvSpPr>
          <p:nvPr>
            <p:ph idx="1"/>
          </p:nvPr>
        </p:nvSpPr>
        <p:spPr/>
        <p:txBody>
          <a:bodyPr/>
          <a:lstStyle/>
          <a:p>
            <a:pPr>
              <a:buFont typeface="Wingdings" panose="05000000000000000000" pitchFamily="2" charset="2"/>
              <a:buChar char="Ø"/>
            </a:pPr>
            <a:r>
              <a:rPr lang="en-GB" dirty="0" smtClean="0"/>
              <a:t>It is the rapid, reversible change of the membrane potential due to threshold stimulation</a:t>
            </a:r>
          </a:p>
          <a:p>
            <a:pPr>
              <a:buFont typeface="Wingdings" panose="05000000000000000000" pitchFamily="2" charset="2"/>
              <a:buChar char="Ø"/>
            </a:pPr>
            <a:endParaRPr lang="en-GB" dirty="0"/>
          </a:p>
          <a:p>
            <a:pPr>
              <a:buFont typeface="Wingdings" panose="05000000000000000000" pitchFamily="2" charset="2"/>
              <a:buChar char="Ø"/>
            </a:pPr>
            <a:r>
              <a:rPr lang="en-GB" b="1" dirty="0" smtClean="0"/>
              <a:t>Mind you: the stimulation has to be a threshold, otherwise the membrane will not depolarize</a:t>
            </a:r>
            <a:endParaRPr lang="ar-SY" b="1" dirty="0"/>
          </a:p>
        </p:txBody>
      </p:sp>
    </p:spTree>
    <p:extLst>
      <p:ext uri="{BB962C8B-B14F-4D97-AF65-F5344CB8AC3E}">
        <p14:creationId xmlns:p14="http://schemas.microsoft.com/office/powerpoint/2010/main" val="2602569905"/>
      </p:ext>
    </p:extLst>
  </p:cSld>
  <p:clrMapOvr>
    <a:masterClrMapping/>
  </p:clrMapOvr>
  <mc:AlternateContent xmlns:mc="http://schemas.openxmlformats.org/markup-compatibility/2006" xmlns:p14="http://schemas.microsoft.com/office/powerpoint/2010/main">
    <mc:Choice Requires="p14">
      <p:transition spd="slow" p14:dur="2000" advTm="79600"/>
    </mc:Choice>
    <mc:Fallback xmlns="">
      <p:transition spd="slow" advTm="79600"/>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228600"/>
            <a:ext cx="4648200" cy="5715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3" name="Rectangle 2"/>
          <p:cNvSpPr/>
          <p:nvPr/>
        </p:nvSpPr>
        <p:spPr>
          <a:xfrm>
            <a:off x="5181600" y="838200"/>
            <a:ext cx="3733800" cy="4876800"/>
          </a:xfrm>
          <a:prstGeom prst="rect">
            <a:avLst/>
          </a:prstGeom>
        </p:spPr>
        <p:style>
          <a:lnRef idx="2">
            <a:schemeClr val="accent1"/>
          </a:lnRef>
          <a:fillRef idx="1">
            <a:schemeClr val="lt1"/>
          </a:fillRef>
          <a:effectRef idx="0">
            <a:schemeClr val="accent1"/>
          </a:effectRef>
          <a:fontRef idx="minor">
            <a:schemeClr val="dk1"/>
          </a:fontRef>
        </p:style>
        <p:txBody>
          <a:bodyPr rtlCol="1" anchor="ctr"/>
          <a:lstStyle/>
          <a:p>
            <a:r>
              <a:rPr lang="en-GB" sz="3200" b="1" dirty="0" smtClean="0">
                <a:solidFill>
                  <a:srgbClr val="0000CC"/>
                </a:solidFill>
              </a:rPr>
              <a:t>Characteristics of an action potential:</a:t>
            </a:r>
          </a:p>
          <a:p>
            <a:pPr marL="457200" indent="-457200" algn="ctr">
              <a:buFont typeface="Wingdings" panose="05000000000000000000" pitchFamily="2" charset="2"/>
              <a:buChar char="Ø"/>
            </a:pPr>
            <a:r>
              <a:rPr lang="en-GB" sz="3200" dirty="0" smtClean="0"/>
              <a:t>All or none law…..</a:t>
            </a:r>
          </a:p>
          <a:p>
            <a:pPr marL="457200" indent="-457200" algn="ctr">
              <a:buFont typeface="Wingdings" panose="05000000000000000000" pitchFamily="2" charset="2"/>
              <a:buChar char="Ø"/>
            </a:pPr>
            <a:r>
              <a:rPr lang="en-GB" sz="3200" dirty="0" smtClean="0"/>
              <a:t>Propagation………. </a:t>
            </a:r>
          </a:p>
          <a:p>
            <a:pPr marL="457200" indent="-457200" algn="ctr">
              <a:buFont typeface="Wingdings" panose="05000000000000000000" pitchFamily="2" charset="2"/>
              <a:buChar char="Ø"/>
            </a:pPr>
            <a:r>
              <a:rPr lang="en-GB" sz="3200" dirty="0" smtClean="0"/>
              <a:t>Refractory period.</a:t>
            </a:r>
            <a:endParaRPr lang="ar-SY" sz="3200" dirty="0"/>
          </a:p>
        </p:txBody>
      </p:sp>
    </p:spTree>
    <p:extLst>
      <p:ext uri="{BB962C8B-B14F-4D97-AF65-F5344CB8AC3E}">
        <p14:creationId xmlns:p14="http://schemas.microsoft.com/office/powerpoint/2010/main" val="328275267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533400"/>
            <a:ext cx="5147310" cy="57912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3" name="Rounded Rectangle 2"/>
          <p:cNvSpPr/>
          <p:nvPr/>
        </p:nvSpPr>
        <p:spPr>
          <a:xfrm>
            <a:off x="5867400" y="1485900"/>
            <a:ext cx="3124200" cy="3886200"/>
          </a:xfrm>
          <a:prstGeom prst="roundRect">
            <a:avLst/>
          </a:prstGeom>
        </p:spPr>
        <p:style>
          <a:lnRef idx="2">
            <a:schemeClr val="accent1"/>
          </a:lnRef>
          <a:fillRef idx="1">
            <a:schemeClr val="lt1"/>
          </a:fillRef>
          <a:effectRef idx="0">
            <a:schemeClr val="accent1"/>
          </a:effectRef>
          <a:fontRef idx="minor">
            <a:schemeClr val="dk1"/>
          </a:fontRef>
        </p:style>
        <p:txBody>
          <a:bodyPr rtlCol="1" anchor="ctr"/>
          <a:lstStyle/>
          <a:p>
            <a:pPr algn="ctr"/>
            <a:r>
              <a:rPr lang="en-GB" sz="3200" b="1" dirty="0" smtClean="0">
                <a:solidFill>
                  <a:srgbClr val="0000CC"/>
                </a:solidFill>
              </a:rPr>
              <a:t>The structure of an ion channel</a:t>
            </a:r>
            <a:endParaRPr lang="ar-SY" sz="3200" b="1" dirty="0">
              <a:solidFill>
                <a:srgbClr val="0000CC"/>
              </a:solidFill>
            </a:endParaRPr>
          </a:p>
        </p:txBody>
      </p:sp>
    </p:spTree>
    <p:extLst>
      <p:ext uri="{BB962C8B-B14F-4D97-AF65-F5344CB8AC3E}">
        <p14:creationId xmlns:p14="http://schemas.microsoft.com/office/powerpoint/2010/main" val="18132109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381000"/>
            <a:ext cx="7543800" cy="5867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7627289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304800"/>
            <a:ext cx="7543800" cy="57912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2299533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304801"/>
            <a:ext cx="7848600" cy="5105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3" name="Rectangle 2"/>
          <p:cNvSpPr/>
          <p:nvPr/>
        </p:nvSpPr>
        <p:spPr>
          <a:xfrm>
            <a:off x="457200" y="5943600"/>
            <a:ext cx="8001000" cy="685800"/>
          </a:xfrm>
          <a:prstGeom prst="rect">
            <a:avLst/>
          </a:prstGeom>
        </p:spPr>
        <p:style>
          <a:lnRef idx="2">
            <a:schemeClr val="accent1"/>
          </a:lnRef>
          <a:fillRef idx="1">
            <a:schemeClr val="lt1"/>
          </a:fillRef>
          <a:effectRef idx="0">
            <a:schemeClr val="accent1"/>
          </a:effectRef>
          <a:fontRef idx="minor">
            <a:schemeClr val="dk1"/>
          </a:fontRef>
        </p:style>
        <p:txBody>
          <a:bodyPr rtlCol="1" anchor="ctr"/>
          <a:lstStyle/>
          <a:p>
            <a:pPr algn="ctr"/>
            <a:r>
              <a:rPr lang="en-GB" sz="2400" b="1" dirty="0" smtClean="0">
                <a:solidFill>
                  <a:srgbClr val="0000CC"/>
                </a:solidFill>
              </a:rPr>
              <a:t>Name the phases and the mechanism of genesis…</a:t>
            </a:r>
            <a:endParaRPr lang="ar-SY" sz="2400" b="1" dirty="0">
              <a:solidFill>
                <a:srgbClr val="0000CC"/>
              </a:solidFill>
            </a:endParaRPr>
          </a:p>
        </p:txBody>
      </p:sp>
    </p:spTree>
    <p:extLst>
      <p:ext uri="{BB962C8B-B14F-4D97-AF65-F5344CB8AC3E}">
        <p14:creationId xmlns:p14="http://schemas.microsoft.com/office/powerpoint/2010/main" val="109655445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defRPr/>
            </a:pPr>
            <a:r>
              <a:rPr lang="en-US" b="1" dirty="0" smtClean="0">
                <a:effectLst/>
                <a:latin typeface="Times New Roman" pitchFamily="18" charset="0"/>
                <a:cs typeface="Times New Roman" pitchFamily="18" charset="0"/>
              </a:rPr>
              <a:t>Threshold</a:t>
            </a:r>
            <a:br>
              <a:rPr lang="en-US" b="1" dirty="0" smtClean="0">
                <a:effectLst/>
                <a:latin typeface="Times New Roman" pitchFamily="18" charset="0"/>
                <a:cs typeface="Times New Roman" pitchFamily="18" charset="0"/>
              </a:rPr>
            </a:br>
            <a:endParaRPr lang="en-US" b="1" dirty="0">
              <a:effectLst/>
              <a:latin typeface="Times New Roman" pitchFamily="18" charset="0"/>
              <a:cs typeface="Times New Roman" pitchFamily="18" charset="0"/>
            </a:endParaRPr>
          </a:p>
        </p:txBody>
      </p:sp>
      <p:sp>
        <p:nvSpPr>
          <p:cNvPr id="24579" name="Content Placeholder 2"/>
          <p:cNvSpPr>
            <a:spLocks noGrp="1"/>
          </p:cNvSpPr>
          <p:nvPr>
            <p:ph idx="1"/>
          </p:nvPr>
        </p:nvSpPr>
        <p:spPr/>
        <p:txBody>
          <a:bodyPr/>
          <a:lstStyle/>
          <a:p>
            <a:pPr marL="609600" indent="-609600" eaLnBrk="1" hangingPunct="1">
              <a:lnSpc>
                <a:spcPct val="90000"/>
              </a:lnSpc>
              <a:buFont typeface="Wingdings 2" panose="05020102010507070707" pitchFamily="18" charset="2"/>
              <a:buNone/>
              <a:defRPr/>
            </a:pPr>
            <a:r>
              <a:rPr lang="en-US" sz="4000" b="1" dirty="0" smtClean="0">
                <a:latin typeface="Times New Roman" pitchFamily="18" charset="0"/>
                <a:cs typeface="Times New Roman" pitchFamily="18" charset="0"/>
              </a:rPr>
              <a:t>    </a:t>
            </a:r>
            <a:r>
              <a:rPr lang="en-US" b="1" dirty="0" smtClean="0">
                <a:solidFill>
                  <a:srgbClr val="0000CC"/>
                </a:solidFill>
                <a:latin typeface="Times New Roman" pitchFamily="18" charset="0"/>
                <a:cs typeface="Times New Roman" pitchFamily="18" charset="0"/>
              </a:rPr>
              <a:t>Threshold</a:t>
            </a:r>
            <a:r>
              <a:rPr lang="en-US" b="1" dirty="0" smtClean="0">
                <a:solidFill>
                  <a:schemeClr val="tx2"/>
                </a:solidFill>
                <a:latin typeface="Times New Roman" pitchFamily="18" charset="0"/>
                <a:cs typeface="Times New Roman" pitchFamily="18" charset="0"/>
              </a:rPr>
              <a:t> </a:t>
            </a:r>
            <a:r>
              <a:rPr lang="en-US" b="1" dirty="0" smtClean="0">
                <a:latin typeface="Times New Roman" pitchFamily="18" charset="0"/>
                <a:cs typeface="Times New Roman" pitchFamily="18" charset="0"/>
              </a:rPr>
              <a:t>is excitation point is also known</a:t>
            </a:r>
            <a:r>
              <a:rPr lang="en-US" b="1" dirty="0" smtClean="0">
                <a:solidFill>
                  <a:schemeClr val="tx2"/>
                </a:solidFill>
                <a:latin typeface="Times New Roman" pitchFamily="18" charset="0"/>
                <a:cs typeface="Times New Roman" pitchFamily="18" charset="0"/>
              </a:rPr>
              <a:t> </a:t>
            </a:r>
            <a:r>
              <a:rPr lang="en-US" b="1" dirty="0" smtClean="0">
                <a:latin typeface="Times New Roman" pitchFamily="18" charset="0"/>
                <a:cs typeface="Times New Roman" pitchFamily="18" charset="0"/>
              </a:rPr>
              <a:t>(</a:t>
            </a:r>
            <a:r>
              <a:rPr lang="sr-Cyrl-CS" b="1" dirty="0" smtClean="0">
                <a:latin typeface="Times New Roman" pitchFamily="18" charset="0"/>
                <a:cs typeface="Times New Roman" pitchFamily="18" charset="0"/>
              </a:rPr>
              <a:t>firing level</a:t>
            </a:r>
            <a:r>
              <a:rPr lang="en-US" dirty="0" smtClean="0">
                <a:latin typeface="Times New Roman" pitchFamily="18" charset="0"/>
                <a:cs typeface="Times New Roman" pitchFamily="18" charset="0"/>
              </a:rPr>
              <a:t>) about (-55mV)</a:t>
            </a:r>
          </a:p>
          <a:p>
            <a:pPr marL="609600" indent="-609600" eaLnBrk="1" hangingPunct="1">
              <a:lnSpc>
                <a:spcPct val="90000"/>
              </a:lnSpc>
              <a:defRPr/>
            </a:pPr>
            <a:r>
              <a:rPr lang="en-US" dirty="0" smtClean="0">
                <a:latin typeface="Times New Roman" pitchFamily="18" charset="0"/>
                <a:cs typeface="Times New Roman" pitchFamily="18" charset="0"/>
              </a:rPr>
              <a:t>If the force of the stimulus reaches the </a:t>
            </a:r>
            <a:r>
              <a:rPr lang="en-US" b="1" dirty="0" smtClean="0">
                <a:latin typeface="Times New Roman" pitchFamily="18" charset="0"/>
                <a:cs typeface="Times New Roman" pitchFamily="18" charset="0"/>
              </a:rPr>
              <a:t>threshold, then the stimulus is called </a:t>
            </a:r>
          </a:p>
          <a:p>
            <a:pPr marL="609600" indent="-609600" algn="ctr" eaLnBrk="1" hangingPunct="1">
              <a:lnSpc>
                <a:spcPct val="90000"/>
              </a:lnSpc>
              <a:buFont typeface="Wingdings 2" panose="05020102010507070707" pitchFamily="18" charset="2"/>
              <a:buNone/>
              <a:defRPr/>
            </a:pPr>
            <a:r>
              <a:rPr lang="en-US" b="1" i="1" dirty="0" smtClean="0">
                <a:solidFill>
                  <a:srgbClr val="0000CC"/>
                </a:solidFill>
                <a:latin typeface="Times New Roman" pitchFamily="18" charset="0"/>
                <a:cs typeface="Times New Roman" pitchFamily="18" charset="0"/>
              </a:rPr>
              <a:t>threshold stimulus</a:t>
            </a:r>
          </a:p>
          <a:p>
            <a:pPr marL="609600" indent="-609600" eaLnBrk="1" hangingPunct="1">
              <a:lnSpc>
                <a:spcPct val="90000"/>
              </a:lnSpc>
              <a:buFont typeface="Wingdings 2" panose="05020102010507070707" pitchFamily="18" charset="2"/>
              <a:buNone/>
              <a:defRPr/>
            </a:pPr>
            <a:r>
              <a:rPr lang="en-US" dirty="0" smtClean="0">
                <a:latin typeface="Times New Roman" pitchFamily="18" charset="0"/>
                <a:cs typeface="Times New Roman" pitchFamily="18" charset="0"/>
              </a:rPr>
              <a:t>opening of voltage-gated Na+ and K+ channels</a:t>
            </a:r>
            <a:endParaRPr lang="en-US" b="1" dirty="0" smtClean="0">
              <a:latin typeface="Times New Roman" pitchFamily="18" charset="0"/>
              <a:cs typeface="Times New Roman" pitchFamily="18" charset="0"/>
            </a:endParaRPr>
          </a:p>
          <a:p>
            <a:pPr marL="609600" indent="-609600" algn="ctr" eaLnBrk="1" hangingPunct="1">
              <a:lnSpc>
                <a:spcPct val="90000"/>
              </a:lnSpc>
              <a:buFont typeface="Wingdings 2" panose="05020102010507070707" pitchFamily="18" charset="2"/>
              <a:buNone/>
              <a:defRPr/>
            </a:pPr>
            <a:r>
              <a:rPr lang="en-US" b="1" dirty="0" smtClean="0">
                <a:latin typeface="Times New Roman" pitchFamily="18" charset="0"/>
                <a:cs typeface="Times New Roman" pitchFamily="18" charset="0"/>
              </a:rPr>
              <a:t>If not reached , action potential never occur </a:t>
            </a:r>
            <a:r>
              <a:rPr lang="en-US" b="1" dirty="0" smtClean="0">
                <a:solidFill>
                  <a:schemeClr val="tx1">
                    <a:lumMod val="95000"/>
                    <a:lumOff val="5000"/>
                  </a:schemeClr>
                </a:solidFill>
                <a:latin typeface="Times New Roman" pitchFamily="18" charset="0"/>
                <a:cs typeface="Times New Roman" pitchFamily="18" charset="0"/>
              </a:rPr>
              <a:t>“ </a:t>
            </a:r>
            <a:r>
              <a:rPr lang="en-US" b="1" i="1" dirty="0" smtClean="0">
                <a:solidFill>
                  <a:srgbClr val="0000CC"/>
                </a:solidFill>
                <a:latin typeface="Times New Roman" pitchFamily="18" charset="0"/>
                <a:cs typeface="Times New Roman" pitchFamily="18" charset="0"/>
              </a:rPr>
              <a:t>All or None Law </a:t>
            </a:r>
            <a:r>
              <a:rPr lang="en-US" b="1" dirty="0" smtClean="0">
                <a:solidFill>
                  <a:srgbClr val="0000CC"/>
                </a:solidFill>
                <a:latin typeface="Times New Roman" pitchFamily="18" charset="0"/>
                <a:cs typeface="Times New Roman" pitchFamily="18" charset="0"/>
              </a:rPr>
              <a:t>”</a:t>
            </a:r>
          </a:p>
          <a:p>
            <a:pPr>
              <a:defRPr/>
            </a:pPr>
            <a:endParaRPr lang="en-US"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762225422"/>
      </p:ext>
    </p:extLst>
  </p:cSld>
  <p:clrMapOvr>
    <a:masterClrMapping/>
  </p:clrMapOvr>
  <mc:AlternateContent xmlns:mc="http://schemas.openxmlformats.org/markup-compatibility/2006" xmlns:p14="http://schemas.microsoft.com/office/powerpoint/2010/main">
    <mc:Choice Requires="p14">
      <p:transition spd="slow" p14:dur="2000" advTm="62278"/>
    </mc:Choice>
    <mc:Fallback xmlns="">
      <p:transition spd="slow" advTm="62278"/>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solidFill>
                  <a:srgbClr val="0000CC"/>
                </a:solidFill>
              </a:rPr>
              <a:t>Physiology lit. (recommended)…</a:t>
            </a:r>
            <a:endParaRPr lang="ar-SY" b="1" dirty="0">
              <a:solidFill>
                <a:srgbClr val="0000CC"/>
              </a:solidFill>
            </a:endParaRPr>
          </a:p>
        </p:txBody>
      </p:sp>
      <p:sp>
        <p:nvSpPr>
          <p:cNvPr id="3" name="Content Placeholder 2"/>
          <p:cNvSpPr>
            <a:spLocks noGrp="1"/>
          </p:cNvSpPr>
          <p:nvPr>
            <p:ph idx="1"/>
          </p:nvPr>
        </p:nvSpPr>
        <p:spPr/>
        <p:txBody>
          <a:bodyPr/>
          <a:lstStyle/>
          <a:p>
            <a:pPr>
              <a:buFont typeface="Wingdings" panose="05000000000000000000" pitchFamily="2" charset="2"/>
              <a:buChar char="Ø"/>
            </a:pPr>
            <a:r>
              <a:rPr lang="en-GB" dirty="0" smtClean="0"/>
              <a:t>Guyton and Hall textbook of physiology</a:t>
            </a:r>
          </a:p>
          <a:p>
            <a:pPr>
              <a:buFont typeface="Wingdings" panose="05000000000000000000" pitchFamily="2" charset="2"/>
              <a:buChar char="Ø"/>
            </a:pPr>
            <a:r>
              <a:rPr lang="en-GB" dirty="0" smtClean="0"/>
              <a:t>Lippincott illustrated physiology </a:t>
            </a:r>
          </a:p>
          <a:p>
            <a:pPr>
              <a:buFont typeface="Wingdings" panose="05000000000000000000" pitchFamily="2" charset="2"/>
              <a:buChar char="Ø"/>
            </a:pPr>
            <a:r>
              <a:rPr lang="en-GB" dirty="0" smtClean="0"/>
              <a:t>Ganong review of medical physiology</a:t>
            </a:r>
          </a:p>
          <a:p>
            <a:pPr>
              <a:buFont typeface="Wingdings" panose="05000000000000000000" pitchFamily="2" charset="2"/>
              <a:buChar char="Ø"/>
            </a:pPr>
            <a:r>
              <a:rPr lang="en-GB" dirty="0" smtClean="0"/>
              <a:t>Linda Costanzo textbook of medical physiology</a:t>
            </a:r>
          </a:p>
          <a:p>
            <a:pPr>
              <a:buFont typeface="Wingdings" panose="05000000000000000000" pitchFamily="2" charset="2"/>
              <a:buChar char="Ø"/>
            </a:pPr>
            <a:r>
              <a:rPr lang="en-GB" dirty="0" smtClean="0"/>
              <a:t>BRS, Linda Costanzo</a:t>
            </a:r>
          </a:p>
          <a:p>
            <a:pPr>
              <a:buFont typeface="Wingdings" panose="05000000000000000000" pitchFamily="2" charset="2"/>
              <a:buChar char="Ø"/>
            </a:pPr>
            <a:r>
              <a:rPr lang="en-GB" dirty="0" smtClean="0"/>
              <a:t>Essential to physiology  </a:t>
            </a:r>
            <a:endParaRPr lang="ar-SY" dirty="0"/>
          </a:p>
        </p:txBody>
      </p:sp>
    </p:spTree>
    <p:extLst>
      <p:ext uri="{BB962C8B-B14F-4D97-AF65-F5344CB8AC3E}">
        <p14:creationId xmlns:p14="http://schemas.microsoft.com/office/powerpoint/2010/main" val="374244604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سمة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2117</TotalTime>
  <Words>725</Words>
  <Application>Microsoft Office PowerPoint</Application>
  <PresentationFormat>On-screen Show (4:3)</PresentationFormat>
  <Paragraphs>85</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Andalus</vt:lpstr>
      <vt:lpstr>Arial</vt:lpstr>
      <vt:lpstr>Calibri</vt:lpstr>
      <vt:lpstr>Times New Roman</vt:lpstr>
      <vt:lpstr>Wingdings</vt:lpstr>
      <vt:lpstr>Wingdings 2</vt:lpstr>
      <vt:lpstr>Office Theme</vt:lpstr>
      <vt:lpstr>PowerPoint Presentation</vt:lpstr>
      <vt:lpstr>Back to basics…</vt:lpstr>
      <vt:lpstr>Reminder…</vt:lpstr>
      <vt:lpstr>PowerPoint Presentation</vt:lpstr>
      <vt:lpstr>PowerPoint Presentation</vt:lpstr>
      <vt:lpstr>EP for the most important ions…</vt:lpstr>
      <vt:lpstr>PowerPoint Presentation</vt:lpstr>
      <vt:lpstr>Nernst equation</vt:lpstr>
      <vt:lpstr>PowerPoint Presentation</vt:lpstr>
      <vt:lpstr>Resting Membrane Potential </vt:lpstr>
      <vt:lpstr>PowerPoint Presentation</vt:lpstr>
      <vt:lpstr>PowerPoint Presentation</vt:lpstr>
      <vt:lpstr>PowerPoint Presentation</vt:lpstr>
      <vt:lpstr>What is an action potential?</vt:lpstr>
      <vt:lpstr>PowerPoint Presentation</vt:lpstr>
      <vt:lpstr>PowerPoint Presentation</vt:lpstr>
      <vt:lpstr>PowerPoint Presentation</vt:lpstr>
      <vt:lpstr>PowerPoint Presentation</vt:lpstr>
      <vt:lpstr>PowerPoint Presentation</vt:lpstr>
      <vt:lpstr>Threshold </vt:lpstr>
      <vt:lpstr>Physiology lit. (recommended)…</vt:lpstr>
    </vt:vector>
  </TitlesOfParts>
  <Company>Hewlett-Packard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الشريحة 1</dc:title>
  <dc:creator>user</dc:creator>
  <cp:lastModifiedBy>Mazin</cp:lastModifiedBy>
  <cp:revision>158</cp:revision>
  <dcterms:created xsi:type="dcterms:W3CDTF">2011-10-28T06:59:14Z</dcterms:created>
  <dcterms:modified xsi:type="dcterms:W3CDTF">2023-11-17T17:06:02Z</dcterms:modified>
</cp:coreProperties>
</file>