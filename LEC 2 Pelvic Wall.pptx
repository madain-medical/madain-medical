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403" r:id="rId14"/>
    <p:sldId id="421" r:id="rId15"/>
    <p:sldId id="423" r:id="rId16"/>
    <p:sldId id="268" r:id="rId17"/>
    <p:sldId id="269" r:id="rId18"/>
    <p:sldId id="270" r:id="rId19"/>
    <p:sldId id="271" r:id="rId20"/>
    <p:sldId id="272" r:id="rId21"/>
    <p:sldId id="424" r:id="rId22"/>
    <p:sldId id="273" r:id="rId23"/>
    <p:sldId id="274" r:id="rId24"/>
    <p:sldId id="275" r:id="rId25"/>
    <p:sldId id="30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34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46174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617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4450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04792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53160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97218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95187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76081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36824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82010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C8581BE-E113-4AED-B282-50B1EEDAC34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85C237F-B409-48DA-8562-C187936B303A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6480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A0893D-7DCB-4E45-9542-5BD279457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Pelvic wall</a:t>
            </a:r>
            <a:endParaRPr lang="en-SD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7019C4F-1641-40E3-A469-F804024AF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070" y="4553147"/>
            <a:ext cx="8767860" cy="57267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BY: M. G. HAMMAD</a:t>
            </a:r>
            <a:endParaRPr lang="en-SD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69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STRUCTURE OF THE PELVIC WALLS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 bones and ligaments.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Which partly lined with muscles.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Covered with fascia and parietal peritoneum.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It has: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Anterior wall.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Lateral wall.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Posterior wall.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Inferior wall {pelvic floor}.</a:t>
            </a:r>
            <a:endParaRPr lang="en-SD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5" name="Content Placeholder 4" descr="F66122-005-f076a">
            <a:extLst>
              <a:ext uri="{FF2B5EF4-FFF2-40B4-BE49-F238E27FC236}">
                <a16:creationId xmlns="" xmlns:a16="http://schemas.microsoft.com/office/drawing/2014/main" id="{39B2CFE4-0F31-4BE3-B39F-103723A6251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684309" y="1281470"/>
            <a:ext cx="5278306" cy="557653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17085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Anterior Wall</a:t>
            </a:r>
            <a:endParaRPr lang="en-SD" sz="32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by: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Posterior surfaces of the bodies of the pubic bones.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Pubic rami.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Symphysis pubis.</a:t>
            </a:r>
            <a:endParaRPr lang="en-SD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7" name="Picture 4" descr="F66122-005-f025">
            <a:extLst>
              <a:ext uri="{FF2B5EF4-FFF2-40B4-BE49-F238E27FC236}">
                <a16:creationId xmlns="" xmlns:a16="http://schemas.microsoft.com/office/drawing/2014/main" id="{4A15B0AD-7F68-4B0C-BCEF-F301E775483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l="17555" t="-26" r="18086" b="4045"/>
          <a:stretch>
            <a:fillRect/>
          </a:stretch>
        </p:blipFill>
        <p:spPr>
          <a:xfrm>
            <a:off x="6750297" y="1253764"/>
            <a:ext cx="5202892" cy="560423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57089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Posterior Wall</a:t>
            </a:r>
            <a:endParaRPr lang="en-SD" sz="32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Extensive wall.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by:</a:t>
            </a:r>
          </a:p>
          <a:p>
            <a:pPr marL="560070" indent="-514350">
              <a:buFont typeface="+mj-lt"/>
              <a:buAutoNum type="romanLcPeriod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Sacrum and coccyx.</a:t>
            </a:r>
          </a:p>
          <a:p>
            <a:pPr marL="560070" indent="-514350">
              <a:buFont typeface="+mj-lt"/>
              <a:buAutoNum type="romanLcPeriod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Piriformis muscles with their covering of parietal pelvic fascia.</a:t>
            </a:r>
          </a:p>
        </p:txBody>
      </p:sp>
      <p:pic>
        <p:nvPicPr>
          <p:cNvPr id="8" name="Picture 4" descr="F71683-108-f002">
            <a:extLst>
              <a:ext uri="{FF2B5EF4-FFF2-40B4-BE49-F238E27FC236}">
                <a16:creationId xmlns="" xmlns:a16="http://schemas.microsoft.com/office/drawing/2014/main" id="{FE7E937C-2977-4550-85CE-7AF289350AB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b="3230"/>
          <a:stretch>
            <a:fillRect/>
          </a:stretch>
        </p:blipFill>
        <p:spPr>
          <a:xfrm>
            <a:off x="6363093" y="2205872"/>
            <a:ext cx="5797894" cy="3631512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02258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Lateral Wall</a:t>
            </a:r>
            <a:endParaRPr lang="en-SD" sz="32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090475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by: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Part of the hip bone below the pelvic inlet.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Obturator membrane.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Sacro tuberous and sacrospinous ligaments.</a:t>
            </a:r>
          </a:p>
          <a:p>
            <a:pPr marL="560070" indent="-514350">
              <a:buFont typeface="+mj-lt"/>
              <a:buAutoNum type="romanLcPeriod"/>
            </a:pP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Obturator internus muscle and its covering fascia.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643A212B-E9DB-4BD9-963F-BBB29F9E8D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D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98350A2-5580-4757-AA1B-29F9C7EE8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204" y="1687398"/>
            <a:ext cx="6441649" cy="44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Inferior Wall {Floor}</a:t>
            </a:r>
            <a:endParaRPr lang="en-SD" sz="32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090475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Pelvic diaphragm: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Stretches across pelvis and divides it into:</a:t>
            </a:r>
          </a:p>
          <a:p>
            <a:pPr marL="502920" indent="-457200">
              <a:buFont typeface="+mj-lt"/>
              <a:buAutoNum type="alphaLcPeriod"/>
            </a:pP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Main pelvic cavity </a:t>
            </a:r>
            <a:r>
              <a:rPr lang="en-US" altLang="en-SD" sz="2400" u="sng" dirty="0">
                <a:solidFill>
                  <a:schemeClr val="tx1"/>
                </a:solidFill>
                <a:latin typeface="Imprint MT Shadow" panose="04020605060303030202" pitchFamily="82" charset="0"/>
              </a:rPr>
              <a:t>above</a:t>
            </a: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.</a:t>
            </a:r>
          </a:p>
          <a:p>
            <a:pPr marL="502920" indent="-457200">
              <a:buFont typeface="+mj-lt"/>
              <a:buAutoNum type="alphaLcPeriod"/>
            </a:pP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Perineum </a:t>
            </a:r>
            <a:r>
              <a:rPr lang="en-US" altLang="en-SD" sz="2400" u="sng" dirty="0">
                <a:solidFill>
                  <a:schemeClr val="tx1"/>
                </a:solidFill>
                <a:latin typeface="Imprint MT Shadow" panose="04020605060303030202" pitchFamily="82" charset="0"/>
              </a:rPr>
              <a:t>below</a:t>
            </a: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.</a:t>
            </a:r>
            <a:endParaRPr lang="en-US" sz="2400" dirty="0">
              <a:solidFill>
                <a:schemeClr val="tx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643A212B-E9DB-4BD9-963F-BBB29F9E8D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D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98350A2-5580-4757-AA1B-29F9C7EE8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204" y="1687398"/>
            <a:ext cx="6441649" cy="44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1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Membranes &amp; Ligaments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Obturator Membrane</a:t>
            </a: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:</a:t>
            </a:r>
            <a:endParaRPr lang="en-US" sz="2400" dirty="0">
              <a:solidFill>
                <a:srgbClr val="0070C0"/>
              </a:solidFill>
              <a:latin typeface="Imprint MT Shadow" panose="04020605060303030202" pitchFamily="82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is a fibrous sheet.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Completely closes obturator foramen.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Leaving a small gap {obturator canal}.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The canal for passage of </a:t>
            </a:r>
            <a:r>
              <a:rPr lang="en-US" altLang="en-SD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obturator nerve</a:t>
            </a: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 and </a:t>
            </a:r>
            <a:r>
              <a:rPr lang="en-US" altLang="en-SD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vessels</a:t>
            </a: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.</a:t>
            </a:r>
            <a:endParaRPr lang="en-SD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="" xmlns:a16="http://schemas.microsoft.com/office/drawing/2014/main" id="{A7784DCD-5D00-49DC-81A7-6ECBA26B55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18" y="1368663"/>
            <a:ext cx="4354480" cy="507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96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Membranes &amp; Ligaments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Sacrotuberous ligament</a:t>
            </a: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:</a:t>
            </a:r>
            <a:endParaRPr lang="en-US" sz="2400" dirty="0">
              <a:solidFill>
                <a:srgbClr val="0070C0"/>
              </a:solidFill>
              <a:latin typeface="Imprint MT Shadow" panose="04020605060303030202" pitchFamily="82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is strong ligament.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Extends from lateral part of sacrum &amp; coccyx &amp; posterior inferior iliac spine to ischial tuberosity.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="" xmlns:a16="http://schemas.microsoft.com/office/drawing/2014/main" id="{A7784DCD-5D00-49DC-81A7-6ECBA26B55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18" y="1368663"/>
            <a:ext cx="4354480" cy="507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681F552-3E49-430D-8752-85ECA520A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532" y="1343629"/>
            <a:ext cx="4138612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8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Membranes &amp; Ligaments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SD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Sacrospinous ligament</a:t>
            </a: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:</a:t>
            </a:r>
            <a:endParaRPr lang="en-US" sz="2400" dirty="0">
              <a:solidFill>
                <a:srgbClr val="0070C0"/>
              </a:solidFill>
              <a:latin typeface="Imprint MT Shadow" panose="04020605060303030202" pitchFamily="82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is strong and triangular.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is attached by its base to lateral part of sacrum and coccyx and by its apex to spine of ischium.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="" xmlns:a16="http://schemas.microsoft.com/office/drawing/2014/main" id="{A7784DCD-5D00-49DC-81A7-6ECBA26B55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18" y="1368663"/>
            <a:ext cx="4354480" cy="507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681F552-3E49-430D-8752-85ECA520A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532" y="1343629"/>
            <a:ext cx="4138612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500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534186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Fascia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is formed of connective tissue.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continuous: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Above</a:t>
            </a: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: with fascia lining abdominal walls.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Below</a:t>
            </a:r>
            <a:r>
              <a:rPr lang="en-US" altLang="en-SD" sz="2400" dirty="0">
                <a:solidFill>
                  <a:schemeClr val="tx1"/>
                </a:solidFill>
                <a:latin typeface="Imprint MT Shadow" panose="04020605060303030202" pitchFamily="82" charset="0"/>
              </a:rPr>
              <a:t>: with fascia of perineum.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It can be divided into </a:t>
            </a:r>
            <a:r>
              <a:rPr lang="en-US" altLang="en-SD" sz="2400" u="sng" dirty="0">
                <a:solidFill>
                  <a:srgbClr val="FF0000"/>
                </a:solidFill>
                <a:latin typeface="Imprint MT Shadow" panose="04020605060303030202" pitchFamily="82" charset="0"/>
              </a:rPr>
              <a:t>parietal</a:t>
            </a: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 and </a:t>
            </a:r>
            <a:r>
              <a:rPr lang="en-US" altLang="en-SD" sz="2400" u="sng" dirty="0">
                <a:solidFill>
                  <a:srgbClr val="FF0000"/>
                </a:solidFill>
                <a:latin typeface="Imprint MT Shadow" panose="04020605060303030202" pitchFamily="82" charset="0"/>
              </a:rPr>
              <a:t>visceral</a:t>
            </a:r>
            <a:r>
              <a:rPr lang="en-US" altLang="en-SD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 layers.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5F84930C-CAF1-479F-B444-8D46DD32FA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299" y="1133738"/>
            <a:ext cx="5422376" cy="57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79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534186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Parietal Pelvic Fascia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7901" y="2043403"/>
            <a:ext cx="5712643" cy="403735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Lines walls of pelvis.</a:t>
            </a:r>
          </a:p>
          <a:p>
            <a:pPr marL="342900" indent="-3429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Named according to muscle it overlies</a:t>
            </a:r>
            <a:r>
              <a:rPr lang="en-US" altLang="en-SD" sz="2400" dirty="0" smtClean="0">
                <a:solidFill>
                  <a:srgbClr val="0070C0"/>
                </a:solidFill>
                <a:latin typeface="Imprint MT Shadow" panose="04020605060303030202" pitchFamily="82" charset="0"/>
              </a:rPr>
              <a:t>.</a:t>
            </a:r>
            <a:endParaRPr lang="en-US" altLang="en-SD" sz="2400" dirty="0">
              <a:solidFill>
                <a:srgbClr val="0070C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729E50B-E980-4472-A40E-8CFFDE8EFC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508289"/>
            <a:ext cx="5888127" cy="5119224"/>
          </a:xfrm>
        </p:spPr>
      </p:pic>
    </p:spTree>
    <p:extLst>
      <p:ext uri="{BB962C8B-B14F-4D97-AF65-F5344CB8AC3E}">
        <p14:creationId xmlns:p14="http://schemas.microsoft.com/office/powerpoint/2010/main" val="184671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534186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Visceral Pelvic Fascia</a:t>
            </a:r>
            <a:endParaRPr lang="en-SD" sz="3200" b="1" dirty="0">
              <a:solidFill>
                <a:srgbClr val="0000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7901" y="1508289"/>
            <a:ext cx="5712643" cy="45724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It covers and supports all pelvic viscera. 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In certain locations fascia thickens and extends from viscus to pelvic walls and provides support.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These fascial ligaments are named according to their attachments, for example, </a:t>
            </a:r>
            <a:r>
              <a:rPr lang="en-US" altLang="en-SD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pubovesical</a:t>
            </a: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 and </a:t>
            </a:r>
            <a:r>
              <a:rPr lang="en-US" altLang="en-SD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sacrocervical </a:t>
            </a: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ligaments.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6775FF9F-23E8-4856-B3BD-F7D2A679F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9" b="14525"/>
          <a:stretch/>
        </p:blipFill>
        <p:spPr>
          <a:xfrm>
            <a:off x="8293387" y="0"/>
            <a:ext cx="3474171" cy="3054285"/>
          </a:xfrm>
        </p:spPr>
      </p:pic>
      <p:pic>
        <p:nvPicPr>
          <p:cNvPr id="9" name="Picture 3">
            <a:extLst>
              <a:ext uri="{FF2B5EF4-FFF2-40B4-BE49-F238E27FC236}">
                <a16:creationId xmlns="" xmlns:a16="http://schemas.microsoft.com/office/drawing/2014/main" id="{277EFAD4-7AC2-4471-871F-98B5DC776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466" y="2931736"/>
            <a:ext cx="4580722" cy="392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45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ssarain\Desktop\ureter pics\5.JPG">
            <a:extLst>
              <a:ext uri="{FF2B5EF4-FFF2-40B4-BE49-F238E27FC236}">
                <a16:creationId xmlns="" xmlns:a16="http://schemas.microsoft.com/office/drawing/2014/main" id="{E7FFF91B-6169-4F83-848F-48CDBF23C5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3989" y="884552"/>
            <a:ext cx="6804025" cy="5903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3" name="Title 1">
            <a:extLst>
              <a:ext uri="{FF2B5EF4-FFF2-40B4-BE49-F238E27FC236}">
                <a16:creationId xmlns="" xmlns:a16="http://schemas.microsoft.com/office/drawing/2014/main" id="{F07C62EB-7387-4B94-9EC4-AD3B10D1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10411"/>
            <a:ext cx="8229600" cy="407988"/>
          </a:xfrm>
        </p:spPr>
        <p:txBody>
          <a:bodyPr>
            <a:noAutofit/>
          </a:bodyPr>
          <a:lstStyle/>
          <a:p>
            <a:pPr algn="ctr"/>
            <a:r>
              <a:rPr lang="en-US" altLang="ar-SA" sz="32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Fascia</a:t>
            </a:r>
          </a:p>
        </p:txBody>
      </p:sp>
      <p:sp>
        <p:nvSpPr>
          <p:cNvPr id="25604" name="Rectangle 6">
            <a:extLst>
              <a:ext uri="{FF2B5EF4-FFF2-40B4-BE49-F238E27FC236}">
                <a16:creationId xmlns="" xmlns:a16="http://schemas.microsoft.com/office/drawing/2014/main" id="{3FFCA4DA-19B6-4094-A448-1F0A34D83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857690"/>
            <a:ext cx="1524000" cy="2825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ar-SA" altLang="ar-SA"/>
          </a:p>
        </p:txBody>
      </p:sp>
      <p:sp>
        <p:nvSpPr>
          <p:cNvPr id="25605" name="Rectangle 7">
            <a:extLst>
              <a:ext uri="{FF2B5EF4-FFF2-40B4-BE49-F238E27FC236}">
                <a16:creationId xmlns="" xmlns:a16="http://schemas.microsoft.com/office/drawing/2014/main" id="{807D44EF-A85B-4D61-90FA-3146EB68E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720" y="2418762"/>
            <a:ext cx="1327150" cy="4572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ar-SA" altLang="ar-SA"/>
          </a:p>
        </p:txBody>
      </p:sp>
      <p:sp>
        <p:nvSpPr>
          <p:cNvPr id="25606" name="Rectangle 8">
            <a:extLst>
              <a:ext uri="{FF2B5EF4-FFF2-40B4-BE49-F238E27FC236}">
                <a16:creationId xmlns="" xmlns:a16="http://schemas.microsoft.com/office/drawing/2014/main" id="{29F3251A-81D2-4F64-AB59-AE82D7E9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1" y="3408579"/>
            <a:ext cx="1082675" cy="2825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ar-SA" altLang="ar-SA"/>
          </a:p>
        </p:txBody>
      </p:sp>
      <p:sp>
        <p:nvSpPr>
          <p:cNvPr id="25607" name="Rectangle 9">
            <a:extLst>
              <a:ext uri="{FF2B5EF4-FFF2-40B4-BE49-F238E27FC236}">
                <a16:creationId xmlns="" xmlns:a16="http://schemas.microsoft.com/office/drawing/2014/main" id="{796A2292-9446-4F23-93D7-EF8FDF638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101076"/>
            <a:ext cx="1219200" cy="3810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ar-SA" altLang="ar-S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6256E3-1367-4889-8974-37C4FE12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49" y="471340"/>
            <a:ext cx="5521751" cy="60056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  <a:defRPr/>
            </a:pPr>
            <a:r>
              <a:rPr lang="en-US" sz="24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  <a:ea typeface="+mj-ea"/>
                <a:cs typeface="+mj-cs"/>
              </a:rPr>
              <a:t>Female</a:t>
            </a:r>
            <a:r>
              <a:rPr lang="en-US" sz="2800" b="1" dirty="0">
                <a:solidFill>
                  <a:srgbClr val="0000FF"/>
                </a:solidFill>
                <a:latin typeface="Imprint MT Shadow" panose="04020605060303030202" pitchFamily="82" charset="0"/>
                <a:ea typeface="+mj-ea"/>
                <a:cs typeface="+mj-cs"/>
              </a:rPr>
              <a:t>: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rgbClr val="FF0000"/>
                </a:solidFill>
                <a:latin typeface="Imprint MT Shadow" panose="04020605060303030202" pitchFamily="82" charset="0"/>
              </a:rPr>
              <a:t>Rectovaginal septum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Separates the posterior surface of the vagina from the rectum.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Imprint MT Shadow" panose="04020605060303030202" pitchFamily="82" charset="0"/>
              </a:rPr>
              <a:t>Condensations of fascia form ligaments that extend from the cervix: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Pubocervical ligament.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Transverse cervical or (cardinal ligament).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Uterosacral ligament.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="" xmlns:a16="http://schemas.microsoft.com/office/drawing/2014/main" id="{30015798-13F8-483C-B039-CB026BA0A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650" y="388070"/>
            <a:ext cx="5779416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8" name="مستطيل مستدير الزوايا 1">
            <a:extLst>
              <a:ext uri="{FF2B5EF4-FFF2-40B4-BE49-F238E27FC236}">
                <a16:creationId xmlns="" xmlns:a16="http://schemas.microsoft.com/office/drawing/2014/main" id="{9422C88A-67FE-447B-84A3-05E61F62B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2738" y="5533535"/>
            <a:ext cx="1088792" cy="3810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E50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  <p:sp>
        <p:nvSpPr>
          <p:cNvPr id="26629" name="مستطيل مستدير الزوايا 4">
            <a:extLst>
              <a:ext uri="{FF2B5EF4-FFF2-40B4-BE49-F238E27FC236}">
                <a16:creationId xmlns="" xmlns:a16="http://schemas.microsoft.com/office/drawing/2014/main" id="{ADE97F30-C8C3-403F-934E-D0B20B7CD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988" y="4600281"/>
            <a:ext cx="1142211" cy="3810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  <p:sp>
        <p:nvSpPr>
          <p:cNvPr id="26630" name="مستطيل مستدير الزوايا 5">
            <a:extLst>
              <a:ext uri="{FF2B5EF4-FFF2-40B4-BE49-F238E27FC236}">
                <a16:creationId xmlns="" xmlns:a16="http://schemas.microsoft.com/office/drawing/2014/main" id="{A31A6FFD-F8B7-471A-8F54-6FEF25F9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76600"/>
            <a:ext cx="1360594" cy="3810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  <p:sp>
        <p:nvSpPr>
          <p:cNvPr id="26631" name="مستطيل مستدير الزوايا 6">
            <a:extLst>
              <a:ext uri="{FF2B5EF4-FFF2-40B4-BE49-F238E27FC236}">
                <a16:creationId xmlns="" xmlns:a16="http://schemas.microsoft.com/office/drawing/2014/main" id="{A03FA623-8A5B-4A80-A7A6-4FA80D9D8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7688" y="2228654"/>
            <a:ext cx="1088792" cy="3810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705B138-7131-44BD-8BAC-FD1D78BD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24" y="1073084"/>
            <a:ext cx="5493470" cy="43308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  <a:defRPr/>
            </a:pPr>
            <a:r>
              <a:rPr lang="en-US" sz="24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  <a:ea typeface="+mj-ea"/>
                <a:cs typeface="+mj-cs"/>
              </a:rPr>
              <a:t>Male</a:t>
            </a:r>
            <a:r>
              <a:rPr lang="en-US" sz="2400" dirty="0">
                <a:solidFill>
                  <a:srgbClr val="0000FF"/>
                </a:solidFill>
                <a:latin typeface="Imprint MT Shadow" panose="04020605060303030202" pitchFamily="82" charset="0"/>
                <a:ea typeface="+mj-ea"/>
                <a:cs typeface="+mj-cs"/>
              </a:rPr>
              <a:t>: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Condensation of fascia around the anterior and lateral region of the prostate (</a:t>
            </a:r>
            <a:r>
              <a:rPr lang="en-US" sz="24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prostatic fascia</a:t>
            </a: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).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rgbClr val="FF0000"/>
                </a:solidFill>
                <a:latin typeface="Imprint MT Shadow" panose="04020605060303030202" pitchFamily="82" charset="0"/>
              </a:rPr>
              <a:t>Rectovesical septum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ü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Which separates the posterior surface of the prostate and base of the bladder from the rectum. </a:t>
            </a:r>
          </a:p>
          <a:p>
            <a:pPr>
              <a:defRPr/>
            </a:pPr>
            <a:endParaRPr lang="ar-SA" dirty="0"/>
          </a:p>
        </p:txBody>
      </p:sp>
      <p:pic>
        <p:nvPicPr>
          <p:cNvPr id="27651" name="Picture 2">
            <a:extLst>
              <a:ext uri="{FF2B5EF4-FFF2-40B4-BE49-F238E27FC236}">
                <a16:creationId xmlns="" xmlns:a16="http://schemas.microsoft.com/office/drawing/2014/main" id="{FDA64FD9-9B97-4046-AE46-7A4C77670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984" y="533400"/>
            <a:ext cx="544869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2" name="مستطيل مستدير الزوايا 4">
            <a:extLst>
              <a:ext uri="{FF2B5EF4-FFF2-40B4-BE49-F238E27FC236}">
                <a16:creationId xmlns="" xmlns:a16="http://schemas.microsoft.com/office/drawing/2014/main" id="{747444B0-A168-4EE6-90D9-B77A24424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44" y="5629373"/>
            <a:ext cx="914400" cy="3810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  <p:sp>
        <p:nvSpPr>
          <p:cNvPr id="27653" name="مستطيل مستدير الزوايا 5">
            <a:extLst>
              <a:ext uri="{FF2B5EF4-FFF2-40B4-BE49-F238E27FC236}">
                <a16:creationId xmlns="" xmlns:a16="http://schemas.microsoft.com/office/drawing/2014/main" id="{6947D7DB-B90F-4FE9-9CC2-3DE8BCB7E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31" y="2963156"/>
            <a:ext cx="914400" cy="465843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SD" altLang="en-S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Pelvic Diaphragm (muscles of Pelvic floor)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4" y="1508289"/>
            <a:ext cx="5486400" cy="4572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by 2 muscles &amp; their covering fascia: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Levator Ani muscle.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Coccygeus muscle.</a:t>
            </a:r>
            <a:endParaRPr lang="en-SD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="" xmlns:a16="http://schemas.microsoft.com/office/drawing/2014/main" id="{0E08EC65-359B-4F3C-B9B9-0FBCD74CC0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3" t="12836" r="-2" b="3979"/>
          <a:stretch>
            <a:fillRect/>
          </a:stretch>
        </p:blipFill>
        <p:spPr bwMode="auto">
          <a:xfrm>
            <a:off x="5601147" y="2409498"/>
            <a:ext cx="6185500" cy="3838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047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Levator Ani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248" y="1508289"/>
            <a:ext cx="5486400" cy="4572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Formed of 3 parts: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Pubococcygeus.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Puborectalis.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Iliococcygeus.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Origin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Collectively they run from: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Body of the pubis.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Tendinous arch of the obturator fascia.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Ischial spine.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endParaRPr lang="en-US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="" xmlns:a16="http://schemas.microsoft.com/office/drawing/2014/main" id="{0E08EC65-359B-4F3C-B9B9-0FBCD74CC0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3" t="12836" r="-2" b="3979"/>
          <a:stretch>
            <a:fillRect/>
          </a:stretch>
        </p:blipFill>
        <p:spPr bwMode="auto">
          <a:xfrm>
            <a:off x="5502301" y="1508289"/>
            <a:ext cx="6666000" cy="530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038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Levator Ani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248" y="1508289"/>
            <a:ext cx="5486400" cy="45724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Insertion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Perineal body.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The coccyx.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The anococcygeal ligament.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The walls of the prostate or vagina, the rectum and the anal canal.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endParaRPr lang="en-US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80480868-E338-4788-9242-278965E355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89" y="1519906"/>
            <a:ext cx="6388288" cy="513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8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Levator Ani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248" y="1508289"/>
            <a:ext cx="5486400" cy="45724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Nerve Supply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By: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Nerve to levator ani (S4).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Pudendal nerve.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4B6C3A71-B762-4A56-A1E2-25FFA6B385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354" y="1715680"/>
            <a:ext cx="5765526" cy="4932410"/>
          </a:xfrm>
        </p:spPr>
      </p:pic>
    </p:spTree>
    <p:extLst>
      <p:ext uri="{BB962C8B-B14F-4D97-AF65-F5344CB8AC3E}">
        <p14:creationId xmlns:p14="http://schemas.microsoft.com/office/powerpoint/2010/main" val="176073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Levator Ani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2619" y="1527143"/>
            <a:ext cx="9875520" cy="45724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Action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Forms most of the pelvic diaphragm that helps to support the pelvic viscera.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Acting together they raise the pelvic floor.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Assist the abdominal muscles in forced expiration activities.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They also have an important sphincter action on the anorectal junction, and in the female they serve also as a sphincter of the vagina.</a:t>
            </a:r>
          </a:p>
        </p:txBody>
      </p:sp>
    </p:spTree>
    <p:extLst>
      <p:ext uri="{BB962C8B-B14F-4D97-AF65-F5344CB8AC3E}">
        <p14:creationId xmlns:p14="http://schemas.microsoft.com/office/powerpoint/2010/main" val="60440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0808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Levator Ani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194" y="1055802"/>
            <a:ext cx="11199043" cy="504381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Specification</a:t>
            </a:r>
            <a:r>
              <a:rPr lang="en-US" sz="20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SD" sz="20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Anterior fibers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: 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en-SD" sz="2000" u="sng" dirty="0">
                <a:latin typeface="Imprint MT Shadow" panose="04020605060303030202" pitchFamily="82" charset="0"/>
              </a:rPr>
              <a:t>Levator prostate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or </a:t>
            </a:r>
            <a:r>
              <a:rPr lang="en-US" altLang="en-SD" sz="2000" u="sng" dirty="0">
                <a:latin typeface="Imprint MT Shadow" panose="04020605060303030202" pitchFamily="82" charset="0"/>
              </a:rPr>
              <a:t>sphincter vaginae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form a sling around </a:t>
            </a:r>
            <a:r>
              <a:rPr lang="en-US" altLang="en-SD" sz="20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prostate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or </a:t>
            </a:r>
            <a:r>
              <a:rPr lang="en-US" altLang="en-SD" sz="20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vagina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and are inserted into perineal body, in front of anal canal.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en-SD" sz="2000" u="sng" dirty="0">
                <a:latin typeface="Imprint MT Shadow" panose="04020605060303030202" pitchFamily="82" charset="0"/>
              </a:rPr>
              <a:t>Levator prostate</a:t>
            </a:r>
            <a:r>
              <a:rPr lang="en-US" altLang="en-SD" sz="2000" dirty="0">
                <a:latin typeface="Imprint MT Shadow" panose="04020605060303030202" pitchFamily="82" charset="0"/>
              </a:rPr>
              <a:t> 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support prostate </a:t>
            </a:r>
            <a:r>
              <a:rPr lang="en-US" altLang="en-SD" sz="2000" dirty="0">
                <a:latin typeface="Imprint MT Shadow" panose="04020605060303030202" pitchFamily="82" charset="0"/>
              </a:rPr>
              <a:t>and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stabilize perineal body.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en-SD" sz="2000" u="sng" dirty="0">
                <a:latin typeface="Imprint MT Shadow" panose="04020605060303030202" pitchFamily="82" charset="0"/>
              </a:rPr>
              <a:t>Sphincter vaginae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constrict vagina and stabilize perineal body.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SD" sz="20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Intermediate fibers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ts val="24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SD" sz="2000" u="sng" dirty="0">
                <a:latin typeface="Imprint MT Shadow" panose="04020605060303030202" pitchFamily="82" charset="0"/>
              </a:rPr>
              <a:t>Puborectalis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forms a sling around junction of rectum and anal canal.</a:t>
            </a:r>
          </a:p>
          <a:p>
            <a:pPr marL="342900" indent="-342900">
              <a:lnSpc>
                <a:spcPts val="24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SD" sz="2000" u="sng" dirty="0">
                <a:latin typeface="Imprint MT Shadow" panose="04020605060303030202" pitchFamily="82" charset="0"/>
              </a:rPr>
              <a:t>Pubococcygeus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passes posteriorly to insert into anococcygeal body.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SD" sz="2000" u="sng" dirty="0">
                <a:solidFill>
                  <a:srgbClr val="0070C0"/>
                </a:solidFill>
                <a:latin typeface="Imprint MT Shadow" panose="04020605060303030202" pitchFamily="82" charset="0"/>
              </a:rPr>
              <a:t>Posterior fibers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ts val="24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SD" sz="2000" u="sng" dirty="0">
                <a:latin typeface="Imprint MT Shadow" panose="04020605060303030202" pitchFamily="82" charset="0"/>
              </a:rPr>
              <a:t>Iliococcygeus</a:t>
            </a:r>
            <a:r>
              <a:rPr lang="en-US" altLang="en-SD" sz="2000" dirty="0">
                <a:solidFill>
                  <a:srgbClr val="0070C0"/>
                </a:solidFill>
                <a:latin typeface="Imprint MT Shadow" panose="04020605060303030202" pitchFamily="82" charset="0"/>
              </a:rPr>
              <a:t> is inserted into anococcygeal body and coccyx.</a:t>
            </a:r>
          </a:p>
        </p:txBody>
      </p:sp>
    </p:spTree>
    <p:extLst>
      <p:ext uri="{BB962C8B-B14F-4D97-AF65-F5344CB8AC3E}">
        <p14:creationId xmlns:p14="http://schemas.microsoft.com/office/powerpoint/2010/main" val="395314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Coccygeus Muscle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9E334-E1F8-4FEB-8CC7-F81796F3D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248" y="1508289"/>
            <a:ext cx="5486400" cy="457247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Origin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Ischial spine.</a:t>
            </a:r>
            <a:endParaRPr lang="en-US" sz="2400" dirty="0">
              <a:solidFill>
                <a:srgbClr val="FF0000"/>
              </a:solidFill>
              <a:latin typeface="Imprint MT Shadow" panose="04020605060303030202" pitchFamily="82" charset="0"/>
            </a:endParaRP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Insertion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Lower end of the sacrum and coccyx.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Nerve supply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Branches of S4 and S5.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Action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Forms a small part of the pelvic diaphragm that supports the pelvic viscera.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Flexes the coccyx.</a:t>
            </a:r>
          </a:p>
        </p:txBody>
      </p:sp>
      <p:pic>
        <p:nvPicPr>
          <p:cNvPr id="6" name="Content Placeholder 5" descr="C6FF14">
            <a:extLst>
              <a:ext uri="{FF2B5EF4-FFF2-40B4-BE49-F238E27FC236}">
                <a16:creationId xmlns="" xmlns:a16="http://schemas.microsoft.com/office/drawing/2014/main" id="{AE923835-CD60-43E9-B02B-54C38115D031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900370" y="1508289"/>
            <a:ext cx="6092042" cy="5120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4">
            <a:extLst>
              <a:ext uri="{FF2B5EF4-FFF2-40B4-BE49-F238E27FC236}">
                <a16:creationId xmlns="" xmlns:a16="http://schemas.microsoft.com/office/drawing/2014/main" id="{CC6F84A4-4A8D-46C1-982C-C3C22507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519" y="6165602"/>
            <a:ext cx="757221" cy="310516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rmAutofit/>
          </a:bodyPr>
          <a:lstStyle/>
          <a:p>
            <a:pPr algn="ctr"/>
            <a:r>
              <a:rPr lang="en-US" altLang="en-SD" sz="36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Muscles of Posterior Pelvic Wall {PIRIFORMIS}</a:t>
            </a:r>
            <a:endParaRPr lang="en-SD" sz="3600" dirty="0">
              <a:latin typeface="Imprint MT Shadow" panose="04020605060303030202" pitchFamily="82" charset="0"/>
            </a:endParaRPr>
          </a:p>
        </p:txBody>
      </p:sp>
      <p:pic>
        <p:nvPicPr>
          <p:cNvPr id="6" name="Picture 4" descr="F66122-006-f044a">
            <a:extLst>
              <a:ext uri="{FF2B5EF4-FFF2-40B4-BE49-F238E27FC236}">
                <a16:creationId xmlns="" xmlns:a16="http://schemas.microsoft.com/office/drawing/2014/main" id="{D8BF8984-CE01-4E5D-B4DC-671C23CCE6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l="9470" r="12756" b="2861"/>
          <a:stretch>
            <a:fillRect/>
          </a:stretch>
        </p:blipFill>
        <p:spPr bwMode="auto">
          <a:xfrm>
            <a:off x="8867221" y="2764411"/>
            <a:ext cx="3250328" cy="4022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</p:pic>
      <p:sp>
        <p:nvSpPr>
          <p:cNvPr id="8" name="AutoShape 6">
            <a:extLst>
              <a:ext uri="{FF2B5EF4-FFF2-40B4-BE49-F238E27FC236}">
                <a16:creationId xmlns="" xmlns:a16="http://schemas.microsoft.com/office/drawing/2014/main" id="{A68B6403-39DF-47F4-B0F2-267EC2F31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7553" y="4509073"/>
            <a:ext cx="958850" cy="2667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8" descr="C6FF9">
            <a:extLst>
              <a:ext uri="{FF2B5EF4-FFF2-40B4-BE49-F238E27FC236}">
                <a16:creationId xmlns="" xmlns:a16="http://schemas.microsoft.com/office/drawing/2014/main" id="{FCF8D605-AB96-461E-9B0D-8FC61C798D3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8795" y="3367661"/>
            <a:ext cx="3068426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C299DE65-AD3B-4C39-B262-65FC63335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700" y="1404594"/>
            <a:ext cx="5486400" cy="4998247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Origin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From the front of the lateral masses of the sacrum.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Insertion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Into the upper border of the greater trochanter of the femur.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Nerve supply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Branches sacral plexus.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Action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Lateral rotation of femur at hip joint</a:t>
            </a:r>
          </a:p>
        </p:txBody>
      </p:sp>
    </p:spTree>
    <p:extLst>
      <p:ext uri="{BB962C8B-B14F-4D97-AF65-F5344CB8AC3E}">
        <p14:creationId xmlns:p14="http://schemas.microsoft.com/office/powerpoint/2010/main" val="80796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979400-F8BE-48B4-855A-5AF2FEBC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94994"/>
          </a:xfrm>
        </p:spPr>
        <p:txBody>
          <a:bodyPr>
            <a:noAutofit/>
          </a:bodyPr>
          <a:lstStyle/>
          <a:p>
            <a:pPr algn="ctr"/>
            <a:r>
              <a:rPr lang="en-US" altLang="en-SD" sz="2800" b="1" dirty="0">
                <a:solidFill>
                  <a:srgbClr val="0000FF"/>
                </a:solidFill>
                <a:latin typeface="Imprint MT Shadow" panose="04020605060303030202" pitchFamily="82" charset="0"/>
              </a:rPr>
              <a:t>Muscles of Lateral Pelvic Wall {OBTURATOR INTERNUS}</a:t>
            </a:r>
            <a:endParaRPr lang="en-SD" sz="2800" dirty="0">
              <a:latin typeface="Imprint MT Shadow" panose="04020605060303030202" pitchFamily="82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C299DE65-AD3B-4C39-B262-65FC63335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700" y="1404594"/>
            <a:ext cx="5079114" cy="4998247"/>
          </a:xfrm>
        </p:spPr>
        <p:txBody>
          <a:bodyPr>
            <a:normAutofit fontScale="92500"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Origin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From pelvic surface of obturator membrane &amp; adjoining part of hip.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Insertion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Into greater trochanter of the femur. 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Nerve supply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Branches sacral plexus (nerve to obturator internus).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Action</a:t>
            </a:r>
            <a:r>
              <a:rPr lang="en-US" sz="2400" dirty="0">
                <a:solidFill>
                  <a:srgbClr val="FF0000"/>
                </a:solidFill>
                <a:latin typeface="Imprint MT Shadow" panose="04020605060303030202" pitchFamily="82" charset="0"/>
              </a:rPr>
              <a:t>: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rgbClr val="0070C0"/>
                </a:solidFill>
                <a:latin typeface="Imprint MT Shadow" panose="04020605060303030202" pitchFamily="82" charset="0"/>
              </a:rPr>
              <a:t>Lateral rotation of femur at hip joint</a:t>
            </a:r>
          </a:p>
        </p:txBody>
      </p:sp>
      <p:pic>
        <p:nvPicPr>
          <p:cNvPr id="10" name="Picture 4" descr="F66122-005-f005b">
            <a:extLst>
              <a:ext uri="{FF2B5EF4-FFF2-40B4-BE49-F238E27FC236}">
                <a16:creationId xmlns="" xmlns:a16="http://schemas.microsoft.com/office/drawing/2014/main" id="{DF278998-A6B6-41D0-9BBF-12206B8E6A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8276738" y="1221764"/>
            <a:ext cx="3677156" cy="2662078"/>
          </a:xfrm>
          <a:noFill/>
          <a:ln/>
        </p:spPr>
      </p:pic>
      <p:sp>
        <p:nvSpPr>
          <p:cNvPr id="12" name="AutoShape 6">
            <a:extLst>
              <a:ext uri="{FF2B5EF4-FFF2-40B4-BE49-F238E27FC236}">
                <a16:creationId xmlns="" xmlns:a16="http://schemas.microsoft.com/office/drawing/2014/main" id="{30173839-6BBB-40F6-A7A3-21EFC1A57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380" y="3356180"/>
            <a:ext cx="1017920" cy="216579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5" descr="F66122-006-f044a">
            <a:extLst>
              <a:ext uri="{FF2B5EF4-FFF2-40B4-BE49-F238E27FC236}">
                <a16:creationId xmlns="" xmlns:a16="http://schemas.microsoft.com/office/drawing/2014/main" id="{537852FB-106C-4C67-8F53-34F6D2C4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0307" r="10565" b="3250"/>
          <a:stretch>
            <a:fillRect/>
          </a:stretch>
        </p:blipFill>
        <p:spPr bwMode="auto">
          <a:xfrm>
            <a:off x="5319542" y="2161780"/>
            <a:ext cx="3817938" cy="4627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</p:pic>
      <p:sp>
        <p:nvSpPr>
          <p:cNvPr id="14" name="AutoShape 7">
            <a:extLst>
              <a:ext uri="{FF2B5EF4-FFF2-40B4-BE49-F238E27FC236}">
                <a16:creationId xmlns="" xmlns:a16="http://schemas.microsoft.com/office/drawing/2014/main" id="{D17BF28B-0666-494B-B586-84EE0B5AA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287" y="5602009"/>
            <a:ext cx="620712" cy="360363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0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AD22B779-39CC-4D6B-A804-2D281DC3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382" y="2844800"/>
            <a:ext cx="9784080" cy="1342353"/>
          </a:xfrm>
        </p:spPr>
        <p:txBody>
          <a:bodyPr>
            <a:normAutofit/>
          </a:bodyPr>
          <a:lstStyle/>
          <a:p>
            <a:pPr algn="ctr"/>
            <a:r>
              <a:rPr lang="en-US" sz="4400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  <a:cs typeface="Times New Roman" panose="02020603050405020304" pitchFamily="18" charset="0"/>
              </a:rPr>
              <a:t>To be continue… </a:t>
            </a:r>
            <a:endParaRPr lang="en-US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98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370</TotalTime>
  <Words>843</Words>
  <Application>Microsoft Office PowerPoint</Application>
  <PresentationFormat>Custom</PresentationFormat>
  <Paragraphs>144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Basis</vt:lpstr>
      <vt:lpstr>Pelvic wall</vt:lpstr>
      <vt:lpstr>STRUCTURE OF THE PELVIC WALLS</vt:lpstr>
      <vt:lpstr>Anterior Wall</vt:lpstr>
      <vt:lpstr>Posterior Wall</vt:lpstr>
      <vt:lpstr>Lateral Wall</vt:lpstr>
      <vt:lpstr>Inferior Wall {Floor}</vt:lpstr>
      <vt:lpstr>Pelvic Membranes &amp; Ligaments</vt:lpstr>
      <vt:lpstr>Pelvic Membranes &amp; Ligaments</vt:lpstr>
      <vt:lpstr>Pelvic Membranes &amp; Ligaments</vt:lpstr>
      <vt:lpstr>Pelvic Fascia</vt:lpstr>
      <vt:lpstr>Parietal Pelvic Fascia</vt:lpstr>
      <vt:lpstr>Visceral Pelvic Fascia</vt:lpstr>
      <vt:lpstr>Pelvic Fascia</vt:lpstr>
      <vt:lpstr>PowerPoint Presentation</vt:lpstr>
      <vt:lpstr>PowerPoint Presentation</vt:lpstr>
      <vt:lpstr>Pelvic Diaphragm (muscles of Pelvic floor)</vt:lpstr>
      <vt:lpstr>Levator Ani Muscle</vt:lpstr>
      <vt:lpstr>Levator Ani Muscle</vt:lpstr>
      <vt:lpstr>Levator Ani Muscle</vt:lpstr>
      <vt:lpstr>Levator Ani Muscle</vt:lpstr>
      <vt:lpstr>Levator Ani Muscle</vt:lpstr>
      <vt:lpstr>Coccygeus Muscle</vt:lpstr>
      <vt:lpstr>Muscles of Posterior Pelvic Wall {PIRIFORMIS}</vt:lpstr>
      <vt:lpstr>Muscles of Lateral Pelvic Wall {OBTURATOR INTERNUS}</vt:lpstr>
      <vt:lpstr>To be continue…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Pelvic wall</dc:title>
  <dc:creator>MEDICO126</dc:creator>
  <cp:lastModifiedBy>Mohamed Hammad</cp:lastModifiedBy>
  <cp:revision>23</cp:revision>
  <dcterms:created xsi:type="dcterms:W3CDTF">2021-09-30T07:51:56Z</dcterms:created>
  <dcterms:modified xsi:type="dcterms:W3CDTF">2025-07-26T09:12:54Z</dcterms:modified>
</cp:coreProperties>
</file>