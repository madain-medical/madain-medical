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16"/>
  </p:notesMasterIdLst>
  <p:sldIdLst>
    <p:sldId id="412" r:id="rId2"/>
    <p:sldId id="439" r:id="rId3"/>
    <p:sldId id="440" r:id="rId4"/>
    <p:sldId id="442" r:id="rId5"/>
    <p:sldId id="413" r:id="rId6"/>
    <p:sldId id="443" r:id="rId7"/>
    <p:sldId id="415" r:id="rId8"/>
    <p:sldId id="414" r:id="rId9"/>
    <p:sldId id="416" r:id="rId10"/>
    <p:sldId id="444" r:id="rId11"/>
    <p:sldId id="418" r:id="rId12"/>
    <p:sldId id="419" r:id="rId13"/>
    <p:sldId id="420" r:id="rId14"/>
    <p:sldId id="43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haikh mosin" initials="s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0E5F"/>
    <a:srgbClr val="B808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6" autoAdjust="0"/>
    <p:restoredTop sz="94660"/>
  </p:normalViewPr>
  <p:slideViewPr>
    <p:cSldViewPr>
      <p:cViewPr varScale="1">
        <p:scale>
          <a:sx n="41" d="100"/>
          <a:sy n="41" d="100"/>
        </p:scale>
        <p:origin x="54" y="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9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B547F2-C924-4F3E-ADF4-CB03C3582823}" type="datetimeFigureOut">
              <a:rPr lang="en-IN" smtClean="0"/>
              <a:t>01-01-2014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7AEB75-AD85-4019-A726-6928D1B7C3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3798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1/1/2014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535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938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495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122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1/1/2014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088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58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683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443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120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491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403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55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1594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5912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8255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2014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880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pPr/>
              <a:t>1/1/2014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719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Human_biology" TargetMode="External"/><Relationship Id="rId2" Type="http://schemas.openxmlformats.org/officeDocument/2006/relationships/hyperlink" Target="http://en.wikipedia.org/wiki/Humanitie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153400" cy="5668963"/>
          </a:xfrm>
        </p:spPr>
        <p:txBody>
          <a:bodyPr>
            <a:normAutofit/>
          </a:bodyPr>
          <a:lstStyle/>
          <a:p>
            <a:pPr algn="ctr" eaLnBrk="1" hangingPunct="1">
              <a:buFontTx/>
              <a:buNone/>
            </a:pPr>
            <a:r>
              <a:rPr lang="ar-SA" b="1" dirty="0">
                <a:solidFill>
                  <a:srgbClr val="990099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بسم الله الرحمن الرحيم</a:t>
            </a:r>
            <a:endParaRPr lang="ar-SA" sz="4000" b="1" dirty="0">
              <a:solidFill>
                <a:srgbClr val="990099"/>
              </a:solidFill>
              <a:latin typeface="Monotype Corsiva" panose="03010101010201010101" pitchFamily="66" charset="0"/>
              <a:ea typeface="Majalla UI"/>
              <a:cs typeface="Majalla UI"/>
            </a:endParaRPr>
          </a:p>
          <a:p>
            <a:pPr algn="ctr" eaLnBrk="1" hangingPunct="1">
              <a:buFont typeface="Wingdings 2" panose="05020102010507070707" pitchFamily="18" charset="2"/>
              <a:buNone/>
            </a:pPr>
            <a:endParaRPr lang="en-US" sz="4400" dirty="0">
              <a:latin typeface="Arial Black" panose="020B0A04020102020204" pitchFamily="34" charset="0"/>
            </a:endParaRPr>
          </a:p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Behavioural and Social Sciences</a:t>
            </a:r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b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ar-SA" sz="3200" dirty="0">
              <a:latin typeface="Aharoni" panose="02010803020104030203" pitchFamily="2" charset="-79"/>
              <a:ea typeface="Majalla UI"/>
              <a:cs typeface="Majalla UI"/>
            </a:endParaRPr>
          </a:p>
          <a:p>
            <a:pPr algn="ctr" eaLnBrk="1" hangingPunct="1">
              <a:buFontTx/>
              <a:buNone/>
            </a:pPr>
            <a:endParaRPr lang="ar-SA" sz="2400" dirty="0">
              <a:ea typeface="Majalla UI"/>
              <a:cs typeface="Majalla UI"/>
            </a:endParaRPr>
          </a:p>
          <a:p>
            <a:pPr algn="ctr" eaLnBrk="1" hangingPunct="1">
              <a:buFontTx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Rayan Ismail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Idreis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FontTx/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BDM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UNIVERCITY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FontTx/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MPH  INTERNATIONAL UNIVERCITY OF AFRICA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ar-SA" dirty="0">
              <a:ea typeface="Majalla UI"/>
              <a:cs typeface="Majalla UI"/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B2C1D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9BBB5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F569BB2-B6E1-402E-9A40-9CF199EDEB6F}" type="slidenum">
              <a:rPr lang="en-US" sz="1200" smtClean="0">
                <a:solidFill>
                  <a:srgbClr val="045C75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sz="1200" dirty="0">
              <a:solidFill>
                <a:srgbClr val="045C7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08695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dirty="0"/>
              <a:t>Definition Of </a:t>
            </a:r>
            <a:r>
              <a:rPr lang="en-US" dirty="0"/>
              <a:t>behavioral science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SzTx/>
              <a:buNone/>
            </a:pPr>
            <a:r>
              <a:rPr lang="en-US" dirty="0"/>
              <a:t>behavioral </a:t>
            </a:r>
            <a:r>
              <a:rPr lang="en-US" dirty="0"/>
              <a:t>science is the study of why we do what we do. Its aim is to understand as best as possible the </a:t>
            </a:r>
            <a:r>
              <a:rPr lang="en-US" dirty="0"/>
              <a:t> mechanisms </a:t>
            </a:r>
            <a:r>
              <a:rPr lang="en-US" dirty="0"/>
              <a:t>by which we make the judgments and decisions which inform our </a:t>
            </a:r>
            <a:r>
              <a:rPr lang="en-US" dirty="0"/>
              <a:t>behavior.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24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 Of Social Science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Social science is the study of people: as individuals, communities and societies; their </a:t>
            </a:r>
            <a:r>
              <a:rPr lang="en-US" dirty="0" smtClean="0"/>
              <a:t>behaviors </a:t>
            </a:r>
            <a:r>
              <a:rPr lang="en-US" dirty="0"/>
              <a:t>and interactions with each other and with their 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089006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590799"/>
            <a:ext cx="6798736" cy="3344333"/>
          </a:xfrm>
        </p:spPr>
        <p:txBody>
          <a:bodyPr/>
          <a:lstStyle/>
          <a:p>
            <a:pPr>
              <a:spcBef>
                <a:spcPct val="0"/>
              </a:spcBef>
              <a:buClrTx/>
              <a:buSzTx/>
              <a:buNone/>
            </a:pPr>
            <a:r>
              <a:rPr lang="en-US" dirty="0"/>
              <a:t>Social environment is as important as the physical and biological environment in relation to health and disease in man.</a:t>
            </a:r>
          </a:p>
        </p:txBody>
      </p:sp>
    </p:spTree>
    <p:extLst>
      <p:ext uri="{BB962C8B-B14F-4D97-AF65-F5344CB8AC3E}">
        <p14:creationId xmlns:p14="http://schemas.microsoft.com/office/powerpoint/2010/main" val="3026601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TextBox 7"/>
          <p:cNvSpPr txBox="1">
            <a:spLocks noChangeArrowheads="1"/>
          </p:cNvSpPr>
          <p:nvPr/>
        </p:nvSpPr>
        <p:spPr bwMode="auto">
          <a:xfrm>
            <a:off x="1785937" y="533400"/>
            <a:ext cx="45005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B2C1D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9BBB5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Social Sciences:</a:t>
            </a:r>
            <a:endParaRPr lang="en-IN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199" name="TextBox 8"/>
          <p:cNvSpPr txBox="1">
            <a:spLocks noChangeArrowheads="1"/>
          </p:cNvSpPr>
          <p:nvPr/>
        </p:nvSpPr>
        <p:spPr bwMode="auto">
          <a:xfrm>
            <a:off x="1773445" y="2362200"/>
            <a:ext cx="4857750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B2C1D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9BBB5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2800" dirty="0" smtClean="0">
                <a:latin typeface="Arial" panose="020B0604020202020204" pitchFamily="34" charset="0"/>
              </a:rPr>
              <a:t>5 </a:t>
            </a:r>
            <a:r>
              <a:rPr lang="en-US" sz="2800" b="1" dirty="0" smtClean="0">
                <a:latin typeface="NSimSun" panose="02010609030101010101" pitchFamily="49" charset="-122"/>
                <a:ea typeface="NSimSun" panose="02010609030101010101" pitchFamily="49" charset="-122"/>
              </a:rPr>
              <a:t>important social sciences branches </a:t>
            </a:r>
            <a:r>
              <a:rPr lang="en-US" sz="2800" b="1" dirty="0" smtClean="0">
                <a:latin typeface="NSimSun" panose="02010609030101010101" pitchFamily="49" charset="-122"/>
                <a:ea typeface="NSimSun" panose="02010609030101010101" pitchFamily="49" charset="-122"/>
              </a:rPr>
              <a:t>include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 smtClean="0">
                <a:latin typeface="NSimSun" panose="02010609030101010101" pitchFamily="49" charset="-122"/>
                <a:ea typeface="NSimSun" panose="02010609030101010101" pitchFamily="49" charset="-122"/>
              </a:rPr>
              <a:t>        </a:t>
            </a:r>
            <a:r>
              <a:rPr lang="en-US" sz="2400" dirty="0">
                <a:solidFill>
                  <a:srgbClr val="FF0000"/>
                </a:solidFill>
                <a:latin typeface="Aharoni" panose="02010803020104030203" pitchFamily="2" charset="-79"/>
                <a:ea typeface="NSimSun" panose="02010609030101010101" pitchFamily="49" charset="-122"/>
                <a:cs typeface="Aharoni" panose="02010803020104030203" pitchFamily="2" charset="-79"/>
              </a:rPr>
              <a:t>Sociology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        </a:t>
            </a:r>
            <a:r>
              <a:rPr lang="en-US" sz="2400" dirty="0" smtClean="0">
                <a:solidFill>
                  <a:srgbClr val="FF0000"/>
                </a:solidFill>
                <a:latin typeface="Aharoni" panose="02010803020104030203" pitchFamily="2" charset="-79"/>
                <a:ea typeface="NSimSun" panose="02010609030101010101" pitchFamily="49" charset="-122"/>
                <a:cs typeface="Aharoni" panose="02010803020104030203" pitchFamily="2" charset="-79"/>
              </a:rPr>
              <a:t>Social</a:t>
            </a:r>
            <a:r>
              <a:rPr lang="en-US" sz="2400" dirty="0" smtClean="0">
                <a:solidFill>
                  <a:srgbClr val="FF0000"/>
                </a:solidFill>
                <a:latin typeface="Aharoni" panose="02010803020104030203" pitchFamily="2" charset="-79"/>
                <a:ea typeface="NSimSun" panose="02010609030101010101" pitchFamily="49" charset="-122"/>
                <a:cs typeface="Aharoni" panose="02010803020104030203" pitchFamily="2" charset="-79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Aharoni" panose="02010803020104030203" pitchFamily="2" charset="-79"/>
                <a:ea typeface="NSimSun" panose="02010609030101010101" pitchFamily="49" charset="-122"/>
                <a:cs typeface="Aharoni" panose="02010803020104030203" pitchFamily="2" charset="-79"/>
              </a:rPr>
              <a:t>anthropology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solidFill>
                  <a:srgbClr val="FF0000"/>
                </a:solidFill>
                <a:latin typeface="Aharoni" panose="02010803020104030203" pitchFamily="2" charset="-79"/>
                <a:ea typeface="NSimSun" panose="02010609030101010101" pitchFamily="49" charset="-122"/>
                <a:cs typeface="Aharoni" panose="02010803020104030203" pitchFamily="2" charset="-79"/>
              </a:rPr>
              <a:t>              Social psycholog</a:t>
            </a:r>
            <a:r>
              <a:rPr lang="en-US" sz="2400" i="1" dirty="0">
                <a:solidFill>
                  <a:srgbClr val="FF0000"/>
                </a:solidFill>
                <a:latin typeface="Aharoni" panose="02010803020104030203" pitchFamily="2" charset="-79"/>
                <a:ea typeface="NSimSun" panose="02010609030101010101" pitchFamily="49" charset="-122"/>
                <a:cs typeface="Aharoni" panose="02010803020104030203" pitchFamily="2" charset="-79"/>
              </a:rPr>
              <a:t>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latin typeface="NSimSun" panose="02010609030101010101" pitchFamily="49" charset="-122"/>
                <a:ea typeface="NSimSun" panose="02010609030101010101" pitchFamily="49" charset="-122"/>
              </a:rPr>
              <a:t>        Economics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latin typeface="NSimSun" panose="02010609030101010101" pitchFamily="49" charset="-122"/>
                <a:ea typeface="NSimSun" panose="02010609030101010101" pitchFamily="49" charset="-122"/>
              </a:rPr>
              <a:t>        Political science </a:t>
            </a:r>
            <a:endParaRPr lang="en-IN" sz="2400" dirty="0">
              <a:latin typeface="NSimSun" panose="02010609030101010101" pitchFamily="49" charset="-122"/>
              <a:ea typeface="NSimSun" panose="02010609030101010101" pitchFamily="49" charset="-122"/>
            </a:endParaRPr>
          </a:p>
        </p:txBody>
      </p:sp>
      <p:sp>
        <p:nvSpPr>
          <p:cNvPr id="10" name="Right Brace 9"/>
          <p:cNvSpPr/>
          <p:nvPr/>
        </p:nvSpPr>
        <p:spPr>
          <a:xfrm>
            <a:off x="6466458" y="3473450"/>
            <a:ext cx="714375" cy="78581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IN" dirty="0"/>
          </a:p>
        </p:txBody>
      </p:sp>
      <p:sp>
        <p:nvSpPr>
          <p:cNvPr id="8201" name="TextBox 10"/>
          <p:cNvSpPr txBox="1">
            <a:spLocks noChangeArrowheads="1"/>
          </p:cNvSpPr>
          <p:nvPr/>
        </p:nvSpPr>
        <p:spPr bwMode="auto">
          <a:xfrm>
            <a:off x="7391400" y="3605212"/>
            <a:ext cx="2333625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B2C1D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9BBB5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latin typeface="Aharoni" panose="02010803020104030203" pitchFamily="2" charset="-79"/>
                <a:cs typeface="Aharoni" panose="02010803020104030203" pitchFamily="2" charset="-79"/>
              </a:rPr>
              <a:t>Behavioural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latin typeface="Aharoni" panose="02010803020104030203" pitchFamily="2" charset="-79"/>
                <a:cs typeface="Aharoni" panose="02010803020104030203" pitchFamily="2" charset="-79"/>
              </a:rPr>
              <a:t>Sciences</a:t>
            </a:r>
            <a:endParaRPr lang="en-IN" sz="18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64750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514600"/>
            <a:ext cx="6798736" cy="3420533"/>
          </a:xfrm>
        </p:spPr>
        <p:txBody>
          <a:bodyPr/>
          <a:lstStyle/>
          <a:p>
            <a:r>
              <a:rPr lang="en-US" dirty="0"/>
              <a:t>The goal of the behavioral and social sciences is to better understand human behaviors and apply this understanding to improving the quality of life for people.</a:t>
            </a:r>
          </a:p>
        </p:txBody>
      </p:sp>
    </p:spTree>
    <p:extLst>
      <p:ext uri="{BB962C8B-B14F-4D97-AF65-F5344CB8AC3E}">
        <p14:creationId xmlns:p14="http://schemas.microsoft.com/office/powerpoint/2010/main" val="2888466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" descr="Nonprofit pic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798874"/>
            <a:ext cx="7772400" cy="5220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6544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7772400" cy="914400"/>
          </a:xfrm>
          <a:noFill/>
        </p:spPr>
        <p:txBody>
          <a:bodyPr/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ECONOMICS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914399" y="2743200"/>
            <a:ext cx="7725229" cy="32766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social science that seeks to analyze and describe the production, distribution, and consumption of wealth</a:t>
            </a:r>
          </a:p>
        </p:txBody>
      </p:sp>
    </p:spTree>
    <p:extLst>
      <p:ext uri="{BB962C8B-B14F-4D97-AF65-F5344CB8AC3E}">
        <p14:creationId xmlns:p14="http://schemas.microsoft.com/office/powerpoint/2010/main" val="1582333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1066800" y="838200"/>
            <a:ext cx="7772400" cy="838200"/>
          </a:xfrm>
          <a:noFill/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Anthropology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914400" y="1981200"/>
            <a:ext cx="7772400" cy="4038600"/>
          </a:xfrm>
        </p:spPr>
        <p:txBody>
          <a:bodyPr>
            <a:normAutofit/>
          </a:bodyPr>
          <a:lstStyle/>
          <a:p>
            <a:r>
              <a:rPr lang="en-US" sz="2600" dirty="0"/>
              <a:t>Anthropology is the holistic "science of man," - a science of the totality of human existence. </a:t>
            </a:r>
          </a:p>
          <a:p>
            <a:r>
              <a:rPr lang="en-US" sz="2600" dirty="0"/>
              <a:t>The discipline deals with the integration of different aspects of the Social Sciences, </a:t>
            </a:r>
            <a:r>
              <a:rPr lang="en-US" sz="2600" dirty="0">
                <a:hlinkClick r:id="rId2" tooltip="Humanities"/>
              </a:rPr>
              <a:t>Humanities</a:t>
            </a:r>
            <a:r>
              <a:rPr lang="en-US" sz="2600" dirty="0"/>
              <a:t>, and </a:t>
            </a:r>
            <a:r>
              <a:rPr lang="en-US" sz="2600" dirty="0" smtClean="0">
                <a:hlinkClick r:id="rId3" tooltip="Human biology"/>
              </a:rPr>
              <a:t>Human Biology</a:t>
            </a:r>
            <a:r>
              <a:rPr lang="en-US" sz="2600" dirty="0" smtClean="0"/>
              <a:t> .</a:t>
            </a:r>
            <a:endParaRPr lang="en-US" sz="3600" dirty="0"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84857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TextBox 7"/>
          <p:cNvSpPr txBox="1">
            <a:spLocks noChangeArrowheads="1"/>
          </p:cNvSpPr>
          <p:nvPr/>
        </p:nvSpPr>
        <p:spPr bwMode="auto">
          <a:xfrm>
            <a:off x="2286000" y="838200"/>
            <a:ext cx="484525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B2C1D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9BBB5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sz="4000" b="1" dirty="0">
                <a:ln w="3175" cmpd="sng">
                  <a:noFill/>
                </a:ln>
                <a:solidFill>
                  <a:srgbClr val="FF0000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Psychology</a:t>
            </a:r>
            <a:endParaRPr lang="en-IN" sz="4000" b="1" dirty="0">
              <a:ln w="3175" cmpd="sng">
                <a:noFill/>
              </a:ln>
              <a:solidFill>
                <a:srgbClr val="FF0000"/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</a:endParaRPr>
          </a:p>
        </p:txBody>
      </p:sp>
      <p:sp>
        <p:nvSpPr>
          <p:cNvPr id="8199" name="TextBox 8"/>
          <p:cNvSpPr txBox="1">
            <a:spLocks noChangeArrowheads="1"/>
          </p:cNvSpPr>
          <p:nvPr/>
        </p:nvSpPr>
        <p:spPr bwMode="auto">
          <a:xfrm>
            <a:off x="1773445" y="2362200"/>
            <a:ext cx="48577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B2C1D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9BBB5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9BBB59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2800" dirty="0" smtClean="0">
                <a:latin typeface="Arial" panose="020B0604020202020204" pitchFamily="34" charset="0"/>
              </a:rPr>
              <a:t> </a:t>
            </a:r>
            <a:endParaRPr lang="en-IN" sz="2400" dirty="0">
              <a:latin typeface="NSimSun" panose="02010609030101010101" pitchFamily="49" charset="-122"/>
              <a:ea typeface="NSimSun" panose="02010609030101010101" pitchFamily="49" charset="-12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90600" y="2057400"/>
            <a:ext cx="70866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Psychology derives from two Greek words, “Psyche and Logos” </a:t>
            </a:r>
          </a:p>
          <a:p>
            <a:pPr>
              <a:defRPr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Literally psychology mean the study of souls but now it is study of mind.</a:t>
            </a:r>
          </a:p>
          <a:p>
            <a:pPr>
              <a:defRPr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Psychology primarily studies Who and What we are, Why we act and think in a particular manner and what is our potential as an individual.</a:t>
            </a:r>
          </a:p>
          <a:p>
            <a:pPr>
              <a:defRPr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Study of psychology is concerned with specific study of </a:t>
            </a:r>
            <a:r>
              <a:rPr lang="en-US" sz="2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behavior </a:t>
            </a: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and mental process.</a:t>
            </a:r>
          </a:p>
        </p:txBody>
      </p:sp>
    </p:spTree>
    <p:extLst>
      <p:ext uri="{BB962C8B-B14F-4D97-AF65-F5344CB8AC3E}">
        <p14:creationId xmlns:p14="http://schemas.microsoft.com/office/powerpoint/2010/main" val="2328939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 idx="4294967295"/>
          </p:nvPr>
        </p:nvSpPr>
        <p:spPr>
          <a:xfrm>
            <a:off x="1371600" y="838200"/>
            <a:ext cx="6799262" cy="1303337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What is Specific Studies</a:t>
            </a:r>
            <a:r>
              <a:rPr lang="en-US" sz="3200" dirty="0">
                <a:solidFill>
                  <a:srgbClr val="FF0000"/>
                </a:solidFill>
                <a:latin typeface="Aharoni" panose="02010803020104030203" pitchFamily="2" charset="-79"/>
                <a:ea typeface="Adobe Arabic"/>
                <a:cs typeface="Aharoni" panose="02010803020104030203" pitchFamily="2" charset="-79"/>
              </a:rPr>
              <a:t>?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4294967295"/>
          </p:nvPr>
        </p:nvSpPr>
        <p:spPr>
          <a:xfrm>
            <a:off x="914400" y="1981200"/>
            <a:ext cx="7391400" cy="3962400"/>
          </a:xfrm>
        </p:spPr>
        <p:txBody>
          <a:bodyPr>
            <a:normAutofit lnSpcReduction="10000"/>
          </a:bodyPr>
          <a:lstStyle/>
          <a:p>
            <a:r>
              <a:rPr lang="en-US" sz="3400" dirty="0" smtClean="0"/>
              <a:t>They </a:t>
            </a:r>
            <a:r>
              <a:rPr lang="en-US" sz="3400" dirty="0"/>
              <a:t>develop theories of human functioning, often developing new approaches to current knowledge.</a:t>
            </a:r>
          </a:p>
          <a:p>
            <a:r>
              <a:rPr lang="en-US" sz="3400" dirty="0"/>
              <a:t>As a science, psychology uses systematic method to observe, describe, predict and explain human behavior and mental process.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689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 idx="4294967295"/>
          </p:nvPr>
        </p:nvSpPr>
        <p:spPr>
          <a:xfrm>
            <a:off x="838200" y="457200"/>
            <a:ext cx="7772400" cy="1401762"/>
          </a:xfrm>
        </p:spPr>
        <p:txBody>
          <a:bodyPr/>
          <a:lstStyle/>
          <a:p>
            <a:pPr algn="ct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Defining Psychology: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838200" y="1981200"/>
            <a:ext cx="7315200" cy="4038600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en-US" sz="3600" dirty="0">
                <a:latin typeface="Aldhabi" panose="01000000000000000000" pitchFamily="2" charset="-78"/>
                <a:cs typeface="Aldhabi" panose="01000000000000000000" pitchFamily="2" charset="-78"/>
              </a:rPr>
              <a:t>Psychology can be defined as the </a:t>
            </a:r>
            <a:r>
              <a:rPr lang="en-US" sz="3600" dirty="0">
                <a:solidFill>
                  <a:srgbClr val="FF0000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scientific study of behavior and mental process. </a:t>
            </a:r>
          </a:p>
          <a:p>
            <a:pPr>
              <a:defRPr/>
            </a:pPr>
            <a:r>
              <a:rPr lang="en-US" sz="3600" dirty="0">
                <a:latin typeface="Aldhabi" panose="01000000000000000000" pitchFamily="2" charset="-78"/>
                <a:cs typeface="Aldhabi" panose="01000000000000000000" pitchFamily="2" charset="-78"/>
              </a:rPr>
              <a:t>From the word behavior one can extract two meaning, because there are two kind of behavior: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sz="3200" dirty="0">
                <a:latin typeface="Aldhabi" panose="01000000000000000000" pitchFamily="2" charset="-78"/>
                <a:cs typeface="Aldhabi" panose="01000000000000000000" pitchFamily="2" charset="-78"/>
              </a:rPr>
              <a:t>        </a:t>
            </a:r>
            <a:r>
              <a:rPr lang="en-US" sz="3200" b="1" dirty="0" smtClean="0">
                <a:solidFill>
                  <a:srgbClr val="FF0000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Overt </a:t>
            </a:r>
            <a:r>
              <a:rPr lang="en-US" sz="3200" b="1" dirty="0">
                <a:latin typeface="Aldhabi" panose="01000000000000000000" pitchFamily="2" charset="-78"/>
                <a:cs typeface="Aldhabi" panose="01000000000000000000" pitchFamily="2" charset="-78"/>
              </a:rPr>
              <a:t>and </a:t>
            </a:r>
            <a:r>
              <a:rPr lang="en-US" sz="3200" b="1" dirty="0" smtClean="0">
                <a:solidFill>
                  <a:srgbClr val="FF0000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Covert behavior</a:t>
            </a:r>
            <a:r>
              <a:rPr lang="en-US" sz="3200" dirty="0">
                <a:latin typeface="Aldhabi" panose="01000000000000000000" pitchFamily="2" charset="-78"/>
                <a:cs typeface="Aldhabi" panose="01000000000000000000" pitchFamily="2" charset="-78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98399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14400" y="609600"/>
            <a:ext cx="7315200" cy="5486400"/>
          </a:xfrm>
        </p:spPr>
        <p:txBody>
          <a:bodyPr>
            <a:normAutofit fontScale="62500" lnSpcReduction="20000"/>
          </a:bodyPr>
          <a:lstStyle/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sz="3800" b="1" dirty="0">
                <a:solidFill>
                  <a:srgbClr val="FF0000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1. Overt behavior :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sz="3200" dirty="0">
                <a:latin typeface="Aldhabi" panose="01000000000000000000" pitchFamily="2" charset="-78"/>
                <a:cs typeface="Aldhabi" panose="01000000000000000000" pitchFamily="2" charset="-78"/>
              </a:rPr>
              <a:t>Are those which is </a:t>
            </a:r>
            <a:r>
              <a:rPr lang="en-US" sz="3200" dirty="0">
                <a:solidFill>
                  <a:srgbClr val="FF0000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visible to other </a:t>
            </a:r>
            <a:r>
              <a:rPr lang="en-US" sz="3200" dirty="0">
                <a:latin typeface="Aldhabi" panose="01000000000000000000" pitchFamily="2" charset="-78"/>
                <a:cs typeface="Aldhabi" panose="01000000000000000000" pitchFamily="2" charset="-78"/>
              </a:rPr>
              <a:t>in other word </a:t>
            </a:r>
            <a:r>
              <a:rPr lang="en-US" sz="3200" dirty="0">
                <a:solidFill>
                  <a:srgbClr val="FF0000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seen behaviors</a:t>
            </a:r>
            <a:r>
              <a:rPr lang="en-US" sz="3200" dirty="0">
                <a:latin typeface="Aldhabi" panose="01000000000000000000" pitchFamily="2" charset="-78"/>
                <a:cs typeface="Aldhabi" panose="01000000000000000000" pitchFamily="2" charset="-78"/>
              </a:rPr>
              <a:t>,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sz="3200" dirty="0"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lang="en-US" sz="3200" b="1" i="1" dirty="0">
                <a:solidFill>
                  <a:srgbClr val="5D2B95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Example: </a:t>
            </a:r>
            <a:r>
              <a:rPr lang="en-US" sz="3200" dirty="0">
                <a:latin typeface="Aldhabi" panose="01000000000000000000" pitchFamily="2" charset="-78"/>
                <a:cs typeface="Aldhabi" panose="01000000000000000000" pitchFamily="2" charset="-78"/>
              </a:rPr>
              <a:t>The way we talk, walk, dress, eat and so on…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sz="3200" dirty="0">
                <a:latin typeface="Aldhabi" panose="01000000000000000000" pitchFamily="2" charset="-78"/>
                <a:cs typeface="Aldhabi" panose="01000000000000000000" pitchFamily="2" charset="-78"/>
              </a:rPr>
              <a:t> In short these are the action we see and observe in individual and group around us..</a:t>
            </a:r>
          </a:p>
          <a:p>
            <a:pPr marL="0" indent="0">
              <a:buNone/>
              <a:defRPr/>
            </a:pPr>
            <a:r>
              <a:rPr lang="en-US" sz="3800" b="1" dirty="0">
                <a:solidFill>
                  <a:srgbClr val="FF0000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2. Covert behavior :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sz="3200" dirty="0">
                <a:latin typeface="Aldhabi" panose="01000000000000000000" pitchFamily="2" charset="-78"/>
                <a:cs typeface="Aldhabi" panose="01000000000000000000" pitchFamily="2" charset="-78"/>
              </a:rPr>
              <a:t>Are those which is </a:t>
            </a:r>
            <a:r>
              <a:rPr lang="en-US" sz="3200" dirty="0">
                <a:solidFill>
                  <a:srgbClr val="FF0000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not obvious </a:t>
            </a:r>
            <a:r>
              <a:rPr lang="en-US" sz="3200" dirty="0">
                <a:latin typeface="Aldhabi" panose="01000000000000000000" pitchFamily="2" charset="-78"/>
                <a:cs typeface="Aldhabi" panose="01000000000000000000" pitchFamily="2" charset="-78"/>
              </a:rPr>
              <a:t>to the people around us. Simply they are </a:t>
            </a:r>
            <a:r>
              <a:rPr lang="en-US" sz="3200" dirty="0">
                <a:solidFill>
                  <a:srgbClr val="FF0000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unseen behavior</a:t>
            </a:r>
            <a:r>
              <a:rPr lang="en-US" sz="3200" dirty="0">
                <a:latin typeface="Aldhabi" panose="01000000000000000000" pitchFamily="2" charset="-78"/>
                <a:cs typeface="Aldhabi" panose="01000000000000000000" pitchFamily="2" charset="-78"/>
              </a:rPr>
              <a:t>. 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sz="3200" b="1" i="1" dirty="0">
                <a:solidFill>
                  <a:srgbClr val="5D2B95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Example :</a:t>
            </a:r>
            <a:r>
              <a:rPr lang="en-US" sz="3200" dirty="0">
                <a:latin typeface="Aldhabi" panose="01000000000000000000" pitchFamily="2" charset="-78"/>
                <a:cs typeface="Aldhabi" panose="01000000000000000000" pitchFamily="2" charset="-78"/>
              </a:rPr>
              <a:t>  Feeling such as anger, jealousy, kindness, pity, happiness and sad.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sz="3200" dirty="0">
                <a:latin typeface="Aldhabi" panose="01000000000000000000" pitchFamily="2" charset="-78"/>
                <a:cs typeface="Aldhabi" panose="01000000000000000000" pitchFamily="2" charset="-78"/>
              </a:rPr>
              <a:t> In fact, covert can be deduced from the overt.</a:t>
            </a:r>
          </a:p>
          <a:p>
            <a:pPr>
              <a:defRPr/>
            </a:pPr>
            <a:endParaRPr lang="ar-SA" dirty="0"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0464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2438400"/>
          </a:xfrm>
        </p:spPr>
        <p:txBody>
          <a:bodyPr/>
          <a:lstStyle/>
          <a:p>
            <a:pPr eaLnBrk="1" hangingPunct="1"/>
            <a:r>
              <a:rPr lang="en-US" sz="540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Thanks for attention</a:t>
            </a:r>
            <a:endParaRPr lang="ar-SA">
              <a:solidFill>
                <a:schemeClr val="tx1"/>
              </a:solidFill>
              <a:latin typeface="Aharoni" panose="02010803020104030203" pitchFamily="2" charset="-79"/>
            </a:endParaRPr>
          </a:p>
        </p:txBody>
      </p:sp>
      <p:pic>
        <p:nvPicPr>
          <p:cNvPr id="34819" name="Picture 2" descr="E:\الصور\صور   دنيه واسلاميه\Allah is Great.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594" y="3617913"/>
            <a:ext cx="1428750" cy="1190625"/>
          </a:xfrm>
          <a:noFill/>
        </p:spPr>
      </p:pic>
    </p:spTree>
    <p:extLst>
      <p:ext uri="{BB962C8B-B14F-4D97-AF65-F5344CB8AC3E}">
        <p14:creationId xmlns:p14="http://schemas.microsoft.com/office/powerpoint/2010/main" val="772662773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503</TotalTime>
  <Words>494</Words>
  <Application>Microsoft Office PowerPoint</Application>
  <PresentationFormat>On-screen Show (4:3)</PresentationFormat>
  <Paragraphs>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NSimSun</vt:lpstr>
      <vt:lpstr>Adobe Arabic</vt:lpstr>
      <vt:lpstr>Aharoni</vt:lpstr>
      <vt:lpstr>Aldhabi</vt:lpstr>
      <vt:lpstr>Arabic Typesetting</vt:lpstr>
      <vt:lpstr>Arial</vt:lpstr>
      <vt:lpstr>Arial Black</vt:lpstr>
      <vt:lpstr>Calibri</vt:lpstr>
      <vt:lpstr>Garamond</vt:lpstr>
      <vt:lpstr>Majalla UI</vt:lpstr>
      <vt:lpstr>Monotype Corsiva</vt:lpstr>
      <vt:lpstr>Times New Roman</vt:lpstr>
      <vt:lpstr>Wingdings 2</vt:lpstr>
      <vt:lpstr>Organic</vt:lpstr>
      <vt:lpstr>PowerPoint Presentation</vt:lpstr>
      <vt:lpstr> Definition Of behavioral science </vt:lpstr>
      <vt:lpstr>Definition Of Social Science </vt:lpstr>
      <vt:lpstr>PowerPoint Presentation</vt:lpstr>
      <vt:lpstr>PowerPoint Presentation</vt:lpstr>
      <vt:lpstr>PowerPoint Presentation</vt:lpstr>
      <vt:lpstr>PowerPoint Presentation</vt:lpstr>
      <vt:lpstr>ECONOMICS</vt:lpstr>
      <vt:lpstr>Anthropology</vt:lpstr>
      <vt:lpstr>PowerPoint Presentation</vt:lpstr>
      <vt:lpstr>What is Specific Studies?</vt:lpstr>
      <vt:lpstr>Defining Psychology:</vt:lpstr>
      <vt:lpstr>PowerPoint Presentation</vt:lpstr>
      <vt:lpstr>Thanks for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General psychology</dc:title>
  <dc:creator>Pel Works - Pc1</dc:creator>
  <cp:lastModifiedBy>Reem</cp:lastModifiedBy>
  <cp:revision>49</cp:revision>
  <dcterms:created xsi:type="dcterms:W3CDTF">2006-08-16T00:00:00Z</dcterms:created>
  <dcterms:modified xsi:type="dcterms:W3CDTF">2014-01-01T09:52:28Z</dcterms:modified>
</cp:coreProperties>
</file>