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4" r:id="rId8"/>
    <p:sldId id="265" r:id="rId9"/>
    <p:sldId id="266" r:id="rId10"/>
    <p:sldId id="267" r:id="rId11"/>
    <p:sldId id="268" r:id="rId12"/>
    <p:sldId id="269" r:id="rId13"/>
    <p:sldId id="270" r:id="rId14"/>
    <p:sldId id="262" r:id="rId15"/>
    <p:sldId id="263"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11/9/2023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11/9/2023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11/9/2023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11/9/2023</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89212" y="2395470"/>
            <a:ext cx="8915399" cy="3051612"/>
          </a:xfrm>
        </p:spPr>
        <p:txBody>
          <a:bodyPr>
            <a:normAutofit fontScale="90000"/>
          </a:bodyPr>
          <a:lstStyle/>
          <a:p>
            <a:pPr algn="ctr"/>
            <a:r>
              <a:rPr lang="en-US" sz="4400" b="1" i="1" dirty="0" smtClean="0">
                <a:solidFill>
                  <a:srgbClr val="4F271C">
                    <a:satMod val="130000"/>
                  </a:srgbClr>
                </a:solidFill>
                <a:effectLst>
                  <a:outerShdw blurRad="50000" dist="30000" dir="5400000" algn="tl" rotWithShape="0">
                    <a:srgbClr val="000000">
                      <a:alpha val="30000"/>
                    </a:srgbClr>
                  </a:outerShdw>
                </a:effectLst>
                <a:latin typeface="Gill Sans MT"/>
              </a:rPr>
              <a:t/>
            </a:r>
            <a:br>
              <a:rPr lang="en-US" sz="4400" b="1" i="1" dirty="0" smtClean="0">
                <a:solidFill>
                  <a:srgbClr val="4F271C">
                    <a:satMod val="130000"/>
                  </a:srgbClr>
                </a:solidFill>
                <a:effectLst>
                  <a:outerShdw blurRad="50000" dist="30000" dir="5400000" algn="tl" rotWithShape="0">
                    <a:srgbClr val="000000">
                      <a:alpha val="30000"/>
                    </a:srgbClr>
                  </a:outerShdw>
                </a:effectLst>
                <a:latin typeface="Gill Sans MT"/>
              </a:rPr>
            </a:br>
            <a:r>
              <a:rPr lang="en-US" sz="4400" b="1" i="1" dirty="0">
                <a:solidFill>
                  <a:srgbClr val="4F271C">
                    <a:satMod val="130000"/>
                  </a:srgbClr>
                </a:solidFill>
                <a:effectLst>
                  <a:outerShdw blurRad="50000" dist="30000" dir="5400000" algn="tl" rotWithShape="0">
                    <a:srgbClr val="000000">
                      <a:alpha val="30000"/>
                    </a:srgbClr>
                  </a:outerShdw>
                </a:effectLst>
                <a:latin typeface="Gill Sans MT"/>
              </a:rPr>
              <a:t/>
            </a:r>
            <a:br>
              <a:rPr lang="en-US" sz="4400" b="1" i="1" dirty="0">
                <a:solidFill>
                  <a:srgbClr val="4F271C">
                    <a:satMod val="130000"/>
                  </a:srgbClr>
                </a:solidFill>
                <a:effectLst>
                  <a:outerShdw blurRad="50000" dist="30000" dir="5400000" algn="tl" rotWithShape="0">
                    <a:srgbClr val="000000">
                      <a:alpha val="30000"/>
                    </a:srgbClr>
                  </a:outerShdw>
                </a:effectLst>
                <a:latin typeface="Gill Sans MT"/>
              </a:rPr>
            </a:br>
            <a:r>
              <a:rPr lang="en-US" sz="4400" b="1" i="1" dirty="0" smtClean="0">
                <a:solidFill>
                  <a:srgbClr val="4F271C">
                    <a:satMod val="130000"/>
                  </a:srgbClr>
                </a:solidFill>
                <a:effectLst>
                  <a:outerShdw blurRad="50000" dist="30000" dir="5400000" algn="tl" rotWithShape="0">
                    <a:srgbClr val="000000">
                      <a:alpha val="30000"/>
                    </a:srgbClr>
                  </a:outerShdw>
                </a:effectLst>
                <a:latin typeface="Gill Sans MT"/>
              </a:rPr>
              <a:t/>
            </a:r>
            <a:br>
              <a:rPr lang="en-US" sz="4400" b="1" i="1" dirty="0" smtClean="0">
                <a:solidFill>
                  <a:srgbClr val="4F271C">
                    <a:satMod val="130000"/>
                  </a:srgbClr>
                </a:solidFill>
                <a:effectLst>
                  <a:outerShdw blurRad="50000" dist="30000" dir="5400000" algn="tl" rotWithShape="0">
                    <a:srgbClr val="000000">
                      <a:alpha val="30000"/>
                    </a:srgbClr>
                  </a:outerShdw>
                </a:effectLst>
                <a:latin typeface="Gill Sans MT"/>
              </a:rPr>
            </a:br>
            <a:r>
              <a:rPr lang="en-US" sz="4400" b="1" i="1" dirty="0">
                <a:solidFill>
                  <a:srgbClr val="4F271C">
                    <a:satMod val="130000"/>
                  </a:srgbClr>
                </a:solidFill>
                <a:effectLst>
                  <a:outerShdw blurRad="50000" dist="30000" dir="5400000" algn="tl" rotWithShape="0">
                    <a:srgbClr val="000000">
                      <a:alpha val="30000"/>
                    </a:srgbClr>
                  </a:outerShdw>
                </a:effectLst>
                <a:latin typeface="Gill Sans MT"/>
              </a:rPr>
              <a:t/>
            </a:r>
            <a:br>
              <a:rPr lang="en-US" sz="4400" b="1" i="1" dirty="0">
                <a:solidFill>
                  <a:srgbClr val="4F271C">
                    <a:satMod val="130000"/>
                  </a:srgbClr>
                </a:solidFill>
                <a:effectLst>
                  <a:outerShdw blurRad="50000" dist="30000" dir="5400000" algn="tl" rotWithShape="0">
                    <a:srgbClr val="000000">
                      <a:alpha val="30000"/>
                    </a:srgbClr>
                  </a:outerShdw>
                </a:effectLst>
                <a:latin typeface="Gill Sans MT"/>
              </a:rPr>
            </a:br>
            <a:r>
              <a:rPr lang="en-US" sz="4400" b="1" i="1" dirty="0" smtClean="0">
                <a:solidFill>
                  <a:srgbClr val="4F271C">
                    <a:satMod val="130000"/>
                  </a:srgbClr>
                </a:solidFill>
                <a:effectLst>
                  <a:outerShdw blurRad="50000" dist="30000" dir="5400000" algn="tl" rotWithShape="0">
                    <a:srgbClr val="000000">
                      <a:alpha val="30000"/>
                    </a:srgbClr>
                  </a:outerShdw>
                </a:effectLst>
                <a:latin typeface="Gill Sans MT"/>
              </a:rPr>
              <a:t/>
            </a:r>
            <a:br>
              <a:rPr lang="en-US" sz="4400" b="1" i="1" dirty="0" smtClean="0">
                <a:solidFill>
                  <a:srgbClr val="4F271C">
                    <a:satMod val="130000"/>
                  </a:srgbClr>
                </a:solidFill>
                <a:effectLst>
                  <a:outerShdw blurRad="50000" dist="30000" dir="5400000" algn="tl" rotWithShape="0">
                    <a:srgbClr val="000000">
                      <a:alpha val="30000"/>
                    </a:srgbClr>
                  </a:outerShdw>
                </a:effectLst>
                <a:latin typeface="Gill Sans MT"/>
              </a:rPr>
            </a:br>
            <a:r>
              <a:rPr lang="en-US" sz="4400" b="1" i="1" dirty="0">
                <a:solidFill>
                  <a:srgbClr val="4F271C">
                    <a:satMod val="130000"/>
                  </a:srgbClr>
                </a:solidFill>
                <a:effectLst>
                  <a:outerShdw blurRad="50000" dist="30000" dir="5400000" algn="tl" rotWithShape="0">
                    <a:srgbClr val="000000">
                      <a:alpha val="30000"/>
                    </a:srgbClr>
                  </a:outerShdw>
                </a:effectLst>
                <a:latin typeface="Gill Sans MT"/>
              </a:rPr>
              <a:t/>
            </a:r>
            <a:br>
              <a:rPr lang="en-US" sz="4400" b="1" i="1" dirty="0">
                <a:solidFill>
                  <a:srgbClr val="4F271C">
                    <a:satMod val="130000"/>
                  </a:srgbClr>
                </a:solidFill>
                <a:effectLst>
                  <a:outerShdw blurRad="50000" dist="30000" dir="5400000" algn="tl" rotWithShape="0">
                    <a:srgbClr val="000000">
                      <a:alpha val="30000"/>
                    </a:srgbClr>
                  </a:outerShdw>
                </a:effectLst>
                <a:latin typeface="Gill Sans MT"/>
              </a:rPr>
            </a:br>
            <a:r>
              <a:rPr lang="en-US" sz="4400" b="1" i="1" dirty="0" smtClean="0">
                <a:solidFill>
                  <a:srgbClr val="4F271C">
                    <a:satMod val="130000"/>
                  </a:srgbClr>
                </a:solidFill>
                <a:effectLst>
                  <a:outerShdw blurRad="50000" dist="30000" dir="5400000" algn="tl" rotWithShape="0">
                    <a:srgbClr val="000000">
                      <a:alpha val="30000"/>
                    </a:srgbClr>
                  </a:outerShdw>
                </a:effectLst>
                <a:latin typeface="Gill Sans MT"/>
              </a:rPr>
              <a:t/>
            </a:r>
            <a:br>
              <a:rPr lang="en-US" sz="4400" b="1" i="1" dirty="0" smtClean="0">
                <a:solidFill>
                  <a:srgbClr val="4F271C">
                    <a:satMod val="130000"/>
                  </a:srgbClr>
                </a:solidFill>
                <a:effectLst>
                  <a:outerShdw blurRad="50000" dist="30000" dir="5400000" algn="tl" rotWithShape="0">
                    <a:srgbClr val="000000">
                      <a:alpha val="30000"/>
                    </a:srgbClr>
                  </a:outerShdw>
                </a:effectLst>
                <a:latin typeface="Gill Sans MT"/>
              </a:rPr>
            </a:br>
            <a:r>
              <a:rPr lang="en-US" sz="4400" b="1" i="1" dirty="0">
                <a:solidFill>
                  <a:srgbClr val="4F271C">
                    <a:satMod val="130000"/>
                  </a:srgbClr>
                </a:solidFill>
                <a:effectLst>
                  <a:outerShdw blurRad="50000" dist="30000" dir="5400000" algn="tl" rotWithShape="0">
                    <a:srgbClr val="000000">
                      <a:alpha val="30000"/>
                    </a:srgbClr>
                  </a:outerShdw>
                </a:effectLst>
                <a:latin typeface="Gill Sans MT"/>
              </a:rPr>
              <a:t/>
            </a:r>
            <a:br>
              <a:rPr lang="en-US" sz="4400" b="1" i="1" dirty="0">
                <a:solidFill>
                  <a:srgbClr val="4F271C">
                    <a:satMod val="130000"/>
                  </a:srgbClr>
                </a:solidFill>
                <a:effectLst>
                  <a:outerShdw blurRad="50000" dist="30000" dir="5400000" algn="tl" rotWithShape="0">
                    <a:srgbClr val="000000">
                      <a:alpha val="30000"/>
                    </a:srgbClr>
                  </a:outerShdw>
                </a:effectLst>
                <a:latin typeface="Gill Sans MT"/>
              </a:rPr>
            </a:br>
            <a:r>
              <a:rPr lang="en-US" sz="4400" b="1" i="1" dirty="0" smtClean="0">
                <a:solidFill>
                  <a:srgbClr val="4F271C">
                    <a:satMod val="130000"/>
                  </a:srgbClr>
                </a:solidFill>
                <a:effectLst>
                  <a:outerShdw blurRad="50000" dist="30000" dir="5400000" algn="tl" rotWithShape="0">
                    <a:srgbClr val="000000">
                      <a:alpha val="30000"/>
                    </a:srgbClr>
                  </a:outerShdw>
                </a:effectLst>
                <a:latin typeface="Gill Sans MT"/>
              </a:rPr>
              <a:t/>
            </a:r>
            <a:br>
              <a:rPr lang="en-US" sz="4400" b="1" i="1" dirty="0" smtClean="0">
                <a:solidFill>
                  <a:srgbClr val="4F271C">
                    <a:satMod val="130000"/>
                  </a:srgbClr>
                </a:solidFill>
                <a:effectLst>
                  <a:outerShdw blurRad="50000" dist="30000" dir="5400000" algn="tl" rotWithShape="0">
                    <a:srgbClr val="000000">
                      <a:alpha val="30000"/>
                    </a:srgbClr>
                  </a:outerShdw>
                </a:effectLst>
                <a:latin typeface="Gill Sans MT"/>
              </a:rPr>
            </a:br>
            <a:r>
              <a:rPr lang="en-US" sz="4400" b="1" i="1" dirty="0">
                <a:solidFill>
                  <a:srgbClr val="4F271C">
                    <a:satMod val="130000"/>
                  </a:srgbClr>
                </a:solidFill>
                <a:effectLst>
                  <a:outerShdw blurRad="50000" dist="30000" dir="5400000" algn="tl" rotWithShape="0">
                    <a:srgbClr val="000000">
                      <a:alpha val="30000"/>
                    </a:srgbClr>
                  </a:outerShdw>
                </a:effectLst>
                <a:latin typeface="Gill Sans MT"/>
              </a:rPr>
              <a:t/>
            </a:r>
            <a:br>
              <a:rPr lang="en-US" sz="4400" b="1" i="1" dirty="0">
                <a:solidFill>
                  <a:srgbClr val="4F271C">
                    <a:satMod val="130000"/>
                  </a:srgbClr>
                </a:solidFill>
                <a:effectLst>
                  <a:outerShdw blurRad="50000" dist="30000" dir="5400000" algn="tl" rotWithShape="0">
                    <a:srgbClr val="000000">
                      <a:alpha val="30000"/>
                    </a:srgbClr>
                  </a:outerShdw>
                </a:effectLst>
                <a:latin typeface="Gill Sans MT"/>
              </a:rPr>
            </a:br>
            <a:r>
              <a:rPr lang="en-US" sz="4400" b="1" i="1" dirty="0" smtClean="0">
                <a:solidFill>
                  <a:srgbClr val="4F271C">
                    <a:satMod val="130000"/>
                  </a:srgbClr>
                </a:solidFill>
                <a:effectLst>
                  <a:outerShdw blurRad="50000" dist="30000" dir="5400000" algn="tl" rotWithShape="0">
                    <a:srgbClr val="000000">
                      <a:alpha val="30000"/>
                    </a:srgbClr>
                  </a:outerShdw>
                </a:effectLst>
                <a:latin typeface="Gill Sans MT"/>
              </a:rPr>
              <a:t/>
            </a:r>
            <a:br>
              <a:rPr lang="en-US" sz="4400" b="1" i="1" dirty="0" smtClean="0">
                <a:solidFill>
                  <a:srgbClr val="4F271C">
                    <a:satMod val="130000"/>
                  </a:srgbClr>
                </a:solidFill>
                <a:effectLst>
                  <a:outerShdw blurRad="50000" dist="30000" dir="5400000" algn="tl" rotWithShape="0">
                    <a:srgbClr val="000000">
                      <a:alpha val="30000"/>
                    </a:srgbClr>
                  </a:outerShdw>
                </a:effectLst>
                <a:latin typeface="Gill Sans MT"/>
              </a:rPr>
            </a:br>
            <a:r>
              <a:rPr lang="en-US" sz="4400" b="1" i="1" dirty="0">
                <a:solidFill>
                  <a:srgbClr val="4F271C">
                    <a:satMod val="130000"/>
                  </a:srgbClr>
                </a:solidFill>
                <a:effectLst>
                  <a:outerShdw blurRad="50000" dist="30000" dir="5400000" algn="tl" rotWithShape="0">
                    <a:srgbClr val="000000">
                      <a:alpha val="30000"/>
                    </a:srgbClr>
                  </a:outerShdw>
                </a:effectLst>
                <a:latin typeface="Gill Sans MT"/>
              </a:rPr>
              <a:t/>
            </a:r>
            <a:br>
              <a:rPr lang="en-US" sz="4400" b="1" i="1" dirty="0">
                <a:solidFill>
                  <a:srgbClr val="4F271C">
                    <a:satMod val="130000"/>
                  </a:srgbClr>
                </a:solidFill>
                <a:effectLst>
                  <a:outerShdw blurRad="50000" dist="30000" dir="5400000" algn="tl" rotWithShape="0">
                    <a:srgbClr val="000000">
                      <a:alpha val="30000"/>
                    </a:srgbClr>
                  </a:outerShdw>
                </a:effectLst>
                <a:latin typeface="Gill Sans MT"/>
              </a:rPr>
            </a:br>
            <a:r>
              <a:rPr lang="en-US" sz="4400" b="1" i="1" dirty="0" smtClean="0">
                <a:solidFill>
                  <a:srgbClr val="4F271C">
                    <a:satMod val="130000"/>
                  </a:srgbClr>
                </a:solidFill>
                <a:effectLst>
                  <a:outerShdw blurRad="50000" dist="30000" dir="5400000" algn="tl" rotWithShape="0">
                    <a:srgbClr val="000000">
                      <a:alpha val="30000"/>
                    </a:srgbClr>
                  </a:outerShdw>
                </a:effectLst>
                <a:latin typeface="Gill Sans MT"/>
              </a:rPr>
              <a:t/>
            </a:r>
            <a:br>
              <a:rPr lang="en-US" sz="4400" b="1" i="1" dirty="0" smtClean="0">
                <a:solidFill>
                  <a:srgbClr val="4F271C">
                    <a:satMod val="130000"/>
                  </a:srgbClr>
                </a:solidFill>
                <a:effectLst>
                  <a:outerShdw blurRad="50000" dist="30000" dir="5400000" algn="tl" rotWithShape="0">
                    <a:srgbClr val="000000">
                      <a:alpha val="30000"/>
                    </a:srgbClr>
                  </a:outerShdw>
                </a:effectLst>
                <a:latin typeface="Gill Sans MT"/>
              </a:rPr>
            </a:br>
            <a:r>
              <a:rPr lang="en-US" sz="4400" b="1" i="1" dirty="0">
                <a:solidFill>
                  <a:srgbClr val="4F271C">
                    <a:satMod val="130000"/>
                  </a:srgbClr>
                </a:solidFill>
                <a:effectLst>
                  <a:outerShdw blurRad="50000" dist="30000" dir="5400000" algn="tl" rotWithShape="0">
                    <a:srgbClr val="000000">
                      <a:alpha val="30000"/>
                    </a:srgbClr>
                  </a:outerShdw>
                </a:effectLst>
                <a:latin typeface="Gill Sans MT"/>
              </a:rPr>
              <a:t/>
            </a:r>
            <a:br>
              <a:rPr lang="en-US" sz="4400" b="1" i="1" dirty="0">
                <a:solidFill>
                  <a:srgbClr val="4F271C">
                    <a:satMod val="130000"/>
                  </a:srgbClr>
                </a:solidFill>
                <a:effectLst>
                  <a:outerShdw blurRad="50000" dist="30000" dir="5400000" algn="tl" rotWithShape="0">
                    <a:srgbClr val="000000">
                      <a:alpha val="30000"/>
                    </a:srgbClr>
                  </a:outerShdw>
                </a:effectLst>
                <a:latin typeface="Gill Sans MT"/>
              </a:rPr>
            </a:br>
            <a:r>
              <a:rPr lang="en-US" sz="4400" b="1" i="1" dirty="0" smtClean="0">
                <a:solidFill>
                  <a:srgbClr val="4F271C">
                    <a:satMod val="130000"/>
                  </a:srgbClr>
                </a:solidFill>
                <a:effectLst>
                  <a:outerShdw blurRad="50000" dist="30000" dir="5400000" algn="tl" rotWithShape="0">
                    <a:srgbClr val="000000">
                      <a:alpha val="30000"/>
                    </a:srgbClr>
                  </a:outerShdw>
                </a:effectLst>
                <a:latin typeface="Gill Sans MT"/>
              </a:rPr>
              <a:t/>
            </a:r>
            <a:br>
              <a:rPr lang="en-US" sz="4400" b="1" i="1" dirty="0" smtClean="0">
                <a:solidFill>
                  <a:srgbClr val="4F271C">
                    <a:satMod val="130000"/>
                  </a:srgbClr>
                </a:solidFill>
                <a:effectLst>
                  <a:outerShdw blurRad="50000" dist="30000" dir="5400000" algn="tl" rotWithShape="0">
                    <a:srgbClr val="000000">
                      <a:alpha val="30000"/>
                    </a:srgbClr>
                  </a:outerShdw>
                </a:effectLst>
                <a:latin typeface="Gill Sans MT"/>
              </a:rPr>
            </a:br>
            <a:r>
              <a:rPr lang="en-US" sz="4400" b="1" i="1" dirty="0">
                <a:solidFill>
                  <a:srgbClr val="4F271C">
                    <a:satMod val="130000"/>
                  </a:srgbClr>
                </a:solidFill>
                <a:effectLst>
                  <a:outerShdw blurRad="50000" dist="30000" dir="5400000" algn="tl" rotWithShape="0">
                    <a:srgbClr val="000000">
                      <a:alpha val="30000"/>
                    </a:srgbClr>
                  </a:outerShdw>
                </a:effectLst>
                <a:latin typeface="Gill Sans MT"/>
              </a:rPr>
              <a:t/>
            </a:r>
            <a:br>
              <a:rPr lang="en-US" sz="4400" b="1" i="1" dirty="0">
                <a:solidFill>
                  <a:srgbClr val="4F271C">
                    <a:satMod val="130000"/>
                  </a:srgbClr>
                </a:solidFill>
                <a:effectLst>
                  <a:outerShdw blurRad="50000" dist="30000" dir="5400000" algn="tl" rotWithShape="0">
                    <a:srgbClr val="000000">
                      <a:alpha val="30000"/>
                    </a:srgbClr>
                  </a:outerShdw>
                </a:effectLst>
                <a:latin typeface="Gill Sans MT"/>
              </a:rPr>
            </a:br>
            <a:r>
              <a:rPr lang="en-US" sz="4400" b="1" i="1" dirty="0" smtClean="0">
                <a:solidFill>
                  <a:srgbClr val="4F271C">
                    <a:satMod val="130000"/>
                  </a:srgbClr>
                </a:solidFill>
                <a:effectLst>
                  <a:outerShdw blurRad="50000" dist="30000" dir="5400000" algn="tl" rotWithShape="0">
                    <a:srgbClr val="000000">
                      <a:alpha val="30000"/>
                    </a:srgbClr>
                  </a:outerShdw>
                </a:effectLst>
                <a:latin typeface="Gill Sans MT"/>
              </a:rPr>
              <a:t/>
            </a:r>
            <a:br>
              <a:rPr lang="en-US" sz="4400" b="1" i="1" dirty="0" smtClean="0">
                <a:solidFill>
                  <a:srgbClr val="4F271C">
                    <a:satMod val="130000"/>
                  </a:srgbClr>
                </a:solidFill>
                <a:effectLst>
                  <a:outerShdw blurRad="50000" dist="30000" dir="5400000" algn="tl" rotWithShape="0">
                    <a:srgbClr val="000000">
                      <a:alpha val="30000"/>
                    </a:srgbClr>
                  </a:outerShdw>
                </a:effectLst>
                <a:latin typeface="Gill Sans MT"/>
              </a:rPr>
            </a:br>
            <a:r>
              <a:rPr lang="en-US" sz="4400" b="1" i="1" dirty="0">
                <a:solidFill>
                  <a:srgbClr val="4F271C">
                    <a:satMod val="130000"/>
                  </a:srgbClr>
                </a:solidFill>
                <a:effectLst>
                  <a:outerShdw blurRad="50000" dist="30000" dir="5400000" algn="tl" rotWithShape="0">
                    <a:srgbClr val="000000">
                      <a:alpha val="30000"/>
                    </a:srgbClr>
                  </a:outerShdw>
                </a:effectLst>
                <a:latin typeface="Gill Sans MT"/>
              </a:rPr>
              <a:t/>
            </a:r>
            <a:br>
              <a:rPr lang="en-US" sz="4400" b="1" i="1" dirty="0">
                <a:solidFill>
                  <a:srgbClr val="4F271C">
                    <a:satMod val="130000"/>
                  </a:srgbClr>
                </a:solidFill>
                <a:effectLst>
                  <a:outerShdw blurRad="50000" dist="30000" dir="5400000" algn="tl" rotWithShape="0">
                    <a:srgbClr val="000000">
                      <a:alpha val="30000"/>
                    </a:srgbClr>
                  </a:outerShdw>
                </a:effectLst>
                <a:latin typeface="Gill Sans MT"/>
              </a:rPr>
            </a:br>
            <a:r>
              <a:rPr lang="en-US" sz="4400" b="1" i="1" dirty="0" smtClean="0">
                <a:solidFill>
                  <a:srgbClr val="4F271C">
                    <a:satMod val="130000"/>
                  </a:srgbClr>
                </a:solidFill>
                <a:effectLst>
                  <a:outerShdw blurRad="50000" dist="30000" dir="5400000" algn="tl" rotWithShape="0">
                    <a:srgbClr val="000000">
                      <a:alpha val="30000"/>
                    </a:srgbClr>
                  </a:outerShdw>
                </a:effectLst>
                <a:latin typeface="Gill Sans MT"/>
              </a:rPr>
              <a:t/>
            </a:r>
            <a:br>
              <a:rPr lang="en-US" sz="4400" b="1" i="1" dirty="0" smtClean="0">
                <a:solidFill>
                  <a:srgbClr val="4F271C">
                    <a:satMod val="130000"/>
                  </a:srgbClr>
                </a:solidFill>
                <a:effectLst>
                  <a:outerShdw blurRad="50000" dist="30000" dir="5400000" algn="tl" rotWithShape="0">
                    <a:srgbClr val="000000">
                      <a:alpha val="30000"/>
                    </a:srgbClr>
                  </a:outerShdw>
                </a:effectLst>
                <a:latin typeface="Gill Sans MT"/>
              </a:rPr>
            </a:br>
            <a:r>
              <a:rPr lang="en-US" sz="4400" b="1" i="1" dirty="0" smtClean="0">
                <a:solidFill>
                  <a:srgbClr val="4F271C">
                    <a:satMod val="130000"/>
                  </a:srgbClr>
                </a:solidFill>
                <a:effectLst>
                  <a:outerShdw blurRad="50000" dist="30000" dir="5400000" algn="tl" rotWithShape="0">
                    <a:srgbClr val="000000">
                      <a:alpha val="30000"/>
                    </a:srgbClr>
                  </a:outerShdw>
                </a:effectLst>
                <a:latin typeface="Gill Sans MT"/>
              </a:rPr>
              <a:t/>
            </a:r>
            <a:br>
              <a:rPr lang="en-US" sz="4400" b="1" i="1" dirty="0" smtClean="0">
                <a:solidFill>
                  <a:srgbClr val="4F271C">
                    <a:satMod val="130000"/>
                  </a:srgbClr>
                </a:solidFill>
                <a:effectLst>
                  <a:outerShdw blurRad="50000" dist="30000" dir="5400000" algn="tl" rotWithShape="0">
                    <a:srgbClr val="000000">
                      <a:alpha val="30000"/>
                    </a:srgbClr>
                  </a:outerShdw>
                </a:effectLst>
                <a:latin typeface="Gill Sans MT"/>
              </a:rPr>
            </a:br>
            <a:r>
              <a:rPr lang="en-US" sz="4900" b="1" i="1" dirty="0" smtClean="0">
                <a:solidFill>
                  <a:schemeClr val="tx1"/>
                </a:solidFill>
                <a:effectLst>
                  <a:outerShdw blurRad="50000" dist="30000" dir="5400000" algn="tl" rotWithShape="0">
                    <a:srgbClr val="000000">
                      <a:alpha val="30000"/>
                    </a:srgbClr>
                  </a:outerShdw>
                </a:effectLst>
                <a:latin typeface="Gill Sans MT"/>
              </a:rPr>
              <a:t>INTRODUCTION  </a:t>
            </a:r>
            <a:r>
              <a:rPr lang="en-US" sz="4900" b="1" i="1" dirty="0">
                <a:solidFill>
                  <a:schemeClr val="tx1"/>
                </a:solidFill>
                <a:effectLst>
                  <a:outerShdw blurRad="50000" dist="30000" dir="5400000" algn="tl" rotWithShape="0">
                    <a:srgbClr val="000000">
                      <a:alpha val="30000"/>
                    </a:srgbClr>
                  </a:outerShdw>
                </a:effectLst>
                <a:latin typeface="Gill Sans MT"/>
              </a:rPr>
              <a:t>TO MANAGEMENT IN HEALTH </a:t>
            </a:r>
            <a:r>
              <a:rPr lang="en-US" sz="4900" b="1" i="1" dirty="0" smtClean="0">
                <a:solidFill>
                  <a:schemeClr val="tx1"/>
                </a:solidFill>
                <a:effectLst>
                  <a:outerShdw blurRad="50000" dist="30000" dir="5400000" algn="tl" rotWithShape="0">
                    <a:srgbClr val="000000">
                      <a:alpha val="30000"/>
                    </a:srgbClr>
                  </a:outerShdw>
                </a:effectLst>
                <a:latin typeface="Gill Sans MT"/>
              </a:rPr>
              <a:t/>
            </a:r>
            <a:br>
              <a:rPr lang="en-US" sz="4900" b="1" i="1" dirty="0" smtClean="0">
                <a:solidFill>
                  <a:schemeClr val="tx1"/>
                </a:solidFill>
                <a:effectLst>
                  <a:outerShdw blurRad="50000" dist="30000" dir="5400000" algn="tl" rotWithShape="0">
                    <a:srgbClr val="000000">
                      <a:alpha val="30000"/>
                    </a:srgbClr>
                  </a:outerShdw>
                </a:effectLst>
                <a:latin typeface="Gill Sans MT"/>
              </a:rPr>
            </a:br>
            <a:r>
              <a:rPr lang="en-US" sz="4900" b="1" i="1" dirty="0" smtClean="0">
                <a:solidFill>
                  <a:schemeClr val="tx1"/>
                </a:solidFill>
                <a:effectLst>
                  <a:outerShdw blurRad="50000" dist="30000" dir="5400000" algn="tl" rotWithShape="0">
                    <a:srgbClr val="000000">
                      <a:alpha val="30000"/>
                    </a:srgbClr>
                  </a:outerShdw>
                </a:effectLst>
                <a:latin typeface="Gill Sans MT"/>
              </a:rPr>
              <a:t>SYSTEM</a:t>
            </a:r>
            <a:r>
              <a:rPr lang="en-US" sz="4300" b="1" i="1" dirty="0">
                <a:solidFill>
                  <a:srgbClr val="4F271C">
                    <a:satMod val="130000"/>
                  </a:srgbClr>
                </a:solidFill>
                <a:effectLst>
                  <a:outerShdw blurRad="50000" dist="30000" dir="5400000" algn="tl" rotWithShape="0">
                    <a:srgbClr val="000000">
                      <a:alpha val="30000"/>
                    </a:srgbClr>
                  </a:outerShdw>
                </a:effectLst>
                <a:latin typeface="Gill Sans MT"/>
              </a:rPr>
              <a:t/>
            </a:r>
            <a:br>
              <a:rPr lang="en-US" sz="4300" b="1" i="1" dirty="0">
                <a:solidFill>
                  <a:srgbClr val="4F271C">
                    <a:satMod val="130000"/>
                  </a:srgbClr>
                </a:solidFill>
                <a:effectLst>
                  <a:outerShdw blurRad="50000" dist="30000" dir="5400000" algn="tl" rotWithShape="0">
                    <a:srgbClr val="000000">
                      <a:alpha val="30000"/>
                    </a:srgbClr>
                  </a:outerShdw>
                </a:effectLst>
                <a:latin typeface="Gill Sans MT"/>
              </a:rPr>
            </a:br>
            <a:r>
              <a:rPr lang="en-US" sz="4300" b="1" i="1" dirty="0">
                <a:solidFill>
                  <a:srgbClr val="4F271C">
                    <a:satMod val="130000"/>
                  </a:srgbClr>
                </a:solidFill>
                <a:effectLst>
                  <a:outerShdw blurRad="50000" dist="30000" dir="5400000" algn="tl" rotWithShape="0">
                    <a:srgbClr val="000000">
                      <a:alpha val="30000"/>
                    </a:srgbClr>
                  </a:outerShdw>
                </a:effectLst>
                <a:latin typeface="Gill Sans MT"/>
              </a:rPr>
              <a:t/>
            </a:r>
            <a:br>
              <a:rPr lang="en-US" sz="4300" b="1" i="1" dirty="0">
                <a:solidFill>
                  <a:srgbClr val="4F271C">
                    <a:satMod val="130000"/>
                  </a:srgbClr>
                </a:solidFill>
                <a:effectLst>
                  <a:outerShdw blurRad="50000" dist="30000" dir="5400000" algn="tl" rotWithShape="0">
                    <a:srgbClr val="000000">
                      <a:alpha val="30000"/>
                    </a:srgbClr>
                  </a:outerShdw>
                </a:effectLst>
                <a:latin typeface="Gill Sans MT"/>
              </a:rPr>
            </a:br>
            <a:r>
              <a:rPr lang="en-US" sz="2800" dirty="0">
                <a:solidFill>
                  <a:prstClr val="black"/>
                </a:solidFill>
                <a:latin typeface="Rockwell"/>
                <a:cs typeface="Arial" pitchFamily="34" charset="0"/>
              </a:rPr>
              <a:t/>
            </a:r>
            <a:br>
              <a:rPr lang="en-US" sz="2800" dirty="0">
                <a:solidFill>
                  <a:prstClr val="black"/>
                </a:solidFill>
                <a:latin typeface="Rockwell"/>
                <a:cs typeface="Arial" pitchFamily="34" charset="0"/>
              </a:rPr>
            </a:br>
            <a:endParaRPr lang="en-US" dirty="0"/>
          </a:p>
        </p:txBody>
      </p:sp>
      <p:sp>
        <p:nvSpPr>
          <p:cNvPr id="3" name="Subtitle 2"/>
          <p:cNvSpPr>
            <a:spLocks noGrp="1"/>
          </p:cNvSpPr>
          <p:nvPr>
            <p:ph type="subTitle" idx="1"/>
          </p:nvPr>
        </p:nvSpPr>
        <p:spPr/>
        <p:txBody>
          <a:bodyPr/>
          <a:lstStyle/>
          <a:p>
            <a:r>
              <a:rPr lang="en-US" sz="2500" dirty="0">
                <a:solidFill>
                  <a:prstClr val="black"/>
                </a:solidFill>
                <a:latin typeface="Rockwell"/>
                <a:cs typeface="Arial" pitchFamily="34" charset="0"/>
              </a:rPr>
              <a:t>By : dr. </a:t>
            </a:r>
            <a:r>
              <a:rPr lang="en-US" sz="2500" dirty="0" err="1">
                <a:solidFill>
                  <a:prstClr val="black"/>
                </a:solidFill>
                <a:latin typeface="Rockwell"/>
                <a:cs typeface="Arial" pitchFamily="34" charset="0"/>
              </a:rPr>
              <a:t>Ibtisam</a:t>
            </a:r>
            <a:r>
              <a:rPr lang="en-US" sz="2500" dirty="0">
                <a:solidFill>
                  <a:prstClr val="black"/>
                </a:solidFill>
                <a:latin typeface="Rockwell"/>
                <a:cs typeface="Arial" pitchFamily="34" charset="0"/>
              </a:rPr>
              <a:t> </a:t>
            </a:r>
            <a:r>
              <a:rPr lang="en-US" sz="2500" dirty="0" err="1">
                <a:solidFill>
                  <a:prstClr val="black"/>
                </a:solidFill>
                <a:latin typeface="Rockwell"/>
                <a:cs typeface="Arial" pitchFamily="34" charset="0"/>
              </a:rPr>
              <a:t>Merghani</a:t>
            </a:r>
            <a:r>
              <a:rPr lang="en-US" sz="2500" dirty="0">
                <a:solidFill>
                  <a:prstClr val="black"/>
                </a:solidFill>
                <a:latin typeface="Rockwell"/>
                <a:cs typeface="Arial" pitchFamily="34" charset="0"/>
              </a:rPr>
              <a:t> Oman </a:t>
            </a:r>
            <a:br>
              <a:rPr lang="en-US" sz="2500" dirty="0">
                <a:solidFill>
                  <a:prstClr val="black"/>
                </a:solidFill>
                <a:latin typeface="Rockwell"/>
                <a:cs typeface="Arial" pitchFamily="34" charset="0"/>
              </a:rPr>
            </a:br>
            <a:r>
              <a:rPr lang="en-US" sz="2500" dirty="0">
                <a:solidFill>
                  <a:prstClr val="black"/>
                </a:solidFill>
                <a:latin typeface="Rockwell"/>
                <a:cs typeface="Arial" pitchFamily="34" charset="0"/>
              </a:rPr>
              <a:t>MBBS, DPH , MPH,MD</a:t>
            </a:r>
            <a:endParaRPr lang="en-US" dirty="0"/>
          </a:p>
        </p:txBody>
      </p:sp>
    </p:spTree>
    <p:extLst>
      <p:ext uri="{BB962C8B-B14F-4D97-AF65-F5344CB8AC3E}">
        <p14:creationId xmlns:p14="http://schemas.microsoft.com/office/powerpoint/2010/main" val="648190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i="1" dirty="0">
                <a:solidFill>
                  <a:srgbClr val="FF0000"/>
                </a:solidFill>
                <a:effectLst>
                  <a:outerShdw blurRad="50000" dist="30000" dir="5400000" algn="tl" rotWithShape="0">
                    <a:srgbClr val="000000">
                      <a:alpha val="30000"/>
                    </a:srgbClr>
                  </a:outerShdw>
                </a:effectLst>
                <a:latin typeface="Gill Sans MT"/>
                <a:cs typeface="Arial" pitchFamily="34" charset="0"/>
              </a:rPr>
              <a:t>Contents</a:t>
            </a:r>
            <a:endParaRPr lang="en-US" sz="4400" b="1" i="1" dirty="0">
              <a:solidFill>
                <a:srgbClr val="FF0000"/>
              </a:solidFill>
            </a:endParaRPr>
          </a:p>
        </p:txBody>
      </p:sp>
      <p:sp>
        <p:nvSpPr>
          <p:cNvPr id="3" name="Content Placeholder 2"/>
          <p:cNvSpPr>
            <a:spLocks noGrp="1"/>
          </p:cNvSpPr>
          <p:nvPr>
            <p:ph idx="1"/>
          </p:nvPr>
        </p:nvSpPr>
        <p:spPr/>
        <p:txBody>
          <a:bodyPr/>
          <a:lstStyle/>
          <a:p>
            <a:pPr marL="539750" lvl="0" indent="-457200" defTabSz="914400" eaLnBrk="0" fontAlgn="base" hangingPunct="0">
              <a:spcBef>
                <a:spcPts val="600"/>
              </a:spcBef>
              <a:spcAft>
                <a:spcPct val="0"/>
              </a:spcAft>
              <a:buClr>
                <a:srgbClr val="C00000"/>
              </a:buClr>
              <a:buSzPct val="80000"/>
              <a:buFont typeface="Wingdings" panose="05000000000000000000" pitchFamily="2" charset="2"/>
              <a:buChar char="q"/>
            </a:pPr>
            <a:r>
              <a:rPr lang="en-US" sz="3200" dirty="0">
                <a:solidFill>
                  <a:prstClr val="black"/>
                </a:solidFill>
                <a:latin typeface="Gill Sans MT"/>
                <a:cs typeface="Arial" pitchFamily="34" charset="0"/>
              </a:rPr>
              <a:t>Definition of the health </a:t>
            </a:r>
            <a:r>
              <a:rPr lang="en-US" sz="3200" dirty="0" smtClean="0">
                <a:solidFill>
                  <a:prstClr val="black"/>
                </a:solidFill>
                <a:latin typeface="Gill Sans MT"/>
                <a:cs typeface="Arial" pitchFamily="34" charset="0"/>
              </a:rPr>
              <a:t>system</a:t>
            </a:r>
            <a:endParaRPr lang="ar-SA" sz="3200" dirty="0" smtClean="0">
              <a:solidFill>
                <a:prstClr val="black"/>
              </a:solidFill>
              <a:latin typeface="Gill Sans MT"/>
              <a:cs typeface="Arial" pitchFamily="34" charset="0"/>
            </a:endParaRPr>
          </a:p>
          <a:p>
            <a:pPr marL="539750" lvl="0" indent="-457200" defTabSz="914400" eaLnBrk="0" fontAlgn="base" hangingPunct="0">
              <a:spcBef>
                <a:spcPts val="600"/>
              </a:spcBef>
              <a:spcAft>
                <a:spcPct val="0"/>
              </a:spcAft>
              <a:buClr>
                <a:srgbClr val="C00000"/>
              </a:buClr>
              <a:buSzPct val="80000"/>
              <a:buFont typeface="Wingdings" panose="05000000000000000000" pitchFamily="2" charset="2"/>
              <a:buChar char="q"/>
            </a:pPr>
            <a:r>
              <a:rPr lang="en-US" sz="3200" dirty="0">
                <a:solidFill>
                  <a:prstClr val="black"/>
                </a:solidFill>
                <a:latin typeface="Gill Sans MT"/>
                <a:cs typeface="Arial" pitchFamily="34" charset="0"/>
              </a:rPr>
              <a:t>Components of the health </a:t>
            </a:r>
            <a:r>
              <a:rPr lang="en-US" sz="3200" dirty="0" smtClean="0">
                <a:solidFill>
                  <a:prstClr val="black"/>
                </a:solidFill>
                <a:latin typeface="Gill Sans MT"/>
                <a:cs typeface="Arial" pitchFamily="34" charset="0"/>
              </a:rPr>
              <a:t>system</a:t>
            </a:r>
            <a:endParaRPr lang="ar-SA" sz="3200" dirty="0" smtClean="0">
              <a:solidFill>
                <a:prstClr val="black"/>
              </a:solidFill>
              <a:latin typeface="Gill Sans MT"/>
              <a:cs typeface="Arial" pitchFamily="34" charset="0"/>
            </a:endParaRPr>
          </a:p>
          <a:p>
            <a:pPr marL="539750" lvl="0" indent="-457200" defTabSz="914400" eaLnBrk="0" fontAlgn="base" hangingPunct="0">
              <a:spcBef>
                <a:spcPts val="600"/>
              </a:spcBef>
              <a:spcAft>
                <a:spcPct val="0"/>
              </a:spcAft>
              <a:buClr>
                <a:srgbClr val="C00000"/>
              </a:buClr>
              <a:buSzPct val="80000"/>
              <a:buFont typeface="Wingdings" panose="05000000000000000000" pitchFamily="2" charset="2"/>
              <a:buChar char="q"/>
            </a:pPr>
            <a:r>
              <a:rPr lang="en-US" sz="3200" dirty="0">
                <a:solidFill>
                  <a:prstClr val="black"/>
                </a:solidFill>
                <a:latin typeface="Gill Sans MT"/>
                <a:cs typeface="Arial" pitchFamily="34" charset="0"/>
              </a:rPr>
              <a:t>The Six building blocks</a:t>
            </a:r>
          </a:p>
          <a:p>
            <a:pPr marL="539750" lvl="0" indent="-457200" defTabSz="914400" eaLnBrk="0" fontAlgn="base" hangingPunct="0">
              <a:spcBef>
                <a:spcPts val="600"/>
              </a:spcBef>
              <a:spcAft>
                <a:spcPct val="0"/>
              </a:spcAft>
              <a:buClr>
                <a:srgbClr val="C00000"/>
              </a:buClr>
              <a:buSzPct val="80000"/>
              <a:buFont typeface="Wingdings" panose="05000000000000000000" pitchFamily="2" charset="2"/>
              <a:buChar char="q"/>
            </a:pPr>
            <a:endParaRPr lang="en-US" sz="3200" dirty="0">
              <a:solidFill>
                <a:prstClr val="black"/>
              </a:solidFill>
              <a:latin typeface="Gill Sans MT"/>
              <a:cs typeface="Arial" pitchFamily="34" charset="0"/>
            </a:endParaRPr>
          </a:p>
          <a:p>
            <a:pPr marL="539750" lvl="0" indent="-457200" defTabSz="914400" eaLnBrk="0" fontAlgn="base" hangingPunct="0">
              <a:spcBef>
                <a:spcPts val="600"/>
              </a:spcBef>
              <a:spcAft>
                <a:spcPct val="0"/>
              </a:spcAft>
              <a:buClr>
                <a:srgbClr val="3891A7"/>
              </a:buClr>
              <a:buSzPct val="80000"/>
              <a:buFont typeface="Wingdings" panose="05000000000000000000" pitchFamily="2" charset="2"/>
              <a:buChar char="q"/>
            </a:pPr>
            <a:endParaRPr lang="en-US" sz="3200" dirty="0">
              <a:solidFill>
                <a:prstClr val="black"/>
              </a:solidFill>
              <a:latin typeface="Gill Sans MT"/>
              <a:cs typeface="Arial" pitchFamily="34" charset="0"/>
            </a:endParaRPr>
          </a:p>
          <a:p>
            <a:pPr>
              <a:buFont typeface="Wingdings" panose="05000000000000000000" pitchFamily="2" charset="2"/>
              <a:buChar char="q"/>
            </a:pPr>
            <a:endParaRPr lang="en-US" dirty="0"/>
          </a:p>
        </p:txBody>
      </p:sp>
    </p:spTree>
    <p:extLst>
      <p:ext uri="{BB962C8B-B14F-4D97-AF65-F5344CB8AC3E}">
        <p14:creationId xmlns:p14="http://schemas.microsoft.com/office/powerpoint/2010/main" val="4136312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i="1" dirty="0">
                <a:solidFill>
                  <a:srgbClr val="FF0000"/>
                </a:solidFill>
                <a:latin typeface="Gill Sans MT"/>
                <a:cs typeface="Arial" pitchFamily="34" charset="0"/>
              </a:rPr>
              <a:t>Definition of the health system</a:t>
            </a:r>
            <a:endParaRPr lang="en-US" dirty="0"/>
          </a:p>
        </p:txBody>
      </p:sp>
      <p:sp>
        <p:nvSpPr>
          <p:cNvPr id="3" name="Content Placeholder 2"/>
          <p:cNvSpPr>
            <a:spLocks noGrp="1"/>
          </p:cNvSpPr>
          <p:nvPr>
            <p:ph idx="1"/>
          </p:nvPr>
        </p:nvSpPr>
        <p:spPr>
          <a:xfrm>
            <a:off x="2589212" y="2133599"/>
            <a:ext cx="8915400" cy="4189928"/>
          </a:xfrm>
        </p:spPr>
        <p:txBody>
          <a:bodyPr>
            <a:normAutofit fontScale="92500"/>
          </a:bodyPr>
          <a:lstStyle/>
          <a:p>
            <a:pPr marL="365125" lvl="0" indent="-282575" algn="just" defTabSz="914400" eaLnBrk="0" fontAlgn="base" hangingPunct="0">
              <a:spcBef>
                <a:spcPts val="600"/>
              </a:spcBef>
              <a:spcAft>
                <a:spcPct val="0"/>
              </a:spcAft>
              <a:buClr>
                <a:srgbClr val="3891A7"/>
              </a:buClr>
              <a:buSzPct val="80000"/>
              <a:buFont typeface="Wingdings 2" panose="05020102010507070707" pitchFamily="18" charset="2"/>
              <a:buChar char=""/>
            </a:pPr>
            <a:r>
              <a:rPr lang="en-US" sz="3200" dirty="0">
                <a:solidFill>
                  <a:prstClr val="black"/>
                </a:solidFill>
                <a:latin typeface="Gill Sans MT"/>
                <a:cs typeface="Arial" pitchFamily="34" charset="0"/>
              </a:rPr>
              <a:t>All the organizations, institutions, resources, and people whose primary purpose is to improve health</a:t>
            </a:r>
          </a:p>
          <a:p>
            <a:pPr marL="82550" lvl="0" indent="0" algn="just" defTabSz="914400" eaLnBrk="0" fontAlgn="base" hangingPunct="0">
              <a:spcBef>
                <a:spcPts val="600"/>
              </a:spcBef>
              <a:spcAft>
                <a:spcPct val="0"/>
              </a:spcAft>
              <a:buClr>
                <a:srgbClr val="3891A7"/>
              </a:buClr>
              <a:buSzPct val="80000"/>
              <a:buNone/>
            </a:pPr>
            <a:r>
              <a:rPr lang="en-US" sz="3200" dirty="0">
                <a:solidFill>
                  <a:prstClr val="black"/>
                </a:solidFill>
                <a:latin typeface="Gill Sans MT"/>
                <a:cs typeface="Arial" pitchFamily="34" charset="0"/>
              </a:rPr>
              <a:t>WHO definition</a:t>
            </a:r>
          </a:p>
          <a:p>
            <a:pPr marL="365125" lvl="0" indent="-282575" algn="just" defTabSz="914400" eaLnBrk="0" fontAlgn="base" hangingPunct="0">
              <a:spcBef>
                <a:spcPts val="600"/>
              </a:spcBef>
              <a:spcAft>
                <a:spcPct val="0"/>
              </a:spcAft>
              <a:buClr>
                <a:srgbClr val="3891A7"/>
              </a:buClr>
              <a:buSzPct val="80000"/>
              <a:buFont typeface="Wingdings 2" panose="05020102010507070707" pitchFamily="18" charset="2"/>
              <a:buChar char=""/>
            </a:pPr>
            <a:r>
              <a:rPr lang="en-US" sz="3200" dirty="0">
                <a:solidFill>
                  <a:prstClr val="black"/>
                </a:solidFill>
                <a:latin typeface="Gill Sans MT"/>
                <a:cs typeface="Arial" pitchFamily="34" charset="0"/>
              </a:rPr>
              <a:t>“</a:t>
            </a:r>
            <a:r>
              <a:rPr lang="en-US" sz="3200" i="1" dirty="0">
                <a:solidFill>
                  <a:prstClr val="black"/>
                </a:solidFill>
                <a:latin typeface="Gill Sans MT"/>
                <a:cs typeface="Arial" pitchFamily="34" charset="0"/>
              </a:rPr>
              <a:t>Consists of all organizations, people and actions whose primary intent is to promote, restore or maintain health, this includes efforts to influence determinants of health as well as more direct health-improving activities</a:t>
            </a:r>
            <a:r>
              <a:rPr lang="en-US" sz="3200" dirty="0">
                <a:solidFill>
                  <a:prstClr val="black"/>
                </a:solidFill>
                <a:latin typeface="Gill Sans MT"/>
                <a:cs typeface="Arial" pitchFamily="34" charset="0"/>
              </a:rPr>
              <a:t>”</a:t>
            </a:r>
          </a:p>
          <a:p>
            <a:pPr marL="365125" lvl="0" indent="-282575" algn="just" defTabSz="914400" eaLnBrk="0" fontAlgn="base" hangingPunct="0">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eaLnBrk="0" fontAlgn="base" hangingPunct="0">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algn="just"/>
            <a:endParaRPr lang="en-US" dirty="0"/>
          </a:p>
        </p:txBody>
      </p:sp>
    </p:spTree>
    <p:extLst>
      <p:ext uri="{BB962C8B-B14F-4D97-AF65-F5344CB8AC3E}">
        <p14:creationId xmlns:p14="http://schemas.microsoft.com/office/powerpoint/2010/main" val="501550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900" b="1" i="1" dirty="0">
                <a:solidFill>
                  <a:srgbClr val="FF0000"/>
                </a:solidFill>
                <a:effectLst>
                  <a:outerShdw blurRad="50000" dist="30000" dir="5400000" algn="tl" rotWithShape="0">
                    <a:srgbClr val="000000">
                      <a:alpha val="30000"/>
                    </a:srgbClr>
                  </a:outerShdw>
                </a:effectLst>
                <a:latin typeface="Gill Sans MT"/>
              </a:rPr>
              <a:t> KEY COMPONENTS OF A WELL FUNCTIONING HEALTH SYSTEM </a:t>
            </a:r>
            <a:endParaRPr lang="en-US" dirty="0"/>
          </a:p>
        </p:txBody>
      </p:sp>
      <p:sp>
        <p:nvSpPr>
          <p:cNvPr id="3" name="Content Placeholder 2"/>
          <p:cNvSpPr>
            <a:spLocks noGrp="1"/>
          </p:cNvSpPr>
          <p:nvPr>
            <p:ph idx="1"/>
          </p:nvPr>
        </p:nvSpPr>
        <p:spPr/>
        <p:txBody>
          <a:bodyPr/>
          <a:lstStyle/>
          <a:p>
            <a:pPr marL="365125" lvl="0" indent="-282575" algn="just" defTabSz="914400" fontAlgn="base">
              <a:spcBef>
                <a:spcPts val="600"/>
              </a:spcBef>
              <a:spcAft>
                <a:spcPct val="0"/>
              </a:spcAft>
              <a:buClr>
                <a:srgbClr val="C00000"/>
              </a:buClr>
              <a:buSzPct val="80000"/>
              <a:buFont typeface="Wingdings 2" panose="05020102010507070707" pitchFamily="18" charset="2"/>
              <a:buChar char=""/>
            </a:pPr>
            <a:r>
              <a:rPr lang="en-US" sz="3200" dirty="0">
                <a:solidFill>
                  <a:prstClr val="black"/>
                </a:solidFill>
                <a:latin typeface="Gill Sans MT"/>
                <a:cs typeface="Arial" pitchFamily="34" charset="0"/>
              </a:rPr>
              <a:t> A well functioning health system responds in a balanced way to a population’s needs and expectations by: </a:t>
            </a:r>
          </a:p>
          <a:p>
            <a:pPr marL="365125" lvl="0" indent="-282575" algn="just" defTabSz="914400" fontAlgn="base">
              <a:spcBef>
                <a:spcPts val="600"/>
              </a:spcBef>
              <a:spcAft>
                <a:spcPct val="0"/>
              </a:spcAft>
              <a:buClr>
                <a:srgbClr val="C00000"/>
              </a:buClr>
              <a:buSzPct val="80000"/>
              <a:buFont typeface="Calibri" panose="020F0502020204030204" pitchFamily="34" charset="0"/>
              <a:buAutoNum type="arabicPeriod"/>
            </a:pPr>
            <a:r>
              <a:rPr lang="en-US" sz="3200" dirty="0">
                <a:solidFill>
                  <a:prstClr val="black"/>
                </a:solidFill>
                <a:latin typeface="Gill Sans MT"/>
                <a:cs typeface="Arial" pitchFamily="34" charset="0"/>
              </a:rPr>
              <a:t>Improving the health status of individuals, families and communities.</a:t>
            </a:r>
          </a:p>
          <a:p>
            <a:pPr marL="365125" lvl="0" indent="-282575" algn="just" defTabSz="914400" fontAlgn="base">
              <a:spcBef>
                <a:spcPts val="600"/>
              </a:spcBef>
              <a:spcAft>
                <a:spcPct val="0"/>
              </a:spcAft>
              <a:buClr>
                <a:srgbClr val="C00000"/>
              </a:buClr>
              <a:buSzPct val="80000"/>
              <a:buFont typeface="Calibri" panose="020F0502020204030204" pitchFamily="34" charset="0"/>
              <a:buAutoNum type="arabicPeriod"/>
            </a:pPr>
            <a:r>
              <a:rPr lang="en-US" sz="3200" dirty="0">
                <a:solidFill>
                  <a:prstClr val="black"/>
                </a:solidFill>
                <a:latin typeface="Gill Sans MT"/>
                <a:cs typeface="Arial" pitchFamily="34" charset="0"/>
              </a:rPr>
              <a:t>Defending the population against what threatens its health.</a:t>
            </a:r>
          </a:p>
          <a:p>
            <a:pPr marL="365125" lvl="0" indent="-282575" algn="just" defTabSz="914400" fontAlgn="base">
              <a:spcBef>
                <a:spcPts val="600"/>
              </a:spcBef>
              <a:spcAft>
                <a:spcPct val="0"/>
              </a:spcAft>
              <a:buClr>
                <a:srgbClr val="3891A7"/>
              </a:buClr>
              <a:buSzPct val="80000"/>
              <a:buNone/>
            </a:pPr>
            <a:endParaRPr lang="en-US" sz="3200" dirty="0">
              <a:solidFill>
                <a:prstClr val="black"/>
              </a:solidFill>
              <a:latin typeface="Gill Sans MT"/>
              <a:cs typeface="Arial" pitchFamily="34" charset="0"/>
            </a:endParaRPr>
          </a:p>
          <a:p>
            <a:endParaRPr lang="en-US" dirty="0"/>
          </a:p>
        </p:txBody>
      </p:sp>
    </p:spTree>
    <p:extLst>
      <p:ext uri="{BB962C8B-B14F-4D97-AF65-F5344CB8AC3E}">
        <p14:creationId xmlns:p14="http://schemas.microsoft.com/office/powerpoint/2010/main" val="1090285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500" b="1" i="1" dirty="0">
                <a:solidFill>
                  <a:srgbClr val="FF0000"/>
                </a:solidFill>
                <a:effectLst>
                  <a:outerShdw blurRad="50000" dist="30000" dir="5400000" algn="tl" rotWithShape="0">
                    <a:srgbClr val="000000">
                      <a:alpha val="30000"/>
                    </a:srgbClr>
                  </a:outerShdw>
                </a:effectLst>
                <a:latin typeface="Gill Sans MT"/>
              </a:rPr>
              <a:t> KEY COMPONENTS OF A WELL FUNCTIONING HEALTH SYSTEM </a:t>
            </a:r>
            <a:endParaRPr lang="en-US" dirty="0"/>
          </a:p>
        </p:txBody>
      </p:sp>
      <p:sp>
        <p:nvSpPr>
          <p:cNvPr id="3" name="Content Placeholder 2"/>
          <p:cNvSpPr>
            <a:spLocks noGrp="1"/>
          </p:cNvSpPr>
          <p:nvPr>
            <p:ph idx="1"/>
          </p:nvPr>
        </p:nvSpPr>
        <p:spPr/>
        <p:txBody>
          <a:bodyPr/>
          <a:lstStyle/>
          <a:p>
            <a:pPr marL="82550" lvl="0" indent="0" algn="just" defTabSz="914400" fontAlgn="base">
              <a:spcBef>
                <a:spcPts val="600"/>
              </a:spcBef>
              <a:spcAft>
                <a:spcPct val="0"/>
              </a:spcAft>
              <a:buClr>
                <a:srgbClr val="3891A7"/>
              </a:buClr>
              <a:buSzPct val="80000"/>
              <a:buNone/>
            </a:pPr>
            <a:r>
              <a:rPr lang="en-US" sz="3200" dirty="0" smtClean="0">
                <a:solidFill>
                  <a:srgbClr val="C00000"/>
                </a:solidFill>
                <a:latin typeface="Gill Sans MT"/>
                <a:cs typeface="Arial" pitchFamily="34" charset="0"/>
              </a:rPr>
              <a:t>3. </a:t>
            </a:r>
            <a:r>
              <a:rPr lang="en-US" sz="3200" dirty="0" smtClean="0">
                <a:solidFill>
                  <a:prstClr val="black"/>
                </a:solidFill>
                <a:latin typeface="Gill Sans MT"/>
                <a:cs typeface="Arial" pitchFamily="34" charset="0"/>
              </a:rPr>
              <a:t>Protecting </a:t>
            </a:r>
            <a:r>
              <a:rPr lang="en-US" sz="3200" dirty="0">
                <a:solidFill>
                  <a:prstClr val="black"/>
                </a:solidFill>
                <a:latin typeface="Gill Sans MT"/>
                <a:cs typeface="Arial" pitchFamily="34" charset="0"/>
              </a:rPr>
              <a:t>people against the financial consequences of ill-health.</a:t>
            </a:r>
          </a:p>
          <a:p>
            <a:pPr marL="514350" lvl="0" indent="-514350" algn="just" defTabSz="914400">
              <a:spcBef>
                <a:spcPts val="600"/>
              </a:spcBef>
              <a:buClr>
                <a:srgbClr val="C00000"/>
              </a:buClr>
              <a:buSzPct val="80000"/>
              <a:buFont typeface="+mj-lt"/>
              <a:buAutoNum type="arabicPeriod" startAt="4"/>
              <a:defRPr/>
            </a:pPr>
            <a:r>
              <a:rPr lang="en-US" sz="3200" dirty="0">
                <a:solidFill>
                  <a:prstClr val="black"/>
                </a:solidFill>
                <a:latin typeface="Gill Sans MT"/>
              </a:rPr>
              <a:t>Providing equitable access to people-</a:t>
            </a:r>
            <a:r>
              <a:rPr lang="en-US" sz="3200" dirty="0" err="1">
                <a:solidFill>
                  <a:prstClr val="black"/>
                </a:solidFill>
                <a:latin typeface="Gill Sans MT"/>
              </a:rPr>
              <a:t>centred</a:t>
            </a:r>
            <a:r>
              <a:rPr lang="en-US" sz="3200" dirty="0">
                <a:solidFill>
                  <a:prstClr val="black"/>
                </a:solidFill>
                <a:latin typeface="Gill Sans MT"/>
              </a:rPr>
              <a:t> care. </a:t>
            </a:r>
          </a:p>
          <a:p>
            <a:pPr marL="514350" lvl="0" indent="-514350" algn="just" defTabSz="914400">
              <a:spcBef>
                <a:spcPts val="600"/>
              </a:spcBef>
              <a:buClr>
                <a:srgbClr val="C00000"/>
              </a:buClr>
              <a:buSzPct val="80000"/>
              <a:buFont typeface="+mj-lt"/>
              <a:buAutoNum type="arabicPeriod" startAt="4"/>
              <a:defRPr/>
            </a:pPr>
            <a:r>
              <a:rPr lang="en-US" sz="3200" dirty="0">
                <a:solidFill>
                  <a:prstClr val="black"/>
                </a:solidFill>
                <a:latin typeface="Gill Sans MT"/>
              </a:rPr>
              <a:t>Making it possible for people to participate in decisions affecting their health and health system. </a:t>
            </a:r>
          </a:p>
          <a:p>
            <a:pPr marL="365125" lvl="0" indent="-282575" algn="just" defTabSz="914400" eaLnBrk="0" fontAlgn="base" hangingPunct="0">
              <a:spcBef>
                <a:spcPts val="600"/>
              </a:spcBef>
              <a:spcAft>
                <a:spcPct val="0"/>
              </a:spcAft>
              <a:buClr>
                <a:srgbClr val="3891A7"/>
              </a:buClr>
              <a:buSzPct val="80000"/>
              <a:buFont typeface="Wingdings 2" panose="05020102010507070707" pitchFamily="18" charset="2"/>
              <a:buChar char=""/>
            </a:pPr>
            <a:endParaRPr lang="en-US" sz="3600" dirty="0">
              <a:solidFill>
                <a:prstClr val="black"/>
              </a:solidFill>
              <a:latin typeface="Gill Sans MT"/>
              <a:cs typeface="Arial" pitchFamily="34" charset="0"/>
            </a:endParaRPr>
          </a:p>
          <a:p>
            <a:endParaRPr lang="en-US" dirty="0"/>
          </a:p>
        </p:txBody>
      </p:sp>
    </p:spTree>
    <p:extLst>
      <p:ext uri="{BB962C8B-B14F-4D97-AF65-F5344CB8AC3E}">
        <p14:creationId xmlns:p14="http://schemas.microsoft.com/office/powerpoint/2010/main" val="1073820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i="1" dirty="0">
                <a:solidFill>
                  <a:srgbClr val="FF0000"/>
                </a:solidFill>
                <a:effectLst>
                  <a:outerShdw blurRad="50000" dist="30000" dir="5400000" algn="tl" rotWithShape="0">
                    <a:srgbClr val="000000">
                      <a:alpha val="30000"/>
                    </a:srgbClr>
                  </a:outerShdw>
                </a:effectLst>
                <a:latin typeface="Gill Sans MT"/>
              </a:rPr>
              <a:t> KEY COMPONENTS OF A WELL FUNCTIONING HEALTH SYSTEM – cont. </a:t>
            </a:r>
            <a:endParaRPr lang="en-US" dirty="0"/>
          </a:p>
        </p:txBody>
      </p:sp>
      <p:sp>
        <p:nvSpPr>
          <p:cNvPr id="3" name="Content Placeholder 2"/>
          <p:cNvSpPr>
            <a:spLocks noGrp="1"/>
          </p:cNvSpPr>
          <p:nvPr>
            <p:ph idx="1"/>
          </p:nvPr>
        </p:nvSpPr>
        <p:spPr>
          <a:xfrm>
            <a:off x="2589212" y="2133599"/>
            <a:ext cx="9233594" cy="4164169"/>
          </a:xfrm>
        </p:spPr>
        <p:txBody>
          <a:bodyPr>
            <a:normAutofit/>
          </a:bodyPr>
          <a:lstStyle/>
          <a:p>
            <a:pPr marL="514350" lvl="0" indent="-514350" algn="just" defTabSz="914400">
              <a:spcBef>
                <a:spcPts val="600"/>
              </a:spcBef>
              <a:buClr>
                <a:srgbClr val="C00000"/>
              </a:buClr>
              <a:buSzPct val="80000"/>
              <a:buFont typeface="Wingdings 2" panose="05020102010507070707" pitchFamily="18" charset="2"/>
              <a:buChar char=""/>
              <a:defRPr/>
            </a:pPr>
            <a:r>
              <a:rPr lang="en-US" sz="3200" dirty="0">
                <a:solidFill>
                  <a:prstClr val="black"/>
                </a:solidFill>
                <a:latin typeface="Gill Sans MT"/>
              </a:rPr>
              <a:t>Without strong </a:t>
            </a:r>
            <a:r>
              <a:rPr lang="en-US" sz="3200" dirty="0">
                <a:solidFill>
                  <a:srgbClr val="FF0000"/>
                </a:solidFill>
                <a:latin typeface="Gill Sans MT"/>
              </a:rPr>
              <a:t>policies</a:t>
            </a:r>
            <a:r>
              <a:rPr lang="en-US" sz="3200" dirty="0">
                <a:solidFill>
                  <a:prstClr val="black"/>
                </a:solidFill>
                <a:latin typeface="Gill Sans MT"/>
              </a:rPr>
              <a:t> and </a:t>
            </a:r>
            <a:r>
              <a:rPr lang="en-US" sz="3200" dirty="0">
                <a:solidFill>
                  <a:srgbClr val="FF0000"/>
                </a:solidFill>
                <a:latin typeface="Gill Sans MT"/>
              </a:rPr>
              <a:t>leadership</a:t>
            </a:r>
            <a:r>
              <a:rPr lang="en-US" sz="3200" dirty="0">
                <a:solidFill>
                  <a:prstClr val="black"/>
                </a:solidFill>
                <a:latin typeface="Gill Sans MT"/>
              </a:rPr>
              <a:t>, health systems do not spontaneously provide balanced responses to these challenges, nor do they make the most efficient use of their resources. </a:t>
            </a:r>
          </a:p>
          <a:p>
            <a:pPr marL="365760" lvl="0" indent="-283464" algn="just" defTabSz="914400">
              <a:spcBef>
                <a:spcPts val="600"/>
              </a:spcBef>
              <a:buClr>
                <a:srgbClr val="C00000"/>
              </a:buClr>
              <a:buSzPct val="80000"/>
              <a:buFont typeface="Wingdings 2"/>
              <a:buChar char=""/>
              <a:defRPr/>
            </a:pPr>
            <a:r>
              <a:rPr lang="en-US" sz="3200" dirty="0">
                <a:solidFill>
                  <a:prstClr val="black"/>
                </a:solidFill>
                <a:latin typeface="Gill Sans MT"/>
              </a:rPr>
              <a:t> Keeping health systems on track requires a strong sense of direction, and coherent investment in the various building blocks of the health system, so as to provide the kind of services that produce results. </a:t>
            </a:r>
          </a:p>
          <a:p>
            <a:pPr>
              <a:buClr>
                <a:srgbClr val="C00000"/>
              </a:buClr>
            </a:pPr>
            <a:endParaRPr lang="en-US" dirty="0"/>
          </a:p>
        </p:txBody>
      </p:sp>
    </p:spTree>
    <p:extLst>
      <p:ext uri="{BB962C8B-B14F-4D97-AF65-F5344CB8AC3E}">
        <p14:creationId xmlns:p14="http://schemas.microsoft.com/office/powerpoint/2010/main" val="2950691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solidFill>
                  <a:srgbClr val="FF0000"/>
                </a:solidFill>
                <a:effectLst>
                  <a:outerShdw blurRad="50000" dist="30000" dir="5400000" algn="tl" rotWithShape="0">
                    <a:srgbClr val="000000">
                      <a:alpha val="30000"/>
                    </a:srgbClr>
                  </a:outerShdw>
                </a:effectLst>
                <a:latin typeface="Gill Sans MT"/>
              </a:rPr>
              <a:t>SIX BUILDING BLOCKS OF A HEALTH SYSTEM</a:t>
            </a:r>
            <a:endParaRPr lang="en-US" dirty="0"/>
          </a:p>
        </p:txBody>
      </p:sp>
      <p:sp>
        <p:nvSpPr>
          <p:cNvPr id="3" name="Content Placeholder 2"/>
          <p:cNvSpPr>
            <a:spLocks noGrp="1"/>
          </p:cNvSpPr>
          <p:nvPr>
            <p:ph idx="1"/>
          </p:nvPr>
        </p:nvSpPr>
        <p:spPr>
          <a:xfrm>
            <a:off x="2589211" y="2133600"/>
            <a:ext cx="9104805" cy="4202806"/>
          </a:xfrm>
        </p:spPr>
        <p:txBody>
          <a:bodyPr>
            <a:normAutofit/>
          </a:bodyPr>
          <a:lstStyle/>
          <a:p>
            <a:pPr marL="365125" lvl="0" indent="-282575" algn="just" defTabSz="914400" fontAlgn="base">
              <a:spcBef>
                <a:spcPts val="600"/>
              </a:spcBef>
              <a:spcAft>
                <a:spcPct val="0"/>
              </a:spcAft>
              <a:buClr>
                <a:srgbClr val="C00000"/>
              </a:buClr>
              <a:buSzPct val="80000"/>
              <a:buFont typeface="Wingdings" panose="05000000000000000000" pitchFamily="2" charset="2"/>
              <a:buChar char="q"/>
            </a:pPr>
            <a:r>
              <a:rPr lang="en-US" altLang="en-US" sz="3200" b="1" dirty="0">
                <a:solidFill>
                  <a:srgbClr val="0070C0"/>
                </a:solidFill>
                <a:latin typeface="Gill Sans MT"/>
                <a:cs typeface="Arial" pitchFamily="34" charset="0"/>
              </a:rPr>
              <a:t>LEADERSHIP AND GOVERNANCE</a:t>
            </a:r>
          </a:p>
          <a:p>
            <a:pPr marL="82550" lvl="0" indent="0" algn="just" defTabSz="914400" fontAlgn="base">
              <a:spcBef>
                <a:spcPts val="600"/>
              </a:spcBef>
              <a:spcAft>
                <a:spcPct val="0"/>
              </a:spcAft>
              <a:buClr>
                <a:srgbClr val="3891A7"/>
              </a:buClr>
              <a:buSzPct val="80000"/>
              <a:buNone/>
            </a:pPr>
            <a:r>
              <a:rPr lang="en-US" altLang="en-US" sz="3200" b="1" dirty="0">
                <a:solidFill>
                  <a:srgbClr val="0070C0"/>
                </a:solidFill>
                <a:latin typeface="Gill Sans MT"/>
                <a:cs typeface="Arial" pitchFamily="34" charset="0"/>
              </a:rPr>
              <a:t>  </a:t>
            </a:r>
            <a:endParaRPr lang="en-US" altLang="en-US" sz="3200" dirty="0">
              <a:solidFill>
                <a:srgbClr val="0070C0"/>
              </a:solidFill>
              <a:latin typeface="Gill Sans MT"/>
              <a:cs typeface="Arial" pitchFamily="34" charset="0"/>
            </a:endParaRPr>
          </a:p>
          <a:p>
            <a:pPr marL="365125" lvl="0" indent="-282575" algn="just" defTabSz="914400" fontAlgn="base">
              <a:spcBef>
                <a:spcPts val="600"/>
              </a:spcBef>
              <a:spcAft>
                <a:spcPct val="0"/>
              </a:spcAft>
              <a:buClr>
                <a:srgbClr val="C00000"/>
              </a:buClr>
              <a:buSzPct val="80000"/>
              <a:buFont typeface="Wingdings 2" panose="05020102010507070707" pitchFamily="18" charset="2"/>
              <a:buChar char=""/>
            </a:pPr>
            <a:r>
              <a:rPr lang="en-US" altLang="en-US" sz="3200" dirty="0">
                <a:solidFill>
                  <a:prstClr val="black"/>
                </a:solidFill>
                <a:latin typeface="Gill Sans MT"/>
                <a:cs typeface="Arial" pitchFamily="34" charset="0"/>
              </a:rPr>
              <a:t>Good practice in leadership and governance includes: </a:t>
            </a:r>
          </a:p>
          <a:p>
            <a:pPr marL="914400" lvl="1" indent="-514350" algn="just" defTabSz="914400" fontAlgn="base">
              <a:spcBef>
                <a:spcPts val="550"/>
              </a:spcBef>
              <a:spcAft>
                <a:spcPct val="0"/>
              </a:spcAft>
              <a:buClr>
                <a:srgbClr val="C00000"/>
              </a:buClr>
              <a:buFont typeface="Calibri" panose="020F0502020204030204" pitchFamily="34" charset="0"/>
              <a:buAutoNum type="arabicPeriod"/>
            </a:pPr>
            <a:r>
              <a:rPr lang="en-US" altLang="en-US" sz="2800" dirty="0">
                <a:solidFill>
                  <a:prstClr val="black"/>
                </a:solidFill>
                <a:latin typeface="Gill Sans MT"/>
                <a:cs typeface="Arial" panose="020B0604020202020204" pitchFamily="34" charset="0"/>
              </a:rPr>
              <a:t>Ensuring that health authorities take responsibility for steering the entire health sector. </a:t>
            </a:r>
          </a:p>
          <a:p>
            <a:pPr marL="914400" lvl="1" indent="-514350" algn="just" defTabSz="914400" fontAlgn="base">
              <a:spcBef>
                <a:spcPts val="550"/>
              </a:spcBef>
              <a:spcAft>
                <a:spcPct val="0"/>
              </a:spcAft>
              <a:buClr>
                <a:srgbClr val="C00000"/>
              </a:buClr>
              <a:buFont typeface="Calibri" panose="020F0502020204030204" pitchFamily="34" charset="0"/>
              <a:buAutoNum type="arabicPeriod"/>
            </a:pPr>
            <a:r>
              <a:rPr lang="en-US" altLang="en-US" sz="2800" dirty="0">
                <a:solidFill>
                  <a:prstClr val="black"/>
                </a:solidFill>
                <a:latin typeface="Gill Sans MT"/>
                <a:cs typeface="Arial" panose="020B0604020202020204" pitchFamily="34" charset="0"/>
              </a:rPr>
              <a:t>Defining national health policies, strategy and plan that set a clear direction for the health sector.</a:t>
            </a:r>
          </a:p>
          <a:p>
            <a:pPr marL="914400" lvl="1" indent="-514350" algn="just" defTabSz="914400" fontAlgn="base">
              <a:spcBef>
                <a:spcPts val="550"/>
              </a:spcBef>
              <a:spcAft>
                <a:spcPct val="0"/>
              </a:spcAft>
              <a:buClr>
                <a:srgbClr val="3891A7"/>
              </a:buClr>
              <a:buFont typeface="Calibri" panose="020F0502020204030204" pitchFamily="34" charset="0"/>
              <a:buAutoNum type="arabicPeriod"/>
            </a:pPr>
            <a:endParaRPr lang="en-US" altLang="en-US" sz="2800" dirty="0">
              <a:solidFill>
                <a:prstClr val="black"/>
              </a:solidFill>
              <a:latin typeface="Gill Sans MT"/>
              <a:cs typeface="Arial" panose="020B0604020202020204" pitchFamily="34" charset="0"/>
            </a:endParaRP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altLang="en-US" sz="3200" dirty="0">
              <a:solidFill>
                <a:srgbClr val="FF0000"/>
              </a:solidFill>
              <a:latin typeface="Gill Sans MT"/>
              <a:cs typeface="Arial" pitchFamily="34" charset="0"/>
            </a:endParaRPr>
          </a:p>
          <a:p>
            <a:endParaRPr lang="en-US" dirty="0"/>
          </a:p>
        </p:txBody>
      </p:sp>
    </p:spTree>
    <p:extLst>
      <p:ext uri="{BB962C8B-B14F-4D97-AF65-F5344CB8AC3E}">
        <p14:creationId xmlns:p14="http://schemas.microsoft.com/office/powerpoint/2010/main" val="14965372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solidFill>
                  <a:srgbClr val="FF0000"/>
                </a:solidFill>
                <a:effectLst>
                  <a:outerShdw blurRad="50000" dist="30000" dir="5400000" algn="tl" rotWithShape="0">
                    <a:srgbClr val="000000">
                      <a:alpha val="30000"/>
                    </a:srgbClr>
                  </a:outerShdw>
                </a:effectLst>
                <a:latin typeface="Gill Sans MT"/>
              </a:rPr>
              <a:t>SIX BUILDING BLOCKS OF A HEALTH SYSTEM – cont.</a:t>
            </a:r>
            <a:endParaRPr lang="en-US" dirty="0"/>
          </a:p>
        </p:txBody>
      </p:sp>
      <p:sp>
        <p:nvSpPr>
          <p:cNvPr id="3" name="Content Placeholder 2"/>
          <p:cNvSpPr>
            <a:spLocks noGrp="1"/>
          </p:cNvSpPr>
          <p:nvPr>
            <p:ph idx="1"/>
          </p:nvPr>
        </p:nvSpPr>
        <p:spPr>
          <a:xfrm>
            <a:off x="2589211" y="2133599"/>
            <a:ext cx="9246473" cy="4138411"/>
          </a:xfrm>
        </p:spPr>
        <p:txBody>
          <a:bodyPr>
            <a:normAutofit/>
          </a:bodyPr>
          <a:lstStyle/>
          <a:p>
            <a:pPr marL="639763" lvl="1" indent="-236538" algn="just" defTabSz="914400" fontAlgn="base">
              <a:lnSpc>
                <a:spcPct val="90000"/>
              </a:lnSpc>
              <a:spcBef>
                <a:spcPts val="550"/>
              </a:spcBef>
              <a:spcAft>
                <a:spcPct val="0"/>
              </a:spcAft>
              <a:buClr>
                <a:srgbClr val="C00000"/>
              </a:buClr>
              <a:buFont typeface="Wingdings" panose="05000000000000000000" pitchFamily="2" charset="2"/>
              <a:buChar char="q"/>
            </a:pPr>
            <a:r>
              <a:rPr lang="en-US" sz="2800" b="1" dirty="0">
                <a:solidFill>
                  <a:srgbClr val="475A8D"/>
                </a:solidFill>
                <a:latin typeface="Gill Sans MT"/>
                <a:cs typeface="Arial" charset="0"/>
              </a:rPr>
              <a:t> HEALTH INFORMATION SYSTEMS </a:t>
            </a:r>
          </a:p>
          <a:p>
            <a:pPr marL="403225" lvl="1" indent="0" algn="just" defTabSz="914400" fontAlgn="base">
              <a:lnSpc>
                <a:spcPct val="90000"/>
              </a:lnSpc>
              <a:spcBef>
                <a:spcPts val="550"/>
              </a:spcBef>
              <a:spcAft>
                <a:spcPct val="0"/>
              </a:spcAft>
              <a:buClr>
                <a:srgbClr val="3891A7"/>
              </a:buClr>
              <a:buNone/>
            </a:pPr>
            <a:endParaRPr lang="en-US" sz="2800" dirty="0">
              <a:solidFill>
                <a:srgbClr val="475A8D"/>
              </a:solidFill>
              <a:latin typeface="Gill Sans MT"/>
              <a:cs typeface="Arial" charset="0"/>
            </a:endParaRPr>
          </a:p>
          <a:p>
            <a:pPr marL="365125" lvl="0" indent="-282575" algn="just" defTabSz="914400" fontAlgn="base">
              <a:lnSpc>
                <a:spcPct val="90000"/>
              </a:lnSpc>
              <a:spcBef>
                <a:spcPts val="600"/>
              </a:spcBef>
              <a:spcAft>
                <a:spcPct val="0"/>
              </a:spcAft>
              <a:buClr>
                <a:srgbClr val="C00000"/>
              </a:buClr>
              <a:buSzPct val="80000"/>
              <a:buFont typeface="Wingdings 2" panose="05020102010507070707" pitchFamily="18" charset="2"/>
              <a:buChar char=""/>
            </a:pPr>
            <a:r>
              <a:rPr lang="en-US" sz="3200" dirty="0">
                <a:solidFill>
                  <a:prstClr val="black"/>
                </a:solidFill>
                <a:latin typeface="Gill Sans MT"/>
                <a:cs typeface="Arial" pitchFamily="34" charset="0"/>
              </a:rPr>
              <a:t>Good governance is only possible with good information on health challenges and includes timely intelligence on: </a:t>
            </a:r>
          </a:p>
          <a:p>
            <a:pPr marL="914400" lvl="1" indent="-514350" algn="just" defTabSz="914400" fontAlgn="base">
              <a:lnSpc>
                <a:spcPct val="90000"/>
              </a:lnSpc>
              <a:spcBef>
                <a:spcPts val="550"/>
              </a:spcBef>
              <a:spcAft>
                <a:spcPct val="0"/>
              </a:spcAft>
              <a:buClr>
                <a:srgbClr val="C00000"/>
              </a:buClr>
              <a:buFont typeface="Calibri" panose="020F0502020204030204" pitchFamily="34" charset="0"/>
              <a:buAutoNum type="arabicPeriod"/>
            </a:pPr>
            <a:r>
              <a:rPr lang="en-US" sz="2800" dirty="0">
                <a:solidFill>
                  <a:prstClr val="black"/>
                </a:solidFill>
                <a:latin typeface="Gill Sans MT"/>
                <a:cs typeface="Arial" panose="020B0604020202020204" pitchFamily="34" charset="0"/>
              </a:rPr>
              <a:t>Progress in meeting health challenges and social objectives.</a:t>
            </a:r>
          </a:p>
          <a:p>
            <a:pPr marL="914400" lvl="1" indent="-514350" algn="just" defTabSz="914400" fontAlgn="base">
              <a:lnSpc>
                <a:spcPct val="90000"/>
              </a:lnSpc>
              <a:spcBef>
                <a:spcPts val="550"/>
              </a:spcBef>
              <a:spcAft>
                <a:spcPct val="0"/>
              </a:spcAft>
              <a:buClr>
                <a:srgbClr val="C00000"/>
              </a:buClr>
              <a:buFont typeface="Calibri" panose="020F0502020204030204" pitchFamily="34" charset="0"/>
              <a:buAutoNum type="arabicPeriod"/>
            </a:pPr>
            <a:r>
              <a:rPr lang="en-US" sz="2800" dirty="0">
                <a:solidFill>
                  <a:prstClr val="black"/>
                </a:solidFill>
                <a:latin typeface="Gill Sans MT"/>
                <a:cs typeface="Arial" panose="020B0604020202020204" pitchFamily="34" charset="0"/>
              </a:rPr>
              <a:t>Health financing. </a:t>
            </a:r>
          </a:p>
          <a:p>
            <a:pPr marL="914400" lvl="1" indent="-514350" algn="just" defTabSz="914400" fontAlgn="base">
              <a:lnSpc>
                <a:spcPct val="90000"/>
              </a:lnSpc>
              <a:spcBef>
                <a:spcPts val="550"/>
              </a:spcBef>
              <a:spcAft>
                <a:spcPct val="0"/>
              </a:spcAft>
              <a:buClr>
                <a:srgbClr val="C00000"/>
              </a:buClr>
              <a:buFont typeface="Calibri" panose="020F0502020204030204" pitchFamily="34" charset="0"/>
              <a:buAutoNum type="arabicPeriod"/>
            </a:pPr>
            <a:r>
              <a:rPr lang="en-US" sz="2800" dirty="0">
                <a:solidFill>
                  <a:prstClr val="black"/>
                </a:solidFill>
                <a:latin typeface="Gill Sans MT"/>
                <a:cs typeface="Arial" panose="020B0604020202020204" pitchFamily="34" charset="0"/>
              </a:rPr>
              <a:t>Access to care and on the quality of services provided. </a:t>
            </a:r>
          </a:p>
          <a:p>
            <a:pPr marL="914400" lvl="1" indent="-514350" algn="just" defTabSz="914400" fontAlgn="base">
              <a:lnSpc>
                <a:spcPct val="90000"/>
              </a:lnSpc>
              <a:spcBef>
                <a:spcPts val="550"/>
              </a:spcBef>
              <a:spcAft>
                <a:spcPct val="0"/>
              </a:spcAft>
              <a:buClr>
                <a:srgbClr val="3891A7"/>
              </a:buClr>
              <a:buFont typeface="Calibri" panose="020F0502020204030204" pitchFamily="34" charset="0"/>
              <a:buAutoNum type="arabicPeriod"/>
            </a:pPr>
            <a:endParaRPr lang="en-US" sz="2800" dirty="0">
              <a:solidFill>
                <a:prstClr val="black"/>
              </a:solidFill>
              <a:latin typeface="Gill Sans MT"/>
              <a:cs typeface="Arial" panose="020B0604020202020204" pitchFamily="34" charset="0"/>
            </a:endParaRPr>
          </a:p>
          <a:p>
            <a:pPr marL="914400" lvl="1" indent="-514350" algn="just" defTabSz="914400" fontAlgn="base">
              <a:lnSpc>
                <a:spcPct val="90000"/>
              </a:lnSpc>
              <a:spcBef>
                <a:spcPts val="550"/>
              </a:spcBef>
              <a:spcAft>
                <a:spcPct val="0"/>
              </a:spcAft>
              <a:buClr>
                <a:srgbClr val="3891A7"/>
              </a:buClr>
              <a:buFont typeface="Calibri" panose="020F0502020204030204" pitchFamily="34" charset="0"/>
              <a:buAutoNum type="arabicPeriod"/>
            </a:pPr>
            <a:endParaRPr lang="en-US" sz="2800" dirty="0">
              <a:solidFill>
                <a:prstClr val="black"/>
              </a:solidFill>
              <a:latin typeface="Gill Sans MT"/>
              <a:cs typeface="Arial" panose="020B0604020202020204" pitchFamily="34" charset="0"/>
            </a:endParaRP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endParaRPr lang="en-US" sz="3200" dirty="0">
              <a:solidFill>
                <a:srgbClr val="FF0000"/>
              </a:solidFill>
              <a:latin typeface="Gill Sans MT"/>
              <a:cs typeface="Arial" pitchFamily="34" charset="0"/>
            </a:endParaRPr>
          </a:p>
          <a:p>
            <a:endParaRPr lang="en-US" dirty="0"/>
          </a:p>
        </p:txBody>
      </p:sp>
    </p:spTree>
    <p:extLst>
      <p:ext uri="{BB962C8B-B14F-4D97-AF65-F5344CB8AC3E}">
        <p14:creationId xmlns:p14="http://schemas.microsoft.com/office/powerpoint/2010/main" val="3652003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solidFill>
                  <a:srgbClr val="FF0000"/>
                </a:solidFill>
                <a:effectLst>
                  <a:outerShdw blurRad="50000" dist="30000" dir="5400000" algn="tl" rotWithShape="0">
                    <a:srgbClr val="000000">
                      <a:alpha val="30000"/>
                    </a:srgbClr>
                  </a:outerShdw>
                </a:effectLst>
                <a:latin typeface="Gill Sans MT"/>
              </a:rPr>
              <a:t>SIX BUILDING BLOCKS OF A HEALTH SYSTEM – cont.</a:t>
            </a:r>
            <a:endParaRPr lang="en-US" dirty="0"/>
          </a:p>
        </p:txBody>
      </p:sp>
      <p:sp>
        <p:nvSpPr>
          <p:cNvPr id="3" name="Content Placeholder 2"/>
          <p:cNvSpPr>
            <a:spLocks noGrp="1"/>
          </p:cNvSpPr>
          <p:nvPr>
            <p:ph idx="1"/>
          </p:nvPr>
        </p:nvSpPr>
        <p:spPr>
          <a:xfrm>
            <a:off x="2589212" y="2133600"/>
            <a:ext cx="9143442" cy="4177048"/>
          </a:xfrm>
        </p:spPr>
        <p:txBody>
          <a:bodyPr>
            <a:normAutofit/>
          </a:bodyPr>
          <a:lstStyle/>
          <a:p>
            <a:pPr marL="365125" lvl="0" indent="-282575" algn="just" defTabSz="914400" fontAlgn="base">
              <a:spcBef>
                <a:spcPts val="600"/>
              </a:spcBef>
              <a:spcAft>
                <a:spcPct val="0"/>
              </a:spcAft>
              <a:buClr>
                <a:srgbClr val="C00000"/>
              </a:buClr>
              <a:buSzPct val="80000"/>
              <a:buFont typeface="Wingdings" panose="05000000000000000000" pitchFamily="2" charset="2"/>
              <a:buChar char="q"/>
            </a:pPr>
            <a:r>
              <a:rPr lang="en-US" altLang="en-US" sz="3200" b="1" dirty="0">
                <a:solidFill>
                  <a:srgbClr val="0070C0"/>
                </a:solidFill>
                <a:latin typeface="Gill Sans MT"/>
                <a:cs typeface="Arial" pitchFamily="34" charset="0"/>
              </a:rPr>
              <a:t>HEALTH FINANCING </a:t>
            </a:r>
          </a:p>
          <a:p>
            <a:pPr marL="82550" lvl="0" indent="0" algn="just" defTabSz="914400" fontAlgn="base">
              <a:spcBef>
                <a:spcPts val="600"/>
              </a:spcBef>
              <a:spcAft>
                <a:spcPct val="0"/>
              </a:spcAft>
              <a:buClr>
                <a:srgbClr val="3891A7"/>
              </a:buClr>
              <a:buSzPct val="80000"/>
              <a:buNone/>
            </a:pPr>
            <a:endParaRPr lang="en-US" altLang="en-US" sz="3200" b="1" dirty="0">
              <a:solidFill>
                <a:srgbClr val="0070C0"/>
              </a:solidFill>
              <a:latin typeface="Gill Sans MT"/>
              <a:cs typeface="Arial" pitchFamily="34" charset="0"/>
            </a:endParaRPr>
          </a:p>
          <a:p>
            <a:pPr marL="365125" lvl="0" indent="-282575" algn="just" defTabSz="914400" fontAlgn="base">
              <a:spcBef>
                <a:spcPts val="600"/>
              </a:spcBef>
              <a:spcAft>
                <a:spcPct val="0"/>
              </a:spcAft>
              <a:buClr>
                <a:srgbClr val="C00000"/>
              </a:buClr>
              <a:buSzPct val="80000"/>
              <a:buFont typeface="Wingdings 2" panose="05020102010507070707" pitchFamily="18" charset="2"/>
              <a:buChar char=""/>
            </a:pPr>
            <a:r>
              <a:rPr lang="en-US" altLang="en-US" sz="3200" dirty="0">
                <a:solidFill>
                  <a:prstClr val="black"/>
                </a:solidFill>
                <a:latin typeface="Gill Sans MT"/>
                <a:cs typeface="Arial" pitchFamily="34" charset="0"/>
              </a:rPr>
              <a:t>Health financing can be a key policy instrument to improve health and reduce health inequalities if its primary objective is to facilitate universal coverage by removing financial barriers to access and preventing financial hardship and catastrophic expenditure. </a:t>
            </a:r>
          </a:p>
          <a:p>
            <a:pPr marL="914400" lvl="1" indent="-514350" algn="just" defTabSz="914400" fontAlgn="base">
              <a:spcBef>
                <a:spcPts val="550"/>
              </a:spcBef>
              <a:spcAft>
                <a:spcPct val="0"/>
              </a:spcAft>
              <a:buClr>
                <a:srgbClr val="3891A7"/>
              </a:buClr>
              <a:buFont typeface="Calibri" panose="020F0502020204030204" pitchFamily="34" charset="0"/>
              <a:buAutoNum type="arabicPeriod"/>
            </a:pPr>
            <a:endParaRPr lang="en-US" altLang="en-US" sz="2800" dirty="0">
              <a:solidFill>
                <a:prstClr val="black"/>
              </a:solidFill>
              <a:latin typeface="Gill Sans MT"/>
              <a:cs typeface="Arial" panose="020B0604020202020204" pitchFamily="34" charset="0"/>
            </a:endParaRP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altLang="en-US" sz="3200" dirty="0">
              <a:solidFill>
                <a:srgbClr val="FF0000"/>
              </a:solidFill>
              <a:latin typeface="Gill Sans MT"/>
              <a:cs typeface="Arial" pitchFamily="34" charset="0"/>
            </a:endParaRPr>
          </a:p>
        </p:txBody>
      </p:sp>
    </p:spTree>
    <p:extLst>
      <p:ext uri="{BB962C8B-B14F-4D97-AF65-F5344CB8AC3E}">
        <p14:creationId xmlns:p14="http://schemas.microsoft.com/office/powerpoint/2010/main" val="151232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solidFill>
                  <a:srgbClr val="FF0000"/>
                </a:solidFill>
                <a:effectLst>
                  <a:outerShdw blurRad="50000" dist="30000" dir="5400000" algn="tl" rotWithShape="0">
                    <a:srgbClr val="000000">
                      <a:alpha val="30000"/>
                    </a:srgbClr>
                  </a:outerShdw>
                </a:effectLst>
                <a:latin typeface="Gill Sans MT"/>
              </a:rPr>
              <a:t>SIX BUILDING BLOCKS OF A HEALTH SYSTEM – cont.</a:t>
            </a:r>
            <a:endParaRPr lang="en-US" dirty="0"/>
          </a:p>
        </p:txBody>
      </p:sp>
      <p:sp>
        <p:nvSpPr>
          <p:cNvPr id="3" name="Content Placeholder 2"/>
          <p:cNvSpPr>
            <a:spLocks noGrp="1"/>
          </p:cNvSpPr>
          <p:nvPr>
            <p:ph idx="1"/>
          </p:nvPr>
        </p:nvSpPr>
        <p:spPr>
          <a:xfrm>
            <a:off x="2589211" y="2133600"/>
            <a:ext cx="9259351" cy="4177048"/>
          </a:xfrm>
        </p:spPr>
        <p:txBody>
          <a:bodyPr>
            <a:normAutofit/>
          </a:bodyPr>
          <a:lstStyle/>
          <a:p>
            <a:pPr marL="365125" lvl="0" indent="-282575" algn="just" defTabSz="914400" fontAlgn="base">
              <a:lnSpc>
                <a:spcPct val="90000"/>
              </a:lnSpc>
              <a:spcBef>
                <a:spcPts val="600"/>
              </a:spcBef>
              <a:spcAft>
                <a:spcPct val="0"/>
              </a:spcAft>
              <a:buClr>
                <a:srgbClr val="C00000"/>
              </a:buClr>
              <a:buSzPct val="80000"/>
              <a:buFont typeface="Wingdings" panose="05000000000000000000" pitchFamily="2" charset="2"/>
              <a:buChar char="q"/>
            </a:pPr>
            <a:r>
              <a:rPr lang="en-US" sz="3000" b="1" dirty="0">
                <a:solidFill>
                  <a:srgbClr val="0070C0"/>
                </a:solidFill>
                <a:latin typeface="Gill Sans MT"/>
                <a:cs typeface="Arial" pitchFamily="34" charset="0"/>
              </a:rPr>
              <a:t>HUMAN RESOURCES FOR HEALTH </a:t>
            </a:r>
          </a:p>
          <a:p>
            <a:pPr marL="365125" lvl="0" indent="-282575" algn="just" defTabSz="914400" fontAlgn="base">
              <a:lnSpc>
                <a:spcPct val="90000"/>
              </a:lnSpc>
              <a:spcBef>
                <a:spcPts val="600"/>
              </a:spcBef>
              <a:spcAft>
                <a:spcPct val="0"/>
              </a:spcAft>
              <a:buClr>
                <a:srgbClr val="C00000"/>
              </a:buClr>
              <a:buSzPct val="80000"/>
              <a:buFont typeface="Wingdings 2" panose="05020102010507070707" pitchFamily="18" charset="2"/>
              <a:buChar char=""/>
            </a:pPr>
            <a:r>
              <a:rPr lang="en-US" sz="3000" dirty="0">
                <a:solidFill>
                  <a:prstClr val="black"/>
                </a:solidFill>
                <a:latin typeface="Gill Sans MT"/>
                <a:cs typeface="Arial" pitchFamily="34" charset="0"/>
              </a:rPr>
              <a:t>The health workforce is central to achieving health. A well performing workforce is one that is responsive to the needs and expectations of people, is fair and efficient to achieve the best outcomes possible given available resources and circumstances. This requires: </a:t>
            </a:r>
          </a:p>
          <a:p>
            <a:pPr marL="914400" lvl="1" indent="-514350" algn="just" defTabSz="914400" fontAlgn="base">
              <a:lnSpc>
                <a:spcPct val="90000"/>
              </a:lnSpc>
              <a:spcBef>
                <a:spcPts val="550"/>
              </a:spcBef>
              <a:spcAft>
                <a:spcPct val="0"/>
              </a:spcAft>
              <a:buClr>
                <a:srgbClr val="C00000"/>
              </a:buClr>
              <a:buFont typeface="Calibri" panose="020F0502020204030204" pitchFamily="34" charset="0"/>
              <a:buAutoNum type="arabicPeriod"/>
            </a:pPr>
            <a:r>
              <a:rPr lang="en-US" sz="2600" dirty="0">
                <a:solidFill>
                  <a:prstClr val="black"/>
                </a:solidFill>
                <a:latin typeface="Gill Sans MT"/>
                <a:cs typeface="Arial" panose="020B0604020202020204" pitchFamily="34" charset="0"/>
              </a:rPr>
              <a:t>Arrangements for achieving sufficient numbers of the right mix.</a:t>
            </a:r>
          </a:p>
          <a:p>
            <a:pPr marL="914400" lvl="1" indent="-514350" algn="just" defTabSz="914400" fontAlgn="base">
              <a:lnSpc>
                <a:spcPct val="90000"/>
              </a:lnSpc>
              <a:spcBef>
                <a:spcPts val="550"/>
              </a:spcBef>
              <a:spcAft>
                <a:spcPct val="0"/>
              </a:spcAft>
              <a:buClr>
                <a:srgbClr val="C00000"/>
              </a:buClr>
              <a:buFont typeface="Calibri" panose="020F0502020204030204" pitchFamily="34" charset="0"/>
              <a:buAutoNum type="arabicPeriod"/>
            </a:pPr>
            <a:r>
              <a:rPr lang="en-US" sz="2600" dirty="0">
                <a:solidFill>
                  <a:prstClr val="black"/>
                </a:solidFill>
                <a:latin typeface="Gill Sans MT"/>
                <a:cs typeface="Arial" panose="020B0604020202020204" pitchFamily="34" charset="0"/>
              </a:rPr>
              <a:t>Payment systems that produce the right kind of incentives. </a:t>
            </a:r>
          </a:p>
          <a:p>
            <a:pPr marL="914400" lvl="1" indent="-514350" algn="just" defTabSz="914400" fontAlgn="base">
              <a:lnSpc>
                <a:spcPct val="90000"/>
              </a:lnSpc>
              <a:spcBef>
                <a:spcPts val="550"/>
              </a:spcBef>
              <a:spcAft>
                <a:spcPct val="0"/>
              </a:spcAft>
              <a:buClr>
                <a:srgbClr val="3891A7"/>
              </a:buClr>
              <a:buFont typeface="Calibri" panose="020F0502020204030204" pitchFamily="34" charset="0"/>
              <a:buAutoNum type="arabicPeriod"/>
            </a:pPr>
            <a:endParaRPr lang="en-US" sz="2600" dirty="0">
              <a:solidFill>
                <a:prstClr val="black"/>
              </a:solidFill>
              <a:latin typeface="Gill Sans MT"/>
              <a:cs typeface="Arial" panose="020B0604020202020204" pitchFamily="34" charset="0"/>
            </a:endParaRPr>
          </a:p>
          <a:p>
            <a:pPr marL="914400" lvl="1" indent="-514350" algn="just" defTabSz="914400" fontAlgn="base">
              <a:lnSpc>
                <a:spcPct val="90000"/>
              </a:lnSpc>
              <a:spcBef>
                <a:spcPts val="550"/>
              </a:spcBef>
              <a:spcAft>
                <a:spcPct val="0"/>
              </a:spcAft>
              <a:buClr>
                <a:srgbClr val="3891A7"/>
              </a:buClr>
              <a:buFont typeface="Calibri" panose="020F0502020204030204" pitchFamily="34" charset="0"/>
              <a:buAutoNum type="arabicPeriod"/>
            </a:pPr>
            <a:endParaRPr lang="en-US" sz="2600" dirty="0">
              <a:solidFill>
                <a:prstClr val="black"/>
              </a:solidFill>
              <a:latin typeface="Gill Sans MT"/>
              <a:cs typeface="Arial" panose="020B0604020202020204" pitchFamily="34" charset="0"/>
            </a:endParaRPr>
          </a:p>
          <a:p>
            <a:pPr marL="914400" lvl="1" indent="-514350" algn="just" defTabSz="914400" fontAlgn="base">
              <a:lnSpc>
                <a:spcPct val="90000"/>
              </a:lnSpc>
              <a:spcBef>
                <a:spcPts val="550"/>
              </a:spcBef>
              <a:spcAft>
                <a:spcPct val="0"/>
              </a:spcAft>
              <a:buClr>
                <a:srgbClr val="3891A7"/>
              </a:buClr>
              <a:buFont typeface="Calibri" panose="020F0502020204030204" pitchFamily="34" charset="0"/>
              <a:buAutoNum type="arabicPeriod"/>
            </a:pPr>
            <a:endParaRPr lang="en-US" sz="2600" dirty="0">
              <a:solidFill>
                <a:prstClr val="black"/>
              </a:solidFill>
              <a:latin typeface="Gill Sans MT"/>
              <a:cs typeface="Arial" panose="020B0604020202020204" pitchFamily="34" charset="0"/>
            </a:endParaRPr>
          </a:p>
          <a:p>
            <a:pPr marL="914400" lvl="1" indent="-514350" algn="just" defTabSz="914400" fontAlgn="base">
              <a:lnSpc>
                <a:spcPct val="90000"/>
              </a:lnSpc>
              <a:spcBef>
                <a:spcPts val="550"/>
              </a:spcBef>
              <a:spcAft>
                <a:spcPct val="0"/>
              </a:spcAft>
              <a:buClr>
                <a:srgbClr val="3891A7"/>
              </a:buClr>
              <a:buFont typeface="Calibri" panose="020F0502020204030204" pitchFamily="34" charset="0"/>
              <a:buAutoNum type="arabicPeriod"/>
            </a:pPr>
            <a:endParaRPr lang="en-US" sz="2600" dirty="0">
              <a:solidFill>
                <a:prstClr val="black"/>
              </a:solidFill>
              <a:latin typeface="Gill Sans MT"/>
              <a:cs typeface="Arial" panose="020B0604020202020204" pitchFamily="34" charset="0"/>
            </a:endParaRPr>
          </a:p>
          <a:p>
            <a:pPr marL="914400" lvl="1" indent="-514350" algn="just" defTabSz="914400" fontAlgn="base">
              <a:lnSpc>
                <a:spcPct val="90000"/>
              </a:lnSpc>
              <a:spcBef>
                <a:spcPts val="550"/>
              </a:spcBef>
              <a:spcAft>
                <a:spcPct val="0"/>
              </a:spcAft>
              <a:buClr>
                <a:srgbClr val="3891A7"/>
              </a:buClr>
              <a:buFont typeface="Calibri" panose="020F0502020204030204" pitchFamily="34" charset="0"/>
              <a:buAutoNum type="arabicPeriod"/>
            </a:pPr>
            <a:endParaRPr lang="en-US" sz="2600" dirty="0">
              <a:solidFill>
                <a:prstClr val="black"/>
              </a:solidFill>
              <a:latin typeface="Gill Sans MT"/>
              <a:cs typeface="Arial" panose="020B0604020202020204" pitchFamily="34" charset="0"/>
            </a:endParaRP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endParaRPr lang="en-US" sz="3000" dirty="0">
              <a:solidFill>
                <a:srgbClr val="FF0000"/>
              </a:solidFill>
              <a:latin typeface="Gill Sans MT"/>
              <a:cs typeface="Arial" pitchFamily="34" charset="0"/>
            </a:endParaRPr>
          </a:p>
          <a:p>
            <a:endParaRPr lang="en-US" dirty="0"/>
          </a:p>
        </p:txBody>
      </p:sp>
    </p:spTree>
    <p:extLst>
      <p:ext uri="{BB962C8B-B14F-4D97-AF65-F5344CB8AC3E}">
        <p14:creationId xmlns:p14="http://schemas.microsoft.com/office/powerpoint/2010/main" val="18218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solidFill>
                  <a:srgbClr val="FF0000"/>
                </a:solidFill>
                <a:effectLst>
                  <a:outerShdw blurRad="50000" dist="30000" dir="5400000" algn="tl" rotWithShape="0">
                    <a:srgbClr val="000000">
                      <a:alpha val="30000"/>
                    </a:srgbClr>
                  </a:outerShdw>
                </a:effectLst>
                <a:latin typeface="Gill Sans MT"/>
              </a:rPr>
              <a:t>SIX BUILDING BLOCKS OF A HEALTH SYSTEM – cont.</a:t>
            </a:r>
            <a:endParaRPr lang="en-US" dirty="0"/>
          </a:p>
        </p:txBody>
      </p:sp>
      <p:sp>
        <p:nvSpPr>
          <p:cNvPr id="3" name="Content Placeholder 2"/>
          <p:cNvSpPr>
            <a:spLocks noGrp="1"/>
          </p:cNvSpPr>
          <p:nvPr>
            <p:ph idx="1"/>
          </p:nvPr>
        </p:nvSpPr>
        <p:spPr/>
        <p:txBody>
          <a:bodyPr/>
          <a:lstStyle/>
          <a:p>
            <a:pPr marL="365125" lvl="0" indent="-282575" algn="just" defTabSz="914400" fontAlgn="base">
              <a:spcBef>
                <a:spcPts val="600"/>
              </a:spcBef>
              <a:spcAft>
                <a:spcPct val="0"/>
              </a:spcAft>
              <a:buClr>
                <a:srgbClr val="C00000"/>
              </a:buClr>
              <a:buSzPct val="80000"/>
              <a:buFont typeface="Wingdings" panose="05000000000000000000" pitchFamily="2" charset="2"/>
              <a:buChar char="q"/>
            </a:pPr>
            <a:r>
              <a:rPr lang="en-US" altLang="en-US" sz="3200" b="1" dirty="0">
                <a:solidFill>
                  <a:srgbClr val="0070C0"/>
                </a:solidFill>
                <a:latin typeface="Gill Sans MT"/>
                <a:cs typeface="Arial" pitchFamily="34" charset="0"/>
              </a:rPr>
              <a:t>ESSENTIAL MEDICAL PRODUCTS AND TECHNOLOGIES </a:t>
            </a:r>
          </a:p>
          <a:p>
            <a:pPr marL="365125" lvl="0" indent="-282575" algn="just" defTabSz="914400" fontAlgn="base">
              <a:spcBef>
                <a:spcPts val="600"/>
              </a:spcBef>
              <a:spcAft>
                <a:spcPct val="0"/>
              </a:spcAft>
              <a:buClr>
                <a:srgbClr val="C00000"/>
              </a:buClr>
              <a:buSzPct val="80000"/>
              <a:buFont typeface="Wingdings 2" panose="05020102010507070707" pitchFamily="18" charset="2"/>
              <a:buChar char=""/>
            </a:pPr>
            <a:r>
              <a:rPr lang="en-US" altLang="en-US" sz="3200" dirty="0">
                <a:solidFill>
                  <a:prstClr val="black"/>
                </a:solidFill>
                <a:latin typeface="Gill Sans MT"/>
                <a:cs typeface="Arial" pitchFamily="34" charset="0"/>
              </a:rPr>
              <a:t>Universal access to health care is heavily dependent on access to affordable essential medicines, vaccines, diagnostics and health technologies of assured quality, which are used in a scientifically sound and cost-effective way. </a:t>
            </a:r>
          </a:p>
          <a:p>
            <a:pPr marL="914400" lvl="1" indent="-514350" algn="just" defTabSz="914400" fontAlgn="base">
              <a:spcBef>
                <a:spcPts val="550"/>
              </a:spcBef>
              <a:spcAft>
                <a:spcPct val="0"/>
              </a:spcAft>
              <a:buClr>
                <a:srgbClr val="3891A7"/>
              </a:buClr>
              <a:buNone/>
            </a:pPr>
            <a:endParaRPr lang="en-US" altLang="en-US" sz="2800" dirty="0">
              <a:solidFill>
                <a:prstClr val="black"/>
              </a:solidFill>
              <a:latin typeface="Gill Sans MT"/>
              <a:cs typeface="Arial" panose="020B0604020202020204" pitchFamily="34" charset="0"/>
            </a:endParaRPr>
          </a:p>
          <a:p>
            <a:pPr marL="914400" lvl="1" indent="-514350" algn="just" defTabSz="914400" fontAlgn="base">
              <a:spcBef>
                <a:spcPts val="550"/>
              </a:spcBef>
              <a:spcAft>
                <a:spcPct val="0"/>
              </a:spcAft>
              <a:buClr>
                <a:srgbClr val="3891A7"/>
              </a:buClr>
              <a:buFont typeface="Calibri" panose="020F0502020204030204" pitchFamily="34" charset="0"/>
              <a:buAutoNum type="arabicPeriod"/>
            </a:pPr>
            <a:endParaRPr lang="en-US" altLang="en-US" sz="2800" dirty="0">
              <a:solidFill>
                <a:prstClr val="black"/>
              </a:solidFill>
              <a:latin typeface="Gill Sans MT"/>
              <a:cs typeface="Arial" panose="020B0604020202020204" pitchFamily="34" charset="0"/>
            </a:endParaRPr>
          </a:p>
          <a:p>
            <a:pPr marL="914400" lvl="1" indent="-514350" algn="just" defTabSz="914400" fontAlgn="base">
              <a:spcBef>
                <a:spcPts val="550"/>
              </a:spcBef>
              <a:spcAft>
                <a:spcPct val="0"/>
              </a:spcAft>
              <a:buClr>
                <a:srgbClr val="3891A7"/>
              </a:buClr>
              <a:buFont typeface="Calibri" panose="020F0502020204030204" pitchFamily="34" charset="0"/>
              <a:buAutoNum type="arabicPeriod"/>
            </a:pPr>
            <a:endParaRPr lang="en-US" altLang="en-US" sz="2800" dirty="0">
              <a:solidFill>
                <a:prstClr val="black"/>
              </a:solidFill>
              <a:latin typeface="Gill Sans MT"/>
              <a:cs typeface="Arial" panose="020B0604020202020204" pitchFamily="34" charset="0"/>
            </a:endParaRPr>
          </a:p>
          <a:p>
            <a:pPr marL="914400" lvl="1" indent="-514350" algn="just" defTabSz="914400" fontAlgn="base">
              <a:spcBef>
                <a:spcPts val="550"/>
              </a:spcBef>
              <a:spcAft>
                <a:spcPct val="0"/>
              </a:spcAft>
              <a:buClr>
                <a:srgbClr val="3891A7"/>
              </a:buClr>
              <a:buFont typeface="Calibri" panose="020F0502020204030204" pitchFamily="34" charset="0"/>
              <a:buAutoNum type="arabicPeriod"/>
            </a:pPr>
            <a:endParaRPr lang="en-US" altLang="en-US" sz="2800" dirty="0">
              <a:solidFill>
                <a:prstClr val="black"/>
              </a:solidFill>
              <a:latin typeface="Gill Sans MT"/>
              <a:cs typeface="Arial" panose="020B0604020202020204" pitchFamily="34" charset="0"/>
            </a:endParaRP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altLang="en-US" sz="3200" dirty="0">
              <a:solidFill>
                <a:srgbClr val="FF0000"/>
              </a:solidFill>
              <a:latin typeface="Gill Sans MT"/>
              <a:cs typeface="Arial" pitchFamily="34" charset="0"/>
            </a:endParaRPr>
          </a:p>
          <a:p>
            <a:endParaRPr lang="en-US" dirty="0"/>
          </a:p>
        </p:txBody>
      </p:sp>
    </p:spTree>
    <p:extLst>
      <p:ext uri="{BB962C8B-B14F-4D97-AF65-F5344CB8AC3E}">
        <p14:creationId xmlns:p14="http://schemas.microsoft.com/office/powerpoint/2010/main" val="1013533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solidFill>
                  <a:srgbClr val="FF0000"/>
                </a:solidFill>
                <a:effectLst>
                  <a:outerShdw blurRad="50000" dist="30000" dir="5400000" algn="tl" rotWithShape="0">
                    <a:srgbClr val="000000">
                      <a:alpha val="30000"/>
                    </a:srgbClr>
                  </a:outerShdw>
                </a:effectLst>
                <a:latin typeface="Gill Sans MT"/>
              </a:rPr>
              <a:t>SIX BUILDING BLOCKS OF A HEALTH SYSTEM – cont.</a:t>
            </a:r>
            <a:endParaRPr lang="en-US" dirty="0"/>
          </a:p>
        </p:txBody>
      </p:sp>
      <p:sp>
        <p:nvSpPr>
          <p:cNvPr id="3" name="Content Placeholder 2"/>
          <p:cNvSpPr>
            <a:spLocks noGrp="1"/>
          </p:cNvSpPr>
          <p:nvPr>
            <p:ph idx="1"/>
          </p:nvPr>
        </p:nvSpPr>
        <p:spPr>
          <a:xfrm>
            <a:off x="2589212" y="2133600"/>
            <a:ext cx="9156320" cy="4292958"/>
          </a:xfrm>
        </p:spPr>
        <p:txBody>
          <a:bodyPr>
            <a:normAutofit/>
          </a:bodyPr>
          <a:lstStyle/>
          <a:p>
            <a:pPr marL="365125" lvl="0" indent="-282575" algn="just" defTabSz="914400" fontAlgn="base">
              <a:lnSpc>
                <a:spcPct val="90000"/>
              </a:lnSpc>
              <a:spcBef>
                <a:spcPts val="600"/>
              </a:spcBef>
              <a:spcAft>
                <a:spcPct val="0"/>
              </a:spcAft>
              <a:buClr>
                <a:srgbClr val="C00000"/>
              </a:buClr>
              <a:buSzPct val="80000"/>
              <a:buFont typeface="Wingdings" panose="05000000000000000000" pitchFamily="2" charset="2"/>
              <a:buChar char="q"/>
            </a:pPr>
            <a:r>
              <a:rPr lang="en-US" sz="3000" b="1" dirty="0">
                <a:solidFill>
                  <a:srgbClr val="0070C0"/>
                </a:solidFill>
                <a:latin typeface="Gill Sans MT"/>
                <a:cs typeface="Arial" pitchFamily="34" charset="0"/>
              </a:rPr>
              <a:t>SERVICE DELIVERY </a:t>
            </a:r>
          </a:p>
          <a:p>
            <a:pPr marL="365125" lvl="0" indent="-282575" algn="just" defTabSz="914400" fontAlgn="base">
              <a:lnSpc>
                <a:spcPct val="90000"/>
              </a:lnSpc>
              <a:spcBef>
                <a:spcPts val="600"/>
              </a:spcBef>
              <a:spcAft>
                <a:spcPct val="0"/>
              </a:spcAft>
              <a:buClr>
                <a:srgbClr val="C00000"/>
              </a:buClr>
              <a:buSzPct val="80000"/>
              <a:buFont typeface="Wingdings 2" panose="05020102010507070707" pitchFamily="18" charset="2"/>
              <a:buChar char=""/>
            </a:pPr>
            <a:r>
              <a:rPr lang="en-US" sz="3000" dirty="0">
                <a:solidFill>
                  <a:prstClr val="black"/>
                </a:solidFill>
                <a:latin typeface="Gill Sans MT"/>
                <a:cs typeface="Arial" pitchFamily="34" charset="0"/>
              </a:rPr>
              <a:t>Health systems are only as effective as the services they provide. These critically depend on: </a:t>
            </a:r>
          </a:p>
          <a:p>
            <a:pPr marL="914400" lvl="1" indent="-514350" algn="just" defTabSz="914400" fontAlgn="base">
              <a:lnSpc>
                <a:spcPct val="90000"/>
              </a:lnSpc>
              <a:spcBef>
                <a:spcPts val="550"/>
              </a:spcBef>
              <a:spcAft>
                <a:spcPct val="0"/>
              </a:spcAft>
              <a:buClr>
                <a:srgbClr val="C00000"/>
              </a:buClr>
              <a:buFont typeface="Calibri" panose="020F0502020204030204" pitchFamily="34" charset="0"/>
              <a:buAutoNum type="arabicPeriod"/>
            </a:pPr>
            <a:r>
              <a:rPr lang="en-US" sz="2600" dirty="0">
                <a:solidFill>
                  <a:prstClr val="black"/>
                </a:solidFill>
                <a:latin typeface="Gill Sans MT"/>
                <a:cs typeface="Arial" panose="020B0604020202020204" pitchFamily="34" charset="0"/>
              </a:rPr>
              <a:t>Networks of close-to-client primary care, organized as health districts or local area networks with the back-up of specialized and hospital services, responsible for defined populations. </a:t>
            </a:r>
          </a:p>
          <a:p>
            <a:pPr marL="914400" lvl="1" indent="-514350" algn="just" defTabSz="914400" fontAlgn="base">
              <a:lnSpc>
                <a:spcPct val="90000"/>
              </a:lnSpc>
              <a:spcBef>
                <a:spcPts val="550"/>
              </a:spcBef>
              <a:spcAft>
                <a:spcPct val="0"/>
              </a:spcAft>
              <a:buClr>
                <a:srgbClr val="C00000"/>
              </a:buClr>
              <a:buFont typeface="Calibri" panose="020F0502020204030204" pitchFamily="34" charset="0"/>
              <a:buAutoNum type="arabicPeriod"/>
            </a:pPr>
            <a:r>
              <a:rPr lang="en-US" sz="2600" dirty="0">
                <a:solidFill>
                  <a:prstClr val="black"/>
                </a:solidFill>
                <a:latin typeface="Gill Sans MT"/>
                <a:cs typeface="Arial" panose="020B0604020202020204" pitchFamily="34" charset="0"/>
              </a:rPr>
              <a:t>Provision of a package of benefits with a comprehensive and integrated range of clinical and public health interventions.</a:t>
            </a:r>
          </a:p>
          <a:p>
            <a:pPr marL="914400" lvl="1" indent="-514350" algn="just" defTabSz="914400" fontAlgn="base">
              <a:lnSpc>
                <a:spcPct val="90000"/>
              </a:lnSpc>
              <a:spcBef>
                <a:spcPts val="550"/>
              </a:spcBef>
              <a:spcAft>
                <a:spcPct val="0"/>
              </a:spcAft>
              <a:buClr>
                <a:srgbClr val="3891A7"/>
              </a:buClr>
              <a:buFont typeface="Calibri" panose="020F0502020204030204" pitchFamily="34" charset="0"/>
              <a:buAutoNum type="arabicPeriod"/>
            </a:pPr>
            <a:endParaRPr lang="en-US" sz="2600" dirty="0">
              <a:solidFill>
                <a:prstClr val="black"/>
              </a:solidFill>
              <a:latin typeface="Gill Sans MT"/>
              <a:cs typeface="Arial" panose="020B0604020202020204" pitchFamily="34" charset="0"/>
            </a:endParaRPr>
          </a:p>
          <a:p>
            <a:pPr marL="914400" lvl="1" indent="-514350" algn="just" defTabSz="914400" fontAlgn="base">
              <a:lnSpc>
                <a:spcPct val="90000"/>
              </a:lnSpc>
              <a:spcBef>
                <a:spcPts val="550"/>
              </a:spcBef>
              <a:spcAft>
                <a:spcPct val="0"/>
              </a:spcAft>
              <a:buClr>
                <a:srgbClr val="3891A7"/>
              </a:buClr>
              <a:buFont typeface="Calibri" panose="020F0502020204030204" pitchFamily="34" charset="0"/>
              <a:buAutoNum type="arabicPeriod"/>
            </a:pPr>
            <a:endParaRPr lang="en-US" sz="2600" dirty="0">
              <a:solidFill>
                <a:prstClr val="black"/>
              </a:solidFill>
              <a:latin typeface="Gill Sans MT"/>
              <a:cs typeface="Arial" panose="020B0604020202020204" pitchFamily="34" charset="0"/>
            </a:endParaRPr>
          </a:p>
          <a:p>
            <a:pPr marL="914400" lvl="1" indent="-514350" algn="just" defTabSz="914400" fontAlgn="base">
              <a:lnSpc>
                <a:spcPct val="90000"/>
              </a:lnSpc>
              <a:spcBef>
                <a:spcPts val="550"/>
              </a:spcBef>
              <a:spcAft>
                <a:spcPct val="0"/>
              </a:spcAft>
              <a:buClr>
                <a:srgbClr val="3891A7"/>
              </a:buClr>
              <a:buFont typeface="Calibri" panose="020F0502020204030204" pitchFamily="34" charset="0"/>
              <a:buAutoNum type="arabicPeriod"/>
            </a:pPr>
            <a:endParaRPr lang="en-US" sz="2600" dirty="0">
              <a:solidFill>
                <a:prstClr val="black"/>
              </a:solidFill>
              <a:latin typeface="Gill Sans MT"/>
              <a:cs typeface="Arial" panose="020B0604020202020204" pitchFamily="34" charset="0"/>
            </a:endParaRPr>
          </a:p>
          <a:p>
            <a:pPr marL="914400" lvl="1" indent="-514350" algn="just" defTabSz="914400" fontAlgn="base">
              <a:lnSpc>
                <a:spcPct val="90000"/>
              </a:lnSpc>
              <a:spcBef>
                <a:spcPts val="550"/>
              </a:spcBef>
              <a:spcAft>
                <a:spcPct val="0"/>
              </a:spcAft>
              <a:buClr>
                <a:srgbClr val="3891A7"/>
              </a:buClr>
              <a:buFont typeface="Calibri" panose="020F0502020204030204" pitchFamily="34" charset="0"/>
              <a:buAutoNum type="arabicPeriod"/>
            </a:pPr>
            <a:endParaRPr lang="en-US" sz="2600" dirty="0">
              <a:solidFill>
                <a:prstClr val="black"/>
              </a:solidFill>
              <a:latin typeface="Gill Sans MT"/>
              <a:cs typeface="Arial" panose="020B0604020202020204" pitchFamily="34" charset="0"/>
            </a:endParaRPr>
          </a:p>
          <a:p>
            <a:pPr marL="914400" lvl="1" indent="-514350" algn="just" defTabSz="914400" fontAlgn="base">
              <a:lnSpc>
                <a:spcPct val="90000"/>
              </a:lnSpc>
              <a:spcBef>
                <a:spcPts val="550"/>
              </a:spcBef>
              <a:spcAft>
                <a:spcPct val="0"/>
              </a:spcAft>
              <a:buClr>
                <a:srgbClr val="3891A7"/>
              </a:buClr>
              <a:buFont typeface="Calibri" panose="020F0502020204030204" pitchFamily="34" charset="0"/>
              <a:buAutoNum type="arabicPeriod"/>
            </a:pPr>
            <a:endParaRPr lang="en-US" sz="2600" dirty="0">
              <a:solidFill>
                <a:prstClr val="black"/>
              </a:solidFill>
              <a:latin typeface="Gill Sans MT"/>
              <a:cs typeface="Arial" panose="020B0604020202020204" pitchFamily="34" charset="0"/>
            </a:endParaRP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endParaRPr lang="en-US" sz="3000" dirty="0">
              <a:solidFill>
                <a:srgbClr val="FF0000"/>
              </a:solidFill>
              <a:latin typeface="Gill Sans MT"/>
              <a:cs typeface="Arial" pitchFamily="34" charset="0"/>
            </a:endParaRPr>
          </a:p>
          <a:p>
            <a:endParaRPr lang="en-US" dirty="0"/>
          </a:p>
        </p:txBody>
      </p:sp>
    </p:spTree>
    <p:extLst>
      <p:ext uri="{BB962C8B-B14F-4D97-AF65-F5344CB8AC3E}">
        <p14:creationId xmlns:p14="http://schemas.microsoft.com/office/powerpoint/2010/main" val="35522848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solidFill>
                  <a:srgbClr val="FF0000"/>
                </a:solidFill>
                <a:effectLst>
                  <a:outerShdw blurRad="50000" dist="30000" dir="5400000" algn="tl" rotWithShape="0">
                    <a:srgbClr val="000000">
                      <a:alpha val="30000"/>
                    </a:srgbClr>
                  </a:outerShdw>
                </a:effectLst>
                <a:latin typeface="Gill Sans MT"/>
              </a:rPr>
              <a:t>SIX BUILDING BLOCKS OF A HEALTH SYSTEM – cont.</a:t>
            </a:r>
            <a:endParaRPr lang="en-US" dirty="0"/>
          </a:p>
        </p:txBody>
      </p:sp>
      <p:sp>
        <p:nvSpPr>
          <p:cNvPr id="3" name="Content Placeholder 2"/>
          <p:cNvSpPr>
            <a:spLocks noGrp="1"/>
          </p:cNvSpPr>
          <p:nvPr>
            <p:ph idx="1"/>
          </p:nvPr>
        </p:nvSpPr>
        <p:spPr>
          <a:xfrm>
            <a:off x="2589211" y="2133599"/>
            <a:ext cx="9053289" cy="4099775"/>
          </a:xfrm>
        </p:spPr>
        <p:txBody>
          <a:bodyPr/>
          <a:lstStyle/>
          <a:p>
            <a:pPr marL="365125" lvl="0" indent="-282575" algn="just" defTabSz="914400" fontAlgn="base">
              <a:spcBef>
                <a:spcPts val="600"/>
              </a:spcBef>
              <a:spcAft>
                <a:spcPct val="0"/>
              </a:spcAft>
              <a:buClr>
                <a:srgbClr val="C00000"/>
              </a:buClr>
              <a:buSzPct val="80000"/>
              <a:buFont typeface="Wingdings" panose="05000000000000000000" pitchFamily="2" charset="2"/>
              <a:buChar char="q"/>
            </a:pPr>
            <a:r>
              <a:rPr lang="en-US" altLang="en-US" sz="3200" b="1" dirty="0">
                <a:solidFill>
                  <a:srgbClr val="0070C0"/>
                </a:solidFill>
                <a:latin typeface="Gill Sans MT"/>
                <a:cs typeface="Arial" pitchFamily="34" charset="0"/>
              </a:rPr>
              <a:t>SERVICE DELIVERY – cont</a:t>
            </a:r>
            <a:r>
              <a:rPr lang="en-US" altLang="en-US" sz="3200" b="1" dirty="0" smtClean="0">
                <a:solidFill>
                  <a:srgbClr val="0070C0"/>
                </a:solidFill>
                <a:latin typeface="Gill Sans MT"/>
                <a:cs typeface="Arial" pitchFamily="34" charset="0"/>
              </a:rPr>
              <a:t>.</a:t>
            </a:r>
          </a:p>
          <a:p>
            <a:pPr marL="365125" lvl="0" indent="-282575" algn="just" defTabSz="914400" fontAlgn="base">
              <a:spcBef>
                <a:spcPts val="600"/>
              </a:spcBef>
              <a:spcAft>
                <a:spcPct val="0"/>
              </a:spcAft>
              <a:buClr>
                <a:srgbClr val="C00000"/>
              </a:buClr>
              <a:buSzPct val="80000"/>
              <a:buFont typeface="Wingdings" panose="05000000000000000000" pitchFamily="2" charset="2"/>
              <a:buChar char="q"/>
            </a:pPr>
            <a:endParaRPr lang="en-US" altLang="en-US" sz="3200" b="1" dirty="0">
              <a:solidFill>
                <a:srgbClr val="0070C0"/>
              </a:solidFill>
              <a:latin typeface="Gill Sans MT"/>
              <a:cs typeface="Arial" pitchFamily="34" charset="0"/>
            </a:endParaRPr>
          </a:p>
          <a:p>
            <a:pPr marL="400050" lvl="1" indent="0" algn="just" defTabSz="914400" fontAlgn="base">
              <a:spcBef>
                <a:spcPts val="550"/>
              </a:spcBef>
              <a:spcAft>
                <a:spcPct val="0"/>
              </a:spcAft>
              <a:buClr>
                <a:srgbClr val="3891A7"/>
              </a:buClr>
              <a:buNone/>
            </a:pPr>
            <a:r>
              <a:rPr lang="en-US" altLang="en-US" sz="2800" dirty="0" smtClean="0">
                <a:solidFill>
                  <a:srgbClr val="C00000"/>
                </a:solidFill>
                <a:latin typeface="Gill Sans MT"/>
                <a:cs typeface="Arial" panose="020B0604020202020204" pitchFamily="34" charset="0"/>
              </a:rPr>
              <a:t>3. </a:t>
            </a:r>
            <a:r>
              <a:rPr lang="en-US" altLang="en-US" sz="2800" dirty="0" smtClean="0">
                <a:solidFill>
                  <a:prstClr val="black"/>
                </a:solidFill>
                <a:latin typeface="Gill Sans MT"/>
                <a:cs typeface="Arial" panose="020B0604020202020204" pitchFamily="34" charset="0"/>
              </a:rPr>
              <a:t>Standards</a:t>
            </a:r>
            <a:r>
              <a:rPr lang="en-US" altLang="en-US" sz="2800" dirty="0">
                <a:solidFill>
                  <a:prstClr val="black"/>
                </a:solidFill>
                <a:latin typeface="Gill Sans MT"/>
                <a:cs typeface="Arial" panose="020B0604020202020204" pitchFamily="34" charset="0"/>
              </a:rPr>
              <a:t>, norms and guidance to ensure access and essential dimensions of quality: safety, effectiveness, integration, continuity, and people centeredness. </a:t>
            </a:r>
          </a:p>
          <a:p>
            <a:pPr marL="400050" lvl="1" indent="0" algn="just" defTabSz="914400" fontAlgn="base">
              <a:spcBef>
                <a:spcPts val="550"/>
              </a:spcBef>
              <a:spcAft>
                <a:spcPct val="0"/>
              </a:spcAft>
              <a:buClr>
                <a:srgbClr val="3891A7"/>
              </a:buClr>
              <a:buNone/>
            </a:pPr>
            <a:r>
              <a:rPr lang="en-US" altLang="en-US" sz="2800" dirty="0" smtClean="0">
                <a:solidFill>
                  <a:srgbClr val="C00000"/>
                </a:solidFill>
                <a:latin typeface="Gill Sans MT"/>
                <a:cs typeface="Arial" panose="020B0604020202020204" pitchFamily="34" charset="0"/>
              </a:rPr>
              <a:t>4. </a:t>
            </a:r>
            <a:r>
              <a:rPr lang="en-US" altLang="en-US" sz="2800" dirty="0" smtClean="0">
                <a:solidFill>
                  <a:prstClr val="black"/>
                </a:solidFill>
                <a:latin typeface="Gill Sans MT"/>
                <a:cs typeface="Arial" panose="020B0604020202020204" pitchFamily="34" charset="0"/>
              </a:rPr>
              <a:t>Mechanisms </a:t>
            </a:r>
            <a:r>
              <a:rPr lang="en-US" altLang="en-US" sz="2800" dirty="0">
                <a:solidFill>
                  <a:prstClr val="black"/>
                </a:solidFill>
                <a:latin typeface="Gill Sans MT"/>
                <a:cs typeface="Arial" panose="020B0604020202020204" pitchFamily="34" charset="0"/>
              </a:rPr>
              <a:t>to hold providers accountable for access and quality and to ensure consumer voice. </a:t>
            </a:r>
          </a:p>
          <a:p>
            <a:pPr marL="914400" lvl="1" indent="-514350" algn="just" defTabSz="914400" fontAlgn="base">
              <a:spcBef>
                <a:spcPts val="550"/>
              </a:spcBef>
              <a:spcAft>
                <a:spcPct val="0"/>
              </a:spcAft>
              <a:buClr>
                <a:srgbClr val="3891A7"/>
              </a:buClr>
              <a:buFont typeface="Calibri" panose="020F0502020204030204" pitchFamily="34" charset="0"/>
              <a:buAutoNum type="arabicPeriod"/>
            </a:pPr>
            <a:endParaRPr lang="en-US" altLang="en-US" sz="2800" dirty="0">
              <a:solidFill>
                <a:prstClr val="black"/>
              </a:solidFill>
              <a:latin typeface="Gill Sans MT"/>
              <a:cs typeface="Arial" panose="020B0604020202020204" pitchFamily="34" charset="0"/>
            </a:endParaRPr>
          </a:p>
          <a:p>
            <a:pPr marL="914400" lvl="1" indent="-514350" algn="just" defTabSz="914400" fontAlgn="base">
              <a:spcBef>
                <a:spcPts val="550"/>
              </a:spcBef>
              <a:spcAft>
                <a:spcPct val="0"/>
              </a:spcAft>
              <a:buClr>
                <a:srgbClr val="3891A7"/>
              </a:buClr>
              <a:buFont typeface="Calibri" panose="020F0502020204030204" pitchFamily="34" charset="0"/>
              <a:buAutoNum type="arabicPeriod"/>
            </a:pPr>
            <a:endParaRPr lang="en-US" altLang="en-US" sz="2800" dirty="0">
              <a:solidFill>
                <a:prstClr val="black"/>
              </a:solidFill>
              <a:latin typeface="Gill Sans MT"/>
              <a:cs typeface="Arial" panose="020B0604020202020204" pitchFamily="34" charset="0"/>
            </a:endParaRPr>
          </a:p>
          <a:p>
            <a:pPr marL="914400" lvl="1" indent="-514350" algn="just" defTabSz="914400" fontAlgn="base">
              <a:spcBef>
                <a:spcPts val="550"/>
              </a:spcBef>
              <a:spcAft>
                <a:spcPct val="0"/>
              </a:spcAft>
              <a:buClr>
                <a:srgbClr val="3891A7"/>
              </a:buClr>
              <a:buFont typeface="Calibri" panose="020F0502020204030204" pitchFamily="34" charset="0"/>
              <a:buAutoNum type="arabicPeriod"/>
            </a:pPr>
            <a:endParaRPr lang="en-US" altLang="en-US" sz="2800" dirty="0">
              <a:solidFill>
                <a:prstClr val="black"/>
              </a:solidFill>
              <a:latin typeface="Gill Sans MT"/>
              <a:cs typeface="Arial" panose="020B0604020202020204" pitchFamily="34" charset="0"/>
            </a:endParaRPr>
          </a:p>
          <a:p>
            <a:pPr marL="914400" lvl="1" indent="-514350" algn="just" defTabSz="914400" fontAlgn="base">
              <a:spcBef>
                <a:spcPts val="550"/>
              </a:spcBef>
              <a:spcAft>
                <a:spcPct val="0"/>
              </a:spcAft>
              <a:buClr>
                <a:srgbClr val="3891A7"/>
              </a:buClr>
              <a:buFont typeface="Calibri" panose="020F0502020204030204" pitchFamily="34" charset="0"/>
              <a:buAutoNum type="arabicPeriod"/>
            </a:pPr>
            <a:endParaRPr lang="en-US" altLang="en-US" sz="2800" dirty="0">
              <a:solidFill>
                <a:prstClr val="black"/>
              </a:solidFill>
              <a:latin typeface="Gill Sans MT"/>
              <a:cs typeface="Arial" panose="020B0604020202020204" pitchFamily="34" charset="0"/>
            </a:endParaRPr>
          </a:p>
          <a:p>
            <a:pPr marL="914400" lvl="1" indent="-514350" algn="just" defTabSz="914400" fontAlgn="base">
              <a:spcBef>
                <a:spcPts val="550"/>
              </a:spcBef>
              <a:spcAft>
                <a:spcPct val="0"/>
              </a:spcAft>
              <a:buClr>
                <a:srgbClr val="3891A7"/>
              </a:buClr>
              <a:buFont typeface="Calibri" panose="020F0502020204030204" pitchFamily="34" charset="0"/>
              <a:buAutoNum type="arabicPeriod"/>
            </a:pPr>
            <a:endParaRPr lang="en-US" altLang="en-US" sz="2800" dirty="0">
              <a:solidFill>
                <a:prstClr val="black"/>
              </a:solidFill>
              <a:latin typeface="Gill Sans MT"/>
              <a:cs typeface="Arial" panose="020B0604020202020204" pitchFamily="34" charset="0"/>
            </a:endParaRPr>
          </a:p>
          <a:p>
            <a:pPr marL="914400" lvl="1" indent="-514350" algn="just" defTabSz="914400" fontAlgn="base">
              <a:spcBef>
                <a:spcPts val="550"/>
              </a:spcBef>
              <a:spcAft>
                <a:spcPct val="0"/>
              </a:spcAft>
              <a:buClr>
                <a:srgbClr val="3891A7"/>
              </a:buClr>
              <a:buFont typeface="Calibri" panose="020F0502020204030204" pitchFamily="34" charset="0"/>
              <a:buAutoNum type="arabicPeriod"/>
            </a:pPr>
            <a:endParaRPr lang="en-US" altLang="en-US" sz="2800" dirty="0">
              <a:solidFill>
                <a:prstClr val="black"/>
              </a:solidFill>
              <a:latin typeface="Gill Sans MT"/>
              <a:cs typeface="Arial" panose="020B0604020202020204" pitchFamily="34" charset="0"/>
            </a:endParaRP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altLang="en-US" sz="3200" dirty="0">
              <a:solidFill>
                <a:srgbClr val="FF0000"/>
              </a:solidFill>
              <a:latin typeface="Gill Sans MT"/>
              <a:cs typeface="Arial" pitchFamily="34" charset="0"/>
            </a:endParaRPr>
          </a:p>
          <a:p>
            <a:endParaRPr lang="en-US" dirty="0"/>
          </a:p>
        </p:txBody>
      </p:sp>
    </p:spTree>
    <p:extLst>
      <p:ext uri="{BB962C8B-B14F-4D97-AF65-F5344CB8AC3E}">
        <p14:creationId xmlns:p14="http://schemas.microsoft.com/office/powerpoint/2010/main" val="1763495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Content Placeholder 3" descr="0.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89212" y="624110"/>
            <a:ext cx="9044189" cy="5531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41395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Content Placeholder 3" descr="thanks.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89212" y="515154"/>
            <a:ext cx="8915400" cy="5829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2002288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4204</TotalTime>
  <Words>674</Words>
  <Application>Microsoft Office PowerPoint</Application>
  <PresentationFormat>Widescreen</PresentationFormat>
  <Paragraphs>81</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Calibri</vt:lpstr>
      <vt:lpstr>Century Gothic</vt:lpstr>
      <vt:lpstr>Gill Sans MT</vt:lpstr>
      <vt:lpstr>Rockwell</vt:lpstr>
      <vt:lpstr>Wingdings</vt:lpstr>
      <vt:lpstr>Wingdings 2</vt:lpstr>
      <vt:lpstr>Wingdings 3</vt:lpstr>
      <vt:lpstr>Wisp</vt:lpstr>
      <vt:lpstr>                    INTRODUCTION  TO MANAGEMENT IN HEALTH  SYSTEM   </vt:lpstr>
      <vt:lpstr>Contents</vt:lpstr>
      <vt:lpstr>Definition of the health system</vt:lpstr>
      <vt:lpstr> KEY COMPONENTS OF A WELL FUNCTIONING HEALTH SYSTEM </vt:lpstr>
      <vt:lpstr> KEY COMPONENTS OF A WELL FUNCTIONING HEALTH SYSTEM </vt:lpstr>
      <vt:lpstr> KEY COMPONENTS OF A WELL FUNCTIONING HEALTH SYSTEM – cont. </vt:lpstr>
      <vt:lpstr>SIX BUILDING BLOCKS OF A HEALTH SYSTEM</vt:lpstr>
      <vt:lpstr>SIX BUILDING BLOCKS OF A HEALTH SYSTEM – cont.</vt:lpstr>
      <vt:lpstr>SIX BUILDING BLOCKS OF A HEALTH SYSTEM – cont.</vt:lpstr>
      <vt:lpstr>SIX BUILDING BLOCKS OF A HEALTH SYSTEM – cont.</vt:lpstr>
      <vt:lpstr>SIX BUILDING BLOCKS OF A HEALTH SYSTEM – cont.</vt:lpstr>
      <vt:lpstr>SIX BUILDING BLOCKS OF A HEALTH SYSTEM – cont.</vt:lpstr>
      <vt:lpstr>SIX BUILDING BLOCKS OF A HEALTH SYSTEM – cont.</vt:lpstr>
      <vt:lpstr>PowerPoint Presentation</vt:lpstr>
      <vt:lpstr>PowerPoint Presentation</vt:lpstr>
    </vt:vector>
  </TitlesOfParts>
  <Company>Microsoft (C)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MANAGEMENT IN HEALTH  SYSTEM</dc:title>
  <dc:creator>One</dc:creator>
  <cp:lastModifiedBy>One</cp:lastModifiedBy>
  <cp:revision>14</cp:revision>
  <dcterms:created xsi:type="dcterms:W3CDTF">2023-11-09T10:10:59Z</dcterms:created>
  <dcterms:modified xsi:type="dcterms:W3CDTF">2023-11-12T08:15:11Z</dcterms:modified>
</cp:coreProperties>
</file>