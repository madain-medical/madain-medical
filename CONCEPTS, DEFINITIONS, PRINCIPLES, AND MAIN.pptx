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11/8/2023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1426335"/>
          </a:xfrm>
        </p:spPr>
        <p:txBody>
          <a:bodyPr>
            <a:noAutofit/>
          </a:bodyPr>
          <a:lstStyle/>
          <a:p>
            <a:pPr algn="ctr"/>
            <a:r>
              <a:rPr lang="en-US" altLang="en-US" sz="3600" b="1" i="1" dirty="0">
                <a:solidFill>
                  <a:schemeClr val="tx1"/>
                </a:solidFill>
                <a:effectLst>
                  <a:outerShdw blurRad="50000" dist="30000" dir="5400000" algn="tl" rotWithShape="0">
                    <a:srgbClr val="000000">
                      <a:alpha val="30000"/>
                    </a:srgbClr>
                  </a:outerShdw>
                </a:effectLst>
                <a:latin typeface="Gill Sans MT"/>
              </a:rPr>
              <a:t>C</a:t>
            </a:r>
            <a:r>
              <a:rPr lang="en-US" altLang="en-US" sz="3600" b="1" i="1" dirty="0" smtClean="0">
                <a:solidFill>
                  <a:schemeClr val="tx1"/>
                </a:solidFill>
                <a:effectLst>
                  <a:outerShdw blurRad="50000" dist="30000" dir="5400000" algn="tl" rotWithShape="0">
                    <a:srgbClr val="000000">
                      <a:alpha val="30000"/>
                    </a:srgbClr>
                  </a:outerShdw>
                </a:effectLst>
                <a:latin typeface="Gill Sans MT"/>
              </a:rPr>
              <a:t>ONCEPTS</a:t>
            </a:r>
            <a:r>
              <a:rPr lang="en-US" altLang="en-US" sz="3600" b="1" i="1" dirty="0">
                <a:solidFill>
                  <a:schemeClr val="tx1"/>
                </a:solidFill>
                <a:effectLst>
                  <a:outerShdw blurRad="50000" dist="30000" dir="5400000" algn="tl" rotWithShape="0">
                    <a:srgbClr val="000000">
                      <a:alpha val="30000"/>
                    </a:srgbClr>
                  </a:outerShdw>
                </a:effectLst>
                <a:latin typeface="Gill Sans MT"/>
              </a:rPr>
              <a:t>, DEFINITIONS, PRINCIPLES, AND MAIN FUNCTIONS OF MANAGEMENT</a:t>
            </a:r>
            <a:endParaRPr lang="en-US" sz="6000" b="1" i="1" dirty="0">
              <a:solidFill>
                <a:schemeClr val="tx1"/>
              </a:solidFill>
            </a:endParaRPr>
          </a:p>
        </p:txBody>
      </p:sp>
      <p:sp>
        <p:nvSpPr>
          <p:cNvPr id="3" name="Subtitle 2"/>
          <p:cNvSpPr>
            <a:spLocks noGrp="1"/>
          </p:cNvSpPr>
          <p:nvPr>
            <p:ph type="subTitle" idx="1"/>
          </p:nvPr>
        </p:nvSpPr>
        <p:spPr/>
        <p:txBody>
          <a:bodyPr/>
          <a:lstStyle/>
          <a:p>
            <a:pPr lvl="0" defTabSz="914400">
              <a:spcBef>
                <a:spcPts val="0"/>
              </a:spcBef>
              <a:buClr>
                <a:srgbClr val="72A376"/>
              </a:buClr>
              <a:buSzPct val="70000"/>
            </a:pPr>
            <a:r>
              <a:rPr lang="en-US" sz="2800" dirty="0">
                <a:solidFill>
                  <a:prstClr val="black"/>
                </a:solidFill>
                <a:latin typeface="Rockwell"/>
              </a:rPr>
              <a:t>By : dr. </a:t>
            </a:r>
            <a:r>
              <a:rPr lang="en-US" sz="2800" dirty="0" err="1">
                <a:solidFill>
                  <a:prstClr val="black"/>
                </a:solidFill>
                <a:latin typeface="Rockwell"/>
              </a:rPr>
              <a:t>Ibtisam</a:t>
            </a:r>
            <a:r>
              <a:rPr lang="en-US" sz="2800" dirty="0">
                <a:solidFill>
                  <a:prstClr val="black"/>
                </a:solidFill>
                <a:latin typeface="Rockwell"/>
              </a:rPr>
              <a:t> </a:t>
            </a:r>
            <a:r>
              <a:rPr lang="en-US" sz="2800" dirty="0" err="1">
                <a:solidFill>
                  <a:prstClr val="black"/>
                </a:solidFill>
                <a:latin typeface="Rockwell"/>
              </a:rPr>
              <a:t>Merghani</a:t>
            </a:r>
            <a:r>
              <a:rPr lang="en-US" sz="2800" dirty="0">
                <a:solidFill>
                  <a:prstClr val="black"/>
                </a:solidFill>
                <a:latin typeface="Rockwell"/>
              </a:rPr>
              <a:t> Oman </a:t>
            </a:r>
          </a:p>
          <a:p>
            <a:pPr lvl="0" defTabSz="914400">
              <a:spcBef>
                <a:spcPts val="0"/>
              </a:spcBef>
              <a:buClr>
                <a:srgbClr val="72A376"/>
              </a:buClr>
              <a:buSzPct val="70000"/>
            </a:pPr>
            <a:r>
              <a:rPr lang="en-US" sz="2800" dirty="0">
                <a:solidFill>
                  <a:prstClr val="black"/>
                </a:solidFill>
                <a:latin typeface="Rockwell"/>
              </a:rPr>
              <a:t>MBBS, DPH , MPH,MD </a:t>
            </a:r>
            <a:endParaRPr lang="en-US" sz="2800" dirty="0">
              <a:solidFill>
                <a:prstClr val="black"/>
              </a:solidFill>
              <a:latin typeface="Rockwell"/>
            </a:endParaRPr>
          </a:p>
        </p:txBody>
      </p:sp>
    </p:spTree>
    <p:extLst>
      <p:ext uri="{BB962C8B-B14F-4D97-AF65-F5344CB8AC3E}">
        <p14:creationId xmlns:p14="http://schemas.microsoft.com/office/powerpoint/2010/main" val="825377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i="1" dirty="0" smtClean="0">
                <a:solidFill>
                  <a:srgbClr val="FF0000"/>
                </a:solidFill>
              </a:rPr>
              <a:t>OBJECTIVES </a:t>
            </a:r>
            <a:endParaRPr lang="en-US" sz="4400" b="1" i="1" dirty="0">
              <a:solidFill>
                <a:srgbClr val="FF0000"/>
              </a:solidFill>
            </a:endParaRPr>
          </a:p>
        </p:txBody>
      </p:sp>
      <p:sp>
        <p:nvSpPr>
          <p:cNvPr id="3" name="Content Placeholder 2"/>
          <p:cNvSpPr>
            <a:spLocks noGrp="1"/>
          </p:cNvSpPr>
          <p:nvPr>
            <p:ph idx="1"/>
          </p:nvPr>
        </p:nvSpPr>
        <p:spPr/>
        <p:txBody>
          <a:bodyPr>
            <a:normAutofit/>
          </a:bodyPr>
          <a:lstStyle/>
          <a:p>
            <a:pPr marL="0" indent="0">
              <a:buNone/>
            </a:pPr>
            <a:r>
              <a:rPr lang="en-US" sz="2800" dirty="0" smtClean="0"/>
              <a:t>By the end of this session every students will be able to: </a:t>
            </a:r>
            <a:endParaRPr lang="en-US" sz="2800" dirty="0"/>
          </a:p>
          <a:p>
            <a:r>
              <a:rPr lang="en-US" sz="2800" dirty="0" smtClean="0"/>
              <a:t>Outline the principles of management</a:t>
            </a:r>
          </a:p>
          <a:p>
            <a:r>
              <a:rPr lang="en-US" sz="2800" dirty="0" smtClean="0"/>
              <a:t>Identify the functions </a:t>
            </a:r>
            <a:r>
              <a:rPr lang="en-US" sz="2800" dirty="0" smtClean="0">
                <a:solidFill>
                  <a:prstClr val="black">
                    <a:lumMod val="75000"/>
                    <a:lumOff val="25000"/>
                  </a:prstClr>
                </a:solidFill>
              </a:rPr>
              <a:t>of management</a:t>
            </a:r>
            <a:endParaRPr lang="en-US" sz="2800" dirty="0">
              <a:solidFill>
                <a:prstClr val="black">
                  <a:lumMod val="75000"/>
                  <a:lumOff val="25000"/>
                </a:prstClr>
              </a:solidFill>
            </a:endParaRPr>
          </a:p>
          <a:p>
            <a:r>
              <a:rPr lang="en-US" sz="2800" dirty="0" smtClean="0">
                <a:solidFill>
                  <a:prstClr val="black">
                    <a:lumMod val="75000"/>
                    <a:lumOff val="25000"/>
                  </a:prstClr>
                </a:solidFill>
              </a:rPr>
              <a:t>Determine some definitions of management</a:t>
            </a:r>
            <a:endParaRPr lang="en-US" sz="2800" dirty="0"/>
          </a:p>
        </p:txBody>
      </p:sp>
    </p:spTree>
    <p:extLst>
      <p:ext uri="{BB962C8B-B14F-4D97-AF65-F5344CB8AC3E}">
        <p14:creationId xmlns:p14="http://schemas.microsoft.com/office/powerpoint/2010/main" val="1915174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DEFINITION 1</a:t>
            </a:r>
            <a:r>
              <a:rPr lang="en-US" sz="3200" b="1" i="1" dirty="0">
                <a:solidFill>
                  <a:srgbClr val="FF0000"/>
                </a:solidFill>
                <a:latin typeface="Gill Sans MT"/>
                <a:cs typeface="Arial" pitchFamily="34" charset="0"/>
              </a:rPr>
              <a:t/>
            </a:r>
            <a:br>
              <a:rPr lang="en-US" sz="3200" b="1" i="1" dirty="0">
                <a:solidFill>
                  <a:srgbClr val="FF0000"/>
                </a:solidFill>
                <a:latin typeface="Gill Sans MT"/>
                <a:cs typeface="Arial" pitchFamily="34" charset="0"/>
              </a:rPr>
            </a:br>
            <a:endParaRPr lang="en-US" b="1" i="1" dirty="0"/>
          </a:p>
        </p:txBody>
      </p:sp>
      <p:sp>
        <p:nvSpPr>
          <p:cNvPr id="3" name="Content Placeholder 2"/>
          <p:cNvSpPr>
            <a:spLocks noGrp="1"/>
          </p:cNvSpPr>
          <p:nvPr>
            <p:ph idx="1"/>
          </p:nvPr>
        </p:nvSpPr>
        <p:spPr/>
        <p:txBody>
          <a:bodyPr>
            <a:normAutofit lnSpcReduction="10000"/>
          </a:bodyPr>
          <a:lstStyle/>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Although management is old and universal , it has no agreed definition.</a:t>
            </a:r>
          </a:p>
          <a:p>
            <a:pPr marL="365125" lvl="0" indent="-282575" algn="just" defTabSz="914400" fontAlgn="base">
              <a:lnSpc>
                <a:spcPct val="90000"/>
              </a:lnSpc>
              <a:spcBef>
                <a:spcPts val="600"/>
              </a:spcBef>
              <a:spcAft>
                <a:spcPct val="0"/>
              </a:spcAft>
              <a:buClr>
                <a:srgbClr val="3891A7"/>
              </a:buClr>
              <a:buSzPct val="80000"/>
              <a:buFont typeface="Wingdings" panose="05000000000000000000" pitchFamily="2" charset="2"/>
              <a:buChar char="q"/>
            </a:pPr>
            <a:r>
              <a:rPr lang="en-US" sz="3200" dirty="0">
                <a:solidFill>
                  <a:srgbClr val="FF0000"/>
                </a:solidFill>
                <a:latin typeface="Gill Sans MT"/>
                <a:cs typeface="Arial" pitchFamily="34" charset="0"/>
              </a:rPr>
              <a:t>DEFINITION 1</a:t>
            </a:r>
          </a:p>
          <a:p>
            <a:pPr marL="365125" lvl="0" indent="-282575" algn="ctr" defTabSz="914400" fontAlgn="base">
              <a:lnSpc>
                <a:spcPct val="90000"/>
              </a:lnSpc>
              <a:spcBef>
                <a:spcPts val="600"/>
              </a:spcBef>
              <a:spcAft>
                <a:spcPct val="0"/>
              </a:spcAft>
              <a:buClr>
                <a:srgbClr val="3891A7"/>
              </a:buClr>
              <a:buSzPct val="80000"/>
              <a:buNone/>
            </a:pPr>
            <a:r>
              <a:rPr lang="en-US" sz="3200" dirty="0">
                <a:solidFill>
                  <a:prstClr val="black"/>
                </a:solidFill>
                <a:latin typeface="Gill Sans MT"/>
                <a:cs typeface="Arial" pitchFamily="34" charset="0"/>
              </a:rPr>
              <a:t>“MANAGEMENT IS GETTING THINGS DONE”</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The principle underlying this definition is “commitment to achievement”. In other words, management ensures first that objectives are specified and then they are achieved. </a:t>
            </a:r>
          </a:p>
          <a:p>
            <a:endParaRPr lang="en-US" dirty="0"/>
          </a:p>
        </p:txBody>
      </p:sp>
    </p:spTree>
    <p:extLst>
      <p:ext uri="{BB962C8B-B14F-4D97-AF65-F5344CB8AC3E}">
        <p14:creationId xmlns:p14="http://schemas.microsoft.com/office/powerpoint/2010/main" val="61284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PRINCIPLE 1</a:t>
            </a:r>
            <a:endParaRPr lang="en-US" sz="4400" b="1" i="1" dirty="0">
              <a:solidFill>
                <a:srgbClr val="FF0000"/>
              </a:solidFill>
              <a:latin typeface="Gill Sans MT"/>
              <a:cs typeface="Arial" pitchFamily="34" charset="0"/>
            </a:endParaRPr>
          </a:p>
        </p:txBody>
      </p:sp>
      <p:sp>
        <p:nvSpPr>
          <p:cNvPr id="3" name="Content Placeholder 2"/>
          <p:cNvSpPr>
            <a:spLocks noGrp="1"/>
          </p:cNvSpPr>
          <p:nvPr>
            <p:ph idx="1"/>
          </p:nvPr>
        </p:nvSpPr>
        <p:spPr/>
        <p:txBody>
          <a:bodyPr>
            <a:normAutofit lnSpcReduction="10000"/>
          </a:bodyPr>
          <a:lstStyle/>
          <a:p>
            <a:pPr marL="365125" lvl="0" indent="-282575" algn="ctr" defTabSz="914400" fontAlgn="base">
              <a:lnSpc>
                <a:spcPct val="80000"/>
              </a:lnSpc>
              <a:spcBef>
                <a:spcPts val="600"/>
              </a:spcBef>
              <a:spcAft>
                <a:spcPct val="0"/>
              </a:spcAft>
              <a:buClr>
                <a:srgbClr val="3891A7"/>
              </a:buClr>
              <a:buSzPct val="80000"/>
              <a:buNone/>
            </a:pPr>
            <a:r>
              <a:rPr lang="en-US" sz="3000" dirty="0" smtClean="0">
                <a:solidFill>
                  <a:prstClr val="black"/>
                </a:solidFill>
                <a:latin typeface="Gill Sans MT"/>
                <a:cs typeface="Arial" pitchFamily="34" charset="0"/>
              </a:rPr>
              <a:t>“</a:t>
            </a:r>
            <a:r>
              <a:rPr lang="en-US" sz="3000" dirty="0">
                <a:solidFill>
                  <a:prstClr val="black"/>
                </a:solidFill>
                <a:latin typeface="Gill Sans MT"/>
                <a:cs typeface="Arial" pitchFamily="34" charset="0"/>
              </a:rPr>
              <a:t>MANAGEMENT BY OBJECTIVES”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Deciding and saying what is to be accomplished is setting an objective.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E.g. next year in village X 60 % of pregnant women will attend prenatal clinics and be delivered by a midwife.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The above example states what and how much is to be done, where it is to be done, when it is to be completed, and the standard by which it will be possible to tell whether it has been achieved.</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0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730124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spcBef>
                <a:spcPts val="600"/>
              </a:spcBef>
              <a:spcAft>
                <a:spcPct val="0"/>
              </a:spcAft>
            </a:pPr>
            <a:r>
              <a:rPr lang="en-US" altLang="en-US" sz="4400" b="1" i="1" dirty="0">
                <a:solidFill>
                  <a:srgbClr val="FF0000"/>
                </a:solidFill>
                <a:latin typeface="Gill Sans MT"/>
                <a:cs typeface="Arial" pitchFamily="34" charset="0"/>
              </a:rPr>
              <a:t>EFFECTIVENESS</a:t>
            </a:r>
            <a:r>
              <a:rPr lang="en-US" altLang="en-US" sz="4400" b="1" i="1" dirty="0">
                <a:solidFill>
                  <a:schemeClr val="tx1"/>
                </a:solidFill>
                <a:latin typeface="Gill Sans MT"/>
                <a:cs typeface="Arial" pitchFamily="34" charset="0"/>
              </a:rPr>
              <a:t/>
            </a:r>
            <a:br>
              <a:rPr lang="en-US" altLang="en-US" sz="4400" b="1" i="1" dirty="0">
                <a:solidFill>
                  <a:schemeClr val="tx1"/>
                </a:solidFill>
                <a:latin typeface="Gill Sans MT"/>
                <a:cs typeface="Arial" pitchFamily="34" charset="0"/>
              </a:rPr>
            </a:br>
            <a:endParaRPr lang="en-US" sz="4800" b="1" i="1" dirty="0">
              <a:solidFill>
                <a:schemeClr val="tx1"/>
              </a:solidFill>
            </a:endParaRPr>
          </a:p>
        </p:txBody>
      </p:sp>
      <p:sp>
        <p:nvSpPr>
          <p:cNvPr id="3" name="Content Placeholder 2"/>
          <p:cNvSpPr>
            <a:spLocks noGrp="1"/>
          </p:cNvSpPr>
          <p:nvPr>
            <p:ph idx="1"/>
          </p:nvPr>
        </p:nvSpPr>
        <p:spPr/>
        <p:txBody>
          <a:bodyPr/>
          <a:lstStyle/>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altLang="en-US" sz="3200" dirty="0" smtClean="0">
                <a:solidFill>
                  <a:prstClr val="black"/>
                </a:solidFill>
                <a:latin typeface="Gill Sans MT"/>
                <a:cs typeface="Arial" pitchFamily="34" charset="0"/>
              </a:rPr>
              <a:t>Is </a:t>
            </a:r>
            <a:r>
              <a:rPr lang="en-US" altLang="en-US" sz="3200" dirty="0">
                <a:solidFill>
                  <a:prstClr val="black"/>
                </a:solidFill>
                <a:latin typeface="Gill Sans MT"/>
                <a:cs typeface="Arial" pitchFamily="34" charset="0"/>
              </a:rPr>
              <a:t>the degree to which an objective is being, or has been, achieved.</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A clear statement of objectives is essential for effectiveness.</a:t>
            </a:r>
          </a:p>
          <a:p>
            <a:pPr marL="365125" lvl="0" indent="-282575" algn="just" defTabSz="914400" fontAlgn="base">
              <a:spcBef>
                <a:spcPts val="600"/>
              </a:spcBef>
              <a:spcAft>
                <a:spcPct val="0"/>
              </a:spcAft>
              <a:buClr>
                <a:srgbClr val="3891A7"/>
              </a:buClr>
              <a:buSzPct val="80000"/>
              <a:buFont typeface="Wingdings" panose="05000000000000000000" pitchFamily="2" charset="2"/>
              <a:buChar char="q"/>
            </a:pPr>
            <a:endParaRPr lang="en-US" altLang="en-US" sz="3200" b="1" dirty="0">
              <a:solidFill>
                <a:srgbClr val="FF0000"/>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panose="05000000000000000000" pitchFamily="2" charset="2"/>
              <a:buChar char="q"/>
            </a:pPr>
            <a:endParaRPr lang="en-US" altLang="en-US" sz="3200" b="1" dirty="0">
              <a:solidFill>
                <a:srgbClr val="FF0000"/>
              </a:solidFill>
              <a:latin typeface="Gill Sans MT"/>
              <a:cs typeface="Arial" pitchFamily="34" charset="0"/>
            </a:endParaRPr>
          </a:p>
          <a:p>
            <a:pPr marL="365125" lvl="0" indent="-282575" algn="ctr" defTabSz="914400" fontAlgn="base">
              <a:spcBef>
                <a:spcPts val="600"/>
              </a:spcBef>
              <a:spcAft>
                <a:spcPct val="0"/>
              </a:spcAft>
              <a:buClr>
                <a:srgbClr val="3891A7"/>
              </a:buClr>
              <a:buSzPct val="80000"/>
              <a:buNone/>
            </a:pPr>
            <a:endParaRPr lang="en-US" alt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23578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PRINCIPLE 2</a:t>
            </a:r>
            <a:r>
              <a:rPr lang="en-US" sz="4400" b="1" i="1" dirty="0">
                <a:solidFill>
                  <a:schemeClr val="tx1"/>
                </a:solidFill>
                <a:latin typeface="Gill Sans MT"/>
                <a:cs typeface="Arial" pitchFamily="34" charset="0"/>
              </a:rPr>
              <a:t/>
            </a:r>
            <a:br>
              <a:rPr lang="en-US" sz="4400" b="1" i="1" dirty="0">
                <a:solidFill>
                  <a:schemeClr val="tx1"/>
                </a:solidFill>
                <a:latin typeface="Gill Sans MT"/>
                <a:cs typeface="Arial" pitchFamily="34" charset="0"/>
              </a:rPr>
            </a:br>
            <a:endParaRPr lang="en-US" sz="5400" b="1" i="1" dirty="0">
              <a:solidFill>
                <a:schemeClr val="tx1"/>
              </a:solidFill>
            </a:endParaRPr>
          </a:p>
        </p:txBody>
      </p:sp>
      <p:sp>
        <p:nvSpPr>
          <p:cNvPr id="3" name="Content Placeholder 2"/>
          <p:cNvSpPr>
            <a:spLocks noGrp="1"/>
          </p:cNvSpPr>
          <p:nvPr>
            <p:ph idx="1"/>
          </p:nvPr>
        </p:nvSpPr>
        <p:spPr/>
        <p:txBody>
          <a:bodyPr>
            <a:normAutofit/>
          </a:bodyPr>
          <a:lstStyle/>
          <a:p>
            <a:pPr marL="365125" lvl="0" indent="-282575" algn="ctr" defTabSz="914400" fontAlgn="base">
              <a:lnSpc>
                <a:spcPct val="80000"/>
              </a:lnSpc>
              <a:spcBef>
                <a:spcPts val="600"/>
              </a:spcBef>
              <a:spcAft>
                <a:spcPct val="0"/>
              </a:spcAft>
              <a:buClr>
                <a:srgbClr val="3891A7"/>
              </a:buClr>
              <a:buSzPct val="80000"/>
              <a:buNone/>
            </a:pPr>
            <a:r>
              <a:rPr lang="en-US" sz="3000" dirty="0" smtClean="0">
                <a:solidFill>
                  <a:prstClr val="black"/>
                </a:solidFill>
                <a:latin typeface="Gill Sans MT"/>
                <a:cs typeface="Arial" pitchFamily="34" charset="0"/>
              </a:rPr>
              <a:t>“</a:t>
            </a:r>
            <a:r>
              <a:rPr lang="en-US" sz="3000" dirty="0">
                <a:solidFill>
                  <a:prstClr val="black"/>
                </a:solidFill>
                <a:latin typeface="Gill Sans MT"/>
                <a:cs typeface="Arial" pitchFamily="34" charset="0"/>
              </a:rPr>
              <a:t>LEARNING FROM EXPERIENCE”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This is the management principle that underlines the comparison of objectives with their achievement.</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It derives from the first management principle “management by objectives”.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When there is a gap between objectives and results management analyses why only the observed results were achieved and why they fell short of the set objectives.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0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582697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PRINCIPLE 2 Con…..</a:t>
            </a:r>
            <a:endParaRPr lang="en-US" sz="3200" dirty="0">
              <a:solidFill>
                <a:srgbClr val="FF0000"/>
              </a:solidFill>
              <a:latin typeface="Gill Sans MT"/>
              <a:cs typeface="Arial" pitchFamily="34" charset="0"/>
            </a:endParaRPr>
          </a:p>
        </p:txBody>
      </p:sp>
      <p:sp>
        <p:nvSpPr>
          <p:cNvPr id="3" name="Content Placeholder 2"/>
          <p:cNvSpPr>
            <a:spLocks noGrp="1"/>
          </p:cNvSpPr>
          <p:nvPr>
            <p:ph idx="1"/>
          </p:nvPr>
        </p:nvSpPr>
        <p:spPr/>
        <p:txBody>
          <a:bodyPr/>
          <a:lstStyle/>
          <a:p>
            <a:pPr marL="365125" lvl="0" indent="-282575" algn="ctr" defTabSz="914400" fontAlgn="base">
              <a:lnSpc>
                <a:spcPct val="90000"/>
              </a:lnSpc>
              <a:spcBef>
                <a:spcPts val="600"/>
              </a:spcBef>
              <a:spcAft>
                <a:spcPct val="0"/>
              </a:spcAft>
              <a:buClr>
                <a:srgbClr val="3891A7"/>
              </a:buClr>
              <a:buSzPct val="80000"/>
              <a:buNone/>
            </a:pPr>
            <a:r>
              <a:rPr lang="en-US" sz="3200" dirty="0" smtClean="0">
                <a:solidFill>
                  <a:prstClr val="black"/>
                </a:solidFill>
                <a:latin typeface="Gill Sans MT"/>
                <a:cs typeface="Arial" pitchFamily="34" charset="0"/>
              </a:rPr>
              <a:t>“</a:t>
            </a:r>
            <a:r>
              <a:rPr lang="en-US" sz="3200" dirty="0">
                <a:solidFill>
                  <a:prstClr val="black"/>
                </a:solidFill>
                <a:latin typeface="Gill Sans MT"/>
                <a:cs typeface="Arial" pitchFamily="34" charset="0"/>
              </a:rPr>
              <a:t>LEARNING FROM EXPERIENCE” – cont.</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Some causes can be easily remedied – others can′t be removed in the short term and are called CONSTRAINTS.</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Management learned from this process and used for further decisions to achieve future objectives.</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823496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i="1" dirty="0">
                <a:solidFill>
                  <a:srgbClr val="FF0000"/>
                </a:solidFill>
                <a:latin typeface="Gill Sans MT"/>
                <a:cs typeface="Arial" pitchFamily="34" charset="0"/>
              </a:rPr>
              <a:t>PRINCIPLE </a:t>
            </a:r>
            <a:r>
              <a:rPr lang="en-US" sz="4400" b="1" i="1" dirty="0" smtClean="0">
                <a:solidFill>
                  <a:srgbClr val="FF0000"/>
                </a:solidFill>
                <a:latin typeface="Gill Sans MT"/>
                <a:cs typeface="Arial" pitchFamily="34" charset="0"/>
              </a:rPr>
              <a:t>2</a:t>
            </a:r>
            <a:r>
              <a:rPr lang="en-US" sz="4400" b="1" i="1" dirty="0">
                <a:solidFill>
                  <a:srgbClr val="FF0000"/>
                </a:solidFill>
                <a:latin typeface="Gill Sans MT"/>
                <a:cs typeface="Arial" pitchFamily="34" charset="0"/>
              </a:rPr>
              <a:t> </a:t>
            </a:r>
            <a:r>
              <a:rPr lang="en-US" sz="4400" b="1" i="1" dirty="0" smtClean="0">
                <a:solidFill>
                  <a:srgbClr val="FF0000"/>
                </a:solidFill>
                <a:latin typeface="Gill Sans MT"/>
                <a:cs typeface="Arial" pitchFamily="34" charset="0"/>
              </a:rPr>
              <a:t>Con…..</a:t>
            </a:r>
            <a:endParaRPr lang="en-US" dirty="0">
              <a:solidFill>
                <a:srgbClr val="FF0000"/>
              </a:solidFill>
            </a:endParaRPr>
          </a:p>
        </p:txBody>
      </p:sp>
      <p:sp>
        <p:nvSpPr>
          <p:cNvPr id="3" name="Content Placeholder 2"/>
          <p:cNvSpPr>
            <a:spLocks noGrp="1"/>
          </p:cNvSpPr>
          <p:nvPr>
            <p:ph idx="1"/>
          </p:nvPr>
        </p:nvSpPr>
        <p:spPr/>
        <p:txBody>
          <a:bodyPr/>
          <a:lstStyle/>
          <a:p>
            <a:pPr marL="365125" lvl="0" indent="-282575" algn="ctr" defTabSz="914400" fontAlgn="base">
              <a:spcBef>
                <a:spcPts val="600"/>
              </a:spcBef>
              <a:spcAft>
                <a:spcPct val="0"/>
              </a:spcAft>
              <a:buClr>
                <a:srgbClr val="3891A7"/>
              </a:buClr>
              <a:buSzPct val="80000"/>
              <a:buNone/>
            </a:pPr>
            <a:r>
              <a:rPr lang="en-US" altLang="en-US" sz="3200" dirty="0" smtClean="0">
                <a:solidFill>
                  <a:prstClr val="black"/>
                </a:solidFill>
                <a:latin typeface="Gill Sans MT"/>
                <a:cs typeface="Arial" pitchFamily="34" charset="0"/>
              </a:rPr>
              <a:t>“</a:t>
            </a:r>
            <a:r>
              <a:rPr lang="en-US" altLang="en-US" sz="3200" dirty="0">
                <a:solidFill>
                  <a:prstClr val="black"/>
                </a:solidFill>
                <a:latin typeface="Gill Sans MT"/>
                <a:cs typeface="Arial" pitchFamily="34" charset="0"/>
              </a:rPr>
              <a:t>LEARNING FROM EXPERIENCE” – cont.</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A second reason for specifying objectives clearly is that it enables management and health workers to decide HOW to achieve them. In other words, stating the objective, or END, helps in selecting the MEANS of achieving it.</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626382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DEFINITION 2</a:t>
            </a:r>
            <a:r>
              <a:rPr lang="en-US" sz="4400" b="1" i="1" dirty="0">
                <a:solidFill>
                  <a:schemeClr val="tx1"/>
                </a:solidFill>
                <a:latin typeface="Gill Sans MT"/>
                <a:cs typeface="Arial" pitchFamily="34" charset="0"/>
              </a:rPr>
              <a:t/>
            </a:r>
            <a:br>
              <a:rPr lang="en-US" sz="4400" b="1" i="1" dirty="0">
                <a:solidFill>
                  <a:schemeClr val="tx1"/>
                </a:solidFill>
                <a:latin typeface="Gill Sans MT"/>
                <a:cs typeface="Arial" pitchFamily="34" charset="0"/>
              </a:rPr>
            </a:br>
            <a:endParaRPr lang="en-US" sz="4800" b="1" i="1" dirty="0">
              <a:solidFill>
                <a:schemeClr val="tx1"/>
              </a:solidFill>
            </a:endParaRPr>
          </a:p>
        </p:txBody>
      </p:sp>
      <p:sp>
        <p:nvSpPr>
          <p:cNvPr id="3" name="Content Placeholder 2"/>
          <p:cNvSpPr>
            <a:spLocks noGrp="1"/>
          </p:cNvSpPr>
          <p:nvPr>
            <p:ph idx="1"/>
          </p:nvPr>
        </p:nvSpPr>
        <p:spPr/>
        <p:txBody>
          <a:bodyPr>
            <a:normAutofit/>
          </a:bodyPr>
          <a:lstStyle/>
          <a:p>
            <a:pPr marL="365125" lvl="0" indent="-282575" algn="ctr" defTabSz="914400" fontAlgn="base">
              <a:lnSpc>
                <a:spcPct val="90000"/>
              </a:lnSpc>
              <a:spcBef>
                <a:spcPts val="600"/>
              </a:spcBef>
              <a:spcAft>
                <a:spcPct val="0"/>
              </a:spcAft>
              <a:buClr>
                <a:srgbClr val="3891A7"/>
              </a:buClr>
              <a:buSzPct val="80000"/>
              <a:buNone/>
            </a:pPr>
            <a:r>
              <a:rPr lang="en-US" sz="3200" dirty="0" smtClean="0">
                <a:solidFill>
                  <a:prstClr val="black"/>
                </a:solidFill>
                <a:latin typeface="Gill Sans MT"/>
                <a:cs typeface="Arial" pitchFamily="34" charset="0"/>
              </a:rPr>
              <a:t>“</a:t>
            </a:r>
            <a:r>
              <a:rPr lang="en-US" sz="3200" dirty="0">
                <a:solidFill>
                  <a:prstClr val="black"/>
                </a:solidFill>
                <a:latin typeface="Gill Sans MT"/>
                <a:cs typeface="Arial" pitchFamily="34" charset="0"/>
              </a:rPr>
              <a:t>MANAGEMENT IS GETTING THINGS DONE THROUGH PEOPLE”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This definition of management mentions both ENDS and MEANS.</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Does not mean that someone (manager) orders and others (people) do what they are ordered to do, although this often what happens.</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95201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DEFINITION 2 – cont.</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p:txBody>
          <a:bodyPr/>
          <a:lstStyle/>
          <a:p>
            <a:pPr marL="365125" lvl="0" indent="-282575" algn="ctr" defTabSz="914400" fontAlgn="base">
              <a:lnSpc>
                <a:spcPct val="80000"/>
              </a:lnSpc>
              <a:spcBef>
                <a:spcPts val="600"/>
              </a:spcBef>
              <a:spcAft>
                <a:spcPct val="0"/>
              </a:spcAft>
              <a:buClr>
                <a:srgbClr val="3891A7"/>
              </a:buClr>
              <a:buSzPct val="80000"/>
              <a:buNone/>
            </a:pPr>
            <a:r>
              <a:rPr lang="en-US" sz="3000" dirty="0" smtClean="0">
                <a:solidFill>
                  <a:prstClr val="black"/>
                </a:solidFill>
                <a:latin typeface="Gill Sans MT"/>
                <a:cs typeface="Arial" pitchFamily="34" charset="0"/>
              </a:rPr>
              <a:t>“</a:t>
            </a:r>
            <a:r>
              <a:rPr lang="en-US" sz="3000" dirty="0">
                <a:solidFill>
                  <a:prstClr val="black"/>
                </a:solidFill>
                <a:latin typeface="Gill Sans MT"/>
                <a:cs typeface="Arial" pitchFamily="34" charset="0"/>
              </a:rPr>
              <a:t>MANAGEMENT IS GETTING THINGS DONE THROUGH PEOPLE”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It means that people are the most important MEANS or resources for getting things done.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People must work, performing certain activities to reach certain ENDS or objectives.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000" dirty="0">
                <a:solidFill>
                  <a:prstClr val="black"/>
                </a:solidFill>
                <a:latin typeface="Gill Sans MT"/>
                <a:cs typeface="Arial" pitchFamily="34" charset="0"/>
              </a:rPr>
              <a:t>When we are concerned with how means are used to reach ends we are concerned with EFFICIENCY.</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000" dirty="0">
              <a:solidFill>
                <a:prstClr val="black"/>
              </a:solidFill>
              <a:latin typeface="Gill Sans MT"/>
              <a:cs typeface="Arial" pitchFamily="34" charset="0"/>
            </a:endParaRPr>
          </a:p>
        </p:txBody>
      </p:sp>
    </p:spTree>
    <p:extLst>
      <p:ext uri="{BB962C8B-B14F-4D97-AF65-F5344CB8AC3E}">
        <p14:creationId xmlns:p14="http://schemas.microsoft.com/office/powerpoint/2010/main" val="117259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i="1" dirty="0">
                <a:solidFill>
                  <a:srgbClr val="FF0000"/>
                </a:solidFill>
                <a:latin typeface="Gill Sans MT"/>
                <a:cs typeface="Arial" pitchFamily="34" charset="0"/>
              </a:rPr>
              <a:t>EFFICIENCY</a:t>
            </a:r>
            <a:endParaRPr lang="en-US" sz="4800" b="1" i="1" dirty="0"/>
          </a:p>
        </p:txBody>
      </p:sp>
      <p:sp>
        <p:nvSpPr>
          <p:cNvPr id="3" name="Content Placeholder 2"/>
          <p:cNvSpPr>
            <a:spLocks noGrp="1"/>
          </p:cNvSpPr>
          <p:nvPr>
            <p:ph idx="1"/>
          </p:nvPr>
        </p:nvSpPr>
        <p:spPr/>
        <p:txBody>
          <a:bodyPr/>
          <a:lstStyle/>
          <a:p>
            <a:pPr marL="82550" lvl="0" indent="0" algn="just" defTabSz="914400" fontAlgn="base">
              <a:spcBef>
                <a:spcPts val="600"/>
              </a:spcBef>
              <a:spcAft>
                <a:spcPct val="0"/>
              </a:spcAft>
              <a:buClr>
                <a:srgbClr val="3891A7"/>
              </a:buClr>
              <a:buSzPct val="80000"/>
              <a:buNone/>
            </a:pPr>
            <a:endParaRPr lang="en-US" altLang="en-US" sz="3200" dirty="0">
              <a:solidFill>
                <a:srgbClr val="FF0000"/>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Reaching ends by only the necessary means or by the least wasteful use of means.</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altLang="en-US" sz="3200" dirty="0">
                <a:solidFill>
                  <a:prstClr val="black"/>
                </a:solidFill>
                <a:latin typeface="Gill Sans MT"/>
                <a:cs typeface="Arial" pitchFamily="34" charset="0"/>
              </a:rPr>
              <a:t>It is a measure of the relation between the results obtained and the effort expended.</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alt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741836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PRINCIPLE 3 &amp; 4 </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normAutofit/>
          </a:bodyPr>
          <a:lstStyle/>
          <a:p>
            <a:pPr marL="365125" lvl="0" indent="-282575" algn="ctr" defTabSz="914400" fontAlgn="base">
              <a:lnSpc>
                <a:spcPct val="80000"/>
              </a:lnSpc>
              <a:spcBef>
                <a:spcPts val="600"/>
              </a:spcBef>
              <a:spcAft>
                <a:spcPct val="0"/>
              </a:spcAft>
              <a:buClr>
                <a:srgbClr val="3891A7"/>
              </a:buClr>
              <a:buSzPct val="80000"/>
              <a:buNone/>
            </a:pPr>
            <a:r>
              <a:rPr lang="en-US" sz="3200" dirty="0" smtClean="0">
                <a:solidFill>
                  <a:prstClr val="black"/>
                </a:solidFill>
                <a:latin typeface="Gill Sans MT"/>
                <a:cs typeface="Arial" pitchFamily="34" charset="0"/>
              </a:rPr>
              <a:t>“</a:t>
            </a:r>
            <a:r>
              <a:rPr lang="en-US" sz="3200" dirty="0">
                <a:solidFill>
                  <a:prstClr val="black"/>
                </a:solidFill>
                <a:latin typeface="Gill Sans MT"/>
                <a:cs typeface="Arial" pitchFamily="34" charset="0"/>
              </a:rPr>
              <a:t>DIVISION OF LABOUR &amp; CONVERGENCE OF WORK”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As soon as two or more people are involved in work or activity, two complementary principles must be applied by management.</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When work is distributed, or divided among members of a group, and the work is directed and coordinated, the group becomes a TEAM.</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695311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PRINCIPLE 3 &amp; 4 – cont.</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lstStyle/>
          <a:p>
            <a:pPr marL="365125" lvl="0" indent="-282575" algn="ctr" defTabSz="914400" fontAlgn="base">
              <a:lnSpc>
                <a:spcPct val="8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DIVISION OF LABOUR &amp; CONVERGENCE OF WORK” </a:t>
            </a:r>
          </a:p>
          <a:p>
            <a:pPr marL="365125" lvl="0" indent="-282575" algn="just" defTabSz="914400" fontAlgn="base">
              <a:lnSpc>
                <a:spcPct val="80000"/>
              </a:lnSpc>
              <a:spcBef>
                <a:spcPts val="600"/>
              </a:spcBef>
              <a:spcAft>
                <a:spcPct val="0"/>
              </a:spcAft>
              <a:buClr>
                <a:srgbClr val="3891A7"/>
              </a:buClr>
              <a:buSzPct val="80000"/>
              <a:buFont typeface="Calibri" panose="020F0502020204030204" pitchFamily="34" charset="0"/>
              <a:buAutoNum type="arabicPeriod"/>
            </a:pPr>
            <a:r>
              <a:rPr lang="en-US" sz="3200" dirty="0">
                <a:solidFill>
                  <a:prstClr val="black"/>
                </a:solidFill>
                <a:latin typeface="Gill Sans MT"/>
                <a:cs typeface="Arial" pitchFamily="34" charset="0"/>
              </a:rPr>
              <a:t>DIVISION OF LABOUR – work must be shared by, or divide among, a number of different categories of technically skilled people.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E.g. for a surgeon to perform an operation, someone must give the </a:t>
            </a:r>
            <a:r>
              <a:rPr lang="en-US" sz="3200" dirty="0" err="1">
                <a:solidFill>
                  <a:prstClr val="black"/>
                </a:solidFill>
                <a:latin typeface="Gill Sans MT"/>
                <a:cs typeface="Arial" pitchFamily="34" charset="0"/>
              </a:rPr>
              <a:t>anaesthetic</a:t>
            </a:r>
            <a:r>
              <a:rPr lang="en-US" sz="3200" dirty="0">
                <a:solidFill>
                  <a:prstClr val="black"/>
                </a:solidFill>
                <a:latin typeface="Gill Sans MT"/>
                <a:cs typeface="Arial" pitchFamily="34" charset="0"/>
              </a:rPr>
              <a:t>, someone handed down the instruments..</a:t>
            </a:r>
            <a:r>
              <a:rPr lang="en-US" sz="3200" dirty="0" err="1">
                <a:solidFill>
                  <a:prstClr val="black"/>
                </a:solidFill>
                <a:latin typeface="Gill Sans MT"/>
                <a:cs typeface="Arial" pitchFamily="34" charset="0"/>
              </a:rPr>
              <a:t>etc</a:t>
            </a:r>
            <a:r>
              <a:rPr lang="en-US" sz="3200" dirty="0">
                <a:solidFill>
                  <a:prstClr val="black"/>
                </a:solidFill>
                <a:latin typeface="Gill Sans MT"/>
                <a:cs typeface="Arial" pitchFamily="34" charset="0"/>
              </a:rPr>
              <a:t>.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395156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lnSpc>
                <a:spcPct val="70000"/>
              </a:lnSpc>
              <a:spcBef>
                <a:spcPts val="600"/>
              </a:spcBef>
              <a:spcAft>
                <a:spcPct val="0"/>
              </a:spcAft>
            </a:pPr>
            <a:r>
              <a:rPr lang="en-US" sz="4400" b="1" i="1" dirty="0">
                <a:solidFill>
                  <a:srgbClr val="FF0000"/>
                </a:solidFill>
                <a:latin typeface="Gill Sans MT"/>
                <a:cs typeface="Arial" pitchFamily="34" charset="0"/>
              </a:rPr>
              <a:t>PRINCIPLE 3 &amp; 4 – cont.</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p:txBody>
          <a:bodyPr>
            <a:normAutofit/>
          </a:bodyPr>
          <a:lstStyle/>
          <a:p>
            <a:pPr marL="365125" lvl="0" indent="-282575" algn="ctr" defTabSz="914400" fontAlgn="base">
              <a:lnSpc>
                <a:spcPct val="7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DIVISION OF LABOUR &amp; CONVERGENCE OF WORK” </a:t>
            </a:r>
          </a:p>
          <a:p>
            <a:pPr marL="365125" lvl="0" indent="-282575" algn="just" defTabSz="914400" fontAlgn="base">
              <a:lnSpc>
                <a:spcPct val="70000"/>
              </a:lnSpc>
              <a:spcBef>
                <a:spcPts val="600"/>
              </a:spcBef>
              <a:spcAft>
                <a:spcPct val="0"/>
              </a:spcAft>
              <a:buClr>
                <a:srgbClr val="3891A7"/>
              </a:buClr>
              <a:buSzPct val="80000"/>
              <a:buFont typeface="Calibri" panose="020F0502020204030204" pitchFamily="34" charset="0"/>
              <a:buAutoNum type="arabicPeriod" startAt="2"/>
            </a:pPr>
            <a:r>
              <a:rPr lang="en-US" sz="3200" dirty="0">
                <a:solidFill>
                  <a:prstClr val="black"/>
                </a:solidFill>
                <a:latin typeface="Gill Sans MT"/>
                <a:cs typeface="Arial" pitchFamily="34" charset="0"/>
              </a:rPr>
              <a:t>CONVERGENCE OF WORK – means that the activities of the various people who do the work come together in the achievement of the objectives. The activities should be designed, assigned, and directed in such a way that they support each other in moving towards a common goal.</a:t>
            </a:r>
          </a:p>
          <a:p>
            <a:pPr marL="365125" lvl="0" indent="-282575" algn="just" defTabSz="914400" fontAlgn="base">
              <a:lnSpc>
                <a:spcPct val="7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E.g. a service activity of immunization requires development and continuous support.</a:t>
            </a:r>
          </a:p>
          <a:p>
            <a:pPr marL="365125" lvl="0" indent="-282575" algn="just" defTabSz="914400" fontAlgn="base">
              <a:lnSpc>
                <a:spcPct val="7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7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4076762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DEFINITION 3 </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normAutofit/>
          </a:bodyPr>
          <a:lstStyle/>
          <a:p>
            <a:pPr marL="365125" lvl="0" indent="-282575" algn="ctr" defTabSz="914400" fontAlgn="base">
              <a:lnSpc>
                <a:spcPct val="90000"/>
              </a:lnSpc>
              <a:spcBef>
                <a:spcPts val="600"/>
              </a:spcBef>
              <a:spcAft>
                <a:spcPct val="0"/>
              </a:spcAft>
              <a:buClr>
                <a:srgbClr val="3891A7"/>
              </a:buClr>
              <a:buSzPct val="80000"/>
              <a:buNone/>
            </a:pPr>
            <a:r>
              <a:rPr lang="en-US" sz="3200" dirty="0" smtClean="0">
                <a:solidFill>
                  <a:prstClr val="black"/>
                </a:solidFill>
                <a:latin typeface="Gill Sans MT"/>
                <a:cs typeface="Arial" pitchFamily="34" charset="0"/>
              </a:rPr>
              <a:t>“</a:t>
            </a:r>
            <a:r>
              <a:rPr lang="en-US" sz="3200" dirty="0">
                <a:solidFill>
                  <a:prstClr val="black"/>
                </a:solidFill>
                <a:latin typeface="Gill Sans MT"/>
                <a:cs typeface="Arial" pitchFamily="34" charset="0"/>
              </a:rPr>
              <a:t>MANAGEMENT IS EFFICIENT USE OF RESOURCES”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The different types of resources used for achieving objectives must be carefully balanced.</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Resources include 5 M′s – MANPOWER, MONEY, MATERIALS, MEMO (information), and MOMENT (time).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1441537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spcBef>
                <a:spcPts val="600"/>
              </a:spcBef>
              <a:spcAft>
                <a:spcPct val="0"/>
              </a:spcAft>
            </a:pPr>
            <a:r>
              <a:rPr lang="en-US" sz="4400" b="1" i="1" dirty="0">
                <a:solidFill>
                  <a:srgbClr val="FF0000"/>
                </a:solidFill>
                <a:latin typeface="Gill Sans MT"/>
                <a:cs typeface="Arial" pitchFamily="34" charset="0"/>
              </a:rPr>
              <a:t>DEFINITION 3 – cont. </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lstStyle/>
          <a:p>
            <a:pPr marL="365125" lvl="0" indent="-282575" algn="ctr" defTabSz="914400" fontAlgn="base">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IS EFFICIENT USE OF RESOURCES”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3200" dirty="0">
                <a:solidFill>
                  <a:prstClr val="black"/>
                </a:solidFill>
                <a:latin typeface="Gill Sans MT"/>
                <a:cs typeface="Arial" pitchFamily="34" charset="0"/>
              </a:rPr>
              <a:t>A prime concern of management is therefore to ensure adequate funds and stocks of materials to permit the staff to provide the planned services in a designated time.</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210958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spcBef>
                <a:spcPts val="600"/>
              </a:spcBef>
              <a:spcAft>
                <a:spcPct val="0"/>
              </a:spcAft>
            </a:pPr>
            <a:r>
              <a:rPr lang="en-US" sz="4400" b="1" i="1" dirty="0">
                <a:solidFill>
                  <a:srgbClr val="FF0000"/>
                </a:solidFill>
                <a:latin typeface="Gill Sans MT"/>
                <a:cs typeface="Arial" pitchFamily="34" charset="0"/>
              </a:rPr>
              <a:t>DEFINITION 3 – cont. </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p:txBody>
          <a:bodyPr>
            <a:normAutofit/>
          </a:bodyPr>
          <a:lstStyle/>
          <a:p>
            <a:pPr marL="365125" lvl="0" indent="-282575" algn="ctr" defTabSz="914400" fontAlgn="base">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IS EFFICIENT USE OF RESOURCES”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srgbClr val="FF0000"/>
                </a:solidFill>
                <a:latin typeface="Gill Sans MT"/>
                <a:cs typeface="Arial" pitchFamily="34" charset="0"/>
              </a:rPr>
              <a:t>“THE CONCEPT OF ECONOMY AND THE PRINCIPLE OF SUBSTITUTION OF RESOURCES”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In everyday life some commodities become scarce, either because production or supply falls or demand for them rises. As a result they become more expensive, and ordinary people buy less of it – in other words they ECONOMIZE.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sz="2000" dirty="0"/>
          </a:p>
        </p:txBody>
      </p:sp>
    </p:spTree>
    <p:extLst>
      <p:ext uri="{BB962C8B-B14F-4D97-AF65-F5344CB8AC3E}">
        <p14:creationId xmlns:p14="http://schemas.microsoft.com/office/powerpoint/2010/main" val="2918605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80000"/>
              </a:lnSpc>
              <a:spcBef>
                <a:spcPts val="600"/>
              </a:spcBef>
              <a:spcAft>
                <a:spcPct val="0"/>
              </a:spcAft>
            </a:pPr>
            <a:r>
              <a:rPr lang="en-US" sz="4400" b="1" i="1" dirty="0">
                <a:solidFill>
                  <a:srgbClr val="FF0000"/>
                </a:solidFill>
                <a:latin typeface="Gill Sans MT"/>
                <a:cs typeface="Arial" pitchFamily="34" charset="0"/>
              </a:rPr>
              <a:t>DEFINITION 3 – cont. </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a:xfrm>
            <a:off x="2240924" y="2133599"/>
            <a:ext cx="9263688" cy="3983865"/>
          </a:xfrm>
        </p:spPr>
        <p:txBody>
          <a:bodyPr>
            <a:normAutofit/>
          </a:bodyPr>
          <a:lstStyle/>
          <a:p>
            <a:pPr marL="365125" lvl="0" indent="-282575" algn="ctr" defTabSz="914400" fontAlgn="base">
              <a:lnSpc>
                <a:spcPct val="8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IS EFFICIENT USE OF RESOURCES”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srgbClr val="FF0000"/>
                </a:solidFill>
                <a:latin typeface="Gill Sans MT"/>
                <a:cs typeface="Arial" pitchFamily="34" charset="0"/>
              </a:rPr>
              <a:t>“THE CONCEPT OF ECONOMY AND THE PRINCIPLE OF SUBSTITUTION OF RESOURCES” –cont.</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Often when the resources normally used to provide services become scarce or too expensive, different resources may be used to produce the intended results – SUBSTITUTION OF RESOURCES.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E.g. </a:t>
            </a:r>
            <a:r>
              <a:rPr lang="en-US" sz="2800" dirty="0" err="1">
                <a:solidFill>
                  <a:prstClr val="black"/>
                </a:solidFill>
                <a:latin typeface="Gill Sans MT"/>
                <a:cs typeface="Arial" pitchFamily="34" charset="0"/>
              </a:rPr>
              <a:t>labour</a:t>
            </a:r>
            <a:r>
              <a:rPr lang="en-US" sz="2800" dirty="0">
                <a:solidFill>
                  <a:prstClr val="black"/>
                </a:solidFill>
                <a:latin typeface="Gill Sans MT"/>
                <a:cs typeface="Arial" pitchFamily="34" charset="0"/>
              </a:rPr>
              <a:t> substitution – using trained auxiliary personal.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sz="2000" dirty="0"/>
          </a:p>
        </p:txBody>
      </p:sp>
    </p:spTree>
    <p:extLst>
      <p:ext uri="{BB962C8B-B14F-4D97-AF65-F5344CB8AC3E}">
        <p14:creationId xmlns:p14="http://schemas.microsoft.com/office/powerpoint/2010/main" val="1274693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lnSpc>
                <a:spcPct val="80000"/>
              </a:lnSpc>
              <a:spcBef>
                <a:spcPts val="600"/>
              </a:spcBef>
              <a:spcAft>
                <a:spcPct val="0"/>
              </a:spcAft>
            </a:pPr>
            <a:r>
              <a:rPr lang="en-US" sz="4400" b="1" i="1" dirty="0" smtClean="0">
                <a:solidFill>
                  <a:srgbClr val="FF0000"/>
                </a:solidFill>
                <a:latin typeface="Gill Sans MT"/>
                <a:cs typeface="Arial" pitchFamily="34" charset="0"/>
              </a:rPr>
              <a:t>DEFINITION </a:t>
            </a:r>
            <a:r>
              <a:rPr lang="en-US" sz="4400" b="1" i="1" dirty="0">
                <a:solidFill>
                  <a:srgbClr val="FF0000"/>
                </a:solidFill>
                <a:latin typeface="Gill Sans MT"/>
                <a:cs typeface="Arial" pitchFamily="34" charset="0"/>
              </a:rPr>
              <a:t>4 </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normAutofit/>
          </a:bodyPr>
          <a:lstStyle/>
          <a:p>
            <a:pPr marL="365125" lvl="0" indent="-282575" algn="ctr" defTabSz="914400" fontAlgn="base">
              <a:lnSpc>
                <a:spcPct val="8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IS GETTING PEOPLE TO WORK HARMONIOUSLY TOGETHER AND TO MAKE EFFICIENT USE OF RESOURCES TO ACHIEVE OBJECTIVES”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This definition stresses the need to ensure that people work well and cooperatively together. Working relations are a major concern of managers.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Working relations between people are usually described as FUNCTIONAL and STRUCTURAL. </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816700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80000"/>
              </a:lnSpc>
              <a:spcBef>
                <a:spcPts val="600"/>
              </a:spcBef>
              <a:spcAft>
                <a:spcPct val="0"/>
              </a:spcAft>
            </a:pPr>
            <a:r>
              <a:rPr lang="en-US" sz="4800" b="1" i="1" dirty="0">
                <a:solidFill>
                  <a:srgbClr val="FF0000"/>
                </a:solidFill>
                <a:latin typeface="Gill Sans MT"/>
                <a:cs typeface="Arial" pitchFamily="34" charset="0"/>
              </a:rPr>
              <a:t>DEFINITION 4 – cont.</a:t>
            </a:r>
            <a:r>
              <a:rPr lang="en-US" sz="4400" b="1" i="1" dirty="0">
                <a:solidFill>
                  <a:prstClr val="black"/>
                </a:solidFill>
                <a:latin typeface="Gill Sans MT"/>
                <a:cs typeface="Arial" pitchFamily="34" charset="0"/>
              </a:rPr>
              <a:t/>
            </a:r>
            <a:br>
              <a:rPr lang="en-US" sz="4400" b="1" i="1" dirty="0">
                <a:solidFill>
                  <a:prstClr val="black"/>
                </a:solidFill>
                <a:latin typeface="Gill Sans MT"/>
                <a:cs typeface="Arial" pitchFamily="34" charset="0"/>
              </a:rPr>
            </a:br>
            <a:endParaRPr lang="en-US" sz="5400" b="1" i="1" dirty="0"/>
          </a:p>
        </p:txBody>
      </p:sp>
      <p:sp>
        <p:nvSpPr>
          <p:cNvPr id="3" name="Content Placeholder 2"/>
          <p:cNvSpPr>
            <a:spLocks noGrp="1"/>
          </p:cNvSpPr>
          <p:nvPr>
            <p:ph idx="1"/>
          </p:nvPr>
        </p:nvSpPr>
        <p:spPr/>
        <p:txBody>
          <a:bodyPr>
            <a:normAutofit/>
          </a:bodyPr>
          <a:lstStyle/>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smtClean="0">
                <a:solidFill>
                  <a:prstClr val="black"/>
                </a:solidFill>
                <a:latin typeface="Gill Sans MT"/>
                <a:cs typeface="Arial" pitchFamily="34" charset="0"/>
              </a:rPr>
              <a:t>FUNCTIONAL </a:t>
            </a:r>
            <a:r>
              <a:rPr lang="en-US" sz="2800" dirty="0">
                <a:solidFill>
                  <a:prstClr val="black"/>
                </a:solidFill>
                <a:latin typeface="Gill Sans MT"/>
                <a:cs typeface="Arial" pitchFamily="34" charset="0"/>
              </a:rPr>
              <a:t>RELATIONS – derive directly from the technical nature of the work, and where, when, and in what sequence it is done.</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STRUCTURAL RELATIONS – pertain to administrative rules and standards and in particular to the authority and responsibility assigned to individuals.</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The two </a:t>
            </a:r>
            <a:r>
              <a:rPr lang="en-US" sz="2800" dirty="0">
                <a:solidFill>
                  <a:srgbClr val="FF0000"/>
                </a:solidFill>
                <a:latin typeface="Gill Sans MT"/>
                <a:cs typeface="Arial" pitchFamily="34" charset="0"/>
              </a:rPr>
              <a:t>CONCEPTS</a:t>
            </a:r>
            <a:r>
              <a:rPr lang="en-US" sz="2800" dirty="0">
                <a:solidFill>
                  <a:prstClr val="black"/>
                </a:solidFill>
                <a:latin typeface="Gill Sans MT"/>
                <a:cs typeface="Arial" pitchFamily="34" charset="0"/>
              </a:rPr>
              <a:t> that that underlie functional and structural relations within a health team are AUTHORITY and RESPONSIBILITY.</a:t>
            </a: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8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36639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DEFINITION 5</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a:xfrm>
            <a:off x="2305317" y="2133599"/>
            <a:ext cx="9453093" cy="4074017"/>
          </a:xfrm>
        </p:spPr>
        <p:txBody>
          <a:bodyPr>
            <a:noAutofit/>
          </a:bodyPr>
          <a:lstStyle/>
          <a:p>
            <a:pPr marL="365125" lvl="0" indent="-282575" algn="ctr" defTabSz="914400" fontAlgn="base">
              <a:lnSpc>
                <a:spcPct val="9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IS TO MAKE DECISIONS”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It stresses the most important element of management namely decision making. A decision is a choice between two courses of action.</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The authority of a member of the health team may be defined simply as the decisions which that member may make. A common failing of management is that no one is clearly responsible for some urgently needed decision, or that someone is responsible but has not been given the necessary authority to act.</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2563997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PRINCIPLE 6</a:t>
            </a:r>
            <a:br>
              <a:rPr lang="en-US" sz="4400" b="1" i="1" dirty="0">
                <a:solidFill>
                  <a:srgbClr val="FF0000"/>
                </a:solidFill>
                <a:latin typeface="Gill Sans MT"/>
                <a:cs typeface="Arial" pitchFamily="34" charset="0"/>
              </a:rPr>
            </a:br>
            <a:endParaRPr lang="en-US" sz="5400" b="1" i="1" dirty="0"/>
          </a:p>
        </p:txBody>
      </p:sp>
      <p:sp>
        <p:nvSpPr>
          <p:cNvPr id="3" name="Content Placeholder 2"/>
          <p:cNvSpPr>
            <a:spLocks noGrp="1"/>
          </p:cNvSpPr>
          <p:nvPr>
            <p:ph idx="1"/>
          </p:nvPr>
        </p:nvSpPr>
        <p:spPr>
          <a:xfrm>
            <a:off x="2589211" y="1905000"/>
            <a:ext cx="9220715" cy="4225344"/>
          </a:xfrm>
        </p:spPr>
        <p:txBody>
          <a:bodyPr>
            <a:normAutofit/>
          </a:bodyPr>
          <a:lstStyle/>
          <a:p>
            <a:pPr marL="365125" lvl="0" indent="-282575" algn="ctr" defTabSz="914400" fontAlgn="base">
              <a:lnSpc>
                <a:spcPct val="90000"/>
              </a:lnSpc>
              <a:spcBef>
                <a:spcPts val="600"/>
              </a:spcBef>
              <a:spcAft>
                <a:spcPct val="0"/>
              </a:spcAft>
              <a:buClr>
                <a:srgbClr val="3891A7"/>
              </a:buClr>
              <a:buSzPct val="80000"/>
              <a:buNone/>
            </a:pP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DELEGATION”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Takes place when someone with authority “lends” the authority to another person, conditionally or not, so as to enable that person to take responsibility when the need arises.</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To decide between two courses of action information and decision rules are needed.</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Another element of decision making is ensuring that the decisions once taken is made known to all concerned – this is COMMUNICATION.</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3563473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lnSpc>
                <a:spcPct val="90000"/>
              </a:lnSpc>
              <a:spcBef>
                <a:spcPts val="600"/>
              </a:spcBef>
              <a:spcAft>
                <a:spcPct val="0"/>
              </a:spcAft>
            </a:pPr>
            <a:r>
              <a:rPr lang="en-US" sz="4400" b="1" i="1" dirty="0">
                <a:solidFill>
                  <a:srgbClr val="FF0000"/>
                </a:solidFill>
                <a:latin typeface="Gill Sans MT"/>
                <a:cs typeface="Arial" pitchFamily="34" charset="0"/>
              </a:rPr>
              <a:t>PRINCIPLE 7</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normAutofit/>
          </a:bodyPr>
          <a:lstStyle/>
          <a:p>
            <a:pPr marL="82550" lvl="0" indent="0" algn="just" defTabSz="914400" fontAlgn="base">
              <a:lnSpc>
                <a:spcPct val="90000"/>
              </a:lnSpc>
              <a:spcBef>
                <a:spcPts val="600"/>
              </a:spcBef>
              <a:spcAft>
                <a:spcPct val="0"/>
              </a:spcAft>
              <a:buClr>
                <a:srgbClr val="3891A7"/>
              </a:buClr>
              <a:buSzPct val="80000"/>
              <a:buNone/>
            </a:pPr>
            <a:r>
              <a:rPr lang="en-US" sz="3200" dirty="0">
                <a:solidFill>
                  <a:srgbClr val="FF0000"/>
                </a:solidFill>
                <a:latin typeface="Gill Sans MT"/>
                <a:cs typeface="Arial" pitchFamily="34" charset="0"/>
              </a:rPr>
              <a:t> </a:t>
            </a: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BY EXCEPTION”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Of course, management need not know everything that takes place. In particular a program that runs well does not usually call for control decisions.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When it is essential to be informed about exceptions i.e. things that do not go well and may require urgent decisions – the principle that deals with INFORMATION is called MANAGEMENT BY EXCEPTION.</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1545834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spcBef>
                <a:spcPts val="600"/>
              </a:spcBef>
              <a:spcAft>
                <a:spcPct val="0"/>
              </a:spcAft>
            </a:pPr>
            <a:r>
              <a:rPr lang="en-US" sz="4400" b="1" i="1" dirty="0">
                <a:solidFill>
                  <a:srgbClr val="FF0000"/>
                </a:solidFill>
                <a:latin typeface="Gill Sans MT"/>
                <a:cs typeface="Arial" pitchFamily="34" charset="0"/>
              </a:rPr>
              <a:t>PRINCIPLE 7</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lstStyle/>
          <a:p>
            <a:pPr marL="82550" lvl="0" indent="0" algn="just" defTabSz="914400" fontAlgn="base">
              <a:spcBef>
                <a:spcPts val="600"/>
              </a:spcBef>
              <a:spcAft>
                <a:spcPct val="0"/>
              </a:spcAft>
              <a:buClr>
                <a:srgbClr val="3891A7"/>
              </a:buClr>
              <a:buSzPct val="80000"/>
              <a:buNone/>
            </a:pPr>
            <a:r>
              <a:rPr lang="en-US" sz="3200" dirty="0">
                <a:solidFill>
                  <a:srgbClr val="FF0000"/>
                </a:solidFill>
                <a:latin typeface="Gill Sans MT"/>
                <a:cs typeface="Arial" pitchFamily="34" charset="0"/>
              </a:rPr>
              <a:t> </a:t>
            </a: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MANAGEMENT BY EXCEPTION”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Means </a:t>
            </a:r>
          </a:p>
          <a:p>
            <a:pPr marL="365125" lvl="0" indent="-282575" algn="just" defTabSz="914400" fontAlgn="base">
              <a:spcBef>
                <a:spcPts val="600"/>
              </a:spcBef>
              <a:spcAft>
                <a:spcPct val="0"/>
              </a:spcAft>
              <a:buClr>
                <a:srgbClr val="3891A7"/>
              </a:buClr>
              <a:buSzPct val="80000"/>
              <a:buNone/>
            </a:pPr>
            <a:r>
              <a:rPr lang="en-US" sz="2800" dirty="0">
                <a:solidFill>
                  <a:prstClr val="black"/>
                </a:solidFill>
                <a:latin typeface="Gill Sans MT"/>
                <a:cs typeface="Arial" pitchFamily="34" charset="0"/>
              </a:rPr>
              <a:t>Be selective:- do not become overloaded with routine and unnecessary information.</a:t>
            </a:r>
          </a:p>
          <a:p>
            <a:pPr marL="365125" lvl="0" indent="-282575" algn="just" defTabSz="914400" fontAlgn="base">
              <a:spcBef>
                <a:spcPts val="600"/>
              </a:spcBef>
              <a:spcAft>
                <a:spcPct val="0"/>
              </a:spcAft>
              <a:buClr>
                <a:srgbClr val="3891A7"/>
              </a:buClr>
              <a:buSzPct val="80000"/>
              <a:buNone/>
            </a:pPr>
            <a:endParaRPr lang="en-US" sz="28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1531156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365125" lvl="0" indent="-282575" defTabSz="914400" fontAlgn="base">
              <a:spcBef>
                <a:spcPts val="600"/>
              </a:spcBef>
              <a:spcAft>
                <a:spcPct val="0"/>
              </a:spcAft>
            </a:pPr>
            <a:r>
              <a:rPr lang="en-US" sz="4400" b="1" i="1" dirty="0">
                <a:solidFill>
                  <a:srgbClr val="FF0000"/>
                </a:solidFill>
                <a:latin typeface="Gill Sans MT"/>
                <a:cs typeface="Arial" pitchFamily="34" charset="0"/>
              </a:rPr>
              <a:t>PRINCIPLE 8</a:t>
            </a:r>
            <a:br>
              <a:rPr lang="en-US" sz="4400" b="1" i="1" dirty="0">
                <a:solidFill>
                  <a:srgbClr val="FF0000"/>
                </a:solidFill>
                <a:latin typeface="Gill Sans MT"/>
                <a:cs typeface="Arial" pitchFamily="34" charset="0"/>
              </a:rPr>
            </a:br>
            <a:endParaRPr lang="en-US" sz="4800" b="1" i="1" dirty="0"/>
          </a:p>
        </p:txBody>
      </p:sp>
      <p:sp>
        <p:nvSpPr>
          <p:cNvPr id="3" name="Content Placeholder 2"/>
          <p:cNvSpPr>
            <a:spLocks noGrp="1"/>
          </p:cNvSpPr>
          <p:nvPr>
            <p:ph idx="1"/>
          </p:nvPr>
        </p:nvSpPr>
        <p:spPr/>
        <p:txBody>
          <a:bodyPr/>
          <a:lstStyle/>
          <a:p>
            <a:pPr marL="365125" lvl="0" indent="-282575" algn="just" defTabSz="914400" fontAlgn="base">
              <a:spcBef>
                <a:spcPts val="600"/>
              </a:spcBef>
              <a:spcAft>
                <a:spcPct val="0"/>
              </a:spcAft>
              <a:buClr>
                <a:srgbClr val="3891A7"/>
              </a:buClr>
              <a:buSzPct val="80000"/>
              <a:buFont typeface="Wingdings" panose="05000000000000000000" pitchFamily="2" charset="2"/>
              <a:buChar char="q"/>
            </a:pPr>
            <a:r>
              <a:rPr lang="en-US" sz="3200" dirty="0">
                <a:solidFill>
                  <a:srgbClr val="FF0000"/>
                </a:solidFill>
                <a:latin typeface="Gill Sans MT"/>
                <a:cs typeface="Arial" pitchFamily="34" charset="0"/>
              </a:rPr>
              <a:t> </a:t>
            </a:r>
            <a:r>
              <a:rPr lang="en-US" sz="2800" dirty="0" smtClean="0">
                <a:solidFill>
                  <a:prstClr val="black"/>
                </a:solidFill>
                <a:latin typeface="Gill Sans MT"/>
                <a:cs typeface="Arial" pitchFamily="34" charset="0"/>
              </a:rPr>
              <a:t>“</a:t>
            </a:r>
            <a:r>
              <a:rPr lang="en-US" sz="2800" dirty="0">
                <a:solidFill>
                  <a:prstClr val="black"/>
                </a:solidFill>
                <a:latin typeface="Gill Sans MT"/>
                <a:cs typeface="Arial" pitchFamily="34" charset="0"/>
              </a:rPr>
              <a:t>SHORTEST DECISION PATH”  </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Deals with WHO should make WHICH decision.</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Applying this principle means that decisions are made as close as possible in time and place to the object of the decision and to those affected by it.</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952988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3651" y="624110"/>
            <a:ext cx="9569003" cy="1280890"/>
          </a:xfrm>
        </p:spPr>
        <p:txBody>
          <a:bodyPr>
            <a:noAutofit/>
          </a:bodyPr>
          <a:lstStyle/>
          <a:p>
            <a:r>
              <a:rPr lang="en-US" b="1" i="1" dirty="0">
                <a:solidFill>
                  <a:srgbClr val="FF0000"/>
                </a:solidFill>
                <a:latin typeface="Gill Sans MT"/>
                <a:cs typeface="Arial" pitchFamily="34" charset="0"/>
              </a:rPr>
              <a:t>THE MAIN FUNCTIONS </a:t>
            </a:r>
            <a:r>
              <a:rPr lang="en-US" b="1" i="1" dirty="0" smtClean="0">
                <a:solidFill>
                  <a:srgbClr val="FF0000"/>
                </a:solidFill>
                <a:latin typeface="Gill Sans MT"/>
                <a:cs typeface="Arial" pitchFamily="34" charset="0"/>
              </a:rPr>
              <a:t>OFMANAGEMENT</a:t>
            </a:r>
            <a:endParaRPr lang="en-US" sz="4000" b="1" i="1" dirty="0">
              <a:solidFill>
                <a:srgbClr val="FF0000"/>
              </a:solidFill>
            </a:endParaRPr>
          </a:p>
        </p:txBody>
      </p:sp>
      <p:sp>
        <p:nvSpPr>
          <p:cNvPr id="3" name="Content Placeholder 2"/>
          <p:cNvSpPr>
            <a:spLocks noGrp="1"/>
          </p:cNvSpPr>
          <p:nvPr>
            <p:ph idx="1"/>
          </p:nvPr>
        </p:nvSpPr>
        <p:spPr/>
        <p:txBody>
          <a:bodyPr/>
          <a:lstStyle/>
          <a:p>
            <a:pPr marL="82550" lvl="0" indent="0" algn="just" defTabSz="914400" fontAlgn="base">
              <a:spcBef>
                <a:spcPts val="600"/>
              </a:spcBef>
              <a:spcAft>
                <a:spcPct val="0"/>
              </a:spcAft>
              <a:buClr>
                <a:srgbClr val="3891A7"/>
              </a:buClr>
              <a:buSzPct val="80000"/>
              <a:buNone/>
            </a:pPr>
            <a:endParaRPr lang="en-US" sz="3200" dirty="0">
              <a:solidFill>
                <a:srgbClr val="FF0000"/>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A function may be defined as a group of activities with a common purpose.</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A health team has 3 main functions:</a:t>
            </a:r>
          </a:p>
          <a:p>
            <a:pPr marL="365125" lvl="0" indent="-282575" algn="just" defTabSz="914400" fontAlgn="base">
              <a:spcBef>
                <a:spcPts val="600"/>
              </a:spcBef>
              <a:spcAft>
                <a:spcPct val="0"/>
              </a:spcAft>
              <a:buClr>
                <a:srgbClr val="3891A7"/>
              </a:buClr>
              <a:buSzPct val="80000"/>
              <a:buFont typeface="Calibri" panose="020F0502020204030204" pitchFamily="34" charset="0"/>
              <a:buAutoNum type="arabicPeriod"/>
            </a:pPr>
            <a:r>
              <a:rPr lang="en-US" sz="2800" dirty="0">
                <a:solidFill>
                  <a:prstClr val="black"/>
                </a:solidFill>
                <a:latin typeface="Gill Sans MT"/>
                <a:cs typeface="Arial" pitchFamily="34" charset="0"/>
              </a:rPr>
              <a:t>PLANNING.</a:t>
            </a:r>
          </a:p>
          <a:p>
            <a:pPr marL="365125" lvl="0" indent="-282575" algn="just" defTabSz="914400" fontAlgn="base">
              <a:spcBef>
                <a:spcPts val="600"/>
              </a:spcBef>
              <a:spcAft>
                <a:spcPct val="0"/>
              </a:spcAft>
              <a:buClr>
                <a:srgbClr val="3891A7"/>
              </a:buClr>
              <a:buSzPct val="80000"/>
              <a:buFont typeface="Calibri" panose="020F0502020204030204" pitchFamily="34" charset="0"/>
              <a:buAutoNum type="arabicPeriod"/>
            </a:pPr>
            <a:r>
              <a:rPr lang="en-US" sz="2800" dirty="0">
                <a:solidFill>
                  <a:prstClr val="black"/>
                </a:solidFill>
                <a:latin typeface="Gill Sans MT"/>
                <a:cs typeface="Arial" pitchFamily="34" charset="0"/>
              </a:rPr>
              <a:t>IMPLEMENTATION.</a:t>
            </a:r>
          </a:p>
          <a:p>
            <a:pPr marL="365125" lvl="0" indent="-282575" algn="just" defTabSz="914400" fontAlgn="base">
              <a:spcBef>
                <a:spcPts val="600"/>
              </a:spcBef>
              <a:spcAft>
                <a:spcPct val="0"/>
              </a:spcAft>
              <a:buClr>
                <a:srgbClr val="3891A7"/>
              </a:buClr>
              <a:buSzPct val="80000"/>
              <a:buFont typeface="Calibri" panose="020F0502020204030204" pitchFamily="34" charset="0"/>
              <a:buAutoNum type="arabicPeriod"/>
            </a:pPr>
            <a:r>
              <a:rPr lang="en-US" sz="2800" dirty="0">
                <a:solidFill>
                  <a:prstClr val="black"/>
                </a:solidFill>
                <a:latin typeface="Gill Sans MT"/>
                <a:cs typeface="Arial" pitchFamily="34" charset="0"/>
              </a:rPr>
              <a:t>EVALUATION.</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2227850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2882" y="379410"/>
            <a:ext cx="9758408" cy="1280890"/>
          </a:xfrm>
        </p:spPr>
        <p:txBody>
          <a:bodyPr>
            <a:noAutofit/>
          </a:bodyPr>
          <a:lstStyle/>
          <a:p>
            <a:pPr marL="365125" lvl="0" indent="-282575" defTabSz="914400" fontAlgn="base">
              <a:spcBef>
                <a:spcPts val="600"/>
              </a:spcBef>
              <a:spcAft>
                <a:spcPct val="0"/>
              </a:spcAft>
            </a:pPr>
            <a:r>
              <a:rPr lang="en-US" b="1" i="1" dirty="0">
                <a:solidFill>
                  <a:srgbClr val="FF0000"/>
                </a:solidFill>
                <a:latin typeface="Gill Sans MT"/>
                <a:cs typeface="Arial" pitchFamily="34" charset="0"/>
              </a:rPr>
              <a:t>THE MAIN FUNCTIONS OF MANAGEMENT – cont. </a:t>
            </a:r>
            <a:br>
              <a:rPr lang="en-US" b="1" i="1" dirty="0">
                <a:solidFill>
                  <a:srgbClr val="FF0000"/>
                </a:solidFill>
                <a:latin typeface="Gill Sans MT"/>
                <a:cs typeface="Arial" pitchFamily="34" charset="0"/>
              </a:rPr>
            </a:br>
            <a:endParaRPr lang="en-US" sz="4000" b="1" i="1" dirty="0"/>
          </a:p>
        </p:txBody>
      </p:sp>
      <p:sp>
        <p:nvSpPr>
          <p:cNvPr id="3" name="Content Placeholder 2"/>
          <p:cNvSpPr>
            <a:spLocks noGrp="1"/>
          </p:cNvSpPr>
          <p:nvPr>
            <p:ph idx="1"/>
          </p:nvPr>
        </p:nvSpPr>
        <p:spPr/>
        <p:txBody>
          <a:bodyPr>
            <a:normAutofit/>
          </a:bodyPr>
          <a:lstStyle/>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3200" dirty="0" smtClean="0">
                <a:solidFill>
                  <a:prstClr val="black"/>
                </a:solidFill>
                <a:latin typeface="Gill Sans MT"/>
                <a:cs typeface="Arial" pitchFamily="34" charset="0"/>
              </a:rPr>
              <a:t>Thus </a:t>
            </a:r>
            <a:r>
              <a:rPr lang="en-US" sz="3200" dirty="0">
                <a:solidFill>
                  <a:prstClr val="black"/>
                </a:solidFill>
                <a:latin typeface="Gill Sans MT"/>
                <a:cs typeface="Arial" pitchFamily="34" charset="0"/>
              </a:rPr>
              <a:t>the principle of management by objectives requires the specification of WHAT and HOW MUCH is to be done, and WHEN and WHERE it is to be done - each of these four questions needs one or more </a:t>
            </a:r>
            <a:r>
              <a:rPr lang="en-US" sz="3200" dirty="0">
                <a:solidFill>
                  <a:srgbClr val="FF0000"/>
                </a:solidFill>
                <a:latin typeface="Gill Sans MT"/>
                <a:cs typeface="Arial" pitchFamily="34" charset="0"/>
              </a:rPr>
              <a:t>PLANNING</a:t>
            </a:r>
            <a:r>
              <a:rPr lang="en-US" sz="3200" dirty="0">
                <a:solidFill>
                  <a:prstClr val="black"/>
                </a:solidFill>
                <a:latin typeface="Gill Sans MT"/>
                <a:cs typeface="Arial" pitchFamily="34" charset="0"/>
              </a:rPr>
              <a:t> decisions.</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6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6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600" dirty="0">
              <a:solidFill>
                <a:prstClr val="black"/>
              </a:solidFill>
              <a:latin typeface="Gill Sans MT"/>
              <a:cs typeface="Arial" pitchFamily="34" charset="0"/>
            </a:endParaRPr>
          </a:p>
        </p:txBody>
      </p:sp>
    </p:spTree>
    <p:extLst>
      <p:ext uri="{BB962C8B-B14F-4D97-AF65-F5344CB8AC3E}">
        <p14:creationId xmlns:p14="http://schemas.microsoft.com/office/powerpoint/2010/main" val="2274952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949" y="624110"/>
            <a:ext cx="10534919" cy="1280890"/>
          </a:xfrm>
        </p:spPr>
        <p:txBody>
          <a:bodyPr>
            <a:noAutofit/>
          </a:bodyPr>
          <a:lstStyle/>
          <a:p>
            <a:pPr marL="365125" lvl="0" indent="-282575" defTabSz="914400" fontAlgn="base">
              <a:lnSpc>
                <a:spcPct val="90000"/>
              </a:lnSpc>
              <a:spcBef>
                <a:spcPts val="600"/>
              </a:spcBef>
              <a:spcAft>
                <a:spcPct val="0"/>
              </a:spcAft>
            </a:pPr>
            <a:r>
              <a:rPr lang="en-US" sz="4000" b="1" i="1" dirty="0">
                <a:solidFill>
                  <a:srgbClr val="FF0000"/>
                </a:solidFill>
                <a:latin typeface="Gill Sans MT"/>
                <a:cs typeface="Arial" pitchFamily="34" charset="0"/>
              </a:rPr>
              <a:t>THE MAIN FUNCTIONS </a:t>
            </a:r>
            <a:r>
              <a:rPr lang="en-US" sz="4000" b="1" i="1" dirty="0" smtClean="0">
                <a:solidFill>
                  <a:srgbClr val="FF0000"/>
                </a:solidFill>
                <a:latin typeface="Gill Sans MT"/>
                <a:cs typeface="Arial" pitchFamily="34" charset="0"/>
              </a:rPr>
              <a:t>OF</a:t>
            </a:r>
            <a:r>
              <a:rPr lang="ar-SA" sz="4000" b="1" i="1" dirty="0" smtClean="0">
                <a:solidFill>
                  <a:srgbClr val="FF0000"/>
                </a:solidFill>
                <a:latin typeface="Gill Sans MT"/>
                <a:cs typeface="Arial" pitchFamily="34" charset="0"/>
              </a:rPr>
              <a:t> </a:t>
            </a:r>
            <a:r>
              <a:rPr lang="en-US" sz="4000" b="1" i="1" dirty="0" smtClean="0">
                <a:solidFill>
                  <a:srgbClr val="FF0000"/>
                </a:solidFill>
                <a:latin typeface="Gill Sans MT"/>
                <a:cs typeface="Arial" pitchFamily="34" charset="0"/>
              </a:rPr>
              <a:t>MANAGEMENT </a:t>
            </a:r>
            <a:r>
              <a:rPr lang="en-US" sz="4000" b="1" i="1" dirty="0">
                <a:solidFill>
                  <a:srgbClr val="FF0000"/>
                </a:solidFill>
                <a:latin typeface="Gill Sans MT"/>
                <a:cs typeface="Arial" pitchFamily="34" charset="0"/>
              </a:rPr>
              <a:t>– cont. </a:t>
            </a:r>
            <a:br>
              <a:rPr lang="en-US" sz="4000" b="1" i="1" dirty="0">
                <a:solidFill>
                  <a:srgbClr val="FF0000"/>
                </a:solidFill>
                <a:latin typeface="Gill Sans MT"/>
                <a:cs typeface="Arial" pitchFamily="34" charset="0"/>
              </a:rPr>
            </a:br>
            <a:endParaRPr lang="en-US" sz="4400" b="1" i="1" dirty="0"/>
          </a:p>
        </p:txBody>
      </p:sp>
      <p:sp>
        <p:nvSpPr>
          <p:cNvPr id="3" name="Content Placeholder 2"/>
          <p:cNvSpPr>
            <a:spLocks noGrp="1"/>
          </p:cNvSpPr>
          <p:nvPr>
            <p:ph idx="1"/>
          </p:nvPr>
        </p:nvSpPr>
        <p:spPr>
          <a:xfrm>
            <a:off x="2589211" y="1904999"/>
            <a:ext cx="9349503" cy="4238223"/>
          </a:xfrm>
        </p:spPr>
        <p:txBody>
          <a:bodyPr>
            <a:normAutofit/>
          </a:bodyPr>
          <a:lstStyle/>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smtClean="0">
                <a:solidFill>
                  <a:prstClr val="black"/>
                </a:solidFill>
                <a:latin typeface="Gill Sans MT"/>
                <a:cs typeface="Arial" pitchFamily="34" charset="0"/>
              </a:rPr>
              <a:t>The </a:t>
            </a:r>
            <a:r>
              <a:rPr lang="en-US" sz="2800" dirty="0">
                <a:solidFill>
                  <a:prstClr val="black"/>
                </a:solidFill>
                <a:latin typeface="Gill Sans MT"/>
                <a:cs typeface="Arial" pitchFamily="34" charset="0"/>
              </a:rPr>
              <a:t>principle of delegation is concerned with authority and responsibility – functional relations between people working together to achieve some purpose. The types of decisions involved are concerned with the organization of working relations so as to ensure effective and efficient work – i.e. </a:t>
            </a:r>
            <a:r>
              <a:rPr lang="en-US" sz="2800" dirty="0">
                <a:solidFill>
                  <a:srgbClr val="FF0000"/>
                </a:solidFill>
                <a:latin typeface="Gill Sans MT"/>
                <a:cs typeface="Arial" pitchFamily="34" charset="0"/>
              </a:rPr>
              <a:t>IMPLEMENTATION</a:t>
            </a:r>
            <a:r>
              <a:rPr lang="en-US" sz="2800" dirty="0">
                <a:solidFill>
                  <a:prstClr val="black"/>
                </a:solidFill>
                <a:latin typeface="Gill Sans MT"/>
                <a:cs typeface="Arial" pitchFamily="34" charset="0"/>
              </a:rPr>
              <a:t>. </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Therefore organization decisions are part of the implementation function of management.</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p:txBody>
      </p:sp>
    </p:spTree>
    <p:extLst>
      <p:ext uri="{BB962C8B-B14F-4D97-AF65-F5344CB8AC3E}">
        <p14:creationId xmlns:p14="http://schemas.microsoft.com/office/powerpoint/2010/main" val="2253823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0315" y="624110"/>
            <a:ext cx="9624297" cy="1280890"/>
          </a:xfrm>
        </p:spPr>
        <p:txBody>
          <a:bodyPr>
            <a:noAutofit/>
          </a:bodyPr>
          <a:lstStyle/>
          <a:p>
            <a:pPr marL="365125" lvl="0" indent="-282575" defTabSz="914400" fontAlgn="base">
              <a:spcBef>
                <a:spcPts val="600"/>
              </a:spcBef>
              <a:spcAft>
                <a:spcPct val="0"/>
              </a:spcAft>
            </a:pPr>
            <a:r>
              <a:rPr lang="en-US" b="1" i="1" dirty="0">
                <a:solidFill>
                  <a:srgbClr val="FF0000"/>
                </a:solidFill>
                <a:latin typeface="Gill Sans MT"/>
                <a:cs typeface="Arial" pitchFamily="34" charset="0"/>
              </a:rPr>
              <a:t> THE MAIN FUNCTIONS OF </a:t>
            </a:r>
            <a:r>
              <a:rPr lang="en-US" b="1" i="1" dirty="0" smtClean="0">
                <a:solidFill>
                  <a:srgbClr val="FF0000"/>
                </a:solidFill>
                <a:latin typeface="Gill Sans MT"/>
                <a:cs typeface="Arial" pitchFamily="34" charset="0"/>
              </a:rPr>
              <a:t>MANAGEMENT</a:t>
            </a:r>
            <a:r>
              <a:rPr lang="ar-SA" b="1" i="1" dirty="0" smtClean="0">
                <a:solidFill>
                  <a:srgbClr val="FF0000"/>
                </a:solidFill>
                <a:latin typeface="Gill Sans MT"/>
                <a:cs typeface="Arial" pitchFamily="34" charset="0"/>
              </a:rPr>
              <a:t/>
            </a:r>
            <a:br>
              <a:rPr lang="ar-SA" b="1" i="1" dirty="0" smtClean="0">
                <a:solidFill>
                  <a:srgbClr val="FF0000"/>
                </a:solidFill>
                <a:latin typeface="Gill Sans MT"/>
                <a:cs typeface="Arial" pitchFamily="34" charset="0"/>
              </a:rPr>
            </a:br>
            <a:r>
              <a:rPr lang="en-US" b="1" i="1" dirty="0" smtClean="0">
                <a:solidFill>
                  <a:srgbClr val="FF0000"/>
                </a:solidFill>
                <a:latin typeface="Gill Sans MT"/>
                <a:cs typeface="Arial" pitchFamily="34" charset="0"/>
              </a:rPr>
              <a:t> </a:t>
            </a:r>
            <a:r>
              <a:rPr lang="en-US" b="1" i="1" dirty="0">
                <a:solidFill>
                  <a:srgbClr val="FF0000"/>
                </a:solidFill>
                <a:latin typeface="Gill Sans MT"/>
                <a:cs typeface="Arial" pitchFamily="34" charset="0"/>
              </a:rPr>
              <a:t>– cont. </a:t>
            </a:r>
            <a:br>
              <a:rPr lang="en-US" b="1" i="1" dirty="0">
                <a:solidFill>
                  <a:srgbClr val="FF0000"/>
                </a:solidFill>
                <a:latin typeface="Gill Sans MT"/>
                <a:cs typeface="Arial" pitchFamily="34" charset="0"/>
              </a:rPr>
            </a:br>
            <a:endParaRPr lang="en-US" sz="4000" b="1" i="1" dirty="0"/>
          </a:p>
        </p:txBody>
      </p:sp>
      <p:sp>
        <p:nvSpPr>
          <p:cNvPr id="3" name="Content Placeholder 2"/>
          <p:cNvSpPr>
            <a:spLocks noGrp="1"/>
          </p:cNvSpPr>
          <p:nvPr>
            <p:ph idx="1"/>
          </p:nvPr>
        </p:nvSpPr>
        <p:spPr>
          <a:xfrm>
            <a:off x="2589212" y="2678806"/>
            <a:ext cx="8915400" cy="3232415"/>
          </a:xfrm>
        </p:spPr>
        <p:txBody>
          <a:bodyPr>
            <a:normAutofit/>
          </a:bodyPr>
          <a:lstStyle/>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smtClean="0">
                <a:solidFill>
                  <a:prstClr val="black"/>
                </a:solidFill>
                <a:latin typeface="Gill Sans MT"/>
                <a:cs typeface="Arial" pitchFamily="34" charset="0"/>
              </a:rPr>
              <a:t>Learning </a:t>
            </a:r>
            <a:r>
              <a:rPr lang="en-US" sz="2800" dirty="0">
                <a:solidFill>
                  <a:prstClr val="black"/>
                </a:solidFill>
                <a:latin typeface="Gill Sans MT"/>
                <a:cs typeface="Arial" pitchFamily="34" charset="0"/>
              </a:rPr>
              <a:t>from experience requires the analysis of gaps between desired results and actual achievements and the use of the information obtained from the analysis – </a:t>
            </a:r>
            <a:r>
              <a:rPr lang="en-US" sz="2800" dirty="0">
                <a:solidFill>
                  <a:srgbClr val="FF0000"/>
                </a:solidFill>
                <a:latin typeface="Gill Sans MT"/>
                <a:cs typeface="Arial" pitchFamily="34" charset="0"/>
              </a:rPr>
              <a:t>EVALUATION</a:t>
            </a:r>
            <a:r>
              <a:rPr lang="en-US" sz="2800" dirty="0">
                <a:solidFill>
                  <a:prstClr val="black"/>
                </a:solidFill>
                <a:latin typeface="Gill Sans MT"/>
                <a:cs typeface="Arial" pitchFamily="34" charset="0"/>
              </a:rPr>
              <a:t> function of management.</a:t>
            </a:r>
          </a:p>
          <a:p>
            <a:pPr marL="365125" lvl="0" indent="-282575" algn="just" defTabSz="914400" fontAlgn="base">
              <a:spcBef>
                <a:spcPts val="600"/>
              </a:spcBef>
              <a:spcAft>
                <a:spcPct val="0"/>
              </a:spcAft>
              <a:buClr>
                <a:srgbClr val="3891A7"/>
              </a:buClr>
              <a:buSzPct val="80000"/>
              <a:buNone/>
            </a:pPr>
            <a:endParaRPr lang="en-US" sz="28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2800" dirty="0">
              <a:solidFill>
                <a:prstClr val="black"/>
              </a:solidFill>
              <a:latin typeface="Gill Sans MT"/>
              <a:cs typeface="Arial" pitchFamily="34" charset="0"/>
            </a:endParaRPr>
          </a:p>
          <a:p>
            <a:endParaRPr lang="en-US" sz="1600" dirty="0"/>
          </a:p>
        </p:txBody>
      </p:sp>
    </p:spTree>
    <p:extLst>
      <p:ext uri="{BB962C8B-B14F-4D97-AF65-F5344CB8AC3E}">
        <p14:creationId xmlns:p14="http://schemas.microsoft.com/office/powerpoint/2010/main" val="4266781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i="1" dirty="0">
                <a:solidFill>
                  <a:srgbClr val="FF0000"/>
                </a:solidFill>
                <a:latin typeface="Gill Sans MT"/>
                <a:cs typeface="Arial" pitchFamily="34" charset="0"/>
              </a:rPr>
              <a:t>HIGHLIGHTS</a:t>
            </a:r>
            <a:endParaRPr lang="en-US" sz="5400" b="1" i="1" dirty="0">
              <a:solidFill>
                <a:srgbClr val="FF0000"/>
              </a:solidFill>
            </a:endParaRPr>
          </a:p>
        </p:txBody>
      </p:sp>
      <p:sp>
        <p:nvSpPr>
          <p:cNvPr id="3" name="Content Placeholder 2"/>
          <p:cNvSpPr>
            <a:spLocks noGrp="1"/>
          </p:cNvSpPr>
          <p:nvPr>
            <p:ph idx="1"/>
          </p:nvPr>
        </p:nvSpPr>
        <p:spPr>
          <a:xfrm>
            <a:off x="2228045" y="1596979"/>
            <a:ext cx="9594761" cy="4829579"/>
          </a:xfrm>
        </p:spPr>
        <p:txBody>
          <a:bodyPr>
            <a:noAutofit/>
          </a:bodyPr>
          <a:lstStyle/>
          <a:p>
            <a:pPr marL="82550" lvl="0" indent="0" algn="just" defTabSz="914400" fontAlgn="base">
              <a:lnSpc>
                <a:spcPct val="90000"/>
              </a:lnSpc>
              <a:spcBef>
                <a:spcPts val="600"/>
              </a:spcBef>
              <a:spcAft>
                <a:spcPct val="0"/>
              </a:spcAft>
              <a:buClr>
                <a:srgbClr val="3891A7"/>
              </a:buClr>
              <a:buSzPct val="80000"/>
              <a:buNone/>
            </a:pPr>
            <a:r>
              <a:rPr lang="en-US" sz="3200" dirty="0" smtClean="0">
                <a:solidFill>
                  <a:srgbClr val="FF0000"/>
                </a:solidFill>
                <a:latin typeface="Gill Sans MT"/>
                <a:cs typeface="Arial" pitchFamily="34" charset="0"/>
              </a:rPr>
              <a:t> </a:t>
            </a:r>
            <a:endParaRPr lang="en-US" sz="3200" dirty="0">
              <a:solidFill>
                <a:srgbClr val="FF0000"/>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FOR EFFECTIVENESS – management states objectives and learns from experience.</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FOR EFFICIENCY – management distributes work in such a way that the activities of the different members of the health team come together.</a:t>
            </a: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FOR ECONOMY – management funds and obtains the resources needed to achieve its objectives, or makes the best use of the resources that are available if it cannot obtain the most suitable at reasonable cost. When resources become scarce or too expensive it substitutes less expensive resources.</a:t>
            </a:r>
          </a:p>
          <a:p>
            <a:pPr marL="365125" lvl="0" indent="-282575" algn="just" defTabSz="914400" fontAlgn="base">
              <a:lnSpc>
                <a:spcPct val="90000"/>
              </a:lnSpc>
              <a:spcBef>
                <a:spcPts val="600"/>
              </a:spcBef>
              <a:spcAft>
                <a:spcPct val="0"/>
              </a:spcAft>
              <a:buClr>
                <a:srgbClr val="3891A7"/>
              </a:buClr>
              <a:buSzPct val="80000"/>
              <a:buNone/>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lnSpc>
                <a:spcPct val="90000"/>
              </a:lnSpc>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sz="2000" dirty="0"/>
          </a:p>
        </p:txBody>
      </p:sp>
    </p:spTree>
    <p:extLst>
      <p:ext uri="{BB962C8B-B14F-4D97-AF65-F5344CB8AC3E}">
        <p14:creationId xmlns:p14="http://schemas.microsoft.com/office/powerpoint/2010/main" val="3456218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65125" lvl="0" indent="-282575" defTabSz="914400" fontAlgn="base">
              <a:spcBef>
                <a:spcPts val="600"/>
              </a:spcBef>
              <a:spcAft>
                <a:spcPct val="0"/>
              </a:spcAft>
            </a:pPr>
            <a:r>
              <a:rPr lang="en-US" sz="4400" b="1" i="1" dirty="0">
                <a:solidFill>
                  <a:srgbClr val="FF0000"/>
                </a:solidFill>
                <a:latin typeface="Gill Sans MT"/>
                <a:cs typeface="Arial" pitchFamily="34" charset="0"/>
              </a:rPr>
              <a:t>HIGHLIGHTS – cont. </a:t>
            </a:r>
            <a:endParaRPr lang="en-US" sz="4400" b="1" i="1" dirty="0">
              <a:solidFill>
                <a:srgbClr val="FF0000"/>
              </a:solidFill>
              <a:latin typeface="Gill Sans MT"/>
              <a:cs typeface="Arial" pitchFamily="34" charset="0"/>
            </a:endParaRPr>
          </a:p>
        </p:txBody>
      </p:sp>
      <p:sp>
        <p:nvSpPr>
          <p:cNvPr id="3" name="Content Placeholder 2"/>
          <p:cNvSpPr>
            <a:spLocks noGrp="1"/>
          </p:cNvSpPr>
          <p:nvPr>
            <p:ph idx="1"/>
          </p:nvPr>
        </p:nvSpPr>
        <p:spPr/>
        <p:txBody>
          <a:bodyPr>
            <a:normAutofit/>
          </a:bodyPr>
          <a:lstStyle/>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smtClean="0">
                <a:solidFill>
                  <a:prstClr val="black"/>
                </a:solidFill>
                <a:latin typeface="Gill Sans MT"/>
                <a:cs typeface="Arial" pitchFamily="34" charset="0"/>
              </a:rPr>
              <a:t>FOR </a:t>
            </a:r>
            <a:r>
              <a:rPr lang="en-US" sz="2800" dirty="0">
                <a:solidFill>
                  <a:prstClr val="black"/>
                </a:solidFill>
                <a:latin typeface="Gill Sans MT"/>
                <a:cs typeface="Arial" pitchFamily="34" charset="0"/>
              </a:rPr>
              <a:t>HARMONIOUS FUNCTIONAL AND STRUCTURAL RELATIONS – management assigns and delegates responsibility and authority.</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Management is decision making based on adequate information and good information.</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Management has three main functions: planning, implementation and evaluation.</a:t>
            </a: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r>
              <a:rPr lang="en-US" sz="2800" dirty="0">
                <a:solidFill>
                  <a:prstClr val="black"/>
                </a:solidFill>
                <a:latin typeface="Gill Sans MT"/>
                <a:cs typeface="Arial" pitchFamily="34" charset="0"/>
              </a:rPr>
              <a:t>All staff share management tasks.</a:t>
            </a:r>
          </a:p>
          <a:p>
            <a:pPr marL="365125" lvl="0" indent="-282575" algn="just" defTabSz="914400" fontAlgn="base">
              <a:spcBef>
                <a:spcPts val="600"/>
              </a:spcBef>
              <a:spcAft>
                <a:spcPct val="0"/>
              </a:spcAft>
              <a:buClr>
                <a:srgbClr val="3891A7"/>
              </a:buClr>
              <a:buSzPct val="80000"/>
              <a:buNone/>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pPr marL="365125" lvl="0" indent="-282575" algn="just" defTabSz="914400" fontAlgn="base">
              <a:spcBef>
                <a:spcPts val="600"/>
              </a:spcBef>
              <a:spcAft>
                <a:spcPct val="0"/>
              </a:spcAft>
              <a:buClr>
                <a:srgbClr val="3891A7"/>
              </a:buClr>
              <a:buSzPct val="80000"/>
              <a:buFont typeface="Wingdings 2" panose="05020102010507070707" pitchFamily="18" charset="2"/>
              <a:buChar char=""/>
            </a:pPr>
            <a:endParaRPr lang="en-US" sz="3200" dirty="0">
              <a:solidFill>
                <a:prstClr val="black"/>
              </a:solidFill>
              <a:latin typeface="Gill Sans MT"/>
              <a:cs typeface="Arial" pitchFamily="34" charset="0"/>
            </a:endParaRPr>
          </a:p>
          <a:p>
            <a:endParaRPr lang="en-US" dirty="0"/>
          </a:p>
        </p:txBody>
      </p:sp>
    </p:spTree>
    <p:extLst>
      <p:ext uri="{BB962C8B-B14F-4D97-AF65-F5344CB8AC3E}">
        <p14:creationId xmlns:p14="http://schemas.microsoft.com/office/powerpoint/2010/main" val="20182162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Content Placeholder 3" descr="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624110"/>
            <a:ext cx="9044189" cy="553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4921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Content Placeholder 3" descr="thank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515154"/>
            <a:ext cx="8915400" cy="582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800796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270</TotalTime>
  <Words>1707</Words>
  <Application>Microsoft Office PowerPoint</Application>
  <PresentationFormat>Widescreen</PresentationFormat>
  <Paragraphs>162</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Century Gothic</vt:lpstr>
      <vt:lpstr>Gill Sans MT</vt:lpstr>
      <vt:lpstr>Rockwell</vt:lpstr>
      <vt:lpstr>Wingdings</vt:lpstr>
      <vt:lpstr>Wingdings 2</vt:lpstr>
      <vt:lpstr>Wingdings 3</vt:lpstr>
      <vt:lpstr>Wisp</vt:lpstr>
      <vt:lpstr>CONCEPTS, DEFINITIONS, PRINCIPLES, AND MAIN FUNCTIONS OF MANAGEMENT</vt:lpstr>
      <vt:lpstr>OBJECTIVES </vt:lpstr>
      <vt:lpstr>DEFINITION 1 </vt:lpstr>
      <vt:lpstr>PRINCIPLE 1</vt:lpstr>
      <vt:lpstr>EFFECTIVENESS </vt:lpstr>
      <vt:lpstr>PRINCIPLE 2 </vt:lpstr>
      <vt:lpstr>PRINCIPLE 2 Con…..</vt:lpstr>
      <vt:lpstr>PRINCIPLE 2 Con…..</vt:lpstr>
      <vt:lpstr>DEFINITION 2 </vt:lpstr>
      <vt:lpstr>DEFINITION 2 – cont. </vt:lpstr>
      <vt:lpstr>EFFICIENCY</vt:lpstr>
      <vt:lpstr>PRINCIPLE 3 &amp; 4  </vt:lpstr>
      <vt:lpstr>PRINCIPLE 3 &amp; 4 – cont. </vt:lpstr>
      <vt:lpstr>PRINCIPLE 3 &amp; 4 – cont. </vt:lpstr>
      <vt:lpstr>DEFINITION 3  </vt:lpstr>
      <vt:lpstr>DEFINITION 3 – cont.  </vt:lpstr>
      <vt:lpstr>DEFINITION 3 – cont.  </vt:lpstr>
      <vt:lpstr>DEFINITION 3 – cont.  </vt:lpstr>
      <vt:lpstr>DEFINITION 4  </vt:lpstr>
      <vt:lpstr>DEFINITION 4 – cont. </vt:lpstr>
      <vt:lpstr>DEFINITION 5 </vt:lpstr>
      <vt:lpstr>PRINCIPLE 6 </vt:lpstr>
      <vt:lpstr>PRINCIPLE 7 </vt:lpstr>
      <vt:lpstr>PRINCIPLE 7 </vt:lpstr>
      <vt:lpstr>PRINCIPLE 8 </vt:lpstr>
      <vt:lpstr>THE MAIN FUNCTIONS OFMANAGEMENT</vt:lpstr>
      <vt:lpstr>THE MAIN FUNCTIONS OF MANAGEMENT – cont.  </vt:lpstr>
      <vt:lpstr>THE MAIN FUNCTIONS OF MANAGEMENT – cont.  </vt:lpstr>
      <vt:lpstr> THE MAIN FUNCTIONS OF MANAGEMENT  – cont.  </vt:lpstr>
      <vt:lpstr>HIGHLIGHTS</vt:lpstr>
      <vt:lpstr>HIGHLIGHTS – cont. </vt:lpstr>
      <vt:lpstr>PowerPoint Presentation</vt:lpstr>
      <vt:lpstr>PowerPoint Presentation</vt:lpstr>
    </vt:vector>
  </TitlesOfParts>
  <Company>Microsoft (C)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CONCEPTS, DEFINITIONS, PRINCIPLES, AND MAIN FUNCTIONS OF MANAGEMENT</dc:title>
  <dc:creator>One</dc:creator>
  <cp:lastModifiedBy>One</cp:lastModifiedBy>
  <cp:revision>32</cp:revision>
  <dcterms:created xsi:type="dcterms:W3CDTF">2023-11-08T14:16:02Z</dcterms:created>
  <dcterms:modified xsi:type="dcterms:W3CDTF">2023-11-08T18:46:27Z</dcterms:modified>
</cp:coreProperties>
</file>