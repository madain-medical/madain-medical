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66" r:id="rId12"/>
    <p:sldId id="267" r:id="rId13"/>
    <p:sldId id="268" r:id="rId14"/>
    <p:sldId id="25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4" autoAdjust="0"/>
    <p:restoredTop sz="94660"/>
  </p:normalViewPr>
  <p:slideViewPr>
    <p:cSldViewPr snapToGrid="0">
      <p:cViewPr varScale="1">
        <p:scale>
          <a:sx n="60" d="100"/>
          <a:sy n="60" d="100"/>
        </p:scale>
        <p:origin x="-78" y="-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60587" y="2942602"/>
            <a:ext cx="9530575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096869" y="2944634"/>
            <a:ext cx="1587131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283619" y="3136658"/>
            <a:ext cx="1213632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93978" y="3055622"/>
            <a:ext cx="9263793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435" y="4625268"/>
            <a:ext cx="1016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22429" y="4559277"/>
            <a:ext cx="9006888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18628" y="3139440"/>
            <a:ext cx="9014491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073" y="4648200"/>
            <a:ext cx="8737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6273" y="3227034"/>
            <a:ext cx="88392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02635" y="2946400"/>
            <a:ext cx="11020213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56875" y="3048000"/>
            <a:ext cx="10711733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941" y="3200400"/>
            <a:ext cx="102616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900661" y="4541521"/>
            <a:ext cx="1042416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1941" y="4607511"/>
            <a:ext cx="102616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1010" y="3124200"/>
            <a:ext cx="10423465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171" y="408373"/>
            <a:ext cx="11014229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171" y="1719071"/>
            <a:ext cx="53848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071"/>
            <a:ext cx="53848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171" y="408373"/>
            <a:ext cx="11014229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171" y="1722438"/>
            <a:ext cx="5386917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171" y="2438400"/>
            <a:ext cx="5386917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22438"/>
            <a:ext cx="5389033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38400"/>
            <a:ext cx="5389033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685800"/>
            <a:ext cx="6096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46712" y="1505712"/>
            <a:ext cx="3622088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2254" y="1642472"/>
            <a:ext cx="3311005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334" y="2971800"/>
            <a:ext cx="3064845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334" y="1734312"/>
            <a:ext cx="3064845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621437"/>
            <a:ext cx="103632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4400" y="4953000"/>
            <a:ext cx="103632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6000" y="5029200"/>
            <a:ext cx="10134353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19200" y="5638800"/>
            <a:ext cx="9771352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07452" y="5074920"/>
            <a:ext cx="10594848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75052" y="5656557"/>
            <a:ext cx="9659648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105401"/>
            <a:ext cx="9771352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148936" y="228600"/>
            <a:ext cx="247904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73634" y="351410"/>
            <a:ext cx="2229647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98103" y="395428"/>
            <a:ext cx="1980708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82296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52601"/>
            <a:ext cx="109728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F740A38-6C0E-417E-9FFA-1A22FDCD3AC1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D1408AEE-D121-4294-9E0A-38F47D4760E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65760" y="278166"/>
            <a:ext cx="1146048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7151" y="372862"/>
            <a:ext cx="11174027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8171" y="408373"/>
            <a:ext cx="11014229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baproject.com/modules/hormones-behavior#vocabulary-endocrine-gland" TargetMode="External"/><Relationship Id="rId2" Type="http://schemas.openxmlformats.org/officeDocument/2006/relationships/hyperlink" Target="https://nobaproject.com/modules/hormones-behavior#vocabulary-hormon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073" y="4533363"/>
            <a:ext cx="8737600" cy="572037"/>
          </a:xfrm>
        </p:spPr>
        <p:txBody>
          <a:bodyPr>
            <a:normAutofit fontScale="4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Rayan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Ismail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Idreis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BDM. NATIONAL  UNIVERCITY</a:t>
            </a:r>
          </a:p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MPH  INTERNATIONAL UNIVERCITY OF AFRICA </a:t>
            </a:r>
          </a:p>
          <a:p>
            <a:endParaRPr lang="en-US" sz="3100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Hormones and behavior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39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objectives :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6751" y="3249803"/>
            <a:ext cx="1037546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/>
              <a:t>Define </a:t>
            </a:r>
            <a:r>
              <a:rPr lang="en-US" altLang="en-US" dirty="0"/>
              <a:t>hormone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Explain </a:t>
            </a:r>
            <a:r>
              <a:rPr lang="en-US" dirty="0"/>
              <a:t>How Might Hormones Affect Behavior </a:t>
            </a:r>
            <a:r>
              <a:rPr lang="en-US" altLang="en-US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Provide examples of some common hormone–behavior </a:t>
            </a:r>
            <a:r>
              <a:rPr lang="en-US" altLang="en-US" dirty="0" smtClean="0"/>
              <a:t>interactions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346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Hormones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Hormones</a:t>
            </a:r>
            <a:r>
              <a:rPr lang="en-US" dirty="0" smtClean="0"/>
              <a:t> are organic chemical messengers produced and released by specialized glands called </a:t>
            </a:r>
            <a:r>
              <a:rPr lang="en-US" dirty="0" smtClean="0">
                <a:hlinkClick r:id="rId3"/>
              </a:rPr>
              <a:t>endocrine glands</a:t>
            </a:r>
            <a:r>
              <a:rPr lang="en-US" smtClean="0"/>
              <a:t>. </a:t>
            </a:r>
          </a:p>
          <a:p>
            <a:r>
              <a:rPr lang="en-US" smtClean="0"/>
              <a:t>Hormones </a:t>
            </a:r>
            <a:r>
              <a:rPr lang="en-US" dirty="0" smtClean="0"/>
              <a:t>are released from these glands into the blood, where they may travel to act on target structures at some distance from their origin.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00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Might Hormones Affect Behavior?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All behavioral systems comprise of three interacting components:</a:t>
            </a:r>
          </a:p>
          <a:p>
            <a:r>
              <a:rPr lang="en-US" dirty="0" smtClean="0"/>
              <a:t> (1) input systems (sensory systems), </a:t>
            </a:r>
          </a:p>
          <a:p>
            <a:r>
              <a:rPr lang="en-US" dirty="0" smtClean="0"/>
              <a:t>(2) integrators (the central nervous system) </a:t>
            </a:r>
          </a:p>
          <a:p>
            <a:r>
              <a:rPr lang="en-US" dirty="0" smtClean="0"/>
              <a:t> (3) output systems, or effectors (e.g., muscles).</a:t>
            </a:r>
          </a:p>
          <a:p>
            <a:r>
              <a:rPr lang="en-US" dirty="0" smtClean="0"/>
              <a:t> hormones do not cause behavioral changes. Rather, hormones influence these three systems so that specific stimuli are more likely to elicit certain responses in the appropriate behavioral or social context.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11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Hormones affect </a:t>
            </a:r>
            <a:r>
              <a:rPr lang="en-US" dirty="0" err="1"/>
              <a:t>Behaviour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– </a:t>
            </a:r>
            <a:r>
              <a:rPr lang="en-US" dirty="0"/>
              <a:t>Effects on the NS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– </a:t>
            </a:r>
            <a:r>
              <a:rPr lang="en-US" dirty="0"/>
              <a:t>Effects on Sensory </a:t>
            </a:r>
            <a:r>
              <a:rPr lang="en-US" dirty="0" smtClean="0"/>
              <a:t>Perception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– Effects of Effector </a:t>
            </a:r>
            <a:r>
              <a:rPr lang="en-US" dirty="0" smtClean="0"/>
              <a:t>Systems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– Effects on development</a:t>
            </a:r>
          </a:p>
        </p:txBody>
      </p:sp>
    </p:spTree>
    <p:extLst>
      <p:ext uri="{BB962C8B-B14F-4D97-AF65-F5344CB8AC3E}">
        <p14:creationId xmlns:p14="http://schemas.microsoft.com/office/powerpoint/2010/main" val="10179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Oxytocin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Oxytocin </a:t>
            </a:r>
            <a:r>
              <a:rPr lang="en-US" dirty="0"/>
              <a:t>is a hormone that is produced by the hypothalamus after being stimulated by the pituitary gland. </a:t>
            </a:r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/>
              <a:t>a hormone, it plays a role in inducing </a:t>
            </a:r>
            <a:r>
              <a:rPr lang="en-US" dirty="0" err="1"/>
              <a:t>labour</a:t>
            </a:r>
            <a:r>
              <a:rPr lang="en-US" dirty="0"/>
              <a:t> contractions and lactation. </a:t>
            </a:r>
            <a:endParaRPr lang="en-US" dirty="0" smtClean="0"/>
          </a:p>
          <a:p>
            <a:r>
              <a:rPr lang="en-US" dirty="0" smtClean="0"/>
              <a:t>Oxytocin </a:t>
            </a:r>
            <a:r>
              <a:rPr lang="en-US" dirty="0"/>
              <a:t>is </a:t>
            </a:r>
            <a:r>
              <a:rPr lang="en-US" dirty="0">
                <a:solidFill>
                  <a:srgbClr val="FF0000"/>
                </a:solidFill>
              </a:rPr>
              <a:t>released with touches and hugs</a:t>
            </a:r>
            <a:r>
              <a:rPr lang="en-US" dirty="0"/>
              <a:t>. It is associated with </a:t>
            </a:r>
            <a:r>
              <a:rPr lang="en-US" dirty="0">
                <a:solidFill>
                  <a:srgbClr val="FF0000"/>
                </a:solidFill>
              </a:rPr>
              <a:t>bonding between a mother and her child as well as between lovers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Oxytocin </a:t>
            </a:r>
            <a:r>
              <a:rPr lang="en-US" dirty="0"/>
              <a:t>appears to change the brain signals related to social recognition </a:t>
            </a:r>
            <a:r>
              <a:rPr lang="en-US" dirty="0" smtClean="0"/>
              <a:t>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9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effect of the hormone Oxytocin on </a:t>
            </a:r>
            <a:r>
              <a:rPr lang="en-US" b="1" dirty="0" smtClean="0"/>
              <a:t>behavior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Oxytocin </a:t>
            </a:r>
            <a:r>
              <a:rPr lang="en-US" dirty="0"/>
              <a:t>has been called “</a:t>
            </a:r>
            <a:r>
              <a:rPr lang="en-US" dirty="0">
                <a:solidFill>
                  <a:srgbClr val="FF0000"/>
                </a:solidFill>
              </a:rPr>
              <a:t>the love hormone</a:t>
            </a:r>
            <a:r>
              <a:rPr lang="en-US" dirty="0"/>
              <a:t>” because it seems to be such an effective mediator of human social </a:t>
            </a:r>
            <a:r>
              <a:rPr lang="en-US" dirty="0" err="1"/>
              <a:t>behaviour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oxytocin is given to healthy individuals it seems that brain circuits involved in fear regulation are affected, and there is an </a:t>
            </a:r>
            <a:r>
              <a:rPr lang="en-US" dirty="0">
                <a:solidFill>
                  <a:srgbClr val="FF0000"/>
                </a:solidFill>
              </a:rPr>
              <a:t>increase in trust and generosity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/>
              <a:t>Kosfiled</a:t>
            </a:r>
            <a:r>
              <a:rPr lang="en-US" dirty="0"/>
              <a:t> et al (2005) carried out a clinical trial with 194 male participants and found that those who received a intranasal dose of Oxytocin were more likely to be more trusting in a role play situation, than participants who received a placebo. Research is being carried out to see whether people suffering from social anxiety may benefit from doses of oxytocin.</a:t>
            </a:r>
          </a:p>
        </p:txBody>
      </p:sp>
    </p:spTree>
    <p:extLst>
      <p:ext uri="{BB962C8B-B14F-4D97-AF65-F5344CB8AC3E}">
        <p14:creationId xmlns:p14="http://schemas.microsoft.com/office/powerpoint/2010/main" val="168929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Melatonin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production of melatonin by the pineal gland is stimulated by darkness and inhibited by light. </a:t>
            </a:r>
            <a:endParaRPr lang="en-US" dirty="0" smtClean="0"/>
          </a:p>
          <a:p>
            <a:r>
              <a:rPr lang="en-US" dirty="0" smtClean="0"/>
              <a:t>Melatonin </a:t>
            </a:r>
            <a:r>
              <a:rPr lang="en-US" dirty="0"/>
              <a:t>levels in the bloodstream peak in the middle of the night, and gradually decrease towards morning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As the days get shorter and winter approaches, the earlier onset of darkness means that we can become tired earlier. </a:t>
            </a:r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841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Melatonin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use of artificial lighting has increased the “awake time” dramatically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Melatonin release correlates with the circadian rhythm—the biological clock that is based on a 24-hour day/night cycle.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suggested that taking melatonin in the early evening may </a:t>
            </a:r>
            <a:r>
              <a:rPr lang="en-US" dirty="0">
                <a:solidFill>
                  <a:srgbClr val="FF0000"/>
                </a:solidFill>
              </a:rPr>
              <a:t>improve one’s ability to fall asleep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858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Estrogen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 Depression and anxiety affect women in their estrogen-producing years more often than men or postmenopausal women. Estrogen is also linked to mood disruptions that occur only in women -- premenstrual syndrome, premenstrual dysphoric disorder, and postpartum </a:t>
            </a:r>
            <a:r>
              <a:rPr lang="en-US" dirty="0" smtClean="0"/>
              <a:t>depression.</a:t>
            </a:r>
          </a:p>
          <a:p>
            <a:r>
              <a:rPr lang="en-US" dirty="0"/>
              <a:t>Low levels of estrogen is linked to lower levels of serotonin, which can cause mood swings, depression, trouble concentrating, fatigue, and irritability.</a:t>
            </a:r>
          </a:p>
        </p:txBody>
      </p:sp>
    </p:spTree>
    <p:extLst>
      <p:ext uri="{BB962C8B-B14F-4D97-AF65-F5344CB8AC3E}">
        <p14:creationId xmlns:p14="http://schemas.microsoft.com/office/powerpoint/2010/main" val="236837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Testosterone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Testosterone plays a role in certain behaviors, including </a:t>
            </a:r>
            <a:r>
              <a:rPr lang="en-US" dirty="0">
                <a:solidFill>
                  <a:srgbClr val="FF0000"/>
                </a:solidFill>
              </a:rPr>
              <a:t>aggression and dominance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 It also helps to spark competitiveness and boost self-esteem. Just as sexual activity can affect testosterone levels, taking part in competitive activities can cause a man's testosterone levels to rise or fall.</a:t>
            </a:r>
          </a:p>
        </p:txBody>
      </p:sp>
    </p:spTree>
    <p:extLst>
      <p:ext uri="{BB962C8B-B14F-4D97-AF65-F5344CB8AC3E}">
        <p14:creationId xmlns:p14="http://schemas.microsoft.com/office/powerpoint/2010/main" val="133695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" y="3079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Cortisol (stress hormone)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Stress Hormones are secreted any time we </a:t>
            </a:r>
            <a:br>
              <a:rPr lang="en-US" dirty="0"/>
            </a:br>
            <a:r>
              <a:rPr lang="en-US" dirty="0"/>
              <a:t>experience the fight or flight syndrome.</a:t>
            </a:r>
          </a:p>
          <a:p>
            <a:r>
              <a:rPr lang="en-US" dirty="0"/>
              <a:t>Most humans get this feeling from the </a:t>
            </a:r>
            <a:br>
              <a:rPr lang="en-US" dirty="0"/>
            </a:br>
            <a:r>
              <a:rPr lang="en-US" dirty="0"/>
              <a:t>expectation of stressful situations or from </a:t>
            </a:r>
            <a:br>
              <a:rPr lang="en-US" dirty="0"/>
            </a:br>
            <a:r>
              <a:rPr lang="en-US" dirty="0"/>
              <a:t>imagined stressors.</a:t>
            </a:r>
          </a:p>
          <a:p>
            <a:r>
              <a:rPr lang="en-US" dirty="0"/>
              <a:t>Imagined stressors are social and psychological </a:t>
            </a:r>
            <a:br>
              <a:rPr lang="en-US" dirty="0"/>
            </a:br>
            <a:r>
              <a:rPr lang="en-US" dirty="0"/>
              <a:t>in nature.</a:t>
            </a:r>
          </a:p>
          <a:p>
            <a:r>
              <a:rPr lang="en-US" dirty="0"/>
              <a:t>Imagined or not the stress still affects the body </a:t>
            </a:r>
            <a:br>
              <a:rPr lang="en-US" dirty="0"/>
            </a:br>
            <a:r>
              <a:rPr lang="en-US" dirty="0"/>
              <a:t>the same way. </a:t>
            </a:r>
          </a:p>
        </p:txBody>
      </p:sp>
    </p:spTree>
    <p:extLst>
      <p:ext uri="{BB962C8B-B14F-4D97-AF65-F5344CB8AC3E}">
        <p14:creationId xmlns:p14="http://schemas.microsoft.com/office/powerpoint/2010/main" val="208076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Cortisol (stress hormone)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HPA (hypothalamic-</a:t>
            </a:r>
            <a:r>
              <a:rPr lang="en-US" dirty="0" err="1"/>
              <a:t>petuitary</a:t>
            </a:r>
            <a:r>
              <a:rPr lang="en-US" dirty="0"/>
              <a:t>-adrenal) axis is </a:t>
            </a:r>
            <a:br>
              <a:rPr lang="en-US" dirty="0"/>
            </a:br>
            <a:r>
              <a:rPr lang="en-US" dirty="0"/>
              <a:t>activated when stress is experienced. </a:t>
            </a:r>
          </a:p>
          <a:p>
            <a:r>
              <a:rPr lang="en-US" dirty="0"/>
              <a:t>A constantly activated HPA axis will have the </a:t>
            </a:r>
            <a:br>
              <a:rPr lang="en-US" dirty="0"/>
            </a:br>
            <a:r>
              <a:rPr lang="en-US" dirty="0"/>
              <a:t>following effects :</a:t>
            </a:r>
          </a:p>
          <a:p>
            <a:pPr marL="0" indent="0">
              <a:buNone/>
            </a:pPr>
            <a:r>
              <a:rPr lang="en-US" dirty="0"/>
              <a:t>Weakened immune system </a:t>
            </a:r>
          </a:p>
          <a:p>
            <a:pPr marL="0" indent="0">
              <a:buNone/>
            </a:pPr>
            <a:r>
              <a:rPr lang="en-US" dirty="0"/>
              <a:t>Impaired memory </a:t>
            </a:r>
          </a:p>
          <a:p>
            <a:pPr marL="0" indent="0">
              <a:buNone/>
            </a:pPr>
            <a:r>
              <a:rPr lang="en-US" dirty="0"/>
              <a:t>Increased risk of depression </a:t>
            </a:r>
          </a:p>
        </p:txBody>
      </p:sp>
    </p:spTree>
    <p:extLst>
      <p:ext uri="{BB962C8B-B14F-4D97-AF65-F5344CB8AC3E}">
        <p14:creationId xmlns:p14="http://schemas.microsoft.com/office/powerpoint/2010/main" val="318956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Assignment: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Explain the role of hormones in behavioral sex differentiation.</a:t>
            </a:r>
          </a:p>
        </p:txBody>
      </p:sp>
    </p:spTree>
    <p:extLst>
      <p:ext uri="{BB962C8B-B14F-4D97-AF65-F5344CB8AC3E}">
        <p14:creationId xmlns:p14="http://schemas.microsoft.com/office/powerpoint/2010/main" val="277542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Any question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6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179</TotalTime>
  <Words>659</Words>
  <Application>Microsoft Office PowerPoint</Application>
  <PresentationFormat>Custom</PresentationFormat>
  <Paragraphs>61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Apothecary</vt:lpstr>
      <vt:lpstr>Hormones and behavior</vt:lpstr>
      <vt:lpstr> objectives :</vt:lpstr>
      <vt:lpstr>Hormones</vt:lpstr>
      <vt:lpstr>How Might Hormones Affect Behavior?</vt:lpstr>
      <vt:lpstr>How do Hormones affect Behaviour?</vt:lpstr>
      <vt:lpstr> Oxytocin  </vt:lpstr>
      <vt:lpstr>The effect of the hormone Oxytocin on behavior</vt:lpstr>
      <vt:lpstr>Melatonin</vt:lpstr>
      <vt:lpstr>Melatonin</vt:lpstr>
      <vt:lpstr>Estrogen</vt:lpstr>
      <vt:lpstr>Testosterone</vt:lpstr>
      <vt:lpstr>Cortisol (stress hormone) </vt:lpstr>
      <vt:lpstr>Cortisol (stress hormone) </vt:lpstr>
      <vt:lpstr>Assignment:</vt:lpstr>
      <vt:lpstr>Any question 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Hormones and behavior</dc:title>
  <dc:creator>Reem</dc:creator>
  <cp:lastModifiedBy>HP</cp:lastModifiedBy>
  <cp:revision>15</cp:revision>
  <dcterms:created xsi:type="dcterms:W3CDTF">2023-02-27T16:18:40Z</dcterms:created>
  <dcterms:modified xsi:type="dcterms:W3CDTF">2023-02-27T11:45:32Z</dcterms:modified>
</cp:coreProperties>
</file>